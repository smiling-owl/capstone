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6477892f164567" /><Relationship Type="http://schemas.openxmlformats.org/officeDocument/2006/relationships/extended-properties" Target="/docProps/app.xml" Id="Rfe95749ad60b4db4" /><Relationship Type="http://schemas.openxmlformats.org/officeDocument/2006/relationships/officeDocument" Target="/ppt/presentation.xml" Id="Rd51c17076f8e453f" /></Relationships>
</file>

<file path=ppt/presentation.xml><?xml version="1.0" encoding="utf-8"?>
<p:presentation xmlns:p="http://schemas.openxmlformats.org/presentationml/2006/main">
  <p:sldMasterIdLst>
    <p:sldMasterId xmlns:r="http://schemas.openxmlformats.org/officeDocument/2006/relationships" id="2147483648" r:id="R7130163c970f45a7"/>
  </p:sldMasterIdLst>
  <p:notesMasterIdLst>
    <p:notesMasterId xmlns:r="http://schemas.openxmlformats.org/officeDocument/2006/relationships" r:id="R53f47e7ef9414518"/>
  </p:notesMasterIdLst>
  <p:sldIdLst>
    <p:sldId xmlns:r="http://schemas.openxmlformats.org/officeDocument/2006/relationships" id="256" r:id="R4b03347e5b954861"/>
    <p:sldId xmlns:r="http://schemas.openxmlformats.org/officeDocument/2006/relationships" id="257" r:id="R7a5f0a175c484f67"/>
    <p:sldId xmlns:r="http://schemas.openxmlformats.org/officeDocument/2006/relationships" id="258" r:id="R4c30db39a7ab4420"/>
    <p:sldId xmlns:r="http://schemas.openxmlformats.org/officeDocument/2006/relationships" id="259" r:id="R321506a11ccf4ded"/>
    <p:sldId xmlns:r="http://schemas.openxmlformats.org/officeDocument/2006/relationships" id="260" r:id="Rb32cb1f763f94e5e"/>
    <p:sldId xmlns:r="http://schemas.openxmlformats.org/officeDocument/2006/relationships" id="261" r:id="Rf1a7e90025b64ce0"/>
    <p:sldId xmlns:r="http://schemas.openxmlformats.org/officeDocument/2006/relationships" id="262" r:id="Ra85f65679798458e"/>
    <p:sldId xmlns:r="http://schemas.openxmlformats.org/officeDocument/2006/relationships" id="263" r:id="R3cbf4f12d2604402"/>
    <p:sldId xmlns:r="http://schemas.openxmlformats.org/officeDocument/2006/relationships" id="264" r:id="R378bd06a3e0740e4"/>
    <p:sldId xmlns:r="http://schemas.openxmlformats.org/officeDocument/2006/relationships" id="265" r:id="R6fa8ad2db3874ae2"/>
    <p:sldId xmlns:r="http://schemas.openxmlformats.org/officeDocument/2006/relationships" id="266" r:id="R92158c6f03e7409e"/>
    <p:sldId xmlns:r="http://schemas.openxmlformats.org/officeDocument/2006/relationships" id="267" r:id="Rcd16f6513cc84802"/>
    <p:sldId xmlns:r="http://schemas.openxmlformats.org/officeDocument/2006/relationships" id="268" r:id="Rcde4ae84a165467e"/>
    <p:sldId xmlns:r="http://schemas.openxmlformats.org/officeDocument/2006/relationships" id="269" r:id="R9974b86b66d14f0b"/>
    <p:sldId xmlns:r="http://schemas.openxmlformats.org/officeDocument/2006/relationships" id="270" r:id="R1416f23f0e2641ab"/>
    <p:sldId xmlns:r="http://schemas.openxmlformats.org/officeDocument/2006/relationships" id="271" r:id="Rb059213420504bf0"/>
    <p:sldId xmlns:r="http://schemas.openxmlformats.org/officeDocument/2006/relationships" id="272" r:id="R12c1526962b5473f"/>
    <p:sldId xmlns:r="http://schemas.openxmlformats.org/officeDocument/2006/relationships" id="273" r:id="Rd39638b59e174f45"/>
    <p:sldId xmlns:r="http://schemas.openxmlformats.org/officeDocument/2006/relationships" id="274" r:id="R2323de8dd1d5488c"/>
    <p:sldId xmlns:r="http://schemas.openxmlformats.org/officeDocument/2006/relationships" id="275" r:id="R6673d9910599458d"/>
    <p:sldId xmlns:r="http://schemas.openxmlformats.org/officeDocument/2006/relationships" id="276" r:id="R6fb7191e19954088"/>
    <p:sldId xmlns:r="http://schemas.openxmlformats.org/officeDocument/2006/relationships" id="277" r:id="R8ebbab1461d142b0"/>
    <p:sldId xmlns:r="http://schemas.openxmlformats.org/officeDocument/2006/relationships" id="278" r:id="R9b75570e0ca34eb9"/>
    <p:sldId xmlns:r="http://schemas.openxmlformats.org/officeDocument/2006/relationships" id="279" r:id="R93847cb794374d78"/>
    <p:sldId xmlns:r="http://schemas.openxmlformats.org/officeDocument/2006/relationships" id="280" r:id="R89ff84685ac74dba"/>
    <p:sldId xmlns:r="http://schemas.openxmlformats.org/officeDocument/2006/relationships" id="281" r:id="R0c7d2851d6fd4da7"/>
    <p:sldId xmlns:r="http://schemas.openxmlformats.org/officeDocument/2006/relationships" id="282" r:id="R0e6b474f25c64028"/>
    <p:sldId xmlns:r="http://schemas.openxmlformats.org/officeDocument/2006/relationships" id="283" r:id="Rbec0967a25f94608"/>
    <p:sldId xmlns:r="http://schemas.openxmlformats.org/officeDocument/2006/relationships" id="284" r:id="Ra5df9b54c9724ceb"/>
    <p:sldId xmlns:r="http://schemas.openxmlformats.org/officeDocument/2006/relationships" id="285" r:id="Rc200a65a8373429a"/>
    <p:sldId xmlns:r="http://schemas.openxmlformats.org/officeDocument/2006/relationships" id="286" r:id="Rf06e8da922e94fc5"/>
    <p:sldId xmlns:r="http://schemas.openxmlformats.org/officeDocument/2006/relationships" id="287" r:id="Rbdc2b1d915bf40ef"/>
    <p:sldId xmlns:r="http://schemas.openxmlformats.org/officeDocument/2006/relationships" id="288" r:id="Rd38f8a3dd26b4624"/>
    <p:sldId xmlns:r="http://schemas.openxmlformats.org/officeDocument/2006/relationships" id="289" r:id="Rcd7e19598f5c45b0"/>
    <p:sldId xmlns:r="http://schemas.openxmlformats.org/officeDocument/2006/relationships" id="290" r:id="R987f3faadf9b4fc8"/>
    <p:sldId xmlns:r="http://schemas.openxmlformats.org/officeDocument/2006/relationships" id="291" r:id="R2f1b89ecf9a141b9"/>
    <p:sldId xmlns:r="http://schemas.openxmlformats.org/officeDocument/2006/relationships" id="292" r:id="R238e49bf3da6410d"/>
    <p:sldId xmlns:r="http://schemas.openxmlformats.org/officeDocument/2006/relationships" id="293" r:id="R737e0f03002a4c51"/>
    <p:sldId xmlns:r="http://schemas.openxmlformats.org/officeDocument/2006/relationships" id="294" r:id="Rfbbe61ab860a48a8"/>
    <p:sldId xmlns:r="http://schemas.openxmlformats.org/officeDocument/2006/relationships" id="295" r:id="Rc0734d4794be41fc"/>
    <p:sldId xmlns:r="http://schemas.openxmlformats.org/officeDocument/2006/relationships" id="296" r:id="R53cde6617b634017"/>
    <p:sldId xmlns:r="http://schemas.openxmlformats.org/officeDocument/2006/relationships" id="297" r:id="R0fdf58f45b5f4c46"/>
    <p:sldId xmlns:r="http://schemas.openxmlformats.org/officeDocument/2006/relationships" id="298" r:id="Ra2a32386616648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1eeba880404203" /><Relationship Type="http://schemas.openxmlformats.org/officeDocument/2006/relationships/slideMaster" Target="/ppt/slideMasters/slideMaster1.xml" Id="R7130163c970f45a7" /><Relationship Type="http://schemas.openxmlformats.org/officeDocument/2006/relationships/notesMaster" Target="/ppt/notesMasters/notesMaster1.xml" Id="R53f47e7ef9414518" /><Relationship Type="http://schemas.openxmlformats.org/officeDocument/2006/relationships/presProps" Target="/ppt/presProps.xml" Id="Rbbdaa75dfc9a4fd2" /><Relationship Type="http://schemas.openxmlformats.org/officeDocument/2006/relationships/tableStyles" Target="/ppt/tableStyles.xml" Id="R50a586eb00244a27" /><Relationship Type="http://schemas.openxmlformats.org/officeDocument/2006/relationships/slide" Target="/ppt/slides/slide1.xml" Id="R4b03347e5b954861" /><Relationship Type="http://schemas.openxmlformats.org/officeDocument/2006/relationships/slide" Target="/ppt/slides/slide2.xml" Id="R7a5f0a175c484f67" /><Relationship Type="http://schemas.openxmlformats.org/officeDocument/2006/relationships/slide" Target="/ppt/slides/slide3.xml" Id="R4c30db39a7ab4420" /><Relationship Type="http://schemas.openxmlformats.org/officeDocument/2006/relationships/slide" Target="/ppt/slides/slide4.xml" Id="R321506a11ccf4ded" /><Relationship Type="http://schemas.openxmlformats.org/officeDocument/2006/relationships/slide" Target="/ppt/slides/slide5.xml" Id="Rb32cb1f763f94e5e" /><Relationship Type="http://schemas.openxmlformats.org/officeDocument/2006/relationships/slide" Target="/ppt/slides/slide6.xml" Id="Rf1a7e90025b64ce0" /><Relationship Type="http://schemas.openxmlformats.org/officeDocument/2006/relationships/slide" Target="/ppt/slides/slide7.xml" Id="Ra85f65679798458e" /><Relationship Type="http://schemas.openxmlformats.org/officeDocument/2006/relationships/slide" Target="/ppt/slides/slide8.xml" Id="R3cbf4f12d2604402" /><Relationship Type="http://schemas.openxmlformats.org/officeDocument/2006/relationships/slide" Target="/ppt/slides/slide9.xml" Id="R378bd06a3e0740e4" /><Relationship Type="http://schemas.openxmlformats.org/officeDocument/2006/relationships/slide" Target="/ppt/slides/slide10.xml" Id="R6fa8ad2db3874ae2" /><Relationship Type="http://schemas.openxmlformats.org/officeDocument/2006/relationships/slide" Target="/ppt/slides/slide11.xml" Id="R92158c6f03e7409e" /><Relationship Type="http://schemas.openxmlformats.org/officeDocument/2006/relationships/slide" Target="/ppt/slides/slide12.xml" Id="Rcd16f6513cc84802" /><Relationship Type="http://schemas.openxmlformats.org/officeDocument/2006/relationships/slide" Target="/ppt/slides/slide13.xml" Id="Rcde4ae84a165467e" /><Relationship Type="http://schemas.openxmlformats.org/officeDocument/2006/relationships/slide" Target="/ppt/slides/slide14.xml" Id="R9974b86b66d14f0b" /><Relationship Type="http://schemas.openxmlformats.org/officeDocument/2006/relationships/slide" Target="/ppt/slides/slide15.xml" Id="R1416f23f0e2641ab" /><Relationship Type="http://schemas.openxmlformats.org/officeDocument/2006/relationships/slide" Target="/ppt/slides/slide16.xml" Id="Rb059213420504bf0" /><Relationship Type="http://schemas.openxmlformats.org/officeDocument/2006/relationships/slide" Target="/ppt/slides/slide17.xml" Id="R12c1526962b5473f" /><Relationship Type="http://schemas.openxmlformats.org/officeDocument/2006/relationships/slide" Target="/ppt/slides/slide18.xml" Id="Rd39638b59e174f45" /><Relationship Type="http://schemas.openxmlformats.org/officeDocument/2006/relationships/slide" Target="/ppt/slides/slide19.xml" Id="R2323de8dd1d5488c" /><Relationship Type="http://schemas.openxmlformats.org/officeDocument/2006/relationships/slide" Target="/ppt/slides/slide20.xml" Id="R6673d9910599458d" /><Relationship Type="http://schemas.openxmlformats.org/officeDocument/2006/relationships/slide" Target="/ppt/slides/slide21.xml" Id="R6fb7191e19954088" /><Relationship Type="http://schemas.openxmlformats.org/officeDocument/2006/relationships/slide" Target="/ppt/slides/slide22.xml" Id="R8ebbab1461d142b0" /><Relationship Type="http://schemas.openxmlformats.org/officeDocument/2006/relationships/slide" Target="/ppt/slides/slide23.xml" Id="R9b75570e0ca34eb9" /><Relationship Type="http://schemas.openxmlformats.org/officeDocument/2006/relationships/slide" Target="/ppt/slides/slide24.xml" Id="R93847cb794374d78" /><Relationship Type="http://schemas.openxmlformats.org/officeDocument/2006/relationships/slide" Target="/ppt/slides/slide25.xml" Id="R89ff84685ac74dba" /><Relationship Type="http://schemas.openxmlformats.org/officeDocument/2006/relationships/slide" Target="/ppt/slides/slide26.xml" Id="R0c7d2851d6fd4da7" /><Relationship Type="http://schemas.openxmlformats.org/officeDocument/2006/relationships/slide" Target="/ppt/slides/slide27.xml" Id="R0e6b474f25c64028" /><Relationship Type="http://schemas.openxmlformats.org/officeDocument/2006/relationships/slide" Target="/ppt/slides/slide28.xml" Id="Rbec0967a25f94608" /><Relationship Type="http://schemas.openxmlformats.org/officeDocument/2006/relationships/slide" Target="/ppt/slides/slide29.xml" Id="Ra5df9b54c9724ceb" /><Relationship Type="http://schemas.openxmlformats.org/officeDocument/2006/relationships/slide" Target="/ppt/slides/slide30.xml" Id="Rc200a65a8373429a" /><Relationship Type="http://schemas.openxmlformats.org/officeDocument/2006/relationships/slide" Target="/ppt/slides/slide31.xml" Id="Rf06e8da922e94fc5" /><Relationship Type="http://schemas.openxmlformats.org/officeDocument/2006/relationships/slide" Target="/ppt/slides/slide32.xml" Id="Rbdc2b1d915bf40ef" /><Relationship Type="http://schemas.openxmlformats.org/officeDocument/2006/relationships/slide" Target="/ppt/slides/slide33.xml" Id="Rd38f8a3dd26b4624" /><Relationship Type="http://schemas.openxmlformats.org/officeDocument/2006/relationships/slide" Target="/ppt/slides/slide34.xml" Id="Rcd7e19598f5c45b0" /><Relationship Type="http://schemas.openxmlformats.org/officeDocument/2006/relationships/slide" Target="/ppt/slides/slide35.xml" Id="R987f3faadf9b4fc8" /><Relationship Type="http://schemas.openxmlformats.org/officeDocument/2006/relationships/slide" Target="/ppt/slides/slide36.xml" Id="R2f1b89ecf9a141b9" /><Relationship Type="http://schemas.openxmlformats.org/officeDocument/2006/relationships/slide" Target="/ppt/slides/slide37.xml" Id="R238e49bf3da6410d" /><Relationship Type="http://schemas.openxmlformats.org/officeDocument/2006/relationships/slide" Target="/ppt/slides/slide38.xml" Id="R737e0f03002a4c51" /><Relationship Type="http://schemas.openxmlformats.org/officeDocument/2006/relationships/slide" Target="/ppt/slides/slide39.xml" Id="Rfbbe61ab860a48a8" /><Relationship Type="http://schemas.openxmlformats.org/officeDocument/2006/relationships/slide" Target="/ppt/slides/slide40.xml" Id="Rc0734d4794be41fc" /><Relationship Type="http://schemas.openxmlformats.org/officeDocument/2006/relationships/slide" Target="/ppt/slides/slide41.xml" Id="R53cde6617b634017" /><Relationship Type="http://schemas.openxmlformats.org/officeDocument/2006/relationships/slide" Target="/ppt/slides/slide42.xml" Id="R0fdf58f45b5f4c46" /><Relationship Type="http://schemas.openxmlformats.org/officeDocument/2006/relationships/slide" Target="/ppt/slides/slide43.xml" Id="Ra2a32386616648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a990afa9f54d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9f3ba1b739442b" /><Relationship Type="http://schemas.openxmlformats.org/officeDocument/2006/relationships/notesMaster" Target="/ppt/notesMasters/notesMaster1.xml" Id="Rf424538ada9341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0236e0618e483f" /><Relationship Type="http://schemas.openxmlformats.org/officeDocument/2006/relationships/notesMaster" Target="/ppt/notesMasters/notesMaster1.xml" Id="R66a866f7d5024c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e859d624c84c79" /><Relationship Type="http://schemas.openxmlformats.org/officeDocument/2006/relationships/notesMaster" Target="/ppt/notesMasters/notesMaster1.xml" Id="R06a3a2ce3ae941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5836f0fc704aa6" /><Relationship Type="http://schemas.openxmlformats.org/officeDocument/2006/relationships/notesMaster" Target="/ppt/notesMasters/notesMaster1.xml" Id="R89c8d92084d441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64895700174b43" /><Relationship Type="http://schemas.openxmlformats.org/officeDocument/2006/relationships/notesMaster" Target="/ppt/notesMasters/notesMaster1.xml" Id="R4c9f725780944c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6c70e3072a48e7" /><Relationship Type="http://schemas.openxmlformats.org/officeDocument/2006/relationships/notesMaster" Target="/ppt/notesMasters/notesMaster1.xml" Id="Re6aa3fdc1ead47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6534ddbab94033" /><Relationship Type="http://schemas.openxmlformats.org/officeDocument/2006/relationships/notesMaster" Target="/ppt/notesMasters/notesMaster1.xml" Id="R1475b2b4bf8240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916b412e3143b5" /><Relationship Type="http://schemas.openxmlformats.org/officeDocument/2006/relationships/notesMaster" Target="/ppt/notesMasters/notesMaster1.xml" Id="R82a0996a206d4b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dc8a070e3394952" /><Relationship Type="http://schemas.openxmlformats.org/officeDocument/2006/relationships/notesMaster" Target="/ppt/notesMasters/notesMaster1.xml" Id="R7fa48634b1d94d0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f57b3b2d595463c" /><Relationship Type="http://schemas.openxmlformats.org/officeDocument/2006/relationships/notesMaster" Target="/ppt/notesMasters/notesMaster1.xml" Id="R8de26bc95df0486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f316e2ca234628" /><Relationship Type="http://schemas.openxmlformats.org/officeDocument/2006/relationships/notesMaster" Target="/ppt/notesMasters/notesMaster1.xml" Id="R6728268ca07f4c1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c4af9770644f0e" /><Relationship Type="http://schemas.openxmlformats.org/officeDocument/2006/relationships/notesMaster" Target="/ppt/notesMasters/notesMaster1.xml" Id="Ref2156509deb411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8cbc71a46de4bf8" /><Relationship Type="http://schemas.openxmlformats.org/officeDocument/2006/relationships/notesMaster" Target="/ppt/notesMasters/notesMaster1.xml" Id="Rbf9f5fbff49d469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afcefcc2f5c4167" /><Relationship Type="http://schemas.openxmlformats.org/officeDocument/2006/relationships/notesMaster" Target="/ppt/notesMasters/notesMaster1.xml" Id="R8c829b131f334ae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1bc5f3b992e456a" /><Relationship Type="http://schemas.openxmlformats.org/officeDocument/2006/relationships/notesMaster" Target="/ppt/notesMasters/notesMaster1.xml" Id="Ra8281ca8d40645a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db86317ae55459b" /><Relationship Type="http://schemas.openxmlformats.org/officeDocument/2006/relationships/notesMaster" Target="/ppt/notesMasters/notesMaster1.xml" Id="R327e71fdd40a4c2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2826c7f249241c3" /><Relationship Type="http://schemas.openxmlformats.org/officeDocument/2006/relationships/notesMaster" Target="/ppt/notesMasters/notesMaster1.xml" Id="R5cdd60456ec64e4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13156dfbadd422b" /><Relationship Type="http://schemas.openxmlformats.org/officeDocument/2006/relationships/notesMaster" Target="/ppt/notesMasters/notesMaster1.xml" Id="R9a8abe00b8914e3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1e40648c8124007" /><Relationship Type="http://schemas.openxmlformats.org/officeDocument/2006/relationships/notesMaster" Target="/ppt/notesMasters/notesMaster1.xml" Id="R08505053d076433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8c4dcb6a7e845e9" /><Relationship Type="http://schemas.openxmlformats.org/officeDocument/2006/relationships/notesMaster" Target="/ppt/notesMasters/notesMaster1.xml" Id="Rcee48489bade482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425c6b4d8cb449b" /><Relationship Type="http://schemas.openxmlformats.org/officeDocument/2006/relationships/notesMaster" Target="/ppt/notesMasters/notesMaster1.xml" Id="Rd3e7860a6c334ea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eec6e0d5e1341ba" /><Relationship Type="http://schemas.openxmlformats.org/officeDocument/2006/relationships/notesMaster" Target="/ppt/notesMasters/notesMaster1.xml" Id="Rfebbc5ee90cf4b6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cc80a48aa044890" /><Relationship Type="http://schemas.openxmlformats.org/officeDocument/2006/relationships/notesMaster" Target="/ppt/notesMasters/notesMaster1.xml" Id="Re849555f29354ad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2e299c37d764afe" /><Relationship Type="http://schemas.openxmlformats.org/officeDocument/2006/relationships/notesMaster" Target="/ppt/notesMasters/notesMaster1.xml" Id="R387740e3984b40c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b799a164a91433e" /><Relationship Type="http://schemas.openxmlformats.org/officeDocument/2006/relationships/notesMaster" Target="/ppt/notesMasters/notesMaster1.xml" Id="Rb7656c213212484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5b425a4261d4271" /><Relationship Type="http://schemas.openxmlformats.org/officeDocument/2006/relationships/notesMaster" Target="/ppt/notesMasters/notesMaster1.xml" Id="R63f448d80f994fa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0e00dc067304847" /><Relationship Type="http://schemas.openxmlformats.org/officeDocument/2006/relationships/notesMaster" Target="/ppt/notesMasters/notesMaster1.xml" Id="Rdaa5d4fdb775488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4fc82ab7d67465c" /><Relationship Type="http://schemas.openxmlformats.org/officeDocument/2006/relationships/notesMaster" Target="/ppt/notesMasters/notesMaster1.xml" Id="R974bc5769e2e447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727d14fc46d45a7" /><Relationship Type="http://schemas.openxmlformats.org/officeDocument/2006/relationships/notesMaster" Target="/ppt/notesMasters/notesMaster1.xml" Id="R99b92d2a45ba416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28d30cd88514062" /><Relationship Type="http://schemas.openxmlformats.org/officeDocument/2006/relationships/notesMaster" Target="/ppt/notesMasters/notesMaster1.xml" Id="R6606e2184e5741b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cb34fb59b3b439a" /><Relationship Type="http://schemas.openxmlformats.org/officeDocument/2006/relationships/notesMaster" Target="/ppt/notesMasters/notesMaster1.xml" Id="Rcc296ad836ed445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2d891a3e86949ba" /><Relationship Type="http://schemas.openxmlformats.org/officeDocument/2006/relationships/notesMaster" Target="/ppt/notesMasters/notesMaster1.xml" Id="Ra736c290fd29476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274ed4056f8457d" /><Relationship Type="http://schemas.openxmlformats.org/officeDocument/2006/relationships/notesMaster" Target="/ppt/notesMasters/notesMaster1.xml" Id="Ree042b4d0370499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ff06bcfc0be471c" /><Relationship Type="http://schemas.openxmlformats.org/officeDocument/2006/relationships/notesMaster" Target="/ppt/notesMasters/notesMaster1.xml" Id="Rc831849fcdd6453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b38f4e987bd4291" /><Relationship Type="http://schemas.openxmlformats.org/officeDocument/2006/relationships/notesMaster" Target="/ppt/notesMasters/notesMaster1.xml" Id="Rbecf9f3ab1124f5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d659e14a95245d5" /><Relationship Type="http://schemas.openxmlformats.org/officeDocument/2006/relationships/notesMaster" Target="/ppt/notesMasters/notesMaster1.xml" Id="Rb224806dabd3465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08eebff399e4d16" /><Relationship Type="http://schemas.openxmlformats.org/officeDocument/2006/relationships/notesMaster" Target="/ppt/notesMasters/notesMaster1.xml" Id="R245decfb36584e5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30c7d07be264357" /><Relationship Type="http://schemas.openxmlformats.org/officeDocument/2006/relationships/notesMaster" Target="/ppt/notesMasters/notesMaster1.xml" Id="R48b076e2d032461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956548671e94ba2" /><Relationship Type="http://schemas.openxmlformats.org/officeDocument/2006/relationships/notesMaster" Target="/ppt/notesMasters/notesMaster1.xml" Id="R5091e45da7974a9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0407b697e854d88" /><Relationship Type="http://schemas.openxmlformats.org/officeDocument/2006/relationships/notesMaster" Target="/ppt/notesMasters/notesMaster1.xml" Id="R0c6fefa159014e2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c802fd234d44bc2" /><Relationship Type="http://schemas.openxmlformats.org/officeDocument/2006/relationships/notesMaster" Target="/ppt/notesMasters/notesMaster1.xml" Id="R75d5b77bee454d1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60030bbbbc1478d" /><Relationship Type="http://schemas.openxmlformats.org/officeDocument/2006/relationships/notesMaster" Target="/ppt/notesMasters/notesMaster1.xml" Id="Ra5447ebd14e5462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0944563cbdc4438" /><Relationship Type="http://schemas.openxmlformats.org/officeDocument/2006/relationships/notesMaster" Target="/ppt/notesMasters/notesMaster1.xml" Id="Ra3ff2994e46f43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details follow the title page of Perez and Somosa's revised capstone proposal. The work is presented as a proposal. Describe all system capabilities, testing and benefits in future or intended terms unless later implementation evidence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route begins with the legal and operational context, then moves through the problem, system design, module behavior, data models, user flows, development plan, and expected significance.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 10121 Section 12 establishes Local Disaster Risk Reduction and Management Offices and Barangay Disaster Risk Reduction and Management Committees. Within their jurisdictions, the paper identifies duties to consolidate local DRRM information, maintain maps and databases, monitor hazards and vulnerabilities, disseminate information, coordinate DRRM activities, and operate local centers. The law establishes responsibilities. It does not prescribe this particular web platform or transfer statutory authority to a technical operator.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Operation L!STO is a DILG and Local Government Academy initiative that strengthens local disaster preparedness through manuals and capacity development. The manuals provide preparedness guidance and minimum actions for LGU planning. DILG Region IX's 2023 rollout covered hydrometeorological and earthquake/tsunami manuals for LGUs in the Zamboanga Peninsula. Present this as operational guidance that complements RA 10121, not as a law prescribing this software. The proposed system supports information management and Situation Report preparation but does not replace local protocols, command, or official decisions. Sources: DILG and Local Government Academy, Operation L!STO: Disaster Preparedness Manual v.3 for City and Municipal LGUs, https://cdn.lga.gov.ph/publication/attachments/1590478478.pdf; DILG Region IX, DILG IX Spearheads 2-Day Rollout on Operation L!sto: Disaster Preparedness Manuals, 2023, https://region9.dilg.gov.ph/dilg-ix-spearheads-2-day-rollout-on-operation-lsto-disaster-preparedness-manuals/.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 describes Initial, Progress, Terminal and Final reporting under the 2024 NDRRM Operations Center Standard Operating Procedures and Guidelines. Initial information may be incomplete. Progress reports update the situation and actions. Terminal and Final reports close response and preserve final impacts and outcomes. The paper identifies prevailing situation, preparedness measures, response actions, consolidated effects, issues and concerns, and recommendations as core SitRep content. Document control, source references, approval and annexes support traceability and should follow the applicable official template. Do not claim that RA 10121 mandates this exact eight-part software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manuscript's current-process diagram shows Purok personnel gathering event location, time and hazard details, then communicating initial information to the Barangay through existing channels. Barangay personnel check the incident area and prepare an initial account. The ZCDRRMO Operations Department may request a response or further clarification, and staff may collect information in the field. Personnel then manually consolidate messages, documents, drives and spreadsheets before preparing and submitting the City SitRep. The slide summarizes the stated process and does not imply that every incident follows an identical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implications synthesize the interview account and workflow described in the paper. The paper does not quantify delay or error rates. Keep the discussion qualitative unless the research team has additional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alternatives are not dismissed. Calls, radio, telephone and paper remain necessary contingency channels during outages. Their limitation is that they do not by themselves provide the proposed shared status, version, source and review history. Shared documents and spreadsheets are flexible but do not automatically establish a controlled reporting hierarchy or a verified SitRep source set. A standalone reporting form improves capture but may not support profile aggregation, tiered human verification, historical catalogs and template-based SitRep preparation as one workflow. The proposed platform also has limitations, notably its dependence on internet access and a centralized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paper identifies four related but distinct issues. Communication delays occur through indirect reporting and follow-up. Manual record management requires consolidation and re-summarization. Limited data sharing makes it harder for operational knowledge to reach report preparers. Inefficient verification leads to clarification calls and possible field checks. These findings come from the qualitative account reported in the manuscript, not from a measured system-wide time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 10121 Section 12 establishes local information, monitoring, dissemination and coordination functions. The NDRRMOC SOPG describes progressive reports and validation before official dissemination. The current workflow relies on separate channels and manual consolidation, according to the interview account. The design response is a role-governed record with source attribution, visible status, human verification and version history. The proposal supports these duties. It does not make the software a legal mandate and does not let automated checks decide whether reported facts are 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WHAT box defines the centralized web system and its main records and functions. The WHY box summarizes the current-workflow problems identified in the paper, including delays, manual record handling, limited data sharing and inefficient verification. The HOW box shows the reporting sequence: Purok submits aggregate profile information and initial incident reports, Barangay verifies and consolidates submissions, and the DRRM Administrator reviews verified Barangay reports and prepares an editable Situation Report draft. Corrections return to the responsible level. Records retain their source and version. Human officials retain authority over factual review, approval and official release. The paper describes Purok profiles as aggregate counts, not named household case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general objective in the paper is to design, develop and evaluate a centralized, role-based online system that streamlines grassroots disaster reporting and automates NDRRMC SitRep consolidation for LGUs. Specific objectives cover the 17 named modules. Their criteria include required-field storage, correct account routing, version retrieval, verification decisions, role-based access and report completeness. The numerical targets in the objectives are proposed test criteria. They are not achieved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readable overview summarizes the manuscript's Figure 2. Users sign in with issued credentials. Higher-level authorized personnel create accounts, so the flow does not include public self-registration. Purok users submit profiles and initial reports. Barangay personnel verify Purok submissions and consolidate accepted reports. DRRM Administrators verify Barangay submissions and route the resulting SitRep draft through authorized human review and approval. A return decision sends the record back for correction. The full system flowchart is included in the appendix as Figure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contains 17 distinct modules, six at Purok level, six at Barangay level and five system-level functions. The levels are intentionally segregated because Purok profile data informs Barangay profiling and because account management and verification responsibilities differ by level. The overview groups modules for readability while retaining their exact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comparisons summarize the related work as described in the revised paper. They are not an independent, exhaustive audit of every current feature in each system. The paper identifies Bandilyo with mobile or SMS incident reporting and geolocation, AGAPP with near-real-time disaster reporting and review, IRespondPH with citizen reporting and LGU validation, and Mamamayan with community-to-dispatcher emergency reporting. SitRepO's proposed distinction is the jurisdictional Purok, Barangay and DRRM workflow with verification, history and structured SitRep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traceability matrix connects the four problem themes to the corresponding objectives and methods described in the proposed system. The methods are system approaches, not module names. The mapping is a design rationale, not an evaluation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distinguishes Purok, Barangay and Administrator roles. The proposed interface is browser-based. Purok use is mobile-first. Barangay and DRRM administration must also support desktop work such as verification, consolidated reporting and SitRep preparation. The paper does not provide user age, formal education, disability or digital-literacy data, so the presentation does not invent these characteristics. The manuscript's Table 2 access wording should be aligned with the role-specific dashboard description before defense.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is a responsive browser-based service, originally studied with the ZCDRRMO and described as configurable for participating organizations. It covers reporting for response and recovery, including Initial, Progress, Terminal and Final SitReps. It does not cover pre-disaster preparedness reporting, continuous risk monitoring, a native mobile application, offline synchronization or SMS fallback. Access depends on internet connectivity and the centralized VPS-hosted database. Radio, phone and paper procedures must remain available for outages. Before defense, reconcile the multi-organization statement in paragraph 323 with the exclusive-ZCDRRMO wording in paragraph 333. Figure 25 also depicts mobile applications and offline relay while the text excludes them. The access matrix should be aligned with paragraph 330's role-specific dashboard scope. The objectives repeat Barangay Incident Report History at paragraphs 314 and 315.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slide follows the system description in the revised paper rather than the earlier Figure 25 graphic, which appears to include offline and native-app components not supported by the scope statement. The described stack uses React.js and Next.js, HTML and Tailwind CSS at the browser interface, Node.js and PostgREST for application and API functions, OpenAuth for authentication, HTTPS for network transmission, PostgreSQL for centralized persistence, and a VPS with CDN for deployment. The centralized database and internet dependency are limitations, not guarantees of high 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Purok User Management</a:t>
            </a:r>
          </a:p>
          <a:p xmlns:a="http://schemas.openxmlformats.org/drawingml/2006/main">
            <a:r>
              <a:t>HOW: Authorized Barangay personnel create a Purok account, assign its Barangay and issue credentials.</a:t>
            </a:r>
          </a:p>
          <a:p xmlns:a="http://schemas.openxmlformats.org/drawingml/2006/main">
            <a:r>
              <a:t>WHY: Correct jurisdiction routes submissions to the responsible reviewer.</a:t>
            </a:r>
          </a:p>
          <a:p xmlns:a="http://schemas.openxmlformats.org/drawingml/2006/main">
            <a:r>
              <a:t/>
            </a:r>
          </a:p>
          <a:p xmlns:a="http://schemas.openxmlformats.org/drawingml/2006/main">
            <a:r>
              <a:t>Purok Profile Creation</a:t>
            </a:r>
          </a:p>
          <a:p xmlns:a="http://schemas.openxmlformats.org/drawingml/2006/main">
            <a:r>
              <a:t>HOW: Record Purok identity and monthly aggregate population, housing, vulnerability and hazard exposure values.</a:t>
            </a:r>
          </a:p>
          <a:p xmlns:a="http://schemas.openxmlformats.org/drawingml/2006/main">
            <a:r>
              <a:t>WHY: Establishes the baseline for exposure analysis and Barangay consolidation. No named household records are required.</a:t>
            </a:r>
          </a:p>
          <a:p xmlns:a="http://schemas.openxmlformats.org/drawingml/2006/main">
            <a:r>
              <a:t/>
            </a:r>
          </a:p>
          <a:p xmlns:a="http://schemas.openxmlformats.org/drawingml/2006/main">
            <a:r>
              <a:t>Purok Profile Verification</a:t>
            </a:r>
          </a:p>
          <a:p xmlns:a="http://schemas.openxmlformats.org/drawingml/2006/main">
            <a:r>
              <a:t>HOW: A Barangay reviewer compares the submitted profile with reference information and approves or returns it with a reason.</a:t>
            </a:r>
          </a:p>
          <a:p xmlns:a="http://schemas.openxmlformats.org/drawingml/2006/main">
            <a:r>
              <a:t>WHY: Keeps unverified baseline data from being treated as confirmed.</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Purok Incident Reporting</a:t>
            </a:r>
          </a:p>
          <a:p xmlns:a="http://schemas.openxmlformats.org/drawingml/2006/main">
            <a:r>
              <a:t>HOW: Submit hazard, location, observed date and time, initial situation and affected or exposure-unit totals. Keep later changes as versions.</a:t>
            </a:r>
          </a:p>
          <a:p xmlns:a="http://schemas.openxmlformats.org/drawingml/2006/main">
            <a:r>
              <a:t>WHY: Captures a useful first report without making Purok complete the full SitRep assessment.</a:t>
            </a:r>
          </a:p>
          <a:p xmlns:a="http://schemas.openxmlformats.org/drawingml/2006/main">
            <a:r>
              <a:t/>
            </a:r>
          </a:p>
          <a:p xmlns:a="http://schemas.openxmlformats.org/drawingml/2006/main">
            <a:r>
              <a:t>Purok Incident Report Verification</a:t>
            </a:r>
          </a:p>
          <a:p xmlns:a="http://schemas.openxmlformats.org/drawingml/2006/main">
            <a:r>
              <a:t>HOW: Barangay reviewers compare sources and versions, flag possible duplicates or conflicts, then validate, partially validate, return or reject with a reason.</a:t>
            </a:r>
          </a:p>
          <a:p xmlns:a="http://schemas.openxmlformats.org/drawingml/2006/main">
            <a:r>
              <a:t>WHY: Makes review and correction accountable. Automated checks do not decide factual accuracy.</a:t>
            </a:r>
          </a:p>
          <a:p xmlns:a="http://schemas.openxmlformats.org/drawingml/2006/main">
            <a:r>
              <a:t/>
            </a:r>
          </a:p>
          <a:p xmlns:a="http://schemas.openxmlformats.org/drawingml/2006/main">
            <a:r>
              <a:t>Purok Incident Report History</a:t>
            </a:r>
          </a:p>
          <a:p xmlns:a="http://schemas.openxmlformats.org/drawingml/2006/main">
            <a:r>
              <a:t>HOW: Retrieve current and prior versions of Purok incident reports with their status.</a:t>
            </a:r>
          </a:p>
          <a:p xmlns:a="http://schemas.openxmlformats.org/drawingml/2006/main">
            <a:r>
              <a:t>WHY: Shows what changed as the event developed and preserves the originating record.</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Barangay User Management</a:t>
            </a:r>
          </a:p>
          <a:p xmlns:a="http://schemas.openxmlformats.org/drawingml/2006/main">
            <a:r>
              <a:t>HOW: Authorized DRRM Administrators create Barangay accounts and issue system-generated credentials.</a:t>
            </a:r>
          </a:p>
          <a:p xmlns:a="http://schemas.openxmlformats.org/drawingml/2006/main">
            <a:r>
              <a:t>WHY: Keeps account creation under the level responsible for citywide user administration.</a:t>
            </a:r>
          </a:p>
          <a:p xmlns:a="http://schemas.openxmlformats.org/drawingml/2006/main">
            <a:r>
              <a:t/>
            </a:r>
          </a:p>
          <a:p xmlns:a="http://schemas.openxmlformats.org/drawingml/2006/main">
            <a:r>
              <a:t>Barangay Profile Creation</a:t>
            </a:r>
          </a:p>
          <a:p xmlns:a="http://schemas.openxmlformats.org/drawingml/2006/main">
            <a:r>
              <a:t>HOW: Consolidate verified Purok profile records into the Barangay profile.</a:t>
            </a:r>
          </a:p>
          <a:p xmlns:a="http://schemas.openxmlformats.org/drawingml/2006/main">
            <a:r>
              <a:t>WHY: Builds the higher-level baseline from its constituent Purok data instead of re-entering it.</a:t>
            </a:r>
          </a:p>
          <a:p xmlns:a="http://schemas.openxmlformats.org/drawingml/2006/main">
            <a:r>
              <a:t/>
            </a:r>
          </a:p>
          <a:p xmlns:a="http://schemas.openxmlformats.org/drawingml/2006/main">
            <a:r>
              <a:t>Barangay Profile Verification</a:t>
            </a:r>
          </a:p>
          <a:p xmlns:a="http://schemas.openxmlformats.org/drawingml/2006/main">
            <a:r>
              <a:t>HOW: An authorized DRRM reviewer checks the consolidated profile against references and records the decision.</a:t>
            </a:r>
          </a:p>
          <a:p xmlns:a="http://schemas.openxmlformats.org/drawingml/2006/main">
            <a:r>
              <a:t>WHY: Adds a higher-level review before the Barangay profile is treated as verified.</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Barangay Incident Reporting</a:t>
            </a:r>
          </a:p>
          <a:p xmlns:a="http://schemas.openxmlformats.org/drawingml/2006/main">
            <a:r>
              <a:t>HOW: Consolidate eligible verified Purok reports, add Barangay-level assessment, and return unverified source reports for correction.</a:t>
            </a:r>
          </a:p>
          <a:p xmlns:a="http://schemas.openxmlformats.org/drawingml/2006/main">
            <a:r>
              <a:t>WHY: Produces a multi-Purok incident account with more aggregated effects.</a:t>
            </a:r>
          </a:p>
          <a:p xmlns:a="http://schemas.openxmlformats.org/drawingml/2006/main">
            <a:r>
              <a:t/>
            </a:r>
          </a:p>
          <a:p xmlns:a="http://schemas.openxmlformats.org/drawingml/2006/main">
            <a:r>
              <a:t>Barangay Incident Report Verification</a:t>
            </a:r>
          </a:p>
          <a:p xmlns:a="http://schemas.openxmlformats.org/drawingml/2006/main">
            <a:r>
              <a:t>HOW: DRRM reviewers check new or modified submissions, compare sources, flag conflicts, and verify, partially verify, return or reject with a reason.</a:t>
            </a:r>
          </a:p>
          <a:p xmlns:a="http://schemas.openxmlformats.org/drawingml/2006/main">
            <a:r>
              <a:t>WHY: Only reviewed Barangay reports are eligible for SitRep consolidation.</a:t>
            </a:r>
          </a:p>
          <a:p xmlns:a="http://schemas.openxmlformats.org/drawingml/2006/main">
            <a:r>
              <a:t/>
            </a:r>
          </a:p>
          <a:p xmlns:a="http://schemas.openxmlformats.org/drawingml/2006/main">
            <a:r>
              <a:t>Barangay Incident Report History</a:t>
            </a:r>
          </a:p>
          <a:p xmlns:a="http://schemas.openxmlformats.org/drawingml/2006/main">
            <a:r>
              <a:t>HOW: Retrieve current and earlier versions of consolidated Barangay reports.</a:t>
            </a:r>
          </a:p>
          <a:p xmlns:a="http://schemas.openxmlformats.org/drawingml/2006/main">
            <a:r>
              <a:t>WHY: Supports review, correction and tracing of SitRep source data over time.</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User Management</a:t>
            </a:r>
          </a:p>
          <a:p xmlns:a="http://schemas.openxmlformats.org/drawingml/2006/main">
            <a:r>
              <a:t>HOW: DRRM Administrators view, edit, activate or suspend accounts across all three levels.</a:t>
            </a:r>
          </a:p>
          <a:p xmlns:a="http://schemas.openxmlformats.org/drawingml/2006/main">
            <a:r>
              <a:t>WHY: Controls access while preserving authorship and approval history when an account changes.</a:t>
            </a:r>
          </a:p>
          <a:p xmlns:a="http://schemas.openxmlformats.org/drawingml/2006/main">
            <a:r>
              <a:t/>
            </a:r>
          </a:p>
          <a:p xmlns:a="http://schemas.openxmlformats.org/drawingml/2006/main">
            <a:r>
              <a:t>Hazard Creation</a:t>
            </a:r>
          </a:p>
          <a:p xmlns:a="http://schemas.openxmlformats.org/drawingml/2006/main">
            <a:r>
              <a:t>HOW: Authorized users record hazard details and classify entries against the participating organization's CDRA types, adding a type when needed.</a:t>
            </a:r>
          </a:p>
          <a:p xmlns:a="http://schemas.openxmlformats.org/drawingml/2006/main">
            <a:r>
              <a:t>WHY: Keeps hazard terminology consistent with local assessment practice. The system records the chosen type and does not independently classify events.</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Situation Report Generation</a:t>
            </a:r>
          </a:p>
          <a:p xmlns:a="http://schemas.openxmlformats.org/drawingml/2006/main">
            <a:r>
              <a:t>HOW: Select an incident and cutoff, retrieve verified Barangay reports, build an editable template-based draft, then route it for authorized review, approval and export.</a:t>
            </a:r>
          </a:p>
          <a:p xmlns:a="http://schemas.openxmlformats.org/drawingml/2006/main">
            <a:r>
              <a:t>WHY: Reduces repeated summarization while retaining source attribution and human authority.</a:t>
            </a:r>
          </a:p>
          <a:p xmlns:a="http://schemas.openxmlformats.org/drawingml/2006/main">
            <a:r>
              <a:t/>
            </a:r>
          </a:p>
          <a:p xmlns:a="http://schemas.openxmlformats.org/drawingml/2006/main">
            <a:r>
              <a:t>Situation Report Historical Catalog</a:t>
            </a:r>
          </a:p>
          <a:p xmlns:a="http://schemas.openxmlformats.org/drawingml/2006/main">
            <a:r>
              <a:t>HOW: Search, filter, compare, export, correct or supersede reports while retaining prior approved versions and record controls.</a:t>
            </a:r>
          </a:p>
          <a:p xmlns:a="http://schemas.openxmlformats.org/drawingml/2006/main">
            <a:r>
              <a:t>WHY: Preserves continuity and supports audit, retention and later retrieval.</a:t>
            </a:r>
          </a:p>
          <a:p xmlns:a="http://schemas.openxmlformats.org/drawingml/2006/main">
            <a:r>
              <a:t/>
            </a:r>
          </a:p>
          <a:p xmlns:a="http://schemas.openxmlformats.org/drawingml/2006/main">
            <a:r>
              <a:t>System Dashboard</a:t>
            </a:r>
          </a:p>
          <a:p xmlns:a="http://schemas.openxmlformats.org/drawingml/2006/main">
            <a:r>
              <a:t>HOW: Show role-specific incident, population, report-status, verification, SitRep-coverage and processing summaries, with filters and last-update time.</a:t>
            </a:r>
          </a:p>
          <a:p xmlns:a="http://schemas.openxmlformats.org/drawingml/2006/main">
            <a:r>
              <a:t>WHY: Gives each level relevant operational visibility and distinguishes provisional from verified data.</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Level 0 DFD names the Purok User, Barangay User and DRRM Administrator as external entities. Its numbered processes separate account management, profiling, verification, incident reporting, hazard creation, report history, login, SitRep generation and system administration. The data stores shown are Accounts DB, Purok Profile DB, Barangay Profile DB, Hazards DB, Purok Incident DB, Barangay Incident DB and Situation Report DB. Data move upward only after the applicable verification step. Status and correction information return to the originating level. The original full diagram follows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40 organizes the data concepts that support the modules. Account is the common account entity with Purok, Barangay and DRRM account subtypes. Separate profile entities retain baseline data and supporting housing and hazard-exposure details. Hazard records and characteristics support CDRA-aligned configuration. Incident reports preserve versions and related population, casualty and damage records. Situation Reports relate to their report versions and structured effect, action and recommendation records. Follow the adviser-guided ERD notation: underline primary identifiers and express relationships with connectors. The ERD does not need to list foreign-key fields as attributes. The full Figure 40 appears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Relational Data Model translates the conceptual entities and relationships into tables and relational keys. The paper's Figure 41 shows the table-level structure and connections. The ERD and RDM serve different purposes: the ERD explains entities and relationships for the academic model, while the RDM prepares the implementable relational organization. Foreign-key attributes and key constraints belong in the schema or RDM representation as required by the chosen notation, even when the academic ERD omits FK attributes. The full Figure 41 appears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Sign in with credentials issued by an authorized higher-level user</a:t>
            </a:r>
          </a:p>
          <a:p xmlns:a="http://schemas.openxmlformats.org/drawingml/2006/main">
            <a:r>
              <a:t>2. Review the current verified monthly profile</a:t>
            </a:r>
          </a:p>
          <a:p xmlns:a="http://schemas.openxmlformats.org/drawingml/2006/main">
            <a:r>
              <a:t>3. Enter aggregate population, housing, vulnerability and hazard-exposure values</a:t>
            </a:r>
          </a:p>
          <a:p xmlns:a="http://schemas.openxmlformats.org/drawingml/2006/main">
            <a:r>
              <a:t>4. Submit the profile to Barangay review and correct it if returned</a:t>
            </a:r>
          </a:p>
          <a:p xmlns:a="http://schemas.openxmlformats.org/drawingml/2006/main">
            <a:r>
              <a:t>5. For an incident, submit hazard, location, date and time, initial situation and affected or exposure counts</a:t>
            </a:r>
          </a:p>
          <a:p xmlns:a="http://schemas.openxmlformats.org/drawingml/2006/main">
            <a:r>
              <a:t>6. Update the report as information changes and review status and prior versions</a:t>
            </a:r>
          </a:p>
          <a:p xmlns:a="http://schemas.openxmlformats.org/drawingml/2006/main">
            <a:r>
              <a:t/>
            </a:r>
          </a:p>
          <a:p xmlns:a="http://schemas.openxmlformats.org/drawingml/2006/main">
            <a:r>
              <a:t>Purok input is deliberately an initial, aggregate report. It does not require named household records or a complete city-level damage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Sign in and open the Purok profile and incident review queues</a:t>
            </a:r>
          </a:p>
          <a:p xmlns:a="http://schemas.openxmlformats.org/drawingml/2006/main">
            <a:r>
              <a:t>2. Compare submitted information with available references</a:t>
            </a:r>
          </a:p>
          <a:p xmlns:a="http://schemas.openxmlformats.org/drawingml/2006/main">
            <a:r>
              <a:t>3. Verify or return Purok profile and incident records with a recorded reason</a:t>
            </a:r>
          </a:p>
          <a:p xmlns:a="http://schemas.openxmlformats.org/drawingml/2006/main">
            <a:r>
              <a:t>4. Build the Barangay profile from verified Purok profile data</a:t>
            </a:r>
          </a:p>
          <a:p xmlns:a="http://schemas.openxmlformats.org/drawingml/2006/main">
            <a:r>
              <a:t>5. Consolidate verified Purok incident reports and add Barangay-level affected-population, casualty and damage assessment</a:t>
            </a:r>
          </a:p>
          <a:p xmlns:a="http://schemas.openxmlformats.org/drawingml/2006/main">
            <a:r>
              <a:t>6. Submit the Barangay report to DRRM and consult status and report history</a:t>
            </a:r>
          </a:p>
          <a:p xmlns:a="http://schemas.openxmlformats.org/drawingml/2006/main">
            <a:r>
              <a:t/>
            </a:r>
          </a:p>
          <a:p xmlns:a="http://schemas.openxmlformats.org/drawingml/2006/main">
            <a:r>
              <a:t>Barangay reporting increases aggregation and assessment detail. The system should keep the Purok source and the Barangay contribution distinguishable to reduce double counting and preserve provenance.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Sign in to the administrative workspace</a:t>
            </a:r>
          </a:p>
          <a:p xmlns:a="http://schemas.openxmlformats.org/drawingml/2006/main">
            <a:r>
              <a:t>2. Create or maintain Purok, Barangay and administrator accounts</a:t>
            </a:r>
          </a:p>
          <a:p xmlns:a="http://schemas.openxmlformats.org/drawingml/2006/main">
            <a:r>
              <a:t>3. Configure hazard types according to the participating organization's CDRA</a:t>
            </a:r>
          </a:p>
          <a:p xmlns:a="http://schemas.openxmlformats.org/drawingml/2006/main">
            <a:r>
              <a:t>4. Review Barangay profiles and incident reports, then verify or return with a reason</a:t>
            </a:r>
          </a:p>
          <a:p xmlns:a="http://schemas.openxmlformats.org/drawingml/2006/main">
            <a:r>
              <a:t>5. Select an incident and reporting cutoff to retrieve eligible verified Barangay reports</a:t>
            </a:r>
          </a:p>
          <a:p xmlns:a="http://schemas.openxmlformats.org/drawingml/2006/main">
            <a:r>
              <a:t>6. Prepare and edit the SitRep draft, route it for authorized review and approval, then export</a:t>
            </a:r>
          </a:p>
          <a:p xmlns:a="http://schemas.openxmlformats.org/drawingml/2006/main">
            <a:r>
              <a:t>7. Use the dashboard and historical catalog to monitor status and retrieve prior versions</a:t>
            </a:r>
          </a:p>
          <a:p xmlns:a="http://schemas.openxmlformats.org/drawingml/2006/main">
            <a:r>
              <a:t/>
            </a:r>
          </a:p>
          <a:p xmlns:a="http://schemas.openxmlformats.org/drawingml/2006/main">
            <a:r>
              <a:t>The user-flow description does not assume that the same administrator must prepare and approve a SitRep. The paper assigns both actions to authorized personnel and the implementing organization should define its separation of duties.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 identifies an Agile software development lifecycle. This slide summarizes the proposed sequence without inventing sprint lengths, dates or completed milestones. Requirements and mandate review inform design. Implementation proceeds by modules and integration. Alpha testing covers unit, integration, system and security work. Beta testing evaluates acceptance and usability with intended users. Feedback informs revisions. State clearly that development and testing remain planned activities until evidence shows they have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revised paper names React.js and Next.js, HTML and Tailwind CSS for the front end; Node.js and PostgREST for the backend and REST API; PostgreSQL for persistence; OpenAuth for authentication; and a VPS with CDN for deployment and static asset delivery. It describes access through supported desktop and mobile browsers. It does not specify exact framework versions in the cited scope paragraph. Avoid promising offline synchronization, native push notifications, distributed database availability or AI behavior that the paper does not specify.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Alpha testing includes unit, integration, system and security testing. The paper names Jest for frontend unit and component tests, Jest with Supertest for backend unit and API tests, and Cypress for browser end-to-end tests across desktop and mobile viewports. Beta testing includes user acceptance, usability and a 10-item System Usability Scale questionnaire. The paper proposes mean SUS of at least 68 and zero unhandled crash or render failures across tested browser views as exit criteria. These are planned targets, not achieved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authors have used AI assistance to organize and explain project requirements, refine the problem and objective mapping, prepare and revise diagrams and data models, plan frontend mockups, and draft documentation and presentation material. In the next development phase, they plan to use AI for architecture discussion, code assistance, debugging, bounded multi-agent work and test-case suggestions. Researchers and developers remain responsible for checking sources, reviewing and integrating code, running tests, evaluating results and disclosing assistance under institutional policy. The proposed system itself does not specify an AI-driven operational 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describes intended value for Purok personnel through structured mobile-accessible initial reporting, Barangay personnel through consolidated local information, participating DRRM organizations through a more visible verification and SitRep preparation workflow, and future researchers through structured historical data. These are expected contributions, not measured outcomes. The system does not guarantee faster response, more accurate relief allocation or improved disaster outcomes without evaluation and operational adoption.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proposition is a shared, role-based record from Purok observations through Barangay consolidation to authorized DRRM SitRep preparation. The design separates modules by jurisdiction, preserves source and report history, and treats verification as a human responsibility. The main dependencies are consistent mandated fields, clear local authority, careful access control, reliable connectivity and successful evaluation with intended users.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slide lists selected sources that anchor the presentation. The complete bibliographic information remains in the revised paper. Verify each reference entry and citation style against the university's required format before defense.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If asked about AI, offline operation, multi-organization scope, evaluation outcomes or official report approval, answer only from the revised paper and identify unresolved manuscript decisions clearly.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proposed-system flowchart reproduced from Figure 2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Level 0 Data Flow Diagram reproduced from Figure 27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ERD reproduced from Figure 40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RDM reproduced from Figure 41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c831eb8ef840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deb801fed4461c" /><Relationship Type="http://schemas.openxmlformats.org/officeDocument/2006/relationships/slideLayout" Target="/ppt/slideLayouts/slideLayout1.xml" Id="R1f4d40f953544b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4d40f953544b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36105453af4e60" /><Relationship Type="http://schemas.openxmlformats.org/officeDocument/2006/relationships/notesSlide" Target="/ppt/notesSlides/notesSlide1.xml" Id="Rc34da6be218644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67d272ab5042a4" /><Relationship Type="http://schemas.openxmlformats.org/officeDocument/2006/relationships/notesSlide" Target="/ppt/notesSlides/notesSlide2.xml" Id="R35e71bc932194c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1dc54415a84346" /><Relationship Type="http://schemas.openxmlformats.org/officeDocument/2006/relationships/notesSlide" Target="/ppt/notesSlides/notesSlide3.xml" Id="R6d8dee8ce31e44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5eed641f7a4f0c" /><Relationship Type="http://schemas.openxmlformats.org/officeDocument/2006/relationships/notesSlide" Target="/ppt/notesSlides/notesSlide4.xml" Id="R8038ae5bf7c74d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4b26f9caf1d47b0" /><Relationship Type="http://schemas.openxmlformats.org/officeDocument/2006/relationships/notesSlide" Target="/ppt/notesSlides/notesSlide5.xml" Id="R78ca61acca524f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d90935e4026454f" /><Relationship Type="http://schemas.openxmlformats.org/officeDocument/2006/relationships/notesSlide" Target="/ppt/notesSlides/notesSlide6.xml" Id="Re1e38da016534b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8eeb65e314d4623" /><Relationship Type="http://schemas.openxmlformats.org/officeDocument/2006/relationships/notesSlide" Target="/ppt/notesSlides/notesSlide7.xml" Id="R0e10cad9f2bc46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4a59f6337084150" /><Relationship Type="http://schemas.openxmlformats.org/officeDocument/2006/relationships/notesSlide" Target="/ppt/notesSlides/notesSlide8.xml" Id="R30f5302924e040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d3b5d1d331945d9" /><Relationship Type="http://schemas.openxmlformats.org/officeDocument/2006/relationships/notesSlide" Target="/ppt/notesSlides/notesSlide9.xml" Id="Rc57ea18d9ea34e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f196ccba4824759" /><Relationship Type="http://schemas.openxmlformats.org/officeDocument/2006/relationships/notesSlide" Target="/ppt/notesSlides/notesSlide10.xml" Id="R4d287f4ec43544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b646295386143ae" /><Relationship Type="http://schemas.openxmlformats.org/officeDocument/2006/relationships/notesSlide" Target="/ppt/notesSlides/notesSlide11.xml" Id="Rfe90ee93d1db4a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9ec58754a5c490b" /><Relationship Type="http://schemas.openxmlformats.org/officeDocument/2006/relationships/notesSlide" Target="/ppt/notesSlides/notesSlide12.xml" Id="Rbe119afe9ab74d0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7f2c56a3bc94030" /><Relationship Type="http://schemas.openxmlformats.org/officeDocument/2006/relationships/notesSlide" Target="/ppt/notesSlides/notesSlide13.xml" Id="R569c3f1391cb4a5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2b421dfcdaa4a60" /><Relationship Type="http://schemas.openxmlformats.org/officeDocument/2006/relationships/notesSlide" Target="/ppt/notesSlides/notesSlide14.xml" Id="R3957e47aa519469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19ad4a288054bac" /><Relationship Type="http://schemas.openxmlformats.org/officeDocument/2006/relationships/notesSlide" Target="/ppt/notesSlides/notesSlide15.xml" Id="Rdce75ccbd3194bb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417b16e81ad483c" /><Relationship Type="http://schemas.openxmlformats.org/officeDocument/2006/relationships/notesSlide" Target="/ppt/notesSlides/notesSlide16.xml" Id="R222fc022418b42d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69e1b8e234c474b" /><Relationship Type="http://schemas.openxmlformats.org/officeDocument/2006/relationships/notesSlide" Target="/ppt/notesSlides/notesSlide17.xml" Id="R685d05a7f34644d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c938a8508114a80" /><Relationship Type="http://schemas.openxmlformats.org/officeDocument/2006/relationships/notesSlide" Target="/ppt/notesSlides/notesSlide18.xml" Id="Re070bd52c573492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d2878f0b08e4c1c" /><Relationship Type="http://schemas.openxmlformats.org/officeDocument/2006/relationships/notesSlide" Target="/ppt/notesSlides/notesSlide19.xml" Id="R20c6127d57b64b4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0e2b74b1fd240e0" /><Relationship Type="http://schemas.openxmlformats.org/officeDocument/2006/relationships/notesSlide" Target="/ppt/notesSlides/notesSlide20.xml" Id="Rd9d257821bab485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7300e9ef48443c2" /><Relationship Type="http://schemas.openxmlformats.org/officeDocument/2006/relationships/notesSlide" Target="/ppt/notesSlides/notesSlide21.xml" Id="R278ea865d1974eb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a1c631b25d941e4" /><Relationship Type="http://schemas.openxmlformats.org/officeDocument/2006/relationships/notesSlide" Target="/ppt/notesSlides/notesSlide22.xml" Id="R2d37124ea93b4e7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cc8797403ce4dc0" /><Relationship Type="http://schemas.openxmlformats.org/officeDocument/2006/relationships/notesSlide" Target="/ppt/notesSlides/notesSlide23.xml" Id="R9fe5815bbe534ce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ec89371563a48e6" /><Relationship Type="http://schemas.openxmlformats.org/officeDocument/2006/relationships/notesSlide" Target="/ppt/notesSlides/notesSlide24.xml" Id="Reffd51736901413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eda6fdec7234c09" /><Relationship Type="http://schemas.openxmlformats.org/officeDocument/2006/relationships/notesSlide" Target="/ppt/notesSlides/notesSlide25.xml" Id="R5185d8635e1d48d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4e1fe47047242c9" /><Relationship Type="http://schemas.openxmlformats.org/officeDocument/2006/relationships/notesSlide" Target="/ppt/notesSlides/notesSlide26.xml" Id="R62290c8b245f455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109c4be066b405a" /><Relationship Type="http://schemas.openxmlformats.org/officeDocument/2006/relationships/notesSlide" Target="/ppt/notesSlides/notesSlide27.xml" Id="Rfdbe47ac17474df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2cd9fdf1d8b4cd5" /><Relationship Type="http://schemas.openxmlformats.org/officeDocument/2006/relationships/notesSlide" Target="/ppt/notesSlides/notesSlide28.xml" Id="Rb87cc7cb0db247b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e7e9a7f76714d37" /><Relationship Type="http://schemas.openxmlformats.org/officeDocument/2006/relationships/notesSlide" Target="/ppt/notesSlides/notesSlide29.xml" Id="Rc2ceec3c4527406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f3939ac5f304baf" /><Relationship Type="http://schemas.openxmlformats.org/officeDocument/2006/relationships/notesSlide" Target="/ppt/notesSlides/notesSlide30.xml" Id="Rfb5a0e2c1937430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97a50fe44744427" /><Relationship Type="http://schemas.openxmlformats.org/officeDocument/2006/relationships/notesSlide" Target="/ppt/notesSlides/notesSlide31.xml" Id="Ra161d87f137941a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7e5668b605a4d41" /><Relationship Type="http://schemas.openxmlformats.org/officeDocument/2006/relationships/notesSlide" Target="/ppt/notesSlides/notesSlide32.xml" Id="R64e41d072a6548d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73c2d4e467b410c" /><Relationship Type="http://schemas.openxmlformats.org/officeDocument/2006/relationships/notesSlide" Target="/ppt/notesSlides/notesSlide33.xml" Id="R2c06af8721464ee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d4c84dd58394bf2" /><Relationship Type="http://schemas.openxmlformats.org/officeDocument/2006/relationships/notesSlide" Target="/ppt/notesSlides/notesSlide34.xml" Id="R73f7457c889046c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38257210a304397" /><Relationship Type="http://schemas.openxmlformats.org/officeDocument/2006/relationships/notesSlide" Target="/ppt/notesSlides/notesSlide35.xml" Id="R0957379e59b349a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2471996272a47ab" /><Relationship Type="http://schemas.openxmlformats.org/officeDocument/2006/relationships/notesSlide" Target="/ppt/notesSlides/notesSlide36.xml" Id="R04a2a8bf698040a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d2d1cdbf25c44dd" /><Relationship Type="http://schemas.openxmlformats.org/officeDocument/2006/relationships/notesSlide" Target="/ppt/notesSlides/notesSlide37.xml" Id="R18c4fc9159514e9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f106b90373b425a" /><Relationship Type="http://schemas.openxmlformats.org/officeDocument/2006/relationships/notesSlide" Target="/ppt/notesSlides/notesSlide38.xml" Id="R552c679167184a5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1649309502484828" /><Relationship Type="http://schemas.openxmlformats.org/officeDocument/2006/relationships/notesSlide" Target="/ppt/notesSlides/notesSlide39.xml" Id="R488792f89f514cb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7b888e6e9f1344e4" /><Relationship Type="http://schemas.openxmlformats.org/officeDocument/2006/relationships/image" Target="/ppt/media/image.png" Id="Rd2ac19a68ae44680" /><Relationship Type="http://schemas.openxmlformats.org/officeDocument/2006/relationships/notesSlide" Target="/ppt/notesSlides/notesSlide40.xml" Id="Rbbf5670ba1bc4d7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f2aa82b2ed734b2a" /><Relationship Type="http://schemas.openxmlformats.org/officeDocument/2006/relationships/image" Target="/ppt/media/image2.png" Id="Re82513233d184e11" /><Relationship Type="http://schemas.openxmlformats.org/officeDocument/2006/relationships/notesSlide" Target="/ppt/notesSlides/notesSlide41.xml" Id="R55480777354d469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17bb8ab048b24370" /><Relationship Type="http://schemas.openxmlformats.org/officeDocument/2006/relationships/image" Target="/ppt/media/image3.png" Id="R17b8288e45a14e5d" /><Relationship Type="http://schemas.openxmlformats.org/officeDocument/2006/relationships/notesSlide" Target="/ppt/notesSlides/notesSlide42.xml" Id="Rc36f64cb546e4e5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1098fe3bf80e410e" /><Relationship Type="http://schemas.openxmlformats.org/officeDocument/2006/relationships/image" Target="/ppt/media/image4.png" Id="Rd7fc6c580e0043db" /><Relationship Type="http://schemas.openxmlformats.org/officeDocument/2006/relationships/notesSlide" Target="/ppt/notesSlides/notesSlide43.xml" Id="R99b8f5bc10e444e4" /></Relationships>
</file>

<file path=ppt/slides/slide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7B481B-36D9-48CE-8397-79A8425A395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DC7A73-0010-467B-9A97-B2E230850C52}"/>
              </a:ext>
            </a:extLst>
          </p:cNvPr>
          <p:cNvSpPr>
            <a:spLocks xmlns:a="http://schemas.openxmlformats.org/drawingml/2006/main" noGrp="1"/>
          </p:cNvSpPr>
          <p:nvPr/>
        </p:nvSpPr>
        <p:spPr>
          <a:xfrm xmlns:a="http://schemas.openxmlformats.org/drawingml/2006/main">
            <a:off x="781050" y="685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CAPSTONE PROJECT PROPOSAL</a:t>
            </a:r>
          </a:p>
        </p:txBody>
      </p:sp>
      <p:sp>
        <p:nvSpPr>
          <p:cNvPr id="3" name="">
            <a:extLst xmlns:a="http://schemas.openxmlformats.org/drawingml/2006/main">
              <a:ext uri="{FF2B5EF4-FFF2-40B4-BE49-F238E27FC236}">
                <a16:creationId xmlns:a16="http://schemas.microsoft.com/office/drawing/2014/main" id="{8F343C30-1503-4FE4-942B-AD2E3AF23C62}"/>
              </a:ext>
            </a:extLst>
          </p:cNvPr>
          <p:cNvSpPr>
            <a:spLocks xmlns:a="http://schemas.openxmlformats.org/drawingml/2006/main" noGrp="1"/>
          </p:cNvSpPr>
          <p:nvPr/>
        </p:nvSpPr>
        <p:spPr>
          <a:xfrm xmlns:a="http://schemas.openxmlformats.org/drawingml/2006/main">
            <a:off x="781050" y="1209675"/>
            <a:ext cx="10572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INTEGRATED DISASTER INCIDENT</a:t>
            </a:r>
          </a:p>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RECORD MANAGEMENT AND</a:t>
            </a:r>
          </a:p>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AUTOMATED SITUATION REPORT</a:t>
            </a:r>
          </a:p>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GENERATION SYSTEM</a:t>
            </a:r>
          </a:p>
        </p:txBody>
      </p:sp>
      <p:sp>
        <p:nvSpPr>
          <p:cNvPr id="4" name="">
            <a:extLst xmlns:a="http://schemas.openxmlformats.org/drawingml/2006/main">
              <a:ext uri="{FF2B5EF4-FFF2-40B4-BE49-F238E27FC236}">
                <a16:creationId xmlns:a16="http://schemas.microsoft.com/office/drawing/2014/main" id="{AE74EAFE-6B9D-49E6-9A99-7654C404FBC1}"/>
              </a:ext>
            </a:extLst>
          </p:cNvPr>
          <p:cNvSpPr>
            <a:spLocks xmlns:a="http://schemas.openxmlformats.org/drawingml/2006/main" noGrp="1"/>
          </p:cNvSpPr>
          <p:nvPr/>
        </p:nvSpPr>
        <p:spPr>
          <a:xfrm xmlns:a="http://schemas.openxmlformats.org/drawingml/2006/main">
            <a:off x="781050" y="4019550"/>
            <a:ext cx="105346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718C409-5161-41EF-B7F6-9157DECF582D}"/>
              </a:ext>
            </a:extLst>
          </p:cNvPr>
          <p:cNvSpPr>
            <a:spLocks xmlns:a="http://schemas.openxmlformats.org/drawingml/2006/main" noGrp="1"/>
          </p:cNvSpPr>
          <p:nvPr/>
        </p:nvSpPr>
        <p:spPr>
          <a:xfrm xmlns:a="http://schemas.openxmlformats.org/drawingml/2006/main">
            <a:off x="781050" y="4257675"/>
            <a:ext cx="1019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Katrina Mae D.G. Perez and RJ P. Somosa</a:t>
            </a:r>
          </a:p>
        </p:txBody>
      </p:sp>
      <p:sp>
        <p:nvSpPr>
          <p:cNvPr id="6" name="">
            <a:extLst xmlns:a="http://schemas.openxmlformats.org/drawingml/2006/main">
              <a:ext uri="{FF2B5EF4-FFF2-40B4-BE49-F238E27FC236}">
                <a16:creationId xmlns:a16="http://schemas.microsoft.com/office/drawing/2014/main" id="{348AC2EF-C901-4C19-9958-B74F033F67A5}"/>
              </a:ext>
            </a:extLst>
          </p:cNvPr>
          <p:cNvSpPr>
            <a:spLocks xmlns:a="http://schemas.openxmlformats.org/drawingml/2006/main" noGrp="1"/>
          </p:cNvSpPr>
          <p:nvPr/>
        </p:nvSpPr>
        <p:spPr>
          <a:xfrm xmlns:a="http://schemas.openxmlformats.org/drawingml/2006/main">
            <a:off x="781050" y="4648200"/>
            <a:ext cx="742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59676A"/>
                </a:solidFill>
                <a:latin typeface="Source Sans 3"/>
                <a:ea typeface="Source Sans 3"/>
                <a:cs typeface="Source Sans 3"/>
              </a:defRPr>
            </a:pPr>
            <a:r>
              <a:rPr sz="1350" b="0">
                <a:solidFill>
                  <a:srgbClr val="59676A"/>
                </a:solidFill>
                <a:latin typeface="Source Sans 3"/>
                <a:ea typeface="Source Sans 3"/>
                <a:cs typeface="Source Sans 3"/>
              </a:rPr>
              <a:t>Computer Science Department</a:t>
            </a:r>
          </a:p>
          <a:p xmlns:a="http://schemas.openxmlformats.org/drawingml/2006/main">
            <a:pPr algn="l">
              <a:defRPr sz="1350" b="0">
                <a:solidFill>
                  <a:srgbClr val="59676A"/>
                </a:solidFill>
                <a:latin typeface="Source Sans 3"/>
                <a:ea typeface="Source Sans 3"/>
                <a:cs typeface="Source Sans 3"/>
              </a:defRPr>
            </a:pPr>
            <a:r>
              <a:rPr sz="1350" b="0">
                <a:solidFill>
                  <a:srgbClr val="59676A"/>
                </a:solidFill>
                <a:latin typeface="Source Sans 3"/>
                <a:ea typeface="Source Sans 3"/>
                <a:cs typeface="Source Sans 3"/>
              </a:rPr>
              <a:t>Bachelor of Science in Information Technology</a:t>
            </a:r>
          </a:p>
        </p:txBody>
      </p:sp>
      <p:sp>
        <p:nvSpPr>
          <p:cNvPr id="7" name="">
            <a:extLst xmlns:a="http://schemas.openxmlformats.org/drawingml/2006/main">
              <a:ext uri="{FF2B5EF4-FFF2-40B4-BE49-F238E27FC236}">
                <a16:creationId xmlns:a16="http://schemas.microsoft.com/office/drawing/2014/main" id="{CF11A614-E593-49D9-91A4-8C5FBABB191F}"/>
              </a:ext>
            </a:extLst>
          </p:cNvPr>
          <p:cNvSpPr>
            <a:spLocks xmlns:a="http://schemas.openxmlformats.org/drawingml/2006/main" noGrp="1"/>
          </p:cNvSpPr>
          <p:nvPr/>
        </p:nvSpPr>
        <p:spPr>
          <a:xfrm xmlns:a="http://schemas.openxmlformats.org/drawingml/2006/main">
            <a:off x="781050" y="5305425"/>
            <a:ext cx="523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Adviser: Precious T. Opinion</a:t>
            </a:r>
          </a:p>
          <a:p xmlns:a="http://schemas.openxmlformats.org/drawingml/2006/main">
            <a:pPr algn="l">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September 9, 2026</a:t>
            </a:r>
          </a:p>
        </p:txBody>
      </p:sp>
      <p:sp>
        <p:nvSpPr>
          <p:cNvPr id="8" name="">
            <a:extLst xmlns:a="http://schemas.openxmlformats.org/drawingml/2006/main">
              <a:ext uri="{FF2B5EF4-FFF2-40B4-BE49-F238E27FC236}">
                <a16:creationId xmlns:a16="http://schemas.microsoft.com/office/drawing/2014/main" id="{6744F25A-D8CB-4627-9F3C-EF7D57160494}"/>
              </a:ext>
            </a:extLst>
          </p:cNvPr>
          <p:cNvSpPr>
            <a:spLocks xmlns:a="http://schemas.openxmlformats.org/drawingml/2006/main" noGrp="1"/>
          </p:cNvSpPr>
          <p:nvPr/>
        </p:nvSpPr>
        <p:spPr>
          <a:xfrm xmlns:a="http://schemas.openxmlformats.org/drawingml/2006/main">
            <a:off x="781050" y="6238875"/>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0">
                <a:solidFill>
                  <a:srgbClr val="7C898B"/>
                </a:solidFill>
                <a:latin typeface="Source Sans 3"/>
                <a:ea typeface="Source Sans 3"/>
                <a:cs typeface="Source Sans 3"/>
              </a:defRPr>
            </a:pPr>
            <a:r>
              <a:rPr sz="1125" b="0">
                <a:solidFill>
                  <a:srgbClr val="7C898B"/>
                </a:solidFill>
                <a:latin typeface="Source Sans 3"/>
                <a:ea typeface="Source Sans 3"/>
                <a:cs typeface="Source Sans 3"/>
              </a:rPr>
              <a:t>Zamboanga City</a:t>
            </a:r>
          </a:p>
        </p:txBody>
      </p:sp>
    </p:spTree>
    <p:extLst>
      <p:ext uri="{BB962C8B-B14F-4D97-AF65-F5344CB8AC3E}">
        <p14:creationId xmlns:p14="http://schemas.microsoft.com/office/powerpoint/2010/main" val="1164401546"/>
      </p:ext>
    </p:extLst>
  </p:cSld>
</p:sld>
</file>

<file path=ppt/slides/slide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8" name="">
            <a:extLst xmlns:a="http://schemas.openxmlformats.org/drawingml/2006/main">
              <a:ext uri="{FF2B5EF4-FFF2-40B4-BE49-F238E27FC236}">
                <a16:creationId xmlns:a16="http://schemas.microsoft.com/office/drawing/2014/main" id="{4AE3F6CC-936E-4369-9735-A5B1B24B52E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1D4547-3D28-4D92-B13E-93E233C2B265}"/>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PRESENTATION FLOW</a:t>
            </a:r>
          </a:p>
        </p:txBody>
      </p:sp>
      <p:sp>
        <p:nvSpPr>
          <p:cNvPr id="3" name="">
            <a:extLst xmlns:a="http://schemas.openxmlformats.org/drawingml/2006/main">
              <a:ext uri="{FF2B5EF4-FFF2-40B4-BE49-F238E27FC236}">
                <a16:creationId xmlns:a16="http://schemas.microsoft.com/office/drawing/2014/main" id="{E9C4F6EE-1A44-4CA4-8271-978730960CB5}"/>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Presentation Flow</a:t>
            </a:r>
          </a:p>
        </p:txBody>
      </p:sp>
      <p:sp>
        <p:nvSpPr>
          <p:cNvPr id="4" name="">
            <a:extLst xmlns:a="http://schemas.openxmlformats.org/drawingml/2006/main">
              <a:ext uri="{FF2B5EF4-FFF2-40B4-BE49-F238E27FC236}">
                <a16:creationId xmlns:a16="http://schemas.microsoft.com/office/drawing/2014/main" id="{BF28CFCA-935D-4F34-BE2A-F3F8A87BED8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CB1CB3DA-8081-49E2-9CC6-CAFB982C7C1A}"/>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Outline follows the requested order and the revised manuscript</a:t>
            </a:r>
          </a:p>
        </p:txBody>
      </p:sp>
      <p:sp>
        <p:nvSpPr>
          <p:cNvPr id="6" name="">
            <a:extLst xmlns:a="http://schemas.openxmlformats.org/drawingml/2006/main">
              <a:ext uri="{FF2B5EF4-FFF2-40B4-BE49-F238E27FC236}">
                <a16:creationId xmlns:a16="http://schemas.microsoft.com/office/drawing/2014/main" id="{EC333864-8DBB-436E-8513-1E14A9E10BAD}"/>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02</a:t>
            </a:r>
          </a:p>
        </p:txBody>
      </p:sp>
      <p:sp>
        <p:nvSpPr>
          <p:cNvPr id="7" name="">
            <a:extLst xmlns:a="http://schemas.openxmlformats.org/drawingml/2006/main">
              <a:ext uri="{FF2B5EF4-FFF2-40B4-BE49-F238E27FC236}">
                <a16:creationId xmlns:a16="http://schemas.microsoft.com/office/drawing/2014/main" id="{9F27569E-2420-4926-9861-75C209C89AAB}"/>
              </a:ext>
            </a:extLst>
          </p:cNvPr>
          <p:cNvSpPr>
            <a:spLocks xmlns:a="http://schemas.openxmlformats.org/drawingml/2006/main" noGrp="1"/>
          </p:cNvSpPr>
          <p:nvPr/>
        </p:nvSpPr>
        <p:spPr>
          <a:xfrm xmlns:a="http://schemas.openxmlformats.org/drawingml/2006/main">
            <a:off x="876300" y="13335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78CB9BE2-FD6E-41B2-BFE0-BF33A9C9A41D}"/>
              </a:ext>
            </a:extLst>
          </p:cNvPr>
          <p:cNvSpPr>
            <a:spLocks xmlns:a="http://schemas.openxmlformats.org/drawingml/2006/main" noGrp="1"/>
          </p:cNvSpPr>
          <p:nvPr/>
        </p:nvSpPr>
        <p:spPr>
          <a:xfrm xmlns:a="http://schemas.openxmlformats.org/drawingml/2006/main">
            <a:off x="1333500" y="13335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RA 10121: the mandate</a:t>
            </a:r>
          </a:p>
        </p:txBody>
      </p:sp>
      <p:sp>
        <p:nvSpPr>
          <p:cNvPr id="9" name="">
            <a:extLst xmlns:a="http://schemas.openxmlformats.org/drawingml/2006/main">
              <a:ext uri="{FF2B5EF4-FFF2-40B4-BE49-F238E27FC236}">
                <a16:creationId xmlns:a16="http://schemas.microsoft.com/office/drawing/2014/main" id="{50CF4056-B39B-45AE-BF4D-EFD9C5E51E23}"/>
              </a:ext>
            </a:extLst>
          </p:cNvPr>
          <p:cNvSpPr>
            <a:spLocks xmlns:a="http://schemas.openxmlformats.org/drawingml/2006/main" noGrp="1"/>
          </p:cNvSpPr>
          <p:nvPr/>
        </p:nvSpPr>
        <p:spPr>
          <a:xfrm xmlns:a="http://schemas.openxmlformats.org/drawingml/2006/main">
            <a:off x="1333500" y="17145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7F6BF558-37E3-484C-9ECD-13BEE31135C8}"/>
              </a:ext>
            </a:extLst>
          </p:cNvPr>
          <p:cNvSpPr>
            <a:spLocks xmlns:a="http://schemas.openxmlformats.org/drawingml/2006/main" noGrp="1"/>
          </p:cNvSpPr>
          <p:nvPr/>
        </p:nvSpPr>
        <p:spPr>
          <a:xfrm xmlns:a="http://schemas.openxmlformats.org/drawingml/2006/main">
            <a:off x="876300" y="17811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CDA90C8A-9410-4AD3-B23A-9184665C6B72}"/>
              </a:ext>
            </a:extLst>
          </p:cNvPr>
          <p:cNvSpPr>
            <a:spLocks xmlns:a="http://schemas.openxmlformats.org/drawingml/2006/main" noGrp="1"/>
          </p:cNvSpPr>
          <p:nvPr/>
        </p:nvSpPr>
        <p:spPr>
          <a:xfrm xmlns:a="http://schemas.openxmlformats.org/drawingml/2006/main">
            <a:off x="1333500" y="1781175"/>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Operation L!STO Manual</a:t>
            </a:r>
          </a:p>
        </p:txBody>
      </p:sp>
      <p:sp>
        <p:nvSpPr>
          <p:cNvPr id="12" name="">
            <a:extLst xmlns:a="http://schemas.openxmlformats.org/drawingml/2006/main">
              <a:ext uri="{FF2B5EF4-FFF2-40B4-BE49-F238E27FC236}">
                <a16:creationId xmlns:a16="http://schemas.microsoft.com/office/drawing/2014/main" id="{B1A4982E-220D-4FD8-ABD9-CBED00ECC6C6}"/>
              </a:ext>
            </a:extLst>
          </p:cNvPr>
          <p:cNvSpPr>
            <a:spLocks xmlns:a="http://schemas.openxmlformats.org/drawingml/2006/main" noGrp="1"/>
          </p:cNvSpPr>
          <p:nvPr/>
        </p:nvSpPr>
        <p:spPr>
          <a:xfrm xmlns:a="http://schemas.openxmlformats.org/drawingml/2006/main">
            <a:off x="1333500" y="21621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21B8B420-0B6F-4D67-A8A8-50C667DAD3D8}"/>
              </a:ext>
            </a:extLst>
          </p:cNvPr>
          <p:cNvSpPr>
            <a:spLocks xmlns:a="http://schemas.openxmlformats.org/drawingml/2006/main" noGrp="1"/>
          </p:cNvSpPr>
          <p:nvPr/>
        </p:nvSpPr>
        <p:spPr>
          <a:xfrm xmlns:a="http://schemas.openxmlformats.org/drawingml/2006/main">
            <a:off x="876300" y="22288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55842AB3-0A51-4E6E-9836-A80EBF31A2B4}"/>
              </a:ext>
            </a:extLst>
          </p:cNvPr>
          <p:cNvSpPr>
            <a:spLocks xmlns:a="http://schemas.openxmlformats.org/drawingml/2006/main" noGrp="1"/>
          </p:cNvSpPr>
          <p:nvPr/>
        </p:nvSpPr>
        <p:spPr>
          <a:xfrm xmlns:a="http://schemas.openxmlformats.org/drawingml/2006/main">
            <a:off x="1333500" y="222885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Situation Report</a:t>
            </a:r>
          </a:p>
        </p:txBody>
      </p:sp>
      <p:sp>
        <p:nvSpPr>
          <p:cNvPr id="15" name="">
            <a:extLst xmlns:a="http://schemas.openxmlformats.org/drawingml/2006/main">
              <a:ext uri="{FF2B5EF4-FFF2-40B4-BE49-F238E27FC236}">
                <a16:creationId xmlns:a16="http://schemas.microsoft.com/office/drawing/2014/main" id="{3D904DA8-231C-4A6F-B24E-78641F56088D}"/>
              </a:ext>
            </a:extLst>
          </p:cNvPr>
          <p:cNvSpPr>
            <a:spLocks xmlns:a="http://schemas.openxmlformats.org/drawingml/2006/main" noGrp="1"/>
          </p:cNvSpPr>
          <p:nvPr/>
        </p:nvSpPr>
        <p:spPr>
          <a:xfrm xmlns:a="http://schemas.openxmlformats.org/drawingml/2006/main">
            <a:off x="1333500" y="26098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530B5502-A73E-419F-A8AE-72105544ED17}"/>
              </a:ext>
            </a:extLst>
          </p:cNvPr>
          <p:cNvSpPr>
            <a:spLocks xmlns:a="http://schemas.openxmlformats.org/drawingml/2006/main" noGrp="1"/>
          </p:cNvSpPr>
          <p:nvPr/>
        </p:nvSpPr>
        <p:spPr>
          <a:xfrm xmlns:a="http://schemas.openxmlformats.org/drawingml/2006/main">
            <a:off x="876300" y="26765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2BB6B673-6AF8-45ED-AE1C-0586F378890C}"/>
              </a:ext>
            </a:extLst>
          </p:cNvPr>
          <p:cNvSpPr>
            <a:spLocks xmlns:a="http://schemas.openxmlformats.org/drawingml/2006/main" noGrp="1"/>
          </p:cNvSpPr>
          <p:nvPr/>
        </p:nvSpPr>
        <p:spPr>
          <a:xfrm xmlns:a="http://schemas.openxmlformats.org/drawingml/2006/main">
            <a:off x="1333500" y="2676525"/>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Current workflow</a:t>
            </a:r>
          </a:p>
        </p:txBody>
      </p:sp>
      <p:sp>
        <p:nvSpPr>
          <p:cNvPr id="18" name="">
            <a:extLst xmlns:a="http://schemas.openxmlformats.org/drawingml/2006/main">
              <a:ext uri="{FF2B5EF4-FFF2-40B4-BE49-F238E27FC236}">
                <a16:creationId xmlns:a16="http://schemas.microsoft.com/office/drawing/2014/main" id="{48EA03E0-D330-4273-8875-06E2834B89A2}"/>
              </a:ext>
            </a:extLst>
          </p:cNvPr>
          <p:cNvSpPr>
            <a:spLocks xmlns:a="http://schemas.openxmlformats.org/drawingml/2006/main" noGrp="1"/>
          </p:cNvSpPr>
          <p:nvPr/>
        </p:nvSpPr>
        <p:spPr>
          <a:xfrm xmlns:a="http://schemas.openxmlformats.org/drawingml/2006/main">
            <a:off x="1333500" y="30575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C4C22392-65B0-4BA3-B805-649A6A20DDE9}"/>
              </a:ext>
            </a:extLst>
          </p:cNvPr>
          <p:cNvSpPr>
            <a:spLocks xmlns:a="http://schemas.openxmlformats.org/drawingml/2006/main" noGrp="1"/>
          </p:cNvSpPr>
          <p:nvPr/>
        </p:nvSpPr>
        <p:spPr>
          <a:xfrm xmlns:a="http://schemas.openxmlformats.org/drawingml/2006/main">
            <a:off x="876300" y="31242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742635F1-9965-4F05-B143-257CE4EB7077}"/>
              </a:ext>
            </a:extLst>
          </p:cNvPr>
          <p:cNvSpPr>
            <a:spLocks xmlns:a="http://schemas.openxmlformats.org/drawingml/2006/main" noGrp="1"/>
          </p:cNvSpPr>
          <p:nvPr/>
        </p:nvSpPr>
        <p:spPr>
          <a:xfrm xmlns:a="http://schemas.openxmlformats.org/drawingml/2006/main">
            <a:off x="1333500" y="31242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Implications of the current workflow</a:t>
            </a:r>
          </a:p>
        </p:txBody>
      </p:sp>
      <p:sp>
        <p:nvSpPr>
          <p:cNvPr id="21" name="">
            <a:extLst xmlns:a="http://schemas.openxmlformats.org/drawingml/2006/main">
              <a:ext uri="{FF2B5EF4-FFF2-40B4-BE49-F238E27FC236}">
                <a16:creationId xmlns:a16="http://schemas.microsoft.com/office/drawing/2014/main" id="{650C66AB-FB0D-42D1-AA30-640D37BF64A6}"/>
              </a:ext>
            </a:extLst>
          </p:cNvPr>
          <p:cNvSpPr>
            <a:spLocks xmlns:a="http://schemas.openxmlformats.org/drawingml/2006/main" noGrp="1"/>
          </p:cNvSpPr>
          <p:nvPr/>
        </p:nvSpPr>
        <p:spPr>
          <a:xfrm xmlns:a="http://schemas.openxmlformats.org/drawingml/2006/main">
            <a:off x="1333500" y="35052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B63EC9B6-D5C3-48E2-9219-1D2099B6547B}"/>
              </a:ext>
            </a:extLst>
          </p:cNvPr>
          <p:cNvSpPr>
            <a:spLocks xmlns:a="http://schemas.openxmlformats.org/drawingml/2006/main" noGrp="1"/>
          </p:cNvSpPr>
          <p:nvPr/>
        </p:nvSpPr>
        <p:spPr>
          <a:xfrm xmlns:a="http://schemas.openxmlformats.org/drawingml/2006/main">
            <a:off x="876300" y="35718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3E7CC5D5-17F1-4FAA-A8E5-8F3252514CB1}"/>
              </a:ext>
            </a:extLst>
          </p:cNvPr>
          <p:cNvSpPr>
            <a:spLocks xmlns:a="http://schemas.openxmlformats.org/drawingml/2006/main" noGrp="1"/>
          </p:cNvSpPr>
          <p:nvPr/>
        </p:nvSpPr>
        <p:spPr>
          <a:xfrm xmlns:a="http://schemas.openxmlformats.org/drawingml/2006/main">
            <a:off x="1333500" y="3571875"/>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93137"/>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Possible solutions and why they are insufficient alone</a:t>
            </a:r>
          </a:p>
        </p:txBody>
      </p:sp>
      <p:sp>
        <p:nvSpPr>
          <p:cNvPr id="24" name="">
            <a:extLst xmlns:a="http://schemas.openxmlformats.org/drawingml/2006/main">
              <a:ext uri="{FF2B5EF4-FFF2-40B4-BE49-F238E27FC236}">
                <a16:creationId xmlns:a16="http://schemas.microsoft.com/office/drawing/2014/main" id="{482B9DE8-8B41-4134-BD9E-46D3A7DC840B}"/>
              </a:ext>
            </a:extLst>
          </p:cNvPr>
          <p:cNvSpPr>
            <a:spLocks xmlns:a="http://schemas.openxmlformats.org/drawingml/2006/main" noGrp="1"/>
          </p:cNvSpPr>
          <p:nvPr/>
        </p:nvSpPr>
        <p:spPr>
          <a:xfrm xmlns:a="http://schemas.openxmlformats.org/drawingml/2006/main">
            <a:off x="1333500" y="39528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5" name="">
            <a:extLst xmlns:a="http://schemas.openxmlformats.org/drawingml/2006/main">
              <a:ext uri="{FF2B5EF4-FFF2-40B4-BE49-F238E27FC236}">
                <a16:creationId xmlns:a16="http://schemas.microsoft.com/office/drawing/2014/main" id="{3A160F08-07EE-42B6-ABD9-DE3DB59CE06F}"/>
              </a:ext>
            </a:extLst>
          </p:cNvPr>
          <p:cNvSpPr>
            <a:spLocks xmlns:a="http://schemas.openxmlformats.org/drawingml/2006/main" noGrp="1"/>
          </p:cNvSpPr>
          <p:nvPr/>
        </p:nvSpPr>
        <p:spPr>
          <a:xfrm xmlns:a="http://schemas.openxmlformats.org/drawingml/2006/main">
            <a:off x="876300" y="40195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07</a:t>
            </a:r>
          </a:p>
        </p:txBody>
      </p:sp>
      <p:sp>
        <p:nvSpPr>
          <p:cNvPr id="26" name="">
            <a:extLst xmlns:a="http://schemas.openxmlformats.org/drawingml/2006/main">
              <a:ext uri="{FF2B5EF4-FFF2-40B4-BE49-F238E27FC236}">
                <a16:creationId xmlns:a16="http://schemas.microsoft.com/office/drawing/2014/main" id="{20CCD6A6-C0E1-475E-B4D1-746912C99F4B}"/>
              </a:ext>
            </a:extLst>
          </p:cNvPr>
          <p:cNvSpPr>
            <a:spLocks xmlns:a="http://schemas.openxmlformats.org/drawingml/2006/main" noGrp="1"/>
          </p:cNvSpPr>
          <p:nvPr/>
        </p:nvSpPr>
        <p:spPr>
          <a:xfrm xmlns:a="http://schemas.openxmlformats.org/drawingml/2006/main">
            <a:off x="1333500" y="401955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Problem statement</a:t>
            </a:r>
          </a:p>
        </p:txBody>
      </p:sp>
      <p:sp>
        <p:nvSpPr>
          <p:cNvPr id="27" name="">
            <a:extLst xmlns:a="http://schemas.openxmlformats.org/drawingml/2006/main">
              <a:ext uri="{FF2B5EF4-FFF2-40B4-BE49-F238E27FC236}">
                <a16:creationId xmlns:a16="http://schemas.microsoft.com/office/drawing/2014/main" id="{A2A437C8-4CEC-4110-B4CA-93E0EA225DA1}"/>
              </a:ext>
            </a:extLst>
          </p:cNvPr>
          <p:cNvSpPr>
            <a:spLocks xmlns:a="http://schemas.openxmlformats.org/drawingml/2006/main" noGrp="1"/>
          </p:cNvSpPr>
          <p:nvPr/>
        </p:nvSpPr>
        <p:spPr>
          <a:xfrm xmlns:a="http://schemas.openxmlformats.org/drawingml/2006/main">
            <a:off x="1333500" y="44005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8" name="">
            <a:extLst xmlns:a="http://schemas.openxmlformats.org/drawingml/2006/main">
              <a:ext uri="{FF2B5EF4-FFF2-40B4-BE49-F238E27FC236}">
                <a16:creationId xmlns:a16="http://schemas.microsoft.com/office/drawing/2014/main" id="{4773FE1D-D433-4866-A285-8CBCFAD0DCB1}"/>
              </a:ext>
            </a:extLst>
          </p:cNvPr>
          <p:cNvSpPr>
            <a:spLocks xmlns:a="http://schemas.openxmlformats.org/drawingml/2006/main" noGrp="1"/>
          </p:cNvSpPr>
          <p:nvPr/>
        </p:nvSpPr>
        <p:spPr>
          <a:xfrm xmlns:a="http://schemas.openxmlformats.org/drawingml/2006/main">
            <a:off x="876300" y="44672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08</a:t>
            </a:r>
          </a:p>
        </p:txBody>
      </p:sp>
      <p:sp>
        <p:nvSpPr>
          <p:cNvPr id="29" name="">
            <a:extLst xmlns:a="http://schemas.openxmlformats.org/drawingml/2006/main">
              <a:ext uri="{FF2B5EF4-FFF2-40B4-BE49-F238E27FC236}">
                <a16:creationId xmlns:a16="http://schemas.microsoft.com/office/drawing/2014/main" id="{2B3F7C3E-1DCB-4BEC-9171-4E43E9BD8FE2}"/>
              </a:ext>
            </a:extLst>
          </p:cNvPr>
          <p:cNvSpPr>
            <a:spLocks xmlns:a="http://schemas.openxmlformats.org/drawingml/2006/main" noGrp="1"/>
          </p:cNvSpPr>
          <p:nvPr/>
        </p:nvSpPr>
        <p:spPr>
          <a:xfrm xmlns:a="http://schemas.openxmlformats.org/drawingml/2006/main">
            <a:off x="1333500" y="4467225"/>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Workflow gaps and mandated practice</a:t>
            </a:r>
          </a:p>
        </p:txBody>
      </p:sp>
      <p:sp>
        <p:nvSpPr>
          <p:cNvPr id="30" name="">
            <a:extLst xmlns:a="http://schemas.openxmlformats.org/drawingml/2006/main">
              <a:ext uri="{FF2B5EF4-FFF2-40B4-BE49-F238E27FC236}">
                <a16:creationId xmlns:a16="http://schemas.microsoft.com/office/drawing/2014/main" id="{85720E0E-3C46-4B7B-8694-A8497004750E}"/>
              </a:ext>
            </a:extLst>
          </p:cNvPr>
          <p:cNvSpPr>
            <a:spLocks xmlns:a="http://schemas.openxmlformats.org/drawingml/2006/main" noGrp="1"/>
          </p:cNvSpPr>
          <p:nvPr/>
        </p:nvSpPr>
        <p:spPr>
          <a:xfrm xmlns:a="http://schemas.openxmlformats.org/drawingml/2006/main">
            <a:off x="1333500" y="48482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1" name="">
            <a:extLst xmlns:a="http://schemas.openxmlformats.org/drawingml/2006/main">
              <a:ext uri="{FF2B5EF4-FFF2-40B4-BE49-F238E27FC236}">
                <a16:creationId xmlns:a16="http://schemas.microsoft.com/office/drawing/2014/main" id="{4F08A378-5C72-4C74-98AA-62785A4A1652}"/>
              </a:ext>
            </a:extLst>
          </p:cNvPr>
          <p:cNvSpPr>
            <a:spLocks xmlns:a="http://schemas.openxmlformats.org/drawingml/2006/main" noGrp="1"/>
          </p:cNvSpPr>
          <p:nvPr/>
        </p:nvSpPr>
        <p:spPr>
          <a:xfrm xmlns:a="http://schemas.openxmlformats.org/drawingml/2006/main">
            <a:off x="876300" y="49149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09</a:t>
            </a:r>
          </a:p>
        </p:txBody>
      </p:sp>
      <p:sp>
        <p:nvSpPr>
          <p:cNvPr id="32" name="">
            <a:extLst xmlns:a="http://schemas.openxmlformats.org/drawingml/2006/main">
              <a:ext uri="{FF2B5EF4-FFF2-40B4-BE49-F238E27FC236}">
                <a16:creationId xmlns:a16="http://schemas.microsoft.com/office/drawing/2014/main" id="{CF5E3819-0785-455D-B773-A4EA933024D9}"/>
              </a:ext>
            </a:extLst>
          </p:cNvPr>
          <p:cNvSpPr>
            <a:spLocks xmlns:a="http://schemas.openxmlformats.org/drawingml/2006/main" noGrp="1"/>
          </p:cNvSpPr>
          <p:nvPr/>
        </p:nvSpPr>
        <p:spPr>
          <a:xfrm xmlns:a="http://schemas.openxmlformats.org/drawingml/2006/main">
            <a:off x="1333500" y="49149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Proposed system</a:t>
            </a:r>
          </a:p>
        </p:txBody>
      </p:sp>
      <p:sp>
        <p:nvSpPr>
          <p:cNvPr id="33" name="">
            <a:extLst xmlns:a="http://schemas.openxmlformats.org/drawingml/2006/main">
              <a:ext uri="{FF2B5EF4-FFF2-40B4-BE49-F238E27FC236}">
                <a16:creationId xmlns:a16="http://schemas.microsoft.com/office/drawing/2014/main" id="{BAB22E96-5977-4533-AC2D-D14E77DDF936}"/>
              </a:ext>
            </a:extLst>
          </p:cNvPr>
          <p:cNvSpPr>
            <a:spLocks xmlns:a="http://schemas.openxmlformats.org/drawingml/2006/main" noGrp="1"/>
          </p:cNvSpPr>
          <p:nvPr/>
        </p:nvSpPr>
        <p:spPr>
          <a:xfrm xmlns:a="http://schemas.openxmlformats.org/drawingml/2006/main">
            <a:off x="1333500" y="52959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4" name="">
            <a:extLst xmlns:a="http://schemas.openxmlformats.org/drawingml/2006/main">
              <a:ext uri="{FF2B5EF4-FFF2-40B4-BE49-F238E27FC236}">
                <a16:creationId xmlns:a16="http://schemas.microsoft.com/office/drawing/2014/main" id="{0A62D13E-FE70-4B15-A4B9-06F75DDF3C49}"/>
              </a:ext>
            </a:extLst>
          </p:cNvPr>
          <p:cNvSpPr>
            <a:spLocks xmlns:a="http://schemas.openxmlformats.org/drawingml/2006/main" noGrp="1"/>
          </p:cNvSpPr>
          <p:nvPr/>
        </p:nvSpPr>
        <p:spPr>
          <a:xfrm xmlns:a="http://schemas.openxmlformats.org/drawingml/2006/main">
            <a:off x="876300" y="53625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10</a:t>
            </a:r>
          </a:p>
        </p:txBody>
      </p:sp>
      <p:sp>
        <p:nvSpPr>
          <p:cNvPr id="35" name="">
            <a:extLst xmlns:a="http://schemas.openxmlformats.org/drawingml/2006/main">
              <a:ext uri="{FF2B5EF4-FFF2-40B4-BE49-F238E27FC236}">
                <a16:creationId xmlns:a16="http://schemas.microsoft.com/office/drawing/2014/main" id="{A3C59CB7-7A48-4CB4-9594-7D3ED43E2C2A}"/>
              </a:ext>
            </a:extLst>
          </p:cNvPr>
          <p:cNvSpPr>
            <a:spLocks xmlns:a="http://schemas.openxmlformats.org/drawingml/2006/main" noGrp="1"/>
          </p:cNvSpPr>
          <p:nvPr/>
        </p:nvSpPr>
        <p:spPr>
          <a:xfrm xmlns:a="http://schemas.openxmlformats.org/drawingml/2006/main">
            <a:off x="1333500" y="5362575"/>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Proposed system objectives</a:t>
            </a:r>
          </a:p>
        </p:txBody>
      </p:sp>
      <p:sp>
        <p:nvSpPr>
          <p:cNvPr id="36" name="">
            <a:extLst xmlns:a="http://schemas.openxmlformats.org/drawingml/2006/main">
              <a:ext uri="{FF2B5EF4-FFF2-40B4-BE49-F238E27FC236}">
                <a16:creationId xmlns:a16="http://schemas.microsoft.com/office/drawing/2014/main" id="{385E4569-4E55-4484-B7B7-88E50040623F}"/>
              </a:ext>
            </a:extLst>
          </p:cNvPr>
          <p:cNvSpPr>
            <a:spLocks xmlns:a="http://schemas.openxmlformats.org/drawingml/2006/main" noGrp="1"/>
          </p:cNvSpPr>
          <p:nvPr/>
        </p:nvSpPr>
        <p:spPr>
          <a:xfrm xmlns:a="http://schemas.openxmlformats.org/drawingml/2006/main">
            <a:off x="4438650" y="13335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11</a:t>
            </a:r>
          </a:p>
        </p:txBody>
      </p:sp>
      <p:sp>
        <p:nvSpPr>
          <p:cNvPr id="37" name="">
            <a:extLst xmlns:a="http://schemas.openxmlformats.org/drawingml/2006/main">
              <a:ext uri="{FF2B5EF4-FFF2-40B4-BE49-F238E27FC236}">
                <a16:creationId xmlns:a16="http://schemas.microsoft.com/office/drawing/2014/main" id="{540DA3BE-2B28-483C-9D2C-99092AD2A052}"/>
              </a:ext>
            </a:extLst>
          </p:cNvPr>
          <p:cNvSpPr>
            <a:spLocks xmlns:a="http://schemas.openxmlformats.org/drawingml/2006/main" noGrp="1"/>
          </p:cNvSpPr>
          <p:nvPr/>
        </p:nvSpPr>
        <p:spPr>
          <a:xfrm xmlns:a="http://schemas.openxmlformats.org/drawingml/2006/main">
            <a:off x="4895850" y="13335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Proposed system flowchart</a:t>
            </a:r>
          </a:p>
        </p:txBody>
      </p:sp>
      <p:sp>
        <p:nvSpPr>
          <p:cNvPr id="38" name="">
            <a:extLst xmlns:a="http://schemas.openxmlformats.org/drawingml/2006/main">
              <a:ext uri="{FF2B5EF4-FFF2-40B4-BE49-F238E27FC236}">
                <a16:creationId xmlns:a16="http://schemas.microsoft.com/office/drawing/2014/main" id="{3D3AA669-B96A-40D9-A806-C8DCC61A8979}"/>
              </a:ext>
            </a:extLst>
          </p:cNvPr>
          <p:cNvSpPr>
            <a:spLocks xmlns:a="http://schemas.openxmlformats.org/drawingml/2006/main" noGrp="1"/>
          </p:cNvSpPr>
          <p:nvPr/>
        </p:nvSpPr>
        <p:spPr>
          <a:xfrm xmlns:a="http://schemas.openxmlformats.org/drawingml/2006/main">
            <a:off x="4895850" y="17145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9" name="">
            <a:extLst xmlns:a="http://schemas.openxmlformats.org/drawingml/2006/main">
              <a:ext uri="{FF2B5EF4-FFF2-40B4-BE49-F238E27FC236}">
                <a16:creationId xmlns:a16="http://schemas.microsoft.com/office/drawing/2014/main" id="{EEB525D9-1723-43C0-9887-36FFF7BC8D19}"/>
              </a:ext>
            </a:extLst>
          </p:cNvPr>
          <p:cNvSpPr>
            <a:spLocks xmlns:a="http://schemas.openxmlformats.org/drawingml/2006/main" noGrp="1"/>
          </p:cNvSpPr>
          <p:nvPr/>
        </p:nvSpPr>
        <p:spPr>
          <a:xfrm xmlns:a="http://schemas.openxmlformats.org/drawingml/2006/main">
            <a:off x="4438650" y="17811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12</a:t>
            </a:r>
          </a:p>
        </p:txBody>
      </p:sp>
      <p:sp>
        <p:nvSpPr>
          <p:cNvPr id="40" name="">
            <a:extLst xmlns:a="http://schemas.openxmlformats.org/drawingml/2006/main">
              <a:ext uri="{FF2B5EF4-FFF2-40B4-BE49-F238E27FC236}">
                <a16:creationId xmlns:a16="http://schemas.microsoft.com/office/drawing/2014/main" id="{56C72C6F-12D1-4BA3-A515-6D6497FE7E1F}"/>
              </a:ext>
            </a:extLst>
          </p:cNvPr>
          <p:cNvSpPr>
            <a:spLocks xmlns:a="http://schemas.openxmlformats.org/drawingml/2006/main" noGrp="1"/>
          </p:cNvSpPr>
          <p:nvPr/>
        </p:nvSpPr>
        <p:spPr>
          <a:xfrm xmlns:a="http://schemas.openxmlformats.org/drawingml/2006/main">
            <a:off x="4895850" y="1781175"/>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Proposed system modules overview</a:t>
            </a:r>
          </a:p>
        </p:txBody>
      </p:sp>
      <p:sp>
        <p:nvSpPr>
          <p:cNvPr id="41" name="">
            <a:extLst xmlns:a="http://schemas.openxmlformats.org/drawingml/2006/main">
              <a:ext uri="{FF2B5EF4-FFF2-40B4-BE49-F238E27FC236}">
                <a16:creationId xmlns:a16="http://schemas.microsoft.com/office/drawing/2014/main" id="{44E5F559-02C1-4F71-9D76-DEC39366880D}"/>
              </a:ext>
            </a:extLst>
          </p:cNvPr>
          <p:cNvSpPr>
            <a:spLocks xmlns:a="http://schemas.openxmlformats.org/drawingml/2006/main" noGrp="1"/>
          </p:cNvSpPr>
          <p:nvPr/>
        </p:nvSpPr>
        <p:spPr>
          <a:xfrm xmlns:a="http://schemas.openxmlformats.org/drawingml/2006/main">
            <a:off x="4895850" y="21621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2" name="">
            <a:extLst xmlns:a="http://schemas.openxmlformats.org/drawingml/2006/main">
              <a:ext uri="{FF2B5EF4-FFF2-40B4-BE49-F238E27FC236}">
                <a16:creationId xmlns:a16="http://schemas.microsoft.com/office/drawing/2014/main" id="{695BA2FB-E780-4EB9-BA3A-614605494217}"/>
              </a:ext>
            </a:extLst>
          </p:cNvPr>
          <p:cNvSpPr>
            <a:spLocks xmlns:a="http://schemas.openxmlformats.org/drawingml/2006/main" noGrp="1"/>
          </p:cNvSpPr>
          <p:nvPr/>
        </p:nvSpPr>
        <p:spPr>
          <a:xfrm xmlns:a="http://schemas.openxmlformats.org/drawingml/2006/main">
            <a:off x="4438650" y="22288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13</a:t>
            </a:r>
          </a:p>
        </p:txBody>
      </p:sp>
      <p:sp>
        <p:nvSpPr>
          <p:cNvPr id="43" name="">
            <a:extLst xmlns:a="http://schemas.openxmlformats.org/drawingml/2006/main">
              <a:ext uri="{FF2B5EF4-FFF2-40B4-BE49-F238E27FC236}">
                <a16:creationId xmlns:a16="http://schemas.microsoft.com/office/drawing/2014/main" id="{843877BA-17A4-4929-88FF-69ECDA2D296B}"/>
              </a:ext>
            </a:extLst>
          </p:cNvPr>
          <p:cNvSpPr>
            <a:spLocks xmlns:a="http://schemas.openxmlformats.org/drawingml/2006/main" noGrp="1"/>
          </p:cNvSpPr>
          <p:nvPr/>
        </p:nvSpPr>
        <p:spPr>
          <a:xfrm xmlns:a="http://schemas.openxmlformats.org/drawingml/2006/main">
            <a:off x="4895850" y="222885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Existing systems</a:t>
            </a:r>
          </a:p>
        </p:txBody>
      </p:sp>
      <p:sp>
        <p:nvSpPr>
          <p:cNvPr id="44" name="">
            <a:extLst xmlns:a="http://schemas.openxmlformats.org/drawingml/2006/main">
              <a:ext uri="{FF2B5EF4-FFF2-40B4-BE49-F238E27FC236}">
                <a16:creationId xmlns:a16="http://schemas.microsoft.com/office/drawing/2014/main" id="{220DB00A-0B4F-452E-83BD-48342A53DEEE}"/>
              </a:ext>
            </a:extLst>
          </p:cNvPr>
          <p:cNvSpPr>
            <a:spLocks xmlns:a="http://schemas.openxmlformats.org/drawingml/2006/main" noGrp="1"/>
          </p:cNvSpPr>
          <p:nvPr/>
        </p:nvSpPr>
        <p:spPr>
          <a:xfrm xmlns:a="http://schemas.openxmlformats.org/drawingml/2006/main">
            <a:off x="4895850" y="26098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5" name="">
            <a:extLst xmlns:a="http://schemas.openxmlformats.org/drawingml/2006/main">
              <a:ext uri="{FF2B5EF4-FFF2-40B4-BE49-F238E27FC236}">
                <a16:creationId xmlns:a16="http://schemas.microsoft.com/office/drawing/2014/main" id="{27B5CE23-3362-4E96-8D35-530B473AF592}"/>
              </a:ext>
            </a:extLst>
          </p:cNvPr>
          <p:cNvSpPr>
            <a:spLocks xmlns:a="http://schemas.openxmlformats.org/drawingml/2006/main" noGrp="1"/>
          </p:cNvSpPr>
          <p:nvPr/>
        </p:nvSpPr>
        <p:spPr>
          <a:xfrm xmlns:a="http://schemas.openxmlformats.org/drawingml/2006/main">
            <a:off x="4438650" y="26765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14</a:t>
            </a:r>
          </a:p>
        </p:txBody>
      </p:sp>
      <p:sp>
        <p:nvSpPr>
          <p:cNvPr id="46" name="">
            <a:extLst xmlns:a="http://schemas.openxmlformats.org/drawingml/2006/main">
              <a:ext uri="{FF2B5EF4-FFF2-40B4-BE49-F238E27FC236}">
                <a16:creationId xmlns:a16="http://schemas.microsoft.com/office/drawing/2014/main" id="{A3055102-E414-4BAF-B9EA-8B5B915A4BF0}"/>
              </a:ext>
            </a:extLst>
          </p:cNvPr>
          <p:cNvSpPr>
            <a:spLocks xmlns:a="http://schemas.openxmlformats.org/drawingml/2006/main" noGrp="1"/>
          </p:cNvSpPr>
          <p:nvPr/>
        </p:nvSpPr>
        <p:spPr>
          <a:xfrm xmlns:a="http://schemas.openxmlformats.org/drawingml/2006/main">
            <a:off x="4895850" y="2676525"/>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Problem, objectives, and methods</a:t>
            </a:r>
          </a:p>
        </p:txBody>
      </p:sp>
      <p:sp>
        <p:nvSpPr>
          <p:cNvPr id="47" name="">
            <a:extLst xmlns:a="http://schemas.openxmlformats.org/drawingml/2006/main">
              <a:ext uri="{FF2B5EF4-FFF2-40B4-BE49-F238E27FC236}">
                <a16:creationId xmlns:a16="http://schemas.microsoft.com/office/drawing/2014/main" id="{E26D6834-89AD-482C-AD67-D2662E130B16}"/>
              </a:ext>
            </a:extLst>
          </p:cNvPr>
          <p:cNvSpPr>
            <a:spLocks xmlns:a="http://schemas.openxmlformats.org/drawingml/2006/main" noGrp="1"/>
          </p:cNvSpPr>
          <p:nvPr/>
        </p:nvSpPr>
        <p:spPr>
          <a:xfrm xmlns:a="http://schemas.openxmlformats.org/drawingml/2006/main">
            <a:off x="4895850" y="30575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8" name="">
            <a:extLst xmlns:a="http://schemas.openxmlformats.org/drawingml/2006/main">
              <a:ext uri="{FF2B5EF4-FFF2-40B4-BE49-F238E27FC236}">
                <a16:creationId xmlns:a16="http://schemas.microsoft.com/office/drawing/2014/main" id="{40D7FD87-DE7D-4E18-86C7-B574656E54D3}"/>
              </a:ext>
            </a:extLst>
          </p:cNvPr>
          <p:cNvSpPr>
            <a:spLocks xmlns:a="http://schemas.openxmlformats.org/drawingml/2006/main" noGrp="1"/>
          </p:cNvSpPr>
          <p:nvPr/>
        </p:nvSpPr>
        <p:spPr>
          <a:xfrm xmlns:a="http://schemas.openxmlformats.org/drawingml/2006/main">
            <a:off x="4438650" y="31242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15</a:t>
            </a:r>
          </a:p>
        </p:txBody>
      </p:sp>
      <p:sp>
        <p:nvSpPr>
          <p:cNvPr id="49" name="">
            <a:extLst xmlns:a="http://schemas.openxmlformats.org/drawingml/2006/main">
              <a:ext uri="{FF2B5EF4-FFF2-40B4-BE49-F238E27FC236}">
                <a16:creationId xmlns:a16="http://schemas.microsoft.com/office/drawing/2014/main" id="{A88E4E1B-6923-4764-B27E-236C18C2DCDD}"/>
              </a:ext>
            </a:extLst>
          </p:cNvPr>
          <p:cNvSpPr>
            <a:spLocks xmlns:a="http://schemas.openxmlformats.org/drawingml/2006/main" noGrp="1"/>
          </p:cNvSpPr>
          <p:nvPr/>
        </p:nvSpPr>
        <p:spPr>
          <a:xfrm xmlns:a="http://schemas.openxmlformats.org/drawingml/2006/main">
            <a:off x="4895850" y="31242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Users and characteristics</a:t>
            </a:r>
          </a:p>
        </p:txBody>
      </p:sp>
      <p:sp>
        <p:nvSpPr>
          <p:cNvPr id="50" name="">
            <a:extLst xmlns:a="http://schemas.openxmlformats.org/drawingml/2006/main">
              <a:ext uri="{FF2B5EF4-FFF2-40B4-BE49-F238E27FC236}">
                <a16:creationId xmlns:a16="http://schemas.microsoft.com/office/drawing/2014/main" id="{94A3BEF4-5B38-42ED-BB8C-49FCE01E0BCE}"/>
              </a:ext>
            </a:extLst>
          </p:cNvPr>
          <p:cNvSpPr>
            <a:spLocks xmlns:a="http://schemas.openxmlformats.org/drawingml/2006/main" noGrp="1"/>
          </p:cNvSpPr>
          <p:nvPr/>
        </p:nvSpPr>
        <p:spPr>
          <a:xfrm xmlns:a="http://schemas.openxmlformats.org/drawingml/2006/main">
            <a:off x="4895850" y="35052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1" name="">
            <a:extLst xmlns:a="http://schemas.openxmlformats.org/drawingml/2006/main">
              <a:ext uri="{FF2B5EF4-FFF2-40B4-BE49-F238E27FC236}">
                <a16:creationId xmlns:a16="http://schemas.microsoft.com/office/drawing/2014/main" id="{0D4C8032-23DD-4C38-A02D-1D8673E7C089}"/>
              </a:ext>
            </a:extLst>
          </p:cNvPr>
          <p:cNvSpPr>
            <a:spLocks xmlns:a="http://schemas.openxmlformats.org/drawingml/2006/main" noGrp="1"/>
          </p:cNvSpPr>
          <p:nvPr/>
        </p:nvSpPr>
        <p:spPr>
          <a:xfrm xmlns:a="http://schemas.openxmlformats.org/drawingml/2006/main">
            <a:off x="4438650" y="35718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16</a:t>
            </a:r>
          </a:p>
        </p:txBody>
      </p:sp>
      <p:sp>
        <p:nvSpPr>
          <p:cNvPr id="52" name="">
            <a:extLst xmlns:a="http://schemas.openxmlformats.org/drawingml/2006/main">
              <a:ext uri="{FF2B5EF4-FFF2-40B4-BE49-F238E27FC236}">
                <a16:creationId xmlns:a16="http://schemas.microsoft.com/office/drawing/2014/main" id="{7A3FE48C-0A6B-48F1-BA18-B35493A6DDBB}"/>
              </a:ext>
            </a:extLst>
          </p:cNvPr>
          <p:cNvSpPr>
            <a:spLocks xmlns:a="http://schemas.openxmlformats.org/drawingml/2006/main" noGrp="1"/>
          </p:cNvSpPr>
          <p:nvPr/>
        </p:nvSpPr>
        <p:spPr>
          <a:xfrm xmlns:a="http://schemas.openxmlformats.org/drawingml/2006/main">
            <a:off x="4895850" y="3571875"/>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Scope and limitations</a:t>
            </a:r>
          </a:p>
        </p:txBody>
      </p:sp>
      <p:sp>
        <p:nvSpPr>
          <p:cNvPr id="53" name="">
            <a:extLst xmlns:a="http://schemas.openxmlformats.org/drawingml/2006/main">
              <a:ext uri="{FF2B5EF4-FFF2-40B4-BE49-F238E27FC236}">
                <a16:creationId xmlns:a16="http://schemas.microsoft.com/office/drawing/2014/main" id="{CC705CDC-40B6-4028-963C-0438003CEE0B}"/>
              </a:ext>
            </a:extLst>
          </p:cNvPr>
          <p:cNvSpPr>
            <a:spLocks xmlns:a="http://schemas.openxmlformats.org/drawingml/2006/main" noGrp="1"/>
          </p:cNvSpPr>
          <p:nvPr/>
        </p:nvSpPr>
        <p:spPr>
          <a:xfrm xmlns:a="http://schemas.openxmlformats.org/drawingml/2006/main">
            <a:off x="4895850" y="39528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4" name="">
            <a:extLst xmlns:a="http://schemas.openxmlformats.org/drawingml/2006/main">
              <a:ext uri="{FF2B5EF4-FFF2-40B4-BE49-F238E27FC236}">
                <a16:creationId xmlns:a16="http://schemas.microsoft.com/office/drawing/2014/main" id="{0AF6D554-1A34-4B22-A5A0-FB8D7F37CD05}"/>
              </a:ext>
            </a:extLst>
          </p:cNvPr>
          <p:cNvSpPr>
            <a:spLocks xmlns:a="http://schemas.openxmlformats.org/drawingml/2006/main" noGrp="1"/>
          </p:cNvSpPr>
          <p:nvPr/>
        </p:nvSpPr>
        <p:spPr>
          <a:xfrm xmlns:a="http://schemas.openxmlformats.org/drawingml/2006/main">
            <a:off x="4438650" y="40195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17</a:t>
            </a:r>
          </a:p>
        </p:txBody>
      </p:sp>
      <p:sp>
        <p:nvSpPr>
          <p:cNvPr id="55" name="">
            <a:extLst xmlns:a="http://schemas.openxmlformats.org/drawingml/2006/main">
              <a:ext uri="{FF2B5EF4-FFF2-40B4-BE49-F238E27FC236}">
                <a16:creationId xmlns:a16="http://schemas.microsoft.com/office/drawing/2014/main" id="{2CFC2C52-FFC0-4210-B137-D81AD858F451}"/>
              </a:ext>
            </a:extLst>
          </p:cNvPr>
          <p:cNvSpPr>
            <a:spLocks xmlns:a="http://schemas.openxmlformats.org/drawingml/2006/main" noGrp="1"/>
          </p:cNvSpPr>
          <p:nvPr/>
        </p:nvSpPr>
        <p:spPr>
          <a:xfrm xmlns:a="http://schemas.openxmlformats.org/drawingml/2006/main">
            <a:off x="4895850" y="401955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Architectural design</a:t>
            </a:r>
          </a:p>
        </p:txBody>
      </p:sp>
      <p:sp>
        <p:nvSpPr>
          <p:cNvPr id="56" name="">
            <a:extLst xmlns:a="http://schemas.openxmlformats.org/drawingml/2006/main">
              <a:ext uri="{FF2B5EF4-FFF2-40B4-BE49-F238E27FC236}">
                <a16:creationId xmlns:a16="http://schemas.microsoft.com/office/drawing/2014/main" id="{B5B474F3-D410-48BD-A3EC-D0609CC83C4A}"/>
              </a:ext>
            </a:extLst>
          </p:cNvPr>
          <p:cNvSpPr>
            <a:spLocks xmlns:a="http://schemas.openxmlformats.org/drawingml/2006/main" noGrp="1"/>
          </p:cNvSpPr>
          <p:nvPr/>
        </p:nvSpPr>
        <p:spPr>
          <a:xfrm xmlns:a="http://schemas.openxmlformats.org/drawingml/2006/main">
            <a:off x="4895850" y="44005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7" name="">
            <a:extLst xmlns:a="http://schemas.openxmlformats.org/drawingml/2006/main">
              <a:ext uri="{FF2B5EF4-FFF2-40B4-BE49-F238E27FC236}">
                <a16:creationId xmlns:a16="http://schemas.microsoft.com/office/drawing/2014/main" id="{03DF0036-73B6-44EB-95D1-C29658B5E95A}"/>
              </a:ext>
            </a:extLst>
          </p:cNvPr>
          <p:cNvSpPr>
            <a:spLocks xmlns:a="http://schemas.openxmlformats.org/drawingml/2006/main" noGrp="1"/>
          </p:cNvSpPr>
          <p:nvPr/>
        </p:nvSpPr>
        <p:spPr>
          <a:xfrm xmlns:a="http://schemas.openxmlformats.org/drawingml/2006/main">
            <a:off x="4438650" y="44672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18</a:t>
            </a:r>
          </a:p>
        </p:txBody>
      </p:sp>
      <p:sp>
        <p:nvSpPr>
          <p:cNvPr id="58" name="">
            <a:extLst xmlns:a="http://schemas.openxmlformats.org/drawingml/2006/main">
              <a:ext uri="{FF2B5EF4-FFF2-40B4-BE49-F238E27FC236}">
                <a16:creationId xmlns:a16="http://schemas.microsoft.com/office/drawing/2014/main" id="{66C39623-8A90-4A8F-BDB3-DD1310E0A688}"/>
              </a:ext>
            </a:extLst>
          </p:cNvPr>
          <p:cNvSpPr>
            <a:spLocks xmlns:a="http://schemas.openxmlformats.org/drawingml/2006/main" noGrp="1"/>
          </p:cNvSpPr>
          <p:nvPr/>
        </p:nvSpPr>
        <p:spPr>
          <a:xfrm xmlns:a="http://schemas.openxmlformats.org/drawingml/2006/main">
            <a:off x="4895850" y="4467225"/>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Detailed modules: how and why</a:t>
            </a:r>
          </a:p>
        </p:txBody>
      </p:sp>
      <p:sp>
        <p:nvSpPr>
          <p:cNvPr id="59" name="">
            <a:extLst xmlns:a="http://schemas.openxmlformats.org/drawingml/2006/main">
              <a:ext uri="{FF2B5EF4-FFF2-40B4-BE49-F238E27FC236}">
                <a16:creationId xmlns:a16="http://schemas.microsoft.com/office/drawing/2014/main" id="{FC9E1A4B-67AC-4F95-9A04-7F8057F72067}"/>
              </a:ext>
            </a:extLst>
          </p:cNvPr>
          <p:cNvSpPr>
            <a:spLocks xmlns:a="http://schemas.openxmlformats.org/drawingml/2006/main" noGrp="1"/>
          </p:cNvSpPr>
          <p:nvPr/>
        </p:nvSpPr>
        <p:spPr>
          <a:xfrm xmlns:a="http://schemas.openxmlformats.org/drawingml/2006/main">
            <a:off x="4895850" y="48482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60" name="">
            <a:extLst xmlns:a="http://schemas.openxmlformats.org/drawingml/2006/main">
              <a:ext uri="{FF2B5EF4-FFF2-40B4-BE49-F238E27FC236}">
                <a16:creationId xmlns:a16="http://schemas.microsoft.com/office/drawing/2014/main" id="{2E1C84D2-0DD1-4B55-9A64-B35522C32D98}"/>
              </a:ext>
            </a:extLst>
          </p:cNvPr>
          <p:cNvSpPr>
            <a:spLocks xmlns:a="http://schemas.openxmlformats.org/drawingml/2006/main" noGrp="1"/>
          </p:cNvSpPr>
          <p:nvPr/>
        </p:nvSpPr>
        <p:spPr>
          <a:xfrm xmlns:a="http://schemas.openxmlformats.org/drawingml/2006/main">
            <a:off x="4438650" y="49149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19</a:t>
            </a:r>
          </a:p>
        </p:txBody>
      </p:sp>
      <p:sp>
        <p:nvSpPr>
          <p:cNvPr id="61" name="">
            <a:extLst xmlns:a="http://schemas.openxmlformats.org/drawingml/2006/main">
              <a:ext uri="{FF2B5EF4-FFF2-40B4-BE49-F238E27FC236}">
                <a16:creationId xmlns:a16="http://schemas.microsoft.com/office/drawing/2014/main" id="{B30ACAF9-75E2-433A-9601-C1B9138ADA5D}"/>
              </a:ext>
            </a:extLst>
          </p:cNvPr>
          <p:cNvSpPr>
            <a:spLocks xmlns:a="http://schemas.openxmlformats.org/drawingml/2006/main" noGrp="1"/>
          </p:cNvSpPr>
          <p:nvPr/>
        </p:nvSpPr>
        <p:spPr>
          <a:xfrm xmlns:a="http://schemas.openxmlformats.org/drawingml/2006/main">
            <a:off x="4895850" y="49149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Data Flow Diagram</a:t>
            </a:r>
          </a:p>
        </p:txBody>
      </p:sp>
      <p:sp>
        <p:nvSpPr>
          <p:cNvPr id="62" name="">
            <a:extLst xmlns:a="http://schemas.openxmlformats.org/drawingml/2006/main">
              <a:ext uri="{FF2B5EF4-FFF2-40B4-BE49-F238E27FC236}">
                <a16:creationId xmlns:a16="http://schemas.microsoft.com/office/drawing/2014/main" id="{756CBC9E-07BB-480E-9E7B-0BFCDA7D38DF}"/>
              </a:ext>
            </a:extLst>
          </p:cNvPr>
          <p:cNvSpPr>
            <a:spLocks xmlns:a="http://schemas.openxmlformats.org/drawingml/2006/main" noGrp="1"/>
          </p:cNvSpPr>
          <p:nvPr/>
        </p:nvSpPr>
        <p:spPr>
          <a:xfrm xmlns:a="http://schemas.openxmlformats.org/drawingml/2006/main">
            <a:off x="8001000" y="13335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20</a:t>
            </a:r>
          </a:p>
        </p:txBody>
      </p:sp>
      <p:sp>
        <p:nvSpPr>
          <p:cNvPr id="63" name="">
            <a:extLst xmlns:a="http://schemas.openxmlformats.org/drawingml/2006/main">
              <a:ext uri="{FF2B5EF4-FFF2-40B4-BE49-F238E27FC236}">
                <a16:creationId xmlns:a16="http://schemas.microsoft.com/office/drawing/2014/main" id="{7C397247-59B4-4147-A748-590E6BAA2EF1}"/>
              </a:ext>
            </a:extLst>
          </p:cNvPr>
          <p:cNvSpPr>
            <a:spLocks xmlns:a="http://schemas.openxmlformats.org/drawingml/2006/main" noGrp="1"/>
          </p:cNvSpPr>
          <p:nvPr/>
        </p:nvSpPr>
        <p:spPr>
          <a:xfrm xmlns:a="http://schemas.openxmlformats.org/drawingml/2006/main">
            <a:off x="8458200" y="13335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Entity Relationship Diagram</a:t>
            </a:r>
          </a:p>
        </p:txBody>
      </p:sp>
      <p:sp>
        <p:nvSpPr>
          <p:cNvPr id="64" name="">
            <a:extLst xmlns:a="http://schemas.openxmlformats.org/drawingml/2006/main">
              <a:ext uri="{FF2B5EF4-FFF2-40B4-BE49-F238E27FC236}">
                <a16:creationId xmlns:a16="http://schemas.microsoft.com/office/drawing/2014/main" id="{5252DBAC-5133-4C4D-A7DA-9412B96FB286}"/>
              </a:ext>
            </a:extLst>
          </p:cNvPr>
          <p:cNvSpPr>
            <a:spLocks xmlns:a="http://schemas.openxmlformats.org/drawingml/2006/main" noGrp="1"/>
          </p:cNvSpPr>
          <p:nvPr/>
        </p:nvSpPr>
        <p:spPr>
          <a:xfrm xmlns:a="http://schemas.openxmlformats.org/drawingml/2006/main">
            <a:off x="8458200" y="17145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65" name="">
            <a:extLst xmlns:a="http://schemas.openxmlformats.org/drawingml/2006/main">
              <a:ext uri="{FF2B5EF4-FFF2-40B4-BE49-F238E27FC236}">
                <a16:creationId xmlns:a16="http://schemas.microsoft.com/office/drawing/2014/main" id="{EDE6FD72-B0C2-460F-9415-E0CB62053B8E}"/>
              </a:ext>
            </a:extLst>
          </p:cNvPr>
          <p:cNvSpPr>
            <a:spLocks xmlns:a="http://schemas.openxmlformats.org/drawingml/2006/main" noGrp="1"/>
          </p:cNvSpPr>
          <p:nvPr/>
        </p:nvSpPr>
        <p:spPr>
          <a:xfrm xmlns:a="http://schemas.openxmlformats.org/drawingml/2006/main">
            <a:off x="8001000" y="17811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21</a:t>
            </a:r>
          </a:p>
        </p:txBody>
      </p:sp>
      <p:sp>
        <p:nvSpPr>
          <p:cNvPr id="66" name="">
            <a:extLst xmlns:a="http://schemas.openxmlformats.org/drawingml/2006/main">
              <a:ext uri="{FF2B5EF4-FFF2-40B4-BE49-F238E27FC236}">
                <a16:creationId xmlns:a16="http://schemas.microsoft.com/office/drawing/2014/main" id="{FACF33B3-BCD5-4CB9-AD6F-C937E937C8D3}"/>
              </a:ext>
            </a:extLst>
          </p:cNvPr>
          <p:cNvSpPr>
            <a:spLocks xmlns:a="http://schemas.openxmlformats.org/drawingml/2006/main" noGrp="1"/>
          </p:cNvSpPr>
          <p:nvPr/>
        </p:nvSpPr>
        <p:spPr>
          <a:xfrm xmlns:a="http://schemas.openxmlformats.org/drawingml/2006/main">
            <a:off x="8458200" y="1781175"/>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Relational Data Model</a:t>
            </a:r>
          </a:p>
        </p:txBody>
      </p:sp>
      <p:sp>
        <p:nvSpPr>
          <p:cNvPr id="67" name="">
            <a:extLst xmlns:a="http://schemas.openxmlformats.org/drawingml/2006/main">
              <a:ext uri="{FF2B5EF4-FFF2-40B4-BE49-F238E27FC236}">
                <a16:creationId xmlns:a16="http://schemas.microsoft.com/office/drawing/2014/main" id="{E48CDD27-4969-4335-A93A-9DAAF149981E}"/>
              </a:ext>
            </a:extLst>
          </p:cNvPr>
          <p:cNvSpPr>
            <a:spLocks xmlns:a="http://schemas.openxmlformats.org/drawingml/2006/main" noGrp="1"/>
          </p:cNvSpPr>
          <p:nvPr/>
        </p:nvSpPr>
        <p:spPr>
          <a:xfrm xmlns:a="http://schemas.openxmlformats.org/drawingml/2006/main">
            <a:off x="8458200" y="21621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68" name="">
            <a:extLst xmlns:a="http://schemas.openxmlformats.org/drawingml/2006/main">
              <a:ext uri="{FF2B5EF4-FFF2-40B4-BE49-F238E27FC236}">
                <a16:creationId xmlns:a16="http://schemas.microsoft.com/office/drawing/2014/main" id="{713CCBB1-AE0B-40D7-8193-A2D3F591B4A8}"/>
              </a:ext>
            </a:extLst>
          </p:cNvPr>
          <p:cNvSpPr>
            <a:spLocks xmlns:a="http://schemas.openxmlformats.org/drawingml/2006/main" noGrp="1"/>
          </p:cNvSpPr>
          <p:nvPr/>
        </p:nvSpPr>
        <p:spPr>
          <a:xfrm xmlns:a="http://schemas.openxmlformats.org/drawingml/2006/main">
            <a:off x="8001000" y="22288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22</a:t>
            </a:r>
          </a:p>
        </p:txBody>
      </p:sp>
      <p:sp>
        <p:nvSpPr>
          <p:cNvPr id="69" name="">
            <a:extLst xmlns:a="http://schemas.openxmlformats.org/drawingml/2006/main">
              <a:ext uri="{FF2B5EF4-FFF2-40B4-BE49-F238E27FC236}">
                <a16:creationId xmlns:a16="http://schemas.microsoft.com/office/drawing/2014/main" id="{91222615-1027-48AD-AE81-D0E60E7419C0}"/>
              </a:ext>
            </a:extLst>
          </p:cNvPr>
          <p:cNvSpPr>
            <a:spLocks xmlns:a="http://schemas.openxmlformats.org/drawingml/2006/main" noGrp="1"/>
          </p:cNvSpPr>
          <p:nvPr/>
        </p:nvSpPr>
        <p:spPr>
          <a:xfrm xmlns:a="http://schemas.openxmlformats.org/drawingml/2006/main">
            <a:off x="8458200" y="222885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user flow</a:t>
            </a:r>
          </a:p>
        </p:txBody>
      </p:sp>
      <p:sp>
        <p:nvSpPr>
          <p:cNvPr id="70" name="">
            <a:extLst xmlns:a="http://schemas.openxmlformats.org/drawingml/2006/main">
              <a:ext uri="{FF2B5EF4-FFF2-40B4-BE49-F238E27FC236}">
                <a16:creationId xmlns:a16="http://schemas.microsoft.com/office/drawing/2014/main" id="{07B9AF4E-8898-41B0-AAE5-55BB7A1E4A6D}"/>
              </a:ext>
            </a:extLst>
          </p:cNvPr>
          <p:cNvSpPr>
            <a:spLocks xmlns:a="http://schemas.openxmlformats.org/drawingml/2006/main" noGrp="1"/>
          </p:cNvSpPr>
          <p:nvPr/>
        </p:nvSpPr>
        <p:spPr>
          <a:xfrm xmlns:a="http://schemas.openxmlformats.org/drawingml/2006/main">
            <a:off x="8458200" y="26098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71" name="">
            <a:extLst xmlns:a="http://schemas.openxmlformats.org/drawingml/2006/main">
              <a:ext uri="{FF2B5EF4-FFF2-40B4-BE49-F238E27FC236}">
                <a16:creationId xmlns:a16="http://schemas.microsoft.com/office/drawing/2014/main" id="{5E9278A5-7BCC-4542-8C1F-60346314124B}"/>
              </a:ext>
            </a:extLst>
          </p:cNvPr>
          <p:cNvSpPr>
            <a:spLocks xmlns:a="http://schemas.openxmlformats.org/drawingml/2006/main" noGrp="1"/>
          </p:cNvSpPr>
          <p:nvPr/>
        </p:nvSpPr>
        <p:spPr>
          <a:xfrm xmlns:a="http://schemas.openxmlformats.org/drawingml/2006/main">
            <a:off x="8001000" y="26765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23</a:t>
            </a:r>
          </a:p>
        </p:txBody>
      </p:sp>
      <p:sp>
        <p:nvSpPr>
          <p:cNvPr id="72" name="">
            <a:extLst xmlns:a="http://schemas.openxmlformats.org/drawingml/2006/main">
              <a:ext uri="{FF2B5EF4-FFF2-40B4-BE49-F238E27FC236}">
                <a16:creationId xmlns:a16="http://schemas.microsoft.com/office/drawing/2014/main" id="{505410DC-8D89-44C7-B374-3AA47197B392}"/>
              </a:ext>
            </a:extLst>
          </p:cNvPr>
          <p:cNvSpPr>
            <a:spLocks xmlns:a="http://schemas.openxmlformats.org/drawingml/2006/main" noGrp="1"/>
          </p:cNvSpPr>
          <p:nvPr/>
        </p:nvSpPr>
        <p:spPr>
          <a:xfrm xmlns:a="http://schemas.openxmlformats.org/drawingml/2006/main">
            <a:off x="8458200" y="2676525"/>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user flow</a:t>
            </a:r>
          </a:p>
        </p:txBody>
      </p:sp>
      <p:sp>
        <p:nvSpPr>
          <p:cNvPr id="73" name="">
            <a:extLst xmlns:a="http://schemas.openxmlformats.org/drawingml/2006/main">
              <a:ext uri="{FF2B5EF4-FFF2-40B4-BE49-F238E27FC236}">
                <a16:creationId xmlns:a16="http://schemas.microsoft.com/office/drawing/2014/main" id="{B56B7B4B-A828-4B69-B549-AF09E6ADF51A}"/>
              </a:ext>
            </a:extLst>
          </p:cNvPr>
          <p:cNvSpPr>
            <a:spLocks xmlns:a="http://schemas.openxmlformats.org/drawingml/2006/main" noGrp="1"/>
          </p:cNvSpPr>
          <p:nvPr/>
        </p:nvSpPr>
        <p:spPr>
          <a:xfrm xmlns:a="http://schemas.openxmlformats.org/drawingml/2006/main">
            <a:off x="8458200" y="30575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74" name="">
            <a:extLst xmlns:a="http://schemas.openxmlformats.org/drawingml/2006/main">
              <a:ext uri="{FF2B5EF4-FFF2-40B4-BE49-F238E27FC236}">
                <a16:creationId xmlns:a16="http://schemas.microsoft.com/office/drawing/2014/main" id="{587523C3-AE4C-499F-8F4A-D1E7256A4730}"/>
              </a:ext>
            </a:extLst>
          </p:cNvPr>
          <p:cNvSpPr>
            <a:spLocks xmlns:a="http://schemas.openxmlformats.org/drawingml/2006/main" noGrp="1"/>
          </p:cNvSpPr>
          <p:nvPr/>
        </p:nvSpPr>
        <p:spPr>
          <a:xfrm xmlns:a="http://schemas.openxmlformats.org/drawingml/2006/main">
            <a:off x="8001000" y="31242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24</a:t>
            </a:r>
          </a:p>
        </p:txBody>
      </p:sp>
      <p:sp>
        <p:nvSpPr>
          <p:cNvPr id="75" name="">
            <a:extLst xmlns:a="http://schemas.openxmlformats.org/drawingml/2006/main">
              <a:ext uri="{FF2B5EF4-FFF2-40B4-BE49-F238E27FC236}">
                <a16:creationId xmlns:a16="http://schemas.microsoft.com/office/drawing/2014/main" id="{5AA97FD7-DC44-4BF6-BCF8-1B6AC2CD160E}"/>
              </a:ext>
            </a:extLst>
          </p:cNvPr>
          <p:cNvSpPr>
            <a:spLocks xmlns:a="http://schemas.openxmlformats.org/drawingml/2006/main" noGrp="1"/>
          </p:cNvSpPr>
          <p:nvPr/>
        </p:nvSpPr>
        <p:spPr>
          <a:xfrm xmlns:a="http://schemas.openxmlformats.org/drawingml/2006/main">
            <a:off x="8458200" y="31242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DRRM Administrator user flow</a:t>
            </a:r>
          </a:p>
        </p:txBody>
      </p:sp>
      <p:sp>
        <p:nvSpPr>
          <p:cNvPr id="76" name="">
            <a:extLst xmlns:a="http://schemas.openxmlformats.org/drawingml/2006/main">
              <a:ext uri="{FF2B5EF4-FFF2-40B4-BE49-F238E27FC236}">
                <a16:creationId xmlns:a16="http://schemas.microsoft.com/office/drawing/2014/main" id="{172B2935-7CC9-483A-A677-6D125F8ADCEC}"/>
              </a:ext>
            </a:extLst>
          </p:cNvPr>
          <p:cNvSpPr>
            <a:spLocks xmlns:a="http://schemas.openxmlformats.org/drawingml/2006/main" noGrp="1"/>
          </p:cNvSpPr>
          <p:nvPr/>
        </p:nvSpPr>
        <p:spPr>
          <a:xfrm xmlns:a="http://schemas.openxmlformats.org/drawingml/2006/main">
            <a:off x="8458200" y="35052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77" name="">
            <a:extLst xmlns:a="http://schemas.openxmlformats.org/drawingml/2006/main">
              <a:ext uri="{FF2B5EF4-FFF2-40B4-BE49-F238E27FC236}">
                <a16:creationId xmlns:a16="http://schemas.microsoft.com/office/drawing/2014/main" id="{E3A2FAC7-1D23-44D0-B1D6-9721A4D0983B}"/>
              </a:ext>
            </a:extLst>
          </p:cNvPr>
          <p:cNvSpPr>
            <a:spLocks xmlns:a="http://schemas.openxmlformats.org/drawingml/2006/main" noGrp="1"/>
          </p:cNvSpPr>
          <p:nvPr/>
        </p:nvSpPr>
        <p:spPr>
          <a:xfrm xmlns:a="http://schemas.openxmlformats.org/drawingml/2006/main">
            <a:off x="8001000" y="35718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25</a:t>
            </a:r>
          </a:p>
        </p:txBody>
      </p:sp>
      <p:sp>
        <p:nvSpPr>
          <p:cNvPr id="78" name="">
            <a:extLst xmlns:a="http://schemas.openxmlformats.org/drawingml/2006/main">
              <a:ext uri="{FF2B5EF4-FFF2-40B4-BE49-F238E27FC236}">
                <a16:creationId xmlns:a16="http://schemas.microsoft.com/office/drawing/2014/main" id="{C716CE75-848F-4A09-B3CB-493FED375341}"/>
              </a:ext>
            </a:extLst>
          </p:cNvPr>
          <p:cNvSpPr>
            <a:spLocks xmlns:a="http://schemas.openxmlformats.org/drawingml/2006/main" noGrp="1"/>
          </p:cNvSpPr>
          <p:nvPr/>
        </p:nvSpPr>
        <p:spPr>
          <a:xfrm xmlns:a="http://schemas.openxmlformats.org/drawingml/2006/main">
            <a:off x="8458200" y="3571875"/>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Development plan</a:t>
            </a:r>
          </a:p>
        </p:txBody>
      </p:sp>
      <p:sp>
        <p:nvSpPr>
          <p:cNvPr id="79" name="">
            <a:extLst xmlns:a="http://schemas.openxmlformats.org/drawingml/2006/main">
              <a:ext uri="{FF2B5EF4-FFF2-40B4-BE49-F238E27FC236}">
                <a16:creationId xmlns:a16="http://schemas.microsoft.com/office/drawing/2014/main" id="{1EE8FB64-1C75-47D4-9FC8-440A20B3BC9B}"/>
              </a:ext>
            </a:extLst>
          </p:cNvPr>
          <p:cNvSpPr>
            <a:spLocks xmlns:a="http://schemas.openxmlformats.org/drawingml/2006/main" noGrp="1"/>
          </p:cNvSpPr>
          <p:nvPr/>
        </p:nvSpPr>
        <p:spPr>
          <a:xfrm xmlns:a="http://schemas.openxmlformats.org/drawingml/2006/main">
            <a:off x="8458200" y="39528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80" name="">
            <a:extLst xmlns:a="http://schemas.openxmlformats.org/drawingml/2006/main">
              <a:ext uri="{FF2B5EF4-FFF2-40B4-BE49-F238E27FC236}">
                <a16:creationId xmlns:a16="http://schemas.microsoft.com/office/drawing/2014/main" id="{CA4275FB-E53E-4E63-B6E4-6FBCD23426ED}"/>
              </a:ext>
            </a:extLst>
          </p:cNvPr>
          <p:cNvSpPr>
            <a:spLocks xmlns:a="http://schemas.openxmlformats.org/drawingml/2006/main" noGrp="1"/>
          </p:cNvSpPr>
          <p:nvPr/>
        </p:nvSpPr>
        <p:spPr>
          <a:xfrm xmlns:a="http://schemas.openxmlformats.org/drawingml/2006/main">
            <a:off x="8001000" y="40195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26</a:t>
            </a:r>
          </a:p>
        </p:txBody>
      </p:sp>
      <p:sp>
        <p:nvSpPr>
          <p:cNvPr id="81" name="">
            <a:extLst xmlns:a="http://schemas.openxmlformats.org/drawingml/2006/main">
              <a:ext uri="{FF2B5EF4-FFF2-40B4-BE49-F238E27FC236}">
                <a16:creationId xmlns:a16="http://schemas.microsoft.com/office/drawing/2014/main" id="{92B483E0-B7F4-44CC-9E9F-FF439A1F9065}"/>
              </a:ext>
            </a:extLst>
          </p:cNvPr>
          <p:cNvSpPr>
            <a:spLocks xmlns:a="http://schemas.openxmlformats.org/drawingml/2006/main" noGrp="1"/>
          </p:cNvSpPr>
          <p:nvPr/>
        </p:nvSpPr>
        <p:spPr>
          <a:xfrm xmlns:a="http://schemas.openxmlformats.org/drawingml/2006/main">
            <a:off x="8458200" y="401955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Technicalities: stack, testing, and AI use</a:t>
            </a:r>
          </a:p>
        </p:txBody>
      </p:sp>
      <p:sp>
        <p:nvSpPr>
          <p:cNvPr id="82" name="">
            <a:extLst xmlns:a="http://schemas.openxmlformats.org/drawingml/2006/main">
              <a:ext uri="{FF2B5EF4-FFF2-40B4-BE49-F238E27FC236}">
                <a16:creationId xmlns:a16="http://schemas.microsoft.com/office/drawing/2014/main" id="{02749DAE-B91F-4B8B-A356-2A4D7AB6DE06}"/>
              </a:ext>
            </a:extLst>
          </p:cNvPr>
          <p:cNvSpPr>
            <a:spLocks xmlns:a="http://schemas.openxmlformats.org/drawingml/2006/main" noGrp="1"/>
          </p:cNvSpPr>
          <p:nvPr/>
        </p:nvSpPr>
        <p:spPr>
          <a:xfrm xmlns:a="http://schemas.openxmlformats.org/drawingml/2006/main">
            <a:off x="8458200" y="44005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83" name="">
            <a:extLst xmlns:a="http://schemas.openxmlformats.org/drawingml/2006/main">
              <a:ext uri="{FF2B5EF4-FFF2-40B4-BE49-F238E27FC236}">
                <a16:creationId xmlns:a16="http://schemas.microsoft.com/office/drawing/2014/main" id="{45A904BC-2E25-43CA-A683-98F2DAB0F73C}"/>
              </a:ext>
            </a:extLst>
          </p:cNvPr>
          <p:cNvSpPr>
            <a:spLocks xmlns:a="http://schemas.openxmlformats.org/drawingml/2006/main" noGrp="1"/>
          </p:cNvSpPr>
          <p:nvPr/>
        </p:nvSpPr>
        <p:spPr>
          <a:xfrm xmlns:a="http://schemas.openxmlformats.org/drawingml/2006/main">
            <a:off x="8001000" y="44672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27</a:t>
            </a:r>
          </a:p>
        </p:txBody>
      </p:sp>
      <p:sp>
        <p:nvSpPr>
          <p:cNvPr id="84" name="">
            <a:extLst xmlns:a="http://schemas.openxmlformats.org/drawingml/2006/main">
              <a:ext uri="{FF2B5EF4-FFF2-40B4-BE49-F238E27FC236}">
                <a16:creationId xmlns:a16="http://schemas.microsoft.com/office/drawing/2014/main" id="{2902BA43-ADF7-4ACE-98F9-F6C1F91C9ABA}"/>
              </a:ext>
            </a:extLst>
          </p:cNvPr>
          <p:cNvSpPr>
            <a:spLocks xmlns:a="http://schemas.openxmlformats.org/drawingml/2006/main" noGrp="1"/>
          </p:cNvSpPr>
          <p:nvPr/>
        </p:nvSpPr>
        <p:spPr>
          <a:xfrm xmlns:a="http://schemas.openxmlformats.org/drawingml/2006/main">
            <a:off x="8458200" y="4467225"/>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Significance of the project</a:t>
            </a:r>
          </a:p>
        </p:txBody>
      </p:sp>
      <p:sp>
        <p:nvSpPr>
          <p:cNvPr id="85" name="">
            <a:extLst xmlns:a="http://schemas.openxmlformats.org/drawingml/2006/main">
              <a:ext uri="{FF2B5EF4-FFF2-40B4-BE49-F238E27FC236}">
                <a16:creationId xmlns:a16="http://schemas.microsoft.com/office/drawing/2014/main" id="{02EB8AD3-AA8D-4F42-A7CA-4968BA1F5BD9}"/>
              </a:ext>
            </a:extLst>
          </p:cNvPr>
          <p:cNvSpPr>
            <a:spLocks xmlns:a="http://schemas.openxmlformats.org/drawingml/2006/main" noGrp="1"/>
          </p:cNvSpPr>
          <p:nvPr/>
        </p:nvSpPr>
        <p:spPr>
          <a:xfrm xmlns:a="http://schemas.openxmlformats.org/drawingml/2006/main">
            <a:off x="8458200" y="48482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86" name="">
            <a:extLst xmlns:a="http://schemas.openxmlformats.org/drawingml/2006/main">
              <a:ext uri="{FF2B5EF4-FFF2-40B4-BE49-F238E27FC236}">
                <a16:creationId xmlns:a16="http://schemas.microsoft.com/office/drawing/2014/main" id="{BC0CA4F9-BFA0-45C0-9CF9-350924350D1C}"/>
              </a:ext>
            </a:extLst>
          </p:cNvPr>
          <p:cNvSpPr>
            <a:spLocks xmlns:a="http://schemas.openxmlformats.org/drawingml/2006/main" noGrp="1"/>
          </p:cNvSpPr>
          <p:nvPr/>
        </p:nvSpPr>
        <p:spPr>
          <a:xfrm xmlns:a="http://schemas.openxmlformats.org/drawingml/2006/main">
            <a:off x="8001000" y="49149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28</a:t>
            </a:r>
          </a:p>
        </p:txBody>
      </p:sp>
      <p:sp>
        <p:nvSpPr>
          <p:cNvPr id="87" name="">
            <a:extLst xmlns:a="http://schemas.openxmlformats.org/drawingml/2006/main">
              <a:ext uri="{FF2B5EF4-FFF2-40B4-BE49-F238E27FC236}">
                <a16:creationId xmlns:a16="http://schemas.microsoft.com/office/drawing/2014/main" id="{6C58E06E-4122-49BC-AB85-EA31D2ACBEAE}"/>
              </a:ext>
            </a:extLst>
          </p:cNvPr>
          <p:cNvSpPr>
            <a:spLocks xmlns:a="http://schemas.openxmlformats.org/drawingml/2006/main" noGrp="1"/>
          </p:cNvSpPr>
          <p:nvPr/>
        </p:nvSpPr>
        <p:spPr>
          <a:xfrm xmlns:a="http://schemas.openxmlformats.org/drawingml/2006/main">
            <a:off x="8458200" y="49149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Summary</a:t>
            </a:r>
          </a:p>
        </p:txBody>
      </p:sp>
    </p:spTree>
    <p:extLst>
      <p:ext uri="{BB962C8B-B14F-4D97-AF65-F5344CB8AC3E}">
        <p14:creationId xmlns:p14="http://schemas.microsoft.com/office/powerpoint/2010/main" val="1629402781"/>
      </p:ext>
    </p:extLst>
  </p:cSld>
</p:sld>
</file>

<file path=ppt/slides/slide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2A7FB30-3A49-4421-822F-33724C0AE276}"/>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4F4542-CAC9-4302-853E-5D9320168A74}"/>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RA 10121: THE MANDATE</a:t>
            </a:r>
          </a:p>
        </p:txBody>
      </p:sp>
      <p:sp>
        <p:nvSpPr>
          <p:cNvPr id="3" name="">
            <a:extLst xmlns:a="http://schemas.openxmlformats.org/drawingml/2006/main">
              <a:ext uri="{FF2B5EF4-FFF2-40B4-BE49-F238E27FC236}">
                <a16:creationId xmlns:a16="http://schemas.microsoft.com/office/drawing/2014/main" id="{FFD6D1F1-F069-417C-9C97-52A1EC3A9A52}"/>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Local DRRM offices have information and coordination duties</a:t>
            </a:r>
          </a:p>
        </p:txBody>
      </p:sp>
      <p:sp>
        <p:nvSpPr>
          <p:cNvPr id="4" name="">
            <a:extLst xmlns:a="http://schemas.openxmlformats.org/drawingml/2006/main">
              <a:ext uri="{FF2B5EF4-FFF2-40B4-BE49-F238E27FC236}">
                <a16:creationId xmlns:a16="http://schemas.microsoft.com/office/drawing/2014/main" id="{8B688CF3-DF43-4981-A8D2-5ADC2ABBA03F}"/>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A88BA6DD-0E71-49C0-B87E-980996480076}"/>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revised paper, Chapter 1; Republic Act No. 10121, Section 12</a:t>
            </a:r>
          </a:p>
        </p:txBody>
      </p:sp>
      <p:sp>
        <p:nvSpPr>
          <p:cNvPr id="6" name="">
            <a:extLst xmlns:a="http://schemas.openxmlformats.org/drawingml/2006/main">
              <a:ext uri="{FF2B5EF4-FFF2-40B4-BE49-F238E27FC236}">
                <a16:creationId xmlns:a16="http://schemas.microsoft.com/office/drawing/2014/main" id="{90A8EA47-7E41-4BEB-BFA2-D7C929B84AE6}"/>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03</a:t>
            </a:r>
          </a:p>
        </p:txBody>
      </p:sp>
      <p:sp>
        <p:nvSpPr>
          <p:cNvPr id="7" name="">
            <a:extLst xmlns:a="http://schemas.openxmlformats.org/drawingml/2006/main">
              <a:ext uri="{FF2B5EF4-FFF2-40B4-BE49-F238E27FC236}">
                <a16:creationId xmlns:a16="http://schemas.microsoft.com/office/drawing/2014/main" id="{1AD83F71-1420-4CF9-8B48-D3D3E4A3C250}"/>
              </a:ext>
            </a:extLst>
          </p:cNvPr>
          <p:cNvSpPr>
            <a:spLocks xmlns:a="http://schemas.openxmlformats.org/drawingml/2006/main" noGrp="1"/>
          </p:cNvSpPr>
          <p:nvPr/>
        </p:nvSpPr>
        <p:spPr>
          <a:xfrm xmlns:a="http://schemas.openxmlformats.org/drawingml/2006/main">
            <a:off x="933450" y="1466850"/>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Consolidate</a:t>
            </a:r>
          </a:p>
        </p:txBody>
      </p:sp>
      <p:sp>
        <p:nvSpPr>
          <p:cNvPr id="8" name="">
            <a:extLst xmlns:a="http://schemas.openxmlformats.org/drawingml/2006/main">
              <a:ext uri="{FF2B5EF4-FFF2-40B4-BE49-F238E27FC236}">
                <a16:creationId xmlns:a16="http://schemas.microsoft.com/office/drawing/2014/main" id="{3912E512-4DB9-4BC3-A83C-DF35B2108B05}"/>
              </a:ext>
            </a:extLst>
          </p:cNvPr>
          <p:cNvSpPr>
            <a:spLocks xmlns:a="http://schemas.openxmlformats.org/drawingml/2006/main" noGrp="1"/>
          </p:cNvSpPr>
          <p:nvPr/>
        </p:nvSpPr>
        <p:spPr>
          <a:xfrm xmlns:a="http://schemas.openxmlformats.org/drawingml/2006/main">
            <a:off x="3438525" y="1466850"/>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local disaster risk information</a:t>
            </a:r>
          </a:p>
        </p:txBody>
      </p:sp>
      <p:sp>
        <p:nvSpPr>
          <p:cNvPr id="9" name="">
            <a:extLst xmlns:a="http://schemas.openxmlformats.org/drawingml/2006/main">
              <a:ext uri="{FF2B5EF4-FFF2-40B4-BE49-F238E27FC236}">
                <a16:creationId xmlns:a16="http://schemas.microsoft.com/office/drawing/2014/main" id="{BC252E50-3966-4259-9BA8-02A752F26333}"/>
              </a:ext>
            </a:extLst>
          </p:cNvPr>
          <p:cNvSpPr>
            <a:spLocks xmlns:a="http://schemas.openxmlformats.org/drawingml/2006/main" noGrp="1"/>
          </p:cNvSpPr>
          <p:nvPr/>
        </p:nvSpPr>
        <p:spPr>
          <a:xfrm xmlns:a="http://schemas.openxmlformats.org/drawingml/2006/main">
            <a:off x="933450" y="233362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Maintain</a:t>
            </a:r>
          </a:p>
        </p:txBody>
      </p:sp>
      <p:sp>
        <p:nvSpPr>
          <p:cNvPr id="10" name="">
            <a:extLst xmlns:a="http://schemas.openxmlformats.org/drawingml/2006/main">
              <a:ext uri="{FF2B5EF4-FFF2-40B4-BE49-F238E27FC236}">
                <a16:creationId xmlns:a16="http://schemas.microsoft.com/office/drawing/2014/main" id="{B81850AB-AAFA-4934-B8E5-1F69946EE4A6}"/>
              </a:ext>
            </a:extLst>
          </p:cNvPr>
          <p:cNvSpPr>
            <a:spLocks xmlns:a="http://schemas.openxmlformats.org/drawingml/2006/main" noGrp="1"/>
          </p:cNvSpPr>
          <p:nvPr/>
        </p:nvSpPr>
        <p:spPr>
          <a:xfrm xmlns:a="http://schemas.openxmlformats.org/drawingml/2006/main">
            <a:off x="3438525" y="2333625"/>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risk maps and databases of resources and critical infrastructure</a:t>
            </a:r>
          </a:p>
        </p:txBody>
      </p:sp>
      <p:sp>
        <p:nvSpPr>
          <p:cNvPr id="11" name="">
            <a:extLst xmlns:a="http://schemas.openxmlformats.org/drawingml/2006/main">
              <a:ext uri="{FF2B5EF4-FFF2-40B4-BE49-F238E27FC236}">
                <a16:creationId xmlns:a16="http://schemas.microsoft.com/office/drawing/2014/main" id="{63D179B1-7E77-4A56-96D1-D3AA9D5B8379}"/>
              </a:ext>
            </a:extLst>
          </p:cNvPr>
          <p:cNvSpPr>
            <a:spLocks xmlns:a="http://schemas.openxmlformats.org/drawingml/2006/main" noGrp="1"/>
          </p:cNvSpPr>
          <p:nvPr/>
        </p:nvSpPr>
        <p:spPr>
          <a:xfrm xmlns:a="http://schemas.openxmlformats.org/drawingml/2006/main">
            <a:off x="933450" y="3200400"/>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Monitor</a:t>
            </a:r>
          </a:p>
        </p:txBody>
      </p:sp>
      <p:sp>
        <p:nvSpPr>
          <p:cNvPr id="12" name="">
            <a:extLst xmlns:a="http://schemas.openxmlformats.org/drawingml/2006/main">
              <a:ext uri="{FF2B5EF4-FFF2-40B4-BE49-F238E27FC236}">
                <a16:creationId xmlns:a16="http://schemas.microsoft.com/office/drawing/2014/main" id="{8A97DAC5-B431-4FDF-8132-B2FF36249175}"/>
              </a:ext>
            </a:extLst>
          </p:cNvPr>
          <p:cNvSpPr>
            <a:spLocks xmlns:a="http://schemas.openxmlformats.org/drawingml/2006/main" noGrp="1"/>
          </p:cNvSpPr>
          <p:nvPr/>
        </p:nvSpPr>
        <p:spPr>
          <a:xfrm xmlns:a="http://schemas.openxmlformats.org/drawingml/2006/main">
            <a:off x="3438525" y="3200400"/>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hazards, vulnerabilities and local conditions</a:t>
            </a:r>
          </a:p>
        </p:txBody>
      </p:sp>
      <p:sp>
        <p:nvSpPr>
          <p:cNvPr id="13" name="">
            <a:extLst xmlns:a="http://schemas.openxmlformats.org/drawingml/2006/main">
              <a:ext uri="{FF2B5EF4-FFF2-40B4-BE49-F238E27FC236}">
                <a16:creationId xmlns:a16="http://schemas.microsoft.com/office/drawing/2014/main" id="{1D09511B-8BE6-4A22-BA78-444EE37F58D4}"/>
              </a:ext>
            </a:extLst>
          </p:cNvPr>
          <p:cNvSpPr>
            <a:spLocks xmlns:a="http://schemas.openxmlformats.org/drawingml/2006/main" noGrp="1"/>
          </p:cNvSpPr>
          <p:nvPr/>
        </p:nvSpPr>
        <p:spPr>
          <a:xfrm xmlns:a="http://schemas.openxmlformats.org/drawingml/2006/main">
            <a:off x="933450" y="406717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Disseminate and coordinate</a:t>
            </a:r>
          </a:p>
        </p:txBody>
      </p:sp>
      <p:sp>
        <p:nvSpPr>
          <p:cNvPr id="14" name="">
            <a:extLst xmlns:a="http://schemas.openxmlformats.org/drawingml/2006/main">
              <a:ext uri="{FF2B5EF4-FFF2-40B4-BE49-F238E27FC236}">
                <a16:creationId xmlns:a16="http://schemas.microsoft.com/office/drawing/2014/main" id="{10193F5C-9085-4772-A91C-ACF02BBB5D64}"/>
              </a:ext>
            </a:extLst>
          </p:cNvPr>
          <p:cNvSpPr>
            <a:spLocks xmlns:a="http://schemas.openxmlformats.org/drawingml/2006/main" noGrp="1"/>
          </p:cNvSpPr>
          <p:nvPr/>
        </p:nvSpPr>
        <p:spPr>
          <a:xfrm xmlns:a="http://schemas.openxmlformats.org/drawingml/2006/main">
            <a:off x="3438525" y="4067175"/>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information and DRRM activities across local institutions</a:t>
            </a:r>
          </a:p>
        </p:txBody>
      </p:sp>
      <p:sp>
        <p:nvSpPr>
          <p:cNvPr id="15" name="">
            <a:extLst xmlns:a="http://schemas.openxmlformats.org/drawingml/2006/main">
              <a:ext uri="{FF2B5EF4-FFF2-40B4-BE49-F238E27FC236}">
                <a16:creationId xmlns:a16="http://schemas.microsoft.com/office/drawing/2014/main" id="{EDC93971-6D4D-4299-B012-841D5E0F32B8}"/>
              </a:ext>
            </a:extLst>
          </p:cNvPr>
          <p:cNvSpPr>
            <a:spLocks xmlns:a="http://schemas.openxmlformats.org/drawingml/2006/main" noGrp="1"/>
          </p:cNvSpPr>
          <p:nvPr/>
        </p:nvSpPr>
        <p:spPr>
          <a:xfrm xmlns:a="http://schemas.openxmlformats.org/drawingml/2006/main">
            <a:off x="933450" y="5153025"/>
            <a:ext cx="10287000" cy="60960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ECF533B-CF45-4902-A40D-45E226E18CB3}"/>
              </a:ext>
            </a:extLst>
          </p:cNvPr>
          <p:cNvSpPr>
            <a:spLocks xmlns:a="http://schemas.openxmlformats.org/drawingml/2006/main" noGrp="1"/>
          </p:cNvSpPr>
          <p:nvPr/>
        </p:nvSpPr>
        <p:spPr>
          <a:xfrm xmlns:a="http://schemas.openxmlformats.org/drawingml/2006/main">
            <a:off x="1162050" y="5248275"/>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3471"/>
          </a:bodyPr>
          <a:lstStyle xmlns:a="http://schemas.openxmlformats.org/drawingml/2006/main"/>
          <a:p xmlns:a="http://schemas.openxmlformats.org/drawingml/2006/main">
            <a:pPr algn="l">
              <a:defRPr sz="1425" b="1">
                <a:solidFill>
                  <a:srgbClr val="276E6B"/>
                </a:solidFill>
                <a:latin typeface="Source Sans 3"/>
                <a:ea typeface="Source Sans 3"/>
                <a:cs typeface="Source Sans 3"/>
              </a:defRPr>
            </a:pPr>
            <a:r>
              <a:rPr sz="1425" b="1">
                <a:solidFill>
                  <a:srgbClr val="276E6B"/>
                </a:solidFill>
                <a:latin typeface="Source Sans 3"/>
                <a:ea typeface="Source Sans 3"/>
                <a:cs typeface="Source Sans 3"/>
              </a:rPr>
              <a:t>The system is proposed as an information-management aid. Public agencies retain verification, approval, disclosure, and response authority.</a:t>
            </a:r>
          </a:p>
        </p:txBody>
      </p:sp>
    </p:spTree>
    <p:extLst>
      <p:ext uri="{BB962C8B-B14F-4D97-AF65-F5344CB8AC3E}">
        <p14:creationId xmlns:p14="http://schemas.microsoft.com/office/powerpoint/2010/main" val="1630850441"/>
      </p:ext>
    </p:extLst>
  </p:cSld>
</p:sld>
</file>

<file path=ppt/slides/slide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0850260-933D-47A6-8F6A-9A2C5C471A53}"/>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87484E-1FDF-46D8-862F-8F4F70F8CE88}"/>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OPERATION L!STO MANUAL</a:t>
            </a:r>
          </a:p>
        </p:txBody>
      </p:sp>
      <p:sp>
        <p:nvSpPr>
          <p:cNvPr id="3" name="">
            <a:extLst xmlns:a="http://schemas.openxmlformats.org/drawingml/2006/main">
              <a:ext uri="{FF2B5EF4-FFF2-40B4-BE49-F238E27FC236}">
                <a16:creationId xmlns:a16="http://schemas.microsoft.com/office/drawing/2014/main" id="{16B38E7D-F766-4AD1-B09C-230A98086481}"/>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Operation L!STO provides local preparedness guidance</a:t>
            </a:r>
          </a:p>
        </p:txBody>
      </p:sp>
      <p:sp>
        <p:nvSpPr>
          <p:cNvPr id="4" name="">
            <a:extLst xmlns:a="http://schemas.openxmlformats.org/drawingml/2006/main">
              <a:ext uri="{FF2B5EF4-FFF2-40B4-BE49-F238E27FC236}">
                <a16:creationId xmlns:a16="http://schemas.microsoft.com/office/drawing/2014/main" id="{38866867-7BE4-4540-AB5D-4DCC72608022}"/>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8B95EBB-DF89-42FC-82F7-7E125C6986D7}"/>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DILG–LGA, Operation L!STO Manual v.3; DILG Region IX (2023)</a:t>
            </a:r>
          </a:p>
        </p:txBody>
      </p:sp>
      <p:sp>
        <p:nvSpPr>
          <p:cNvPr id="6" name="">
            <a:extLst xmlns:a="http://schemas.openxmlformats.org/drawingml/2006/main">
              <a:ext uri="{FF2B5EF4-FFF2-40B4-BE49-F238E27FC236}">
                <a16:creationId xmlns:a16="http://schemas.microsoft.com/office/drawing/2014/main" id="{70F9B494-79B7-47B2-9BCE-959951F1F759}"/>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04</a:t>
            </a:r>
          </a:p>
        </p:txBody>
      </p:sp>
      <p:sp>
        <p:nvSpPr>
          <p:cNvPr id="7" name="">
            <a:extLst xmlns:a="http://schemas.openxmlformats.org/drawingml/2006/main">
              <a:ext uri="{FF2B5EF4-FFF2-40B4-BE49-F238E27FC236}">
                <a16:creationId xmlns:a16="http://schemas.microsoft.com/office/drawing/2014/main" id="{8CFD7C03-4F38-459E-992B-7C4168675182}"/>
              </a:ext>
            </a:extLst>
          </p:cNvPr>
          <p:cNvSpPr>
            <a:spLocks xmlns:a="http://schemas.openxmlformats.org/drawingml/2006/main" noGrp="1"/>
          </p:cNvSpPr>
          <p:nvPr/>
        </p:nvSpPr>
        <p:spPr>
          <a:xfrm xmlns:a="http://schemas.openxmlformats.org/drawingml/2006/main">
            <a:off x="933450" y="1581150"/>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Program</a:t>
            </a:r>
          </a:p>
        </p:txBody>
      </p:sp>
      <p:sp>
        <p:nvSpPr>
          <p:cNvPr id="8" name="">
            <a:extLst xmlns:a="http://schemas.openxmlformats.org/drawingml/2006/main">
              <a:ext uri="{FF2B5EF4-FFF2-40B4-BE49-F238E27FC236}">
                <a16:creationId xmlns:a16="http://schemas.microsoft.com/office/drawing/2014/main" id="{C53AC408-7FCC-4197-A860-BB671543E244}"/>
              </a:ext>
            </a:extLst>
          </p:cNvPr>
          <p:cNvSpPr>
            <a:spLocks xmlns:a="http://schemas.openxmlformats.org/drawingml/2006/main" noGrp="1"/>
          </p:cNvSpPr>
          <p:nvPr/>
        </p:nvSpPr>
        <p:spPr>
          <a:xfrm xmlns:a="http://schemas.openxmlformats.org/drawingml/2006/main">
            <a:off x="3438525" y="1581150"/>
            <a:ext cx="77819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 DILG–Local Government Academy initiative to strengthen LGU disaster preparedness.</a:t>
            </a:r>
          </a:p>
        </p:txBody>
      </p:sp>
      <p:sp>
        <p:nvSpPr>
          <p:cNvPr id="9" name="">
            <a:extLst xmlns:a="http://schemas.openxmlformats.org/drawingml/2006/main">
              <a:ext uri="{FF2B5EF4-FFF2-40B4-BE49-F238E27FC236}">
                <a16:creationId xmlns:a16="http://schemas.microsoft.com/office/drawing/2014/main" id="{B0ED138C-394D-4913-A963-D9179559F2EC}"/>
              </a:ext>
            </a:extLst>
          </p:cNvPr>
          <p:cNvSpPr>
            <a:spLocks xmlns:a="http://schemas.openxmlformats.org/drawingml/2006/main" noGrp="1"/>
          </p:cNvSpPr>
          <p:nvPr/>
        </p:nvSpPr>
        <p:spPr>
          <a:xfrm xmlns:a="http://schemas.openxmlformats.org/drawingml/2006/main">
            <a:off x="933450" y="2609850"/>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Manuals</a:t>
            </a:r>
          </a:p>
        </p:txBody>
      </p:sp>
      <p:sp>
        <p:nvSpPr>
          <p:cNvPr id="10" name="">
            <a:extLst xmlns:a="http://schemas.openxmlformats.org/drawingml/2006/main">
              <a:ext uri="{FF2B5EF4-FFF2-40B4-BE49-F238E27FC236}">
                <a16:creationId xmlns:a16="http://schemas.microsoft.com/office/drawing/2014/main" id="{ADF1C826-5428-4A12-AE7B-4DD9A5E1E2C1}"/>
              </a:ext>
            </a:extLst>
          </p:cNvPr>
          <p:cNvSpPr>
            <a:spLocks xmlns:a="http://schemas.openxmlformats.org/drawingml/2006/main" noGrp="1"/>
          </p:cNvSpPr>
          <p:nvPr/>
        </p:nvSpPr>
        <p:spPr>
          <a:xfrm xmlns:a="http://schemas.openxmlformats.org/drawingml/2006/main">
            <a:off x="3438525" y="2609850"/>
            <a:ext cx="77819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Set out minimum preparedness actions and hazard-specific protocols for local planning and action.</a:t>
            </a:r>
          </a:p>
        </p:txBody>
      </p:sp>
      <p:sp>
        <p:nvSpPr>
          <p:cNvPr id="11" name="">
            <a:extLst xmlns:a="http://schemas.openxmlformats.org/drawingml/2006/main">
              <a:ext uri="{FF2B5EF4-FFF2-40B4-BE49-F238E27FC236}">
                <a16:creationId xmlns:a16="http://schemas.microsoft.com/office/drawing/2014/main" id="{412E4EBA-93A1-47C4-A18D-551B50D0AC8A}"/>
              </a:ext>
            </a:extLst>
          </p:cNvPr>
          <p:cNvSpPr>
            <a:spLocks xmlns:a="http://schemas.openxmlformats.org/drawingml/2006/main" noGrp="1"/>
          </p:cNvSpPr>
          <p:nvPr/>
        </p:nvSpPr>
        <p:spPr>
          <a:xfrm xmlns:a="http://schemas.openxmlformats.org/drawingml/2006/main">
            <a:off x="933450" y="3638550"/>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Region IX</a:t>
            </a:r>
          </a:p>
        </p:txBody>
      </p:sp>
      <p:sp>
        <p:nvSpPr>
          <p:cNvPr id="12" name="">
            <a:extLst xmlns:a="http://schemas.openxmlformats.org/drawingml/2006/main">
              <a:ext uri="{FF2B5EF4-FFF2-40B4-BE49-F238E27FC236}">
                <a16:creationId xmlns:a16="http://schemas.microsoft.com/office/drawing/2014/main" id="{2718EC45-C0D3-47CA-9E6A-F2DCE1711129}"/>
              </a:ext>
            </a:extLst>
          </p:cNvPr>
          <p:cNvSpPr>
            <a:spLocks xmlns:a="http://schemas.openxmlformats.org/drawingml/2006/main" noGrp="1"/>
          </p:cNvSpPr>
          <p:nvPr/>
        </p:nvSpPr>
        <p:spPr>
          <a:xfrm xmlns:a="http://schemas.openxmlformats.org/drawingml/2006/main">
            <a:off x="3438525" y="3638550"/>
            <a:ext cx="77819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The 2023 rollout covered hydrometeorological and earthquake/tsunami manuals for Zamboanga Peninsula LGUs.</a:t>
            </a:r>
          </a:p>
        </p:txBody>
      </p:sp>
      <p:sp>
        <p:nvSpPr>
          <p:cNvPr id="13" name="">
            <a:extLst xmlns:a="http://schemas.openxmlformats.org/drawingml/2006/main">
              <a:ext uri="{FF2B5EF4-FFF2-40B4-BE49-F238E27FC236}">
                <a16:creationId xmlns:a16="http://schemas.microsoft.com/office/drawing/2014/main" id="{B9C09EF3-BA54-469A-8519-061D15239941}"/>
              </a:ext>
            </a:extLst>
          </p:cNvPr>
          <p:cNvSpPr>
            <a:spLocks xmlns:a="http://schemas.openxmlformats.org/drawingml/2006/main" noGrp="1"/>
          </p:cNvSpPr>
          <p:nvPr/>
        </p:nvSpPr>
        <p:spPr>
          <a:xfrm xmlns:a="http://schemas.openxmlformats.org/drawingml/2006/main">
            <a:off x="933450" y="4953000"/>
            <a:ext cx="10287000" cy="80010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E80F7D5-7266-42EC-AB02-F1CEFF00BAFB}"/>
              </a:ext>
            </a:extLst>
          </p:cNvPr>
          <p:cNvSpPr>
            <a:spLocks xmlns:a="http://schemas.openxmlformats.org/drawingml/2006/main" noGrp="1"/>
          </p:cNvSpPr>
          <p:nvPr/>
        </p:nvSpPr>
        <p:spPr>
          <a:xfrm xmlns:a="http://schemas.openxmlformats.org/drawingml/2006/main">
            <a:off x="1162050" y="5048250"/>
            <a:ext cx="981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1">
                <a:solidFill>
                  <a:srgbClr val="276E6B"/>
                </a:solidFill>
                <a:latin typeface="Source Sans 3"/>
                <a:ea typeface="Source Sans 3"/>
                <a:cs typeface="Source Sans 3"/>
              </a:defRPr>
            </a:pPr>
            <a:r>
              <a:rPr sz="1425" b="1">
                <a:solidFill>
                  <a:srgbClr val="276E6B"/>
                </a:solidFill>
                <a:latin typeface="Source Sans 3"/>
                <a:ea typeface="Source Sans 3"/>
                <a:cs typeface="Source Sans 3"/>
              </a:rPr>
              <a:t>RA 10121 establishes local DRRM duties. Operation L!STO guides preparedness practice. The proposed system supports reporting and SitRep preparation without replacing local protocols or official decisions.</a:t>
            </a:r>
          </a:p>
        </p:txBody>
      </p:sp>
    </p:spTree>
    <p:extLst>
      <p:ext uri="{BB962C8B-B14F-4D97-AF65-F5344CB8AC3E}">
        <p14:creationId xmlns:p14="http://schemas.microsoft.com/office/powerpoint/2010/main" val="1857274844"/>
      </p:ext>
    </p:extLst>
  </p:cSld>
</p:sld>
</file>

<file path=ppt/slides/slide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990528A-EAAF-4BD8-8315-8523B857C4CB}"/>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81FEE0-4977-4561-B343-E6DEF895D3BB}"/>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SITUATION REPORT</a:t>
            </a:r>
          </a:p>
        </p:txBody>
      </p:sp>
      <p:sp>
        <p:nvSpPr>
          <p:cNvPr id="3" name="">
            <a:extLst xmlns:a="http://schemas.openxmlformats.org/drawingml/2006/main">
              <a:ext uri="{FF2B5EF4-FFF2-40B4-BE49-F238E27FC236}">
                <a16:creationId xmlns:a16="http://schemas.microsoft.com/office/drawing/2014/main" id="{95DECEE4-103B-45B6-9195-F73A66415D2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A SitRep changes as verified information develops</a:t>
            </a:r>
          </a:p>
        </p:txBody>
      </p:sp>
      <p:sp>
        <p:nvSpPr>
          <p:cNvPr id="4" name="">
            <a:extLst xmlns:a="http://schemas.openxmlformats.org/drawingml/2006/main">
              <a:ext uri="{FF2B5EF4-FFF2-40B4-BE49-F238E27FC236}">
                <a16:creationId xmlns:a16="http://schemas.microsoft.com/office/drawing/2014/main" id="{728982AD-2142-4070-868F-FD87C249B5F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DB9CD90F-6C7B-4F45-B376-07536F4E2DB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revised paper, Chapter 1; NDRRMC NDRRMOC SOPG (2024)</a:t>
            </a:r>
          </a:p>
        </p:txBody>
      </p:sp>
      <p:sp>
        <p:nvSpPr>
          <p:cNvPr id="6" name="">
            <a:extLst xmlns:a="http://schemas.openxmlformats.org/drawingml/2006/main">
              <a:ext uri="{FF2B5EF4-FFF2-40B4-BE49-F238E27FC236}">
                <a16:creationId xmlns:a16="http://schemas.microsoft.com/office/drawing/2014/main" id="{818D309D-8D6D-4EFB-A2B8-6262EE923428}"/>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05</a:t>
            </a:r>
          </a:p>
        </p:txBody>
      </p:sp>
      <p:sp>
        <p:nvSpPr>
          <p:cNvPr id="7" name="">
            <a:extLst xmlns:a="http://schemas.openxmlformats.org/drawingml/2006/main">
              <a:ext uri="{FF2B5EF4-FFF2-40B4-BE49-F238E27FC236}">
                <a16:creationId xmlns:a16="http://schemas.microsoft.com/office/drawing/2014/main" id="{153445EA-92B5-4B9F-8ED4-55B2CB92A1A0}"/>
              </a:ext>
            </a:extLst>
          </p:cNvPr>
          <p:cNvSpPr>
            <a:spLocks xmlns:a="http://schemas.openxmlformats.org/drawingml/2006/main" noGrp="1"/>
          </p:cNvSpPr>
          <p:nvPr/>
        </p:nvSpPr>
        <p:spPr>
          <a:xfrm xmlns:a="http://schemas.openxmlformats.org/drawingml/2006/main">
            <a:off x="933450" y="13811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0BCDD4D1-0B94-4E39-9321-24A9BD44ED85}"/>
              </a:ext>
            </a:extLst>
          </p:cNvPr>
          <p:cNvSpPr>
            <a:spLocks xmlns:a="http://schemas.openxmlformats.org/drawingml/2006/main" noGrp="1"/>
          </p:cNvSpPr>
          <p:nvPr/>
        </p:nvSpPr>
        <p:spPr>
          <a:xfrm xmlns:a="http://schemas.openxmlformats.org/drawingml/2006/main">
            <a:off x="1390650" y="13811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Document control and identification</a:t>
            </a:r>
          </a:p>
        </p:txBody>
      </p:sp>
      <p:sp>
        <p:nvSpPr>
          <p:cNvPr id="9" name="">
            <a:extLst xmlns:a="http://schemas.openxmlformats.org/drawingml/2006/main">
              <a:ext uri="{FF2B5EF4-FFF2-40B4-BE49-F238E27FC236}">
                <a16:creationId xmlns:a16="http://schemas.microsoft.com/office/drawing/2014/main" id="{AF5E3721-4F1F-4BEE-A63B-E662275716BD}"/>
              </a:ext>
            </a:extLst>
          </p:cNvPr>
          <p:cNvSpPr>
            <a:spLocks xmlns:a="http://schemas.openxmlformats.org/drawingml/2006/main" noGrp="1"/>
          </p:cNvSpPr>
          <p:nvPr/>
        </p:nvSpPr>
        <p:spPr>
          <a:xfrm xmlns:a="http://schemas.openxmlformats.org/drawingml/2006/main">
            <a:off x="1390650" y="18097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66273E52-2A58-49ED-825B-9BFF1D0BA1A0}"/>
              </a:ext>
            </a:extLst>
          </p:cNvPr>
          <p:cNvSpPr>
            <a:spLocks xmlns:a="http://schemas.openxmlformats.org/drawingml/2006/main" noGrp="1"/>
          </p:cNvSpPr>
          <p:nvPr/>
        </p:nvSpPr>
        <p:spPr>
          <a:xfrm xmlns:a="http://schemas.openxmlformats.org/drawingml/2006/main">
            <a:off x="933450" y="18764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AB14EC83-22B3-45BB-BE65-E689C5F4B69A}"/>
              </a:ext>
            </a:extLst>
          </p:cNvPr>
          <p:cNvSpPr>
            <a:spLocks xmlns:a="http://schemas.openxmlformats.org/drawingml/2006/main" noGrp="1"/>
          </p:cNvSpPr>
          <p:nvPr/>
        </p:nvSpPr>
        <p:spPr>
          <a:xfrm xmlns:a="http://schemas.openxmlformats.org/drawingml/2006/main">
            <a:off x="1390650" y="18764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Situation overview</a:t>
            </a:r>
          </a:p>
        </p:txBody>
      </p:sp>
      <p:sp>
        <p:nvSpPr>
          <p:cNvPr id="12" name="">
            <a:extLst xmlns:a="http://schemas.openxmlformats.org/drawingml/2006/main">
              <a:ext uri="{FF2B5EF4-FFF2-40B4-BE49-F238E27FC236}">
                <a16:creationId xmlns:a16="http://schemas.microsoft.com/office/drawing/2014/main" id="{AFCB2384-A500-4510-BF04-F5B7A795C5B2}"/>
              </a:ext>
            </a:extLst>
          </p:cNvPr>
          <p:cNvSpPr>
            <a:spLocks xmlns:a="http://schemas.openxmlformats.org/drawingml/2006/main" noGrp="1"/>
          </p:cNvSpPr>
          <p:nvPr/>
        </p:nvSpPr>
        <p:spPr>
          <a:xfrm xmlns:a="http://schemas.openxmlformats.org/drawingml/2006/main">
            <a:off x="1390650" y="23050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8436DD44-6C20-4C0F-8392-AA5088E66ED4}"/>
              </a:ext>
            </a:extLst>
          </p:cNvPr>
          <p:cNvSpPr>
            <a:spLocks xmlns:a="http://schemas.openxmlformats.org/drawingml/2006/main" noGrp="1"/>
          </p:cNvSpPr>
          <p:nvPr/>
        </p:nvSpPr>
        <p:spPr>
          <a:xfrm xmlns:a="http://schemas.openxmlformats.org/drawingml/2006/main">
            <a:off x="933450" y="23717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A1F4A9E8-F7DF-4FA1-B2D0-E0413DB0430D}"/>
              </a:ext>
            </a:extLst>
          </p:cNvPr>
          <p:cNvSpPr>
            <a:spLocks xmlns:a="http://schemas.openxmlformats.org/drawingml/2006/main" noGrp="1"/>
          </p:cNvSpPr>
          <p:nvPr/>
        </p:nvSpPr>
        <p:spPr>
          <a:xfrm xmlns:a="http://schemas.openxmlformats.org/drawingml/2006/main">
            <a:off x="1390650" y="23717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Preparedness measures</a:t>
            </a:r>
          </a:p>
        </p:txBody>
      </p:sp>
      <p:sp>
        <p:nvSpPr>
          <p:cNvPr id="15" name="">
            <a:extLst xmlns:a="http://schemas.openxmlformats.org/drawingml/2006/main">
              <a:ext uri="{FF2B5EF4-FFF2-40B4-BE49-F238E27FC236}">
                <a16:creationId xmlns:a16="http://schemas.microsoft.com/office/drawing/2014/main" id="{E95B847C-81BA-40A3-8333-C7CC9E81B039}"/>
              </a:ext>
            </a:extLst>
          </p:cNvPr>
          <p:cNvSpPr>
            <a:spLocks xmlns:a="http://schemas.openxmlformats.org/drawingml/2006/main" noGrp="1"/>
          </p:cNvSpPr>
          <p:nvPr/>
        </p:nvSpPr>
        <p:spPr>
          <a:xfrm xmlns:a="http://schemas.openxmlformats.org/drawingml/2006/main">
            <a:off x="1390650" y="28003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03DCB98A-31D9-446F-AB1E-A3F8289999D4}"/>
              </a:ext>
            </a:extLst>
          </p:cNvPr>
          <p:cNvSpPr>
            <a:spLocks xmlns:a="http://schemas.openxmlformats.org/drawingml/2006/main" noGrp="1"/>
          </p:cNvSpPr>
          <p:nvPr/>
        </p:nvSpPr>
        <p:spPr>
          <a:xfrm xmlns:a="http://schemas.openxmlformats.org/drawingml/2006/main">
            <a:off x="933450" y="28670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4159B410-61CC-4E5F-9D37-4DBCE68AF756}"/>
              </a:ext>
            </a:extLst>
          </p:cNvPr>
          <p:cNvSpPr>
            <a:spLocks xmlns:a="http://schemas.openxmlformats.org/drawingml/2006/main" noGrp="1"/>
          </p:cNvSpPr>
          <p:nvPr/>
        </p:nvSpPr>
        <p:spPr>
          <a:xfrm xmlns:a="http://schemas.openxmlformats.org/drawingml/2006/main">
            <a:off x="1390650" y="28670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Consolidated effects</a:t>
            </a:r>
          </a:p>
        </p:txBody>
      </p:sp>
      <p:sp>
        <p:nvSpPr>
          <p:cNvPr id="18" name="">
            <a:extLst xmlns:a="http://schemas.openxmlformats.org/drawingml/2006/main">
              <a:ext uri="{FF2B5EF4-FFF2-40B4-BE49-F238E27FC236}">
                <a16:creationId xmlns:a16="http://schemas.microsoft.com/office/drawing/2014/main" id="{4F401C1B-393C-415E-8C31-04111EC33344}"/>
              </a:ext>
            </a:extLst>
          </p:cNvPr>
          <p:cNvSpPr>
            <a:spLocks xmlns:a="http://schemas.openxmlformats.org/drawingml/2006/main" noGrp="1"/>
          </p:cNvSpPr>
          <p:nvPr/>
        </p:nvSpPr>
        <p:spPr>
          <a:xfrm xmlns:a="http://schemas.openxmlformats.org/drawingml/2006/main">
            <a:off x="1390650" y="32956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4BCF9D7B-2024-4BB2-9025-0B3A9A942C41}"/>
              </a:ext>
            </a:extLst>
          </p:cNvPr>
          <p:cNvSpPr>
            <a:spLocks xmlns:a="http://schemas.openxmlformats.org/drawingml/2006/main" noGrp="1"/>
          </p:cNvSpPr>
          <p:nvPr/>
        </p:nvSpPr>
        <p:spPr>
          <a:xfrm xmlns:a="http://schemas.openxmlformats.org/drawingml/2006/main">
            <a:off x="933450" y="33623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A04562FF-A682-49B9-989C-89ECEFE0EDA2}"/>
              </a:ext>
            </a:extLst>
          </p:cNvPr>
          <p:cNvSpPr>
            <a:spLocks xmlns:a="http://schemas.openxmlformats.org/drawingml/2006/main" noGrp="1"/>
          </p:cNvSpPr>
          <p:nvPr/>
        </p:nvSpPr>
        <p:spPr>
          <a:xfrm xmlns:a="http://schemas.openxmlformats.org/drawingml/2006/main">
            <a:off x="1390650" y="33623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Response actions</a:t>
            </a:r>
          </a:p>
        </p:txBody>
      </p:sp>
      <p:sp>
        <p:nvSpPr>
          <p:cNvPr id="21" name="">
            <a:extLst xmlns:a="http://schemas.openxmlformats.org/drawingml/2006/main">
              <a:ext uri="{FF2B5EF4-FFF2-40B4-BE49-F238E27FC236}">
                <a16:creationId xmlns:a16="http://schemas.microsoft.com/office/drawing/2014/main" id="{3297B8F3-1054-4D12-A1B2-B54E52583EB2}"/>
              </a:ext>
            </a:extLst>
          </p:cNvPr>
          <p:cNvSpPr>
            <a:spLocks xmlns:a="http://schemas.openxmlformats.org/drawingml/2006/main" noGrp="1"/>
          </p:cNvSpPr>
          <p:nvPr/>
        </p:nvSpPr>
        <p:spPr>
          <a:xfrm xmlns:a="http://schemas.openxmlformats.org/drawingml/2006/main">
            <a:off x="1390650" y="37909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F4291B36-8614-4DAA-B8D4-A05EDC428814}"/>
              </a:ext>
            </a:extLst>
          </p:cNvPr>
          <p:cNvSpPr>
            <a:spLocks xmlns:a="http://schemas.openxmlformats.org/drawingml/2006/main" noGrp="1"/>
          </p:cNvSpPr>
          <p:nvPr/>
        </p:nvSpPr>
        <p:spPr>
          <a:xfrm xmlns:a="http://schemas.openxmlformats.org/drawingml/2006/main">
            <a:off x="933450" y="38576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EE91DF1B-2D21-433A-A824-A15E45D8928B}"/>
              </a:ext>
            </a:extLst>
          </p:cNvPr>
          <p:cNvSpPr>
            <a:spLocks xmlns:a="http://schemas.openxmlformats.org/drawingml/2006/main" noGrp="1"/>
          </p:cNvSpPr>
          <p:nvPr/>
        </p:nvSpPr>
        <p:spPr>
          <a:xfrm xmlns:a="http://schemas.openxmlformats.org/drawingml/2006/main">
            <a:off x="1390650" y="38576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Issues and concerns</a:t>
            </a:r>
          </a:p>
        </p:txBody>
      </p:sp>
      <p:sp>
        <p:nvSpPr>
          <p:cNvPr id="24" name="">
            <a:extLst xmlns:a="http://schemas.openxmlformats.org/drawingml/2006/main">
              <a:ext uri="{FF2B5EF4-FFF2-40B4-BE49-F238E27FC236}">
                <a16:creationId xmlns:a16="http://schemas.microsoft.com/office/drawing/2014/main" id="{E8A8C97F-53F0-47D9-BAA4-98C2B84F066D}"/>
              </a:ext>
            </a:extLst>
          </p:cNvPr>
          <p:cNvSpPr>
            <a:spLocks xmlns:a="http://schemas.openxmlformats.org/drawingml/2006/main" noGrp="1"/>
          </p:cNvSpPr>
          <p:nvPr/>
        </p:nvSpPr>
        <p:spPr>
          <a:xfrm xmlns:a="http://schemas.openxmlformats.org/drawingml/2006/main">
            <a:off x="1390650" y="42862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5" name="">
            <a:extLst xmlns:a="http://schemas.openxmlformats.org/drawingml/2006/main">
              <a:ext uri="{FF2B5EF4-FFF2-40B4-BE49-F238E27FC236}">
                <a16:creationId xmlns:a16="http://schemas.microsoft.com/office/drawing/2014/main" id="{F6244B01-78D2-44CC-85DB-17D603C17263}"/>
              </a:ext>
            </a:extLst>
          </p:cNvPr>
          <p:cNvSpPr>
            <a:spLocks xmlns:a="http://schemas.openxmlformats.org/drawingml/2006/main" noGrp="1"/>
          </p:cNvSpPr>
          <p:nvPr/>
        </p:nvSpPr>
        <p:spPr>
          <a:xfrm xmlns:a="http://schemas.openxmlformats.org/drawingml/2006/main">
            <a:off x="933450" y="43529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07</a:t>
            </a:r>
          </a:p>
        </p:txBody>
      </p:sp>
      <p:sp>
        <p:nvSpPr>
          <p:cNvPr id="26" name="">
            <a:extLst xmlns:a="http://schemas.openxmlformats.org/drawingml/2006/main">
              <a:ext uri="{FF2B5EF4-FFF2-40B4-BE49-F238E27FC236}">
                <a16:creationId xmlns:a16="http://schemas.microsoft.com/office/drawing/2014/main" id="{A0A7C0B5-F806-47EB-A062-2A1BF3C5B150}"/>
              </a:ext>
            </a:extLst>
          </p:cNvPr>
          <p:cNvSpPr>
            <a:spLocks xmlns:a="http://schemas.openxmlformats.org/drawingml/2006/main" noGrp="1"/>
          </p:cNvSpPr>
          <p:nvPr/>
        </p:nvSpPr>
        <p:spPr>
          <a:xfrm xmlns:a="http://schemas.openxmlformats.org/drawingml/2006/main">
            <a:off x="1390650" y="43529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Recommendations</a:t>
            </a:r>
          </a:p>
        </p:txBody>
      </p:sp>
      <p:sp>
        <p:nvSpPr>
          <p:cNvPr id="27" name="">
            <a:extLst xmlns:a="http://schemas.openxmlformats.org/drawingml/2006/main">
              <a:ext uri="{FF2B5EF4-FFF2-40B4-BE49-F238E27FC236}">
                <a16:creationId xmlns:a16="http://schemas.microsoft.com/office/drawing/2014/main" id="{BA90A387-7806-4291-BD5A-6657BE248E1B}"/>
              </a:ext>
            </a:extLst>
          </p:cNvPr>
          <p:cNvSpPr>
            <a:spLocks xmlns:a="http://schemas.openxmlformats.org/drawingml/2006/main" noGrp="1"/>
          </p:cNvSpPr>
          <p:nvPr/>
        </p:nvSpPr>
        <p:spPr>
          <a:xfrm xmlns:a="http://schemas.openxmlformats.org/drawingml/2006/main">
            <a:off x="1390650" y="47815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8" name="">
            <a:extLst xmlns:a="http://schemas.openxmlformats.org/drawingml/2006/main">
              <a:ext uri="{FF2B5EF4-FFF2-40B4-BE49-F238E27FC236}">
                <a16:creationId xmlns:a16="http://schemas.microsoft.com/office/drawing/2014/main" id="{C00C3554-6F72-4787-B812-9E331A99AD75}"/>
              </a:ext>
            </a:extLst>
          </p:cNvPr>
          <p:cNvSpPr>
            <a:spLocks xmlns:a="http://schemas.openxmlformats.org/drawingml/2006/main" noGrp="1"/>
          </p:cNvSpPr>
          <p:nvPr/>
        </p:nvSpPr>
        <p:spPr>
          <a:xfrm xmlns:a="http://schemas.openxmlformats.org/drawingml/2006/main">
            <a:off x="933450" y="48482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08</a:t>
            </a:r>
          </a:p>
        </p:txBody>
      </p:sp>
      <p:sp>
        <p:nvSpPr>
          <p:cNvPr id="29" name="">
            <a:extLst xmlns:a="http://schemas.openxmlformats.org/drawingml/2006/main">
              <a:ext uri="{FF2B5EF4-FFF2-40B4-BE49-F238E27FC236}">
                <a16:creationId xmlns:a16="http://schemas.microsoft.com/office/drawing/2014/main" id="{3325F4D4-251E-4F6B-ACFE-9B8F487E61E9}"/>
              </a:ext>
            </a:extLst>
          </p:cNvPr>
          <p:cNvSpPr>
            <a:spLocks xmlns:a="http://schemas.openxmlformats.org/drawingml/2006/main" noGrp="1"/>
          </p:cNvSpPr>
          <p:nvPr/>
        </p:nvSpPr>
        <p:spPr>
          <a:xfrm xmlns:a="http://schemas.openxmlformats.org/drawingml/2006/main">
            <a:off x="1390650" y="48482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Sources, approval and annexes as applicable</a:t>
            </a:r>
          </a:p>
        </p:txBody>
      </p:sp>
      <p:sp>
        <p:nvSpPr>
          <p:cNvPr id="30" name="">
            <a:extLst xmlns:a="http://schemas.openxmlformats.org/drawingml/2006/main">
              <a:ext uri="{FF2B5EF4-FFF2-40B4-BE49-F238E27FC236}">
                <a16:creationId xmlns:a16="http://schemas.microsoft.com/office/drawing/2014/main" id="{67E211E8-87C4-4568-BABD-04712F75AC7B}"/>
              </a:ext>
            </a:extLst>
          </p:cNvPr>
          <p:cNvSpPr>
            <a:spLocks xmlns:a="http://schemas.openxmlformats.org/drawingml/2006/main" noGrp="1"/>
          </p:cNvSpPr>
          <p:nvPr/>
        </p:nvSpPr>
        <p:spPr>
          <a:xfrm xmlns:a="http://schemas.openxmlformats.org/drawingml/2006/main">
            <a:off x="933450" y="5467350"/>
            <a:ext cx="173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Reporting stages</a:t>
            </a:r>
          </a:p>
        </p:txBody>
      </p:sp>
      <p:sp>
        <p:nvSpPr>
          <p:cNvPr id="31" name="">
            <a:extLst xmlns:a="http://schemas.openxmlformats.org/drawingml/2006/main">
              <a:ext uri="{FF2B5EF4-FFF2-40B4-BE49-F238E27FC236}">
                <a16:creationId xmlns:a16="http://schemas.microsoft.com/office/drawing/2014/main" id="{AA710538-6911-4D0B-AA9B-6963105ADECE}"/>
              </a:ext>
            </a:extLst>
          </p:cNvPr>
          <p:cNvSpPr>
            <a:spLocks xmlns:a="http://schemas.openxmlformats.org/drawingml/2006/main" noGrp="1"/>
          </p:cNvSpPr>
          <p:nvPr/>
        </p:nvSpPr>
        <p:spPr>
          <a:xfrm xmlns:a="http://schemas.openxmlformats.org/drawingml/2006/main">
            <a:off x="2743200" y="5429250"/>
            <a:ext cx="847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Initial, progress, terminal, and final reports</a:t>
            </a:r>
          </a:p>
        </p:txBody>
      </p:sp>
    </p:spTree>
    <p:extLst>
      <p:ext uri="{BB962C8B-B14F-4D97-AF65-F5344CB8AC3E}">
        <p14:creationId xmlns:p14="http://schemas.microsoft.com/office/powerpoint/2010/main" val="982800489"/>
      </p:ext>
    </p:extLst>
  </p:cSld>
</p:sld>
</file>

<file path=ppt/slides/slide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4335E47-1114-4BAB-AFE5-25564D1E3FC8}"/>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60FE22-E8E2-4EDB-8EF1-DAED458F110F}"/>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CURRENT WORKFLOW</a:t>
            </a:r>
          </a:p>
        </p:txBody>
      </p:sp>
      <p:sp>
        <p:nvSpPr>
          <p:cNvPr id="3" name="">
            <a:extLst xmlns:a="http://schemas.openxmlformats.org/drawingml/2006/main">
              <a:ext uri="{FF2B5EF4-FFF2-40B4-BE49-F238E27FC236}">
                <a16:creationId xmlns:a16="http://schemas.microsoft.com/office/drawing/2014/main" id="{D153E197-3E81-43BA-A0C4-9443C00E5A4D}"/>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current reporting path uses several hand-offs</a:t>
            </a:r>
          </a:p>
        </p:txBody>
      </p:sp>
      <p:sp>
        <p:nvSpPr>
          <p:cNvPr id="4" name="">
            <a:extLst xmlns:a="http://schemas.openxmlformats.org/drawingml/2006/main">
              <a:ext uri="{FF2B5EF4-FFF2-40B4-BE49-F238E27FC236}">
                <a16:creationId xmlns:a16="http://schemas.microsoft.com/office/drawing/2014/main" id="{8285B375-3297-4AAE-86D7-6DC7FD7A1CD1}"/>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9F095BC-E47B-40C8-BE05-7C87BEEC6A00}"/>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1 and Chapter 1 workflow description</a:t>
            </a:r>
          </a:p>
        </p:txBody>
      </p:sp>
      <p:sp>
        <p:nvSpPr>
          <p:cNvPr id="6" name="">
            <a:extLst xmlns:a="http://schemas.openxmlformats.org/drawingml/2006/main">
              <a:ext uri="{FF2B5EF4-FFF2-40B4-BE49-F238E27FC236}">
                <a16:creationId xmlns:a16="http://schemas.microsoft.com/office/drawing/2014/main" id="{449B1473-927D-4BDA-A8D6-56A67F74DADF}"/>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06</a:t>
            </a:r>
          </a:p>
        </p:txBody>
      </p:sp>
      <p:sp>
        <p:nvSpPr>
          <p:cNvPr id="7" name="">
            <a:extLst xmlns:a="http://schemas.openxmlformats.org/drawingml/2006/main">
              <a:ext uri="{FF2B5EF4-FFF2-40B4-BE49-F238E27FC236}">
                <a16:creationId xmlns:a16="http://schemas.microsoft.com/office/drawing/2014/main" id="{34AB9765-6BB5-4831-8908-283B0848AF8E}"/>
              </a:ext>
            </a:extLst>
          </p:cNvPr>
          <p:cNvSpPr>
            <a:spLocks xmlns:a="http://schemas.openxmlformats.org/drawingml/2006/main" noGrp="1"/>
          </p:cNvSpPr>
          <p:nvPr/>
        </p:nvSpPr>
        <p:spPr>
          <a:xfrm xmlns:a="http://schemas.openxmlformats.org/drawingml/2006/main">
            <a:off x="876300" y="1905000"/>
            <a:ext cx="2571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PUROK</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Observe and record</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location, time, hazard,</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initial exposure</a:t>
            </a:r>
          </a:p>
        </p:txBody>
      </p:sp>
      <p:sp>
        <p:nvSpPr>
          <p:cNvPr id="8" name="">
            <a:extLst xmlns:a="http://schemas.openxmlformats.org/drawingml/2006/main">
              <a:ext uri="{FF2B5EF4-FFF2-40B4-BE49-F238E27FC236}">
                <a16:creationId xmlns:a16="http://schemas.microsoft.com/office/drawing/2014/main" id="{75BB9AAE-46EA-44B6-8B30-05C064C33144}"/>
              </a:ext>
            </a:extLst>
          </p:cNvPr>
          <p:cNvSpPr>
            <a:spLocks xmlns:a="http://schemas.openxmlformats.org/drawingml/2006/main" noGrp="1"/>
          </p:cNvSpPr>
          <p:nvPr/>
        </p:nvSpPr>
        <p:spPr>
          <a:xfrm xmlns:a="http://schemas.openxmlformats.org/drawingml/2006/main">
            <a:off x="4810125" y="1905000"/>
            <a:ext cx="2571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BARANGAY</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Receive notice, check</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incident area, prepare</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initial information</a:t>
            </a:r>
          </a:p>
        </p:txBody>
      </p:sp>
      <p:sp>
        <p:nvSpPr>
          <p:cNvPr id="9" name="">
            <a:extLst xmlns:a="http://schemas.openxmlformats.org/drawingml/2006/main">
              <a:ext uri="{FF2B5EF4-FFF2-40B4-BE49-F238E27FC236}">
                <a16:creationId xmlns:a16="http://schemas.microsoft.com/office/drawing/2014/main" id="{D4D99010-67DF-49F1-9070-2D92665B5EE9}"/>
              </a:ext>
            </a:extLst>
          </p:cNvPr>
          <p:cNvSpPr>
            <a:spLocks xmlns:a="http://schemas.openxmlformats.org/drawingml/2006/main" noGrp="1"/>
          </p:cNvSpPr>
          <p:nvPr/>
        </p:nvSpPr>
        <p:spPr>
          <a:xfrm xmlns:a="http://schemas.openxmlformats.org/drawingml/2006/main">
            <a:off x="8743950" y="1905000"/>
            <a:ext cx="2571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ZCDRRMO OPERATIONS</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Request clarification or</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field checks, consolidate</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separate records</a:t>
            </a:r>
          </a:p>
        </p:txBody>
      </p:sp>
      <p:cxnSp>
        <p:nvCxnSpPr>
          <p:cNvPr id="28" name=""/>
          <p:cNvCxnSpPr>
            <a:stCxn xmlns:a="http://schemas.openxmlformats.org/drawingml/2006/main" id="7" idx="3"/>
            <a:endCxn xmlns:a="http://schemas.openxmlformats.org/drawingml/2006/main" id="8" idx="1"/>
          </p:cNvCxnSpPr>
          <p:nvPr/>
        </p:nvCxnSpPr>
        <p:spPr>
          <a:xfrm xmlns:a="http://schemas.openxmlformats.org/drawingml/2006/main">
            <a:off x="3448050" y="2571750"/>
            <a:ext cx="136207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29" name=""/>
          <p:cNvCxnSpPr>
            <a:stCxn xmlns:a="http://schemas.openxmlformats.org/drawingml/2006/main" id="8" idx="3"/>
            <a:endCxn xmlns:a="http://schemas.openxmlformats.org/drawingml/2006/main" id="9" idx="1"/>
          </p:cNvCxnSpPr>
          <p:nvPr/>
        </p:nvCxnSpPr>
        <p:spPr>
          <a:xfrm xmlns:a="http://schemas.openxmlformats.org/drawingml/2006/main">
            <a:off x="7381875" y="2571750"/>
            <a:ext cx="136207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sp>
        <p:nvSpPr>
          <p:cNvPr id="12" name="">
            <a:extLst xmlns:a="http://schemas.openxmlformats.org/drawingml/2006/main">
              <a:ext uri="{FF2B5EF4-FFF2-40B4-BE49-F238E27FC236}">
                <a16:creationId xmlns:a16="http://schemas.microsoft.com/office/drawing/2014/main" id="{D6C0441A-95D0-4403-BE21-696712559914}"/>
              </a:ext>
            </a:extLst>
          </p:cNvPr>
          <p:cNvSpPr>
            <a:spLocks xmlns:a="http://schemas.openxmlformats.org/drawingml/2006/main" noGrp="1"/>
          </p:cNvSpPr>
          <p:nvPr/>
        </p:nvSpPr>
        <p:spPr>
          <a:xfrm xmlns:a="http://schemas.openxmlformats.org/drawingml/2006/main">
            <a:off x="3381375" y="3371850"/>
            <a:ext cx="147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SMS, telephone calls,</a:t>
            </a:r>
          </a:p>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online messages</a:t>
            </a:r>
          </a:p>
        </p:txBody>
      </p:sp>
      <p:sp>
        <p:nvSpPr>
          <p:cNvPr id="13" name="">
            <a:extLst xmlns:a="http://schemas.openxmlformats.org/drawingml/2006/main">
              <a:ext uri="{FF2B5EF4-FFF2-40B4-BE49-F238E27FC236}">
                <a16:creationId xmlns:a16="http://schemas.microsoft.com/office/drawing/2014/main" id="{BE4E4662-669A-48A6-A994-DE24EC10F653}"/>
              </a:ext>
            </a:extLst>
          </p:cNvPr>
          <p:cNvSpPr>
            <a:spLocks xmlns:a="http://schemas.openxmlformats.org/drawingml/2006/main" noGrp="1"/>
          </p:cNvSpPr>
          <p:nvPr/>
        </p:nvSpPr>
        <p:spPr>
          <a:xfrm xmlns:a="http://schemas.openxmlformats.org/drawingml/2006/main">
            <a:off x="7372350" y="3371850"/>
            <a:ext cx="1371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Calls, requests,</a:t>
            </a:r>
          </a:p>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field information</a:t>
            </a:r>
          </a:p>
        </p:txBody>
      </p:sp>
      <p:sp>
        <p:nvSpPr>
          <p:cNvPr id="14" name="">
            <a:extLst xmlns:a="http://schemas.openxmlformats.org/drawingml/2006/main">
              <a:ext uri="{FF2B5EF4-FFF2-40B4-BE49-F238E27FC236}">
                <a16:creationId xmlns:a16="http://schemas.microsoft.com/office/drawing/2014/main" id="{8D6D8D08-8390-45E6-9C7B-BA5B531FBB99}"/>
              </a:ext>
            </a:extLst>
          </p:cNvPr>
          <p:cNvSpPr>
            <a:spLocks xmlns:a="http://schemas.openxmlformats.org/drawingml/2006/main" noGrp="1"/>
          </p:cNvSpPr>
          <p:nvPr/>
        </p:nvSpPr>
        <p:spPr>
          <a:xfrm xmlns:a="http://schemas.openxmlformats.org/drawingml/2006/main">
            <a:off x="3295650" y="4362450"/>
            <a:ext cx="5572125" cy="790575"/>
          </a:xfrm>
          <a:prstGeom xmlns:a="http://schemas.openxmlformats.org/drawingml/2006/main" prst="roundRect">
            <a:avLst>
              <a:gd name="adj" fmla="val 9639"/>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Manual consolidation</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Messages, documents, drives, spreadsheets</a:t>
            </a:r>
          </a:p>
        </p:txBody>
      </p:sp>
      <p:sp>
        <p:nvSpPr>
          <p:cNvPr id="15" name="">
            <a:extLst xmlns:a="http://schemas.openxmlformats.org/drawingml/2006/main">
              <a:ext uri="{FF2B5EF4-FFF2-40B4-BE49-F238E27FC236}">
                <a16:creationId xmlns:a16="http://schemas.microsoft.com/office/drawing/2014/main" id="{3ACBF4E0-CA17-47EF-98B4-8A4F42486136}"/>
              </a:ext>
            </a:extLst>
          </p:cNvPr>
          <p:cNvSpPr>
            <a:spLocks xmlns:a="http://schemas.openxmlformats.org/drawingml/2006/main" noGrp="1"/>
          </p:cNvSpPr>
          <p:nvPr/>
        </p:nvSpPr>
        <p:spPr>
          <a:xfrm xmlns:a="http://schemas.openxmlformats.org/drawingml/2006/main">
            <a:off x="9182100" y="4362450"/>
            <a:ext cx="2114550" cy="790575"/>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00" b="1">
                <a:solidFill>
                  <a:srgbClr val="252D30"/>
                </a:solidFill>
                <a:latin typeface="Source Sans 3"/>
                <a:ea typeface="Source Sans 3"/>
                <a:cs typeface="Source Sans 3"/>
              </a:defRPr>
            </a:pPr>
            <a:r>
              <a:rPr sz="1500" b="1">
                <a:solidFill>
                  <a:srgbClr val="252D30"/>
                </a:solidFill>
                <a:latin typeface="Source Sans 3"/>
                <a:ea typeface="Source Sans 3"/>
                <a:cs typeface="Source Sans 3"/>
              </a:rPr>
              <a:t>Prepare and submit</a:t>
            </a:r>
          </a:p>
          <a:p xmlns:a="http://schemas.openxmlformats.org/drawingml/2006/main">
            <a:pPr algn="ctr">
              <a:defRPr sz="1500" b="1">
                <a:solidFill>
                  <a:srgbClr val="252D30"/>
                </a:solidFill>
                <a:latin typeface="Source Sans 3"/>
                <a:ea typeface="Source Sans 3"/>
                <a:cs typeface="Source Sans 3"/>
              </a:defRPr>
            </a:pPr>
            <a:r>
              <a:rPr sz="1500" b="1">
                <a:solidFill>
                  <a:srgbClr val="252D30"/>
                </a:solidFill>
                <a:latin typeface="Source Sans 3"/>
                <a:ea typeface="Source Sans 3"/>
                <a:cs typeface="Source Sans 3"/>
              </a:rPr>
              <a:t>City Situation Report</a:t>
            </a:r>
          </a:p>
        </p:txBody>
      </p:sp>
      <p:cxnSp>
        <p:nvCxnSpPr>
          <p:cNvPr id="34" name=""/>
          <p:cNvCxnSpPr>
            <a:stCxn xmlns:a="http://schemas.openxmlformats.org/drawingml/2006/main" id="9" idx="2"/>
            <a:endCxn xmlns:a="http://schemas.openxmlformats.org/drawingml/2006/main" id="14" idx="0"/>
          </p:cNvCxnSpPr>
          <p:nvPr/>
        </p:nvCxnSpPr>
        <p:spPr>
          <a:xfrm xmlns:a="http://schemas.openxmlformats.org/drawingml/2006/main" flipH="1">
            <a:off x="6081713" y="3238500"/>
            <a:ext cx="3948113" cy="1123950"/>
          </a:xfrm>
          <a:prstGeom xmlns:a="http://schemas.openxmlformats.org/drawingml/2006/main" prst="bentConnector4">
            <a:avLst>
              <a:gd name="adj1" fmla="val 0"/>
              <a:gd name="adj2" fmla="val 79661"/>
            </a:avLst>
          </a:prstGeom>
          <a:ln xmlns:a="http://schemas.openxmlformats.org/drawingml/2006/main" w="19050">
            <a:solidFill>
              <a:srgbClr val="276E6B"/>
            </a:solidFill>
            <a:prstDash val="solid"/>
            <a:tailEnd type="arrow" w="sm" len="sm"/>
          </a:ln>
        </p:spPr>
      </p:cxnSp>
      <p:cxnSp>
        <p:nvCxnSpPr>
          <p:cNvPr id="35" name=""/>
          <p:cNvCxnSpPr>
            <a:stCxn xmlns:a="http://schemas.openxmlformats.org/drawingml/2006/main" id="14" idx="3"/>
            <a:endCxn xmlns:a="http://schemas.openxmlformats.org/drawingml/2006/main" id="15" idx="1"/>
          </p:cNvCxnSpPr>
          <p:nvPr/>
        </p:nvCxnSpPr>
        <p:spPr>
          <a:xfrm xmlns:a="http://schemas.openxmlformats.org/drawingml/2006/main">
            <a:off x="8867775" y="4757738"/>
            <a:ext cx="31432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sp>
        <p:nvSpPr>
          <p:cNvPr id="18" name="">
            <a:extLst xmlns:a="http://schemas.openxmlformats.org/drawingml/2006/main">
              <a:ext uri="{FF2B5EF4-FFF2-40B4-BE49-F238E27FC236}">
                <a16:creationId xmlns:a16="http://schemas.microsoft.com/office/drawing/2014/main" id="{CAF49F75-E698-4BD5-BC30-3CC5E69BB21C}"/>
              </a:ext>
            </a:extLst>
          </p:cNvPr>
          <p:cNvSpPr>
            <a:spLocks xmlns:a="http://schemas.openxmlformats.org/drawingml/2006/main" noGrp="1"/>
          </p:cNvSpPr>
          <p:nvPr/>
        </p:nvSpPr>
        <p:spPr>
          <a:xfrm xmlns:a="http://schemas.openxmlformats.org/drawingml/2006/main">
            <a:off x="952500" y="54006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425" b="1">
                <a:solidFill>
                  <a:srgbClr val="276E6B"/>
                </a:solidFill>
                <a:latin typeface="Source Sans 3"/>
                <a:ea typeface="Source Sans 3"/>
                <a:cs typeface="Source Sans 3"/>
              </a:defRPr>
            </a:pPr>
            <a:r>
              <a:rPr sz="1425" b="1">
                <a:solidFill>
                  <a:srgbClr val="276E6B"/>
                </a:solidFill>
                <a:latin typeface="Source Sans 3"/>
                <a:ea typeface="Source Sans 3"/>
                <a:cs typeface="Source Sans 3"/>
              </a:rPr>
              <a:t>Submission status and the relationship between changing versions are difficult to see across separate channels.</a:t>
            </a:r>
          </a:p>
        </p:txBody>
      </p:sp>
    </p:spTree>
    <p:extLst>
      <p:ext uri="{BB962C8B-B14F-4D97-AF65-F5344CB8AC3E}">
        <p14:creationId xmlns:p14="http://schemas.microsoft.com/office/powerpoint/2010/main" val="1512847643"/>
      </p:ext>
    </p:extLst>
  </p:cSld>
</p:sld>
</file>

<file path=ppt/slides/slide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E24AA59-EFE0-40DE-AFEF-DF8D1F529819}"/>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5BFC6C-9FE6-4AD5-8EF1-5D2BF54C65FF}"/>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IMPLICATIONS OF THE CURRENT WORKFLOW</a:t>
            </a:r>
          </a:p>
        </p:txBody>
      </p:sp>
      <p:sp>
        <p:nvSpPr>
          <p:cNvPr id="3" name="">
            <a:extLst xmlns:a="http://schemas.openxmlformats.org/drawingml/2006/main">
              <a:ext uri="{FF2B5EF4-FFF2-40B4-BE49-F238E27FC236}">
                <a16:creationId xmlns:a16="http://schemas.microsoft.com/office/drawing/2014/main" id="{E7E5D3FD-6D65-42B8-9C6B-225AC91C37A3}"/>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Repeated follow-up and re-entry affect the reporting chain</a:t>
            </a:r>
          </a:p>
        </p:txBody>
      </p:sp>
      <p:sp>
        <p:nvSpPr>
          <p:cNvPr id="4" name="">
            <a:extLst xmlns:a="http://schemas.openxmlformats.org/drawingml/2006/main">
              <a:ext uri="{FF2B5EF4-FFF2-40B4-BE49-F238E27FC236}">
                <a16:creationId xmlns:a16="http://schemas.microsoft.com/office/drawing/2014/main" id="{6695CF45-6223-4B2D-8BF2-E9B5BD594E64}"/>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CF849905-D6F7-4225-A13A-3E32D7C67B6D}"/>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Statement of the Problem and ZCDRRMO interview</a:t>
            </a:r>
          </a:p>
        </p:txBody>
      </p:sp>
      <p:sp>
        <p:nvSpPr>
          <p:cNvPr id="6" name="">
            <a:extLst xmlns:a="http://schemas.openxmlformats.org/drawingml/2006/main">
              <a:ext uri="{FF2B5EF4-FFF2-40B4-BE49-F238E27FC236}">
                <a16:creationId xmlns:a16="http://schemas.microsoft.com/office/drawing/2014/main" id="{3C4C9C95-EC13-485C-9A2C-65DDB64FEE4C}"/>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07</a:t>
            </a:r>
          </a:p>
        </p:txBody>
      </p:sp>
      <p:sp>
        <p:nvSpPr>
          <p:cNvPr id="7" name="">
            <a:extLst xmlns:a="http://schemas.openxmlformats.org/drawingml/2006/main">
              <a:ext uri="{FF2B5EF4-FFF2-40B4-BE49-F238E27FC236}">
                <a16:creationId xmlns:a16="http://schemas.microsoft.com/office/drawing/2014/main" id="{360B9EBB-3A09-400C-931A-F7B0164DBE60}"/>
              </a:ext>
            </a:extLst>
          </p:cNvPr>
          <p:cNvSpPr>
            <a:spLocks xmlns:a="http://schemas.openxmlformats.org/drawingml/2006/main" noGrp="1"/>
          </p:cNvSpPr>
          <p:nvPr/>
        </p:nvSpPr>
        <p:spPr>
          <a:xfrm xmlns:a="http://schemas.openxmlformats.org/drawingml/2006/main">
            <a:off x="933450" y="13620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Timeliness</a:t>
            </a:r>
          </a:p>
        </p:txBody>
      </p:sp>
      <p:sp>
        <p:nvSpPr>
          <p:cNvPr id="8" name="">
            <a:extLst xmlns:a="http://schemas.openxmlformats.org/drawingml/2006/main">
              <a:ext uri="{FF2B5EF4-FFF2-40B4-BE49-F238E27FC236}">
                <a16:creationId xmlns:a16="http://schemas.microsoft.com/office/drawing/2014/main" id="{FC790A34-DD4B-4798-A36A-5D451C02BD9C}"/>
              </a:ext>
            </a:extLst>
          </p:cNvPr>
          <p:cNvSpPr>
            <a:spLocks xmlns:a="http://schemas.openxmlformats.org/drawingml/2006/main" noGrp="1"/>
          </p:cNvSpPr>
          <p:nvPr/>
        </p:nvSpPr>
        <p:spPr>
          <a:xfrm xmlns:a="http://schemas.openxmlformats.org/drawingml/2006/main">
            <a:off x="3276600" y="13620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Calls and clarification requests add hand-offs before staff can consolidate a sufficiently documented incident picture.</a:t>
            </a:r>
          </a:p>
        </p:txBody>
      </p:sp>
      <p:sp>
        <p:nvSpPr>
          <p:cNvPr id="9" name="">
            <a:extLst xmlns:a="http://schemas.openxmlformats.org/drawingml/2006/main">
              <a:ext uri="{FF2B5EF4-FFF2-40B4-BE49-F238E27FC236}">
                <a16:creationId xmlns:a16="http://schemas.microsoft.com/office/drawing/2014/main" id="{4B53BDDB-11DC-4B1E-8548-D297B2189687}"/>
              </a:ext>
            </a:extLst>
          </p:cNvPr>
          <p:cNvSpPr>
            <a:spLocks xmlns:a="http://schemas.openxmlformats.org/drawingml/2006/main" noGrp="1"/>
          </p:cNvSpPr>
          <p:nvPr/>
        </p:nvSpPr>
        <p:spPr>
          <a:xfrm xmlns:a="http://schemas.openxmlformats.org/drawingml/2006/main">
            <a:off x="933450" y="22383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Staff effort</a:t>
            </a:r>
          </a:p>
        </p:txBody>
      </p:sp>
      <p:sp>
        <p:nvSpPr>
          <p:cNvPr id="10" name="">
            <a:extLst xmlns:a="http://schemas.openxmlformats.org/drawingml/2006/main">
              <a:ext uri="{FF2B5EF4-FFF2-40B4-BE49-F238E27FC236}">
                <a16:creationId xmlns:a16="http://schemas.microsoft.com/office/drawing/2014/main" id="{8C9175C6-6B93-4CCA-895B-CE81A3E7BE7B}"/>
              </a:ext>
            </a:extLst>
          </p:cNvPr>
          <p:cNvSpPr>
            <a:spLocks xmlns:a="http://schemas.openxmlformats.org/drawingml/2006/main" noGrp="1"/>
          </p:cNvSpPr>
          <p:nvPr/>
        </p:nvSpPr>
        <p:spPr>
          <a:xfrm xmlns:a="http://schemas.openxmlformats.org/drawingml/2006/main">
            <a:off x="3276600" y="22383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The same information may be edited, summarized and re-entered for different recipients.</a:t>
            </a:r>
          </a:p>
        </p:txBody>
      </p:sp>
      <p:sp>
        <p:nvSpPr>
          <p:cNvPr id="11" name="">
            <a:extLst xmlns:a="http://schemas.openxmlformats.org/drawingml/2006/main">
              <a:ext uri="{FF2B5EF4-FFF2-40B4-BE49-F238E27FC236}">
                <a16:creationId xmlns:a16="http://schemas.microsoft.com/office/drawing/2014/main" id="{F51544A0-C4F2-438B-8E30-03496F6E6F3F}"/>
              </a:ext>
            </a:extLst>
          </p:cNvPr>
          <p:cNvSpPr>
            <a:spLocks xmlns:a="http://schemas.openxmlformats.org/drawingml/2006/main" noGrp="1"/>
          </p:cNvSpPr>
          <p:nvPr/>
        </p:nvSpPr>
        <p:spPr>
          <a:xfrm xmlns:a="http://schemas.openxmlformats.org/drawingml/2006/main">
            <a:off x="933450" y="31146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Record continuity</a:t>
            </a:r>
          </a:p>
        </p:txBody>
      </p:sp>
      <p:sp>
        <p:nvSpPr>
          <p:cNvPr id="12" name="">
            <a:extLst xmlns:a="http://schemas.openxmlformats.org/drawingml/2006/main">
              <a:ext uri="{FF2B5EF4-FFF2-40B4-BE49-F238E27FC236}">
                <a16:creationId xmlns:a16="http://schemas.microsoft.com/office/drawing/2014/main" id="{1F5E3E93-814A-4ECD-8E1A-39B68D127B22}"/>
              </a:ext>
            </a:extLst>
          </p:cNvPr>
          <p:cNvSpPr>
            <a:spLocks xmlns:a="http://schemas.openxmlformats.org/drawingml/2006/main" noGrp="1"/>
          </p:cNvSpPr>
          <p:nvPr/>
        </p:nvSpPr>
        <p:spPr>
          <a:xfrm xmlns:a="http://schemas.openxmlformats.org/drawingml/2006/main">
            <a:off x="3276600" y="31146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Separate messages and files make it harder to identify the current report version and its source.</a:t>
            </a:r>
          </a:p>
        </p:txBody>
      </p:sp>
      <p:sp>
        <p:nvSpPr>
          <p:cNvPr id="13" name="">
            <a:extLst xmlns:a="http://schemas.openxmlformats.org/drawingml/2006/main">
              <a:ext uri="{FF2B5EF4-FFF2-40B4-BE49-F238E27FC236}">
                <a16:creationId xmlns:a16="http://schemas.microsoft.com/office/drawing/2014/main" id="{4BEB2C7F-B6A8-43D0-9C16-AD203CC38E59}"/>
              </a:ext>
            </a:extLst>
          </p:cNvPr>
          <p:cNvSpPr>
            <a:spLocks xmlns:a="http://schemas.openxmlformats.org/drawingml/2006/main" noGrp="1"/>
          </p:cNvSpPr>
          <p:nvPr/>
        </p:nvSpPr>
        <p:spPr>
          <a:xfrm xmlns:a="http://schemas.openxmlformats.org/drawingml/2006/main">
            <a:off x="933450" y="39909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Verification load</a:t>
            </a:r>
          </a:p>
        </p:txBody>
      </p:sp>
      <p:sp>
        <p:nvSpPr>
          <p:cNvPr id="14" name="">
            <a:extLst xmlns:a="http://schemas.openxmlformats.org/drawingml/2006/main">
              <a:ext uri="{FF2B5EF4-FFF2-40B4-BE49-F238E27FC236}">
                <a16:creationId xmlns:a16="http://schemas.microsoft.com/office/drawing/2014/main" id="{D9C3755E-97A6-44CB-AA1E-CE58BCCAFB2E}"/>
              </a:ext>
            </a:extLst>
          </p:cNvPr>
          <p:cNvSpPr>
            <a:spLocks xmlns:a="http://schemas.openxmlformats.org/drawingml/2006/main" noGrp="1"/>
          </p:cNvSpPr>
          <p:nvPr/>
        </p:nvSpPr>
        <p:spPr>
          <a:xfrm xmlns:a="http://schemas.openxmlformats.org/drawingml/2006/main">
            <a:off x="3276600" y="39909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Personnel may need repeated follow-up or field checks while covering several operational duties.</a:t>
            </a:r>
          </a:p>
        </p:txBody>
      </p:sp>
      <p:sp>
        <p:nvSpPr>
          <p:cNvPr id="15" name="">
            <a:extLst xmlns:a="http://schemas.openxmlformats.org/drawingml/2006/main">
              <a:ext uri="{FF2B5EF4-FFF2-40B4-BE49-F238E27FC236}">
                <a16:creationId xmlns:a16="http://schemas.microsoft.com/office/drawing/2014/main" id="{CB68AF44-C574-4BB5-A708-4D09AD4C7777}"/>
              </a:ext>
            </a:extLst>
          </p:cNvPr>
          <p:cNvSpPr>
            <a:spLocks xmlns:a="http://schemas.openxmlformats.org/drawingml/2006/main" noGrp="1"/>
          </p:cNvSpPr>
          <p:nvPr/>
        </p:nvSpPr>
        <p:spPr>
          <a:xfrm xmlns:a="http://schemas.openxmlformats.org/drawingml/2006/main">
            <a:off x="933450" y="48672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Controlled sharing</a:t>
            </a:r>
          </a:p>
        </p:txBody>
      </p:sp>
      <p:sp>
        <p:nvSpPr>
          <p:cNvPr id="16" name="">
            <a:extLst xmlns:a="http://schemas.openxmlformats.org/drawingml/2006/main">
              <a:ext uri="{FF2B5EF4-FFF2-40B4-BE49-F238E27FC236}">
                <a16:creationId xmlns:a16="http://schemas.microsoft.com/office/drawing/2014/main" id="{8F783FF9-9260-4D48-BC14-E877FD9D1B12}"/>
              </a:ext>
            </a:extLst>
          </p:cNvPr>
          <p:cNvSpPr>
            <a:spLocks xmlns:a="http://schemas.openxmlformats.org/drawingml/2006/main" noGrp="1"/>
          </p:cNvSpPr>
          <p:nvPr/>
        </p:nvSpPr>
        <p:spPr>
          <a:xfrm xmlns:a="http://schemas.openxmlformats.org/drawingml/2006/main">
            <a:off x="3276600" y="48672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Information needs to reach report preparers, but access cannot be unrestricted because records may contain protected details.</a:t>
            </a:r>
          </a:p>
        </p:txBody>
      </p:sp>
    </p:spTree>
    <p:extLst>
      <p:ext uri="{BB962C8B-B14F-4D97-AF65-F5344CB8AC3E}">
        <p14:creationId xmlns:p14="http://schemas.microsoft.com/office/powerpoint/2010/main" val="1419255911"/>
      </p:ext>
    </p:extLst>
  </p:cSld>
</p:sld>
</file>

<file path=ppt/slides/slide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E96AC8-E5BB-4420-B497-8406C23269B4}"/>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C9493A-EA7F-4956-9F1C-CA2E84940691}"/>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POSSIBLE SOLUTIONS AND WHY NOT</a:t>
            </a:r>
          </a:p>
        </p:txBody>
      </p:sp>
      <p:sp>
        <p:nvSpPr>
          <p:cNvPr id="3" name="">
            <a:extLst xmlns:a="http://schemas.openxmlformats.org/drawingml/2006/main">
              <a:ext uri="{FF2B5EF4-FFF2-40B4-BE49-F238E27FC236}">
                <a16:creationId xmlns:a16="http://schemas.microsoft.com/office/drawing/2014/main" id="{0A90DEAE-D2F3-48E8-84DF-4938C30AA5AA}"/>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Useful tools are insufficient when used alone</a:t>
            </a:r>
          </a:p>
        </p:txBody>
      </p:sp>
      <p:sp>
        <p:nvSpPr>
          <p:cNvPr id="4" name="">
            <a:extLst xmlns:a="http://schemas.openxmlformats.org/drawingml/2006/main">
              <a:ext uri="{FF2B5EF4-FFF2-40B4-BE49-F238E27FC236}">
                <a16:creationId xmlns:a16="http://schemas.microsoft.com/office/drawing/2014/main" id="{1A758F62-9C08-4864-8DB0-7658CB9B773B}"/>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8A4BB03A-C094-446B-BDF8-A280715196B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current workflow and rationale for the proposed system</a:t>
            </a:r>
          </a:p>
        </p:txBody>
      </p:sp>
      <p:sp>
        <p:nvSpPr>
          <p:cNvPr id="6" name="">
            <a:extLst xmlns:a="http://schemas.openxmlformats.org/drawingml/2006/main">
              <a:ext uri="{FF2B5EF4-FFF2-40B4-BE49-F238E27FC236}">
                <a16:creationId xmlns:a16="http://schemas.microsoft.com/office/drawing/2014/main" id="{274AAF24-FF70-4EBC-88A2-728FC01F03D0}"/>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08</a:t>
            </a:r>
          </a:p>
        </p:txBody>
      </p:sp>
      <p:graphicFrame>
        <p:nvGraphicFramePr>
          <p:cNvPr id="14" name=""/>
          <p:cNvGraphicFramePr/>
          <p:nvPr/>
        </p:nvGraphicFramePr>
        <p:xfrm>
          <a:off xmlns:a="http://schemas.openxmlformats.org/drawingml/2006/main" x="895350" y="1438275"/>
          <a:ext xmlns:a="http://schemas.openxmlformats.org/drawingml/2006/main" cx="10401300" cy="4000500"/>
        </p:xfrm>
        <a:graphic xmlns:a="http://schemas.openxmlformats.org/drawingml/2006/main">
          <a:graphicData uri="http://schemas.openxmlformats.org/drawingml/2006/table">
            <a:tbl>
              <a:tblPr/>
              <a:tblGrid>
                <a:gridCol w="2190750"/>
                <a:gridCol w="3714750"/>
                <a:gridCol w="4495800"/>
              </a:tblGrid>
              <a:tr h="523875">
                <a:tc>
                  <a:txBody>
                    <a:bodyPr wrap="square" lIns="104775" tIns="66675" rIns="104775" bIns="66675">
                      <a:normAutofit/>
                    </a:bodyPr>
                    <a:lstStyle/>
                    <a:p>
                      <a:pPr algn="l"/>
                      <a:r>
                        <a:rPr sz="1313" b="1">
                          <a:solidFill>
                            <a:srgbClr val="FFFFFF"/>
                          </a:solidFill>
                          <a:latin typeface="Lexend"/>
                          <a:ea typeface="Lexend"/>
                          <a:cs typeface="Lexend"/>
                        </a:rPr>
                        <a:t>Approach</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What it supports</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Why it is not sufficient alone</a:t>
                      </a:r>
                    </a:p>
                  </a:txBody>
                  <a:tcPr marL="91440" marR="91440" marT="45720" marB="45720" anchor="ctr">
                    <a:solidFill>
                      <a:srgbClr val="252D30"/>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Calls, SMS, radio, messaging</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Fast contact and urgent coordination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Status, source, correction and version history remain spread across channels</a:t>
                      </a:r>
                    </a:p>
                  </a:txBody>
                  <a:tcPr marL="91440" marR="91440" marT="45720" marB="45720" anchor="ctr">
                    <a:solidFill>
                      <a:srgbClr val="FFFFFF"/>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Paper forms and spreadsheets</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Flexible local capture and manual review</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Copies require manual reconciliation and repeated summary work</a:t>
                      </a:r>
                    </a:p>
                  </a:txBody>
                  <a:tcPr marL="91440" marR="91440" marT="45720" marB="45720" anchor="ctr">
                    <a:solidFill>
                      <a:srgbClr val="E9ECE8"/>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Single-level reporting app</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Structured electronic submission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May not represent Purok to Barangay to DRRM review and cumulative SitRep history</a:t>
                      </a:r>
                    </a:p>
                  </a:txBody>
                  <a:tcPr marL="91440" marR="91440" marT="45720" marB="45720" anchor="ctr">
                    <a:solidFill>
                      <a:srgbClr val="FFFFFF"/>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Proposed integrated web system</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Role-based reporting, verification, history and SitRep preparation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Still depends on connectivity and central service, so contingency channels remain necessary</a:t>
                      </a:r>
                    </a:p>
                  </a:txBody>
                  <a:tcPr marL="91440" marR="91440" marT="45720" marB="45720" anchor="ctr">
                    <a:solidFill>
                      <a:srgbClr val="E9ECE8"/>
                    </a:solidFill>
                  </a:tcPr>
                </a:tc>
              </a:tr>
            </a:tbl>
          </a:graphicData>
        </a:graphic>
      </p:graphicFrame>
    </p:spTree>
    <p:extLst>
      <p:ext uri="{BB962C8B-B14F-4D97-AF65-F5344CB8AC3E}">
        <p14:creationId xmlns:p14="http://schemas.microsoft.com/office/powerpoint/2010/main" val="184896779"/>
      </p:ext>
    </p:extLst>
  </p:cSld>
</p:sld>
</file>

<file path=ppt/slides/slide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110585D-9FB4-4AA6-93EF-3FA427BF54CF}"/>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F3AD37-60C7-4A8E-8D27-F3B7F3200709}"/>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PROBLEM STATEMENT</a:t>
            </a:r>
          </a:p>
        </p:txBody>
      </p:sp>
      <p:sp>
        <p:nvSpPr>
          <p:cNvPr id="3" name="">
            <a:extLst xmlns:a="http://schemas.openxmlformats.org/drawingml/2006/main">
              <a:ext uri="{FF2B5EF4-FFF2-40B4-BE49-F238E27FC236}">
                <a16:creationId xmlns:a16="http://schemas.microsoft.com/office/drawing/2014/main" id="{31D86455-596C-4CA6-9D3B-7525A0DE97E3}"/>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paper identifies four distinct operational problems</a:t>
            </a:r>
          </a:p>
        </p:txBody>
      </p:sp>
      <p:sp>
        <p:nvSpPr>
          <p:cNvPr id="4" name="">
            <a:extLst xmlns:a="http://schemas.openxmlformats.org/drawingml/2006/main">
              <a:ext uri="{FF2B5EF4-FFF2-40B4-BE49-F238E27FC236}">
                <a16:creationId xmlns:a16="http://schemas.microsoft.com/office/drawing/2014/main" id="{B852BBF1-BED2-43B4-929A-8B0A30984EE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BD0B1292-5F82-409F-9692-777044279A3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revised paper, Statement of the Problem; A. Kanti, second interview, 26 March 2026</a:t>
            </a:r>
          </a:p>
        </p:txBody>
      </p:sp>
      <p:sp>
        <p:nvSpPr>
          <p:cNvPr id="6" name="">
            <a:extLst xmlns:a="http://schemas.openxmlformats.org/drawingml/2006/main">
              <a:ext uri="{FF2B5EF4-FFF2-40B4-BE49-F238E27FC236}">
                <a16:creationId xmlns:a16="http://schemas.microsoft.com/office/drawing/2014/main" id="{B3F72C53-C5D6-42ED-B983-90C4956782B9}"/>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09</a:t>
            </a:r>
          </a:p>
        </p:txBody>
      </p:sp>
      <p:sp>
        <p:nvSpPr>
          <p:cNvPr id="7" name="">
            <a:extLst xmlns:a="http://schemas.openxmlformats.org/drawingml/2006/main">
              <a:ext uri="{FF2B5EF4-FFF2-40B4-BE49-F238E27FC236}">
                <a16:creationId xmlns:a16="http://schemas.microsoft.com/office/drawing/2014/main" id="{BF9D5DA1-3EE2-43C5-9F95-AAF0FBB6B45D}"/>
              </a:ext>
            </a:extLst>
          </p:cNvPr>
          <p:cNvSpPr>
            <a:spLocks xmlns:a="http://schemas.openxmlformats.org/drawingml/2006/main" noGrp="1"/>
          </p:cNvSpPr>
          <p:nvPr/>
        </p:nvSpPr>
        <p:spPr>
          <a:xfrm xmlns:a="http://schemas.openxmlformats.org/drawingml/2006/main">
            <a:off x="933450" y="14668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E20E4173-5AF3-40C7-938A-511B79F87244}"/>
              </a:ext>
            </a:extLst>
          </p:cNvPr>
          <p:cNvSpPr>
            <a:spLocks xmlns:a="http://schemas.openxmlformats.org/drawingml/2006/main" noGrp="1"/>
          </p:cNvSpPr>
          <p:nvPr/>
        </p:nvSpPr>
        <p:spPr>
          <a:xfrm xmlns:a="http://schemas.openxmlformats.org/drawingml/2006/main">
            <a:off x="1466850" y="1466850"/>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Communication delay</a:t>
            </a:r>
          </a:p>
        </p:txBody>
      </p:sp>
      <p:sp>
        <p:nvSpPr>
          <p:cNvPr id="9" name="">
            <a:extLst xmlns:a="http://schemas.openxmlformats.org/drawingml/2006/main">
              <a:ext uri="{FF2B5EF4-FFF2-40B4-BE49-F238E27FC236}">
                <a16:creationId xmlns:a16="http://schemas.microsoft.com/office/drawing/2014/main" id="{DD38CC91-DE51-40C9-AB78-42D3B4ABF8CF}"/>
              </a:ext>
            </a:extLst>
          </p:cNvPr>
          <p:cNvSpPr>
            <a:spLocks xmlns:a="http://schemas.openxmlformats.org/drawingml/2006/main" noGrp="1"/>
          </p:cNvSpPr>
          <p:nvPr/>
        </p:nvSpPr>
        <p:spPr>
          <a:xfrm xmlns:a="http://schemas.openxmlformats.org/drawingml/2006/main">
            <a:off x="1466850" y="1952625"/>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Submission, acknowledgement and clarification depend on follow-up.</a:t>
            </a:r>
          </a:p>
        </p:txBody>
      </p:sp>
      <p:sp>
        <p:nvSpPr>
          <p:cNvPr id="10" name="">
            <a:extLst xmlns:a="http://schemas.openxmlformats.org/drawingml/2006/main">
              <a:ext uri="{FF2B5EF4-FFF2-40B4-BE49-F238E27FC236}">
                <a16:creationId xmlns:a16="http://schemas.microsoft.com/office/drawing/2014/main" id="{4F96D750-BBD2-45E8-9636-E5C4254A01C8}"/>
              </a:ext>
            </a:extLst>
          </p:cNvPr>
          <p:cNvSpPr>
            <a:spLocks xmlns:a="http://schemas.openxmlformats.org/drawingml/2006/main" noGrp="1"/>
          </p:cNvSpPr>
          <p:nvPr/>
        </p:nvSpPr>
        <p:spPr>
          <a:xfrm xmlns:a="http://schemas.openxmlformats.org/drawingml/2006/main">
            <a:off x="1466850" y="2981325"/>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BA967245-564F-4BE8-8CC4-AD1B917604DD}"/>
              </a:ext>
            </a:extLst>
          </p:cNvPr>
          <p:cNvSpPr>
            <a:spLocks xmlns:a="http://schemas.openxmlformats.org/drawingml/2006/main" noGrp="1"/>
          </p:cNvSpPr>
          <p:nvPr/>
        </p:nvSpPr>
        <p:spPr>
          <a:xfrm xmlns:a="http://schemas.openxmlformats.org/drawingml/2006/main">
            <a:off x="6191250" y="14668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22FF18AD-C28A-424F-A494-01F1E9F1E42B}"/>
              </a:ext>
            </a:extLst>
          </p:cNvPr>
          <p:cNvSpPr>
            <a:spLocks xmlns:a="http://schemas.openxmlformats.org/drawingml/2006/main" noGrp="1"/>
          </p:cNvSpPr>
          <p:nvPr/>
        </p:nvSpPr>
        <p:spPr>
          <a:xfrm xmlns:a="http://schemas.openxmlformats.org/drawingml/2006/main">
            <a:off x="6724650" y="1466850"/>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Manual record management</a:t>
            </a:r>
          </a:p>
        </p:txBody>
      </p:sp>
      <p:sp>
        <p:nvSpPr>
          <p:cNvPr id="13" name="">
            <a:extLst xmlns:a="http://schemas.openxmlformats.org/drawingml/2006/main">
              <a:ext uri="{FF2B5EF4-FFF2-40B4-BE49-F238E27FC236}">
                <a16:creationId xmlns:a16="http://schemas.microsoft.com/office/drawing/2014/main" id="{8F8D095F-81EC-4F01-A7BA-6DE6C2000F5B}"/>
              </a:ext>
            </a:extLst>
          </p:cNvPr>
          <p:cNvSpPr>
            <a:spLocks xmlns:a="http://schemas.openxmlformats.org/drawingml/2006/main" noGrp="1"/>
          </p:cNvSpPr>
          <p:nvPr/>
        </p:nvSpPr>
        <p:spPr>
          <a:xfrm xmlns:a="http://schemas.openxmlformats.org/drawingml/2006/main">
            <a:off x="6724650" y="1952625"/>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Staff combine records and may summarize the same information again.</a:t>
            </a:r>
          </a:p>
        </p:txBody>
      </p:sp>
      <p:sp>
        <p:nvSpPr>
          <p:cNvPr id="14" name="">
            <a:extLst xmlns:a="http://schemas.openxmlformats.org/drawingml/2006/main">
              <a:ext uri="{FF2B5EF4-FFF2-40B4-BE49-F238E27FC236}">
                <a16:creationId xmlns:a16="http://schemas.microsoft.com/office/drawing/2014/main" id="{2F466D17-F5E6-4829-953A-A4D348732EE0}"/>
              </a:ext>
            </a:extLst>
          </p:cNvPr>
          <p:cNvSpPr>
            <a:spLocks xmlns:a="http://schemas.openxmlformats.org/drawingml/2006/main" noGrp="1"/>
          </p:cNvSpPr>
          <p:nvPr/>
        </p:nvSpPr>
        <p:spPr>
          <a:xfrm xmlns:a="http://schemas.openxmlformats.org/drawingml/2006/main">
            <a:off x="6724650" y="2981325"/>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5" name="">
            <a:extLst xmlns:a="http://schemas.openxmlformats.org/drawingml/2006/main">
              <a:ext uri="{FF2B5EF4-FFF2-40B4-BE49-F238E27FC236}">
                <a16:creationId xmlns:a16="http://schemas.microsoft.com/office/drawing/2014/main" id="{C92C39A5-57F6-4D00-A389-71B252A5E9D0}"/>
              </a:ext>
            </a:extLst>
          </p:cNvPr>
          <p:cNvSpPr>
            <a:spLocks xmlns:a="http://schemas.openxmlformats.org/drawingml/2006/main" noGrp="1"/>
          </p:cNvSpPr>
          <p:nvPr/>
        </p:nvSpPr>
        <p:spPr>
          <a:xfrm xmlns:a="http://schemas.openxmlformats.org/drawingml/2006/main">
            <a:off x="933450" y="343852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03</a:t>
            </a:r>
          </a:p>
        </p:txBody>
      </p:sp>
      <p:sp>
        <p:nvSpPr>
          <p:cNvPr id="16" name="">
            <a:extLst xmlns:a="http://schemas.openxmlformats.org/drawingml/2006/main">
              <a:ext uri="{FF2B5EF4-FFF2-40B4-BE49-F238E27FC236}">
                <a16:creationId xmlns:a16="http://schemas.microsoft.com/office/drawing/2014/main" id="{3F1B55A6-63EA-4C41-9530-FC1168283962}"/>
              </a:ext>
            </a:extLst>
          </p:cNvPr>
          <p:cNvSpPr>
            <a:spLocks xmlns:a="http://schemas.openxmlformats.org/drawingml/2006/main" noGrp="1"/>
          </p:cNvSpPr>
          <p:nvPr/>
        </p:nvSpPr>
        <p:spPr>
          <a:xfrm xmlns:a="http://schemas.openxmlformats.org/drawingml/2006/main">
            <a:off x="1466850" y="3438525"/>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Limited data sharing</a:t>
            </a:r>
          </a:p>
        </p:txBody>
      </p:sp>
      <p:sp>
        <p:nvSpPr>
          <p:cNvPr id="17" name="">
            <a:extLst xmlns:a="http://schemas.openxmlformats.org/drawingml/2006/main">
              <a:ext uri="{FF2B5EF4-FFF2-40B4-BE49-F238E27FC236}">
                <a16:creationId xmlns:a16="http://schemas.microsoft.com/office/drawing/2014/main" id="{F20468E1-0555-4A01-A002-981BE4C00FB2}"/>
              </a:ext>
            </a:extLst>
          </p:cNvPr>
          <p:cNvSpPr>
            <a:spLocks xmlns:a="http://schemas.openxmlformats.org/drawingml/2006/main" noGrp="1"/>
          </p:cNvSpPr>
          <p:nvPr/>
        </p:nvSpPr>
        <p:spPr>
          <a:xfrm xmlns:a="http://schemas.openxmlformats.org/drawingml/2006/main">
            <a:off x="1466850" y="3924300"/>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Separate office functions do not always share the information needed for SitRep preparation.</a:t>
            </a:r>
          </a:p>
        </p:txBody>
      </p:sp>
      <p:sp>
        <p:nvSpPr>
          <p:cNvPr id="18" name="">
            <a:extLst xmlns:a="http://schemas.openxmlformats.org/drawingml/2006/main">
              <a:ext uri="{FF2B5EF4-FFF2-40B4-BE49-F238E27FC236}">
                <a16:creationId xmlns:a16="http://schemas.microsoft.com/office/drawing/2014/main" id="{7EC63A38-5397-4FD4-AD9F-E8CAE06BD960}"/>
              </a:ext>
            </a:extLst>
          </p:cNvPr>
          <p:cNvSpPr>
            <a:spLocks xmlns:a="http://schemas.openxmlformats.org/drawingml/2006/main" noGrp="1"/>
          </p:cNvSpPr>
          <p:nvPr/>
        </p:nvSpPr>
        <p:spPr>
          <a:xfrm xmlns:a="http://schemas.openxmlformats.org/drawingml/2006/main">
            <a:off x="1466850" y="4953000"/>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2D6DAFB0-EB77-4AD4-9CD4-E13CE0290A0C}"/>
              </a:ext>
            </a:extLst>
          </p:cNvPr>
          <p:cNvSpPr>
            <a:spLocks xmlns:a="http://schemas.openxmlformats.org/drawingml/2006/main" noGrp="1"/>
          </p:cNvSpPr>
          <p:nvPr/>
        </p:nvSpPr>
        <p:spPr>
          <a:xfrm xmlns:a="http://schemas.openxmlformats.org/drawingml/2006/main">
            <a:off x="6191250" y="343852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04</a:t>
            </a:r>
          </a:p>
        </p:txBody>
      </p:sp>
      <p:sp>
        <p:nvSpPr>
          <p:cNvPr id="20" name="">
            <a:extLst xmlns:a="http://schemas.openxmlformats.org/drawingml/2006/main">
              <a:ext uri="{FF2B5EF4-FFF2-40B4-BE49-F238E27FC236}">
                <a16:creationId xmlns:a16="http://schemas.microsoft.com/office/drawing/2014/main" id="{7895365C-3D28-49E1-B877-CE31A4CCA6B3}"/>
              </a:ext>
            </a:extLst>
          </p:cNvPr>
          <p:cNvSpPr>
            <a:spLocks xmlns:a="http://schemas.openxmlformats.org/drawingml/2006/main" noGrp="1"/>
          </p:cNvSpPr>
          <p:nvPr/>
        </p:nvSpPr>
        <p:spPr>
          <a:xfrm xmlns:a="http://schemas.openxmlformats.org/drawingml/2006/main">
            <a:off x="6724650" y="3438525"/>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Inefficient verification</a:t>
            </a:r>
          </a:p>
        </p:txBody>
      </p:sp>
      <p:sp>
        <p:nvSpPr>
          <p:cNvPr id="21" name="">
            <a:extLst xmlns:a="http://schemas.openxmlformats.org/drawingml/2006/main">
              <a:ext uri="{FF2B5EF4-FFF2-40B4-BE49-F238E27FC236}">
                <a16:creationId xmlns:a16="http://schemas.microsoft.com/office/drawing/2014/main" id="{19A27547-412D-4FC7-A162-64C9C828FDFB}"/>
              </a:ext>
            </a:extLst>
          </p:cNvPr>
          <p:cNvSpPr>
            <a:spLocks xmlns:a="http://schemas.openxmlformats.org/drawingml/2006/main" noGrp="1"/>
          </p:cNvSpPr>
          <p:nvPr/>
        </p:nvSpPr>
        <p:spPr>
          <a:xfrm xmlns:a="http://schemas.openxmlformats.org/drawingml/2006/main">
            <a:off x="6724650" y="3924300"/>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Incomplete or inconsistent details prompt additional calls or field checks.</a:t>
            </a:r>
          </a:p>
        </p:txBody>
      </p:sp>
      <p:sp>
        <p:nvSpPr>
          <p:cNvPr id="22" name="">
            <a:extLst xmlns:a="http://schemas.openxmlformats.org/drawingml/2006/main">
              <a:ext uri="{FF2B5EF4-FFF2-40B4-BE49-F238E27FC236}">
                <a16:creationId xmlns:a16="http://schemas.microsoft.com/office/drawing/2014/main" id="{64A02EED-8987-4259-8B8F-D88AD55C80E1}"/>
              </a:ext>
            </a:extLst>
          </p:cNvPr>
          <p:cNvSpPr>
            <a:spLocks xmlns:a="http://schemas.openxmlformats.org/drawingml/2006/main" noGrp="1"/>
          </p:cNvSpPr>
          <p:nvPr/>
        </p:nvSpPr>
        <p:spPr>
          <a:xfrm xmlns:a="http://schemas.openxmlformats.org/drawingml/2006/main">
            <a:off x="6724650" y="4953000"/>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7F15FB74-716F-42CD-A655-52DE83EBEF01}"/>
              </a:ext>
            </a:extLst>
          </p:cNvPr>
          <p:cNvSpPr>
            <a:spLocks xmlns:a="http://schemas.openxmlformats.org/drawingml/2006/main" noGrp="1"/>
          </p:cNvSpPr>
          <p:nvPr/>
        </p:nvSpPr>
        <p:spPr>
          <a:xfrm xmlns:a="http://schemas.openxmlformats.org/drawingml/2006/main">
            <a:off x="933450" y="55054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1">
                <a:solidFill>
                  <a:srgbClr val="276E6B"/>
                </a:solidFill>
                <a:latin typeface="Source Sans 3"/>
                <a:ea typeface="Source Sans 3"/>
                <a:cs typeface="Source Sans 3"/>
              </a:defRPr>
            </a:pPr>
            <a:r>
              <a:rPr sz="1425" b="1">
                <a:solidFill>
                  <a:srgbClr val="276E6B"/>
                </a:solidFill>
                <a:latin typeface="Source Sans 3"/>
                <a:ea typeface="Source Sans 3"/>
                <a:cs typeface="Source Sans 3"/>
              </a:rPr>
              <a:t>The paper describes an information-governance problem, not a lack of communication channels alone.</a:t>
            </a:r>
          </a:p>
        </p:txBody>
      </p:sp>
    </p:spTree>
    <p:extLst>
      <p:ext uri="{BB962C8B-B14F-4D97-AF65-F5344CB8AC3E}">
        <p14:creationId xmlns:p14="http://schemas.microsoft.com/office/powerpoint/2010/main" val="44368570"/>
      </p:ext>
    </p:extLst>
  </p:cSld>
</p:sld>
</file>

<file path=ppt/slides/slide1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E1D5E0-5D67-4456-BF54-5A28D4533EEC}"/>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EF1DF1-8D79-4176-84F0-E68B70CB223B}"/>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WORKFLOW GAPS AND MANDATED PRACTICE</a:t>
            </a:r>
          </a:p>
        </p:txBody>
      </p:sp>
      <p:sp>
        <p:nvSpPr>
          <p:cNvPr id="3" name="">
            <a:extLst xmlns:a="http://schemas.openxmlformats.org/drawingml/2006/main">
              <a:ext uri="{FF2B5EF4-FFF2-40B4-BE49-F238E27FC236}">
                <a16:creationId xmlns:a16="http://schemas.microsoft.com/office/drawing/2014/main" id="{1BBAFB53-3964-47DA-BBC9-F1732DDA0417}"/>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proposed workflow supports existing public responsibilities</a:t>
            </a:r>
          </a:p>
        </p:txBody>
      </p:sp>
      <p:sp>
        <p:nvSpPr>
          <p:cNvPr id="4" name="">
            <a:extLst xmlns:a="http://schemas.openxmlformats.org/drawingml/2006/main">
              <a:ext uri="{FF2B5EF4-FFF2-40B4-BE49-F238E27FC236}">
                <a16:creationId xmlns:a16="http://schemas.microsoft.com/office/drawing/2014/main" id="{52CE6033-FD1C-4400-BD72-C1CF42EE3761}"/>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87F1AF5B-0D61-440B-A3A9-9A7DDEADAD84}"/>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RA 10121, Section 12; NDRRMC NDRRMOC SOPG (2024); revised paper, Chapter 1</a:t>
            </a:r>
          </a:p>
        </p:txBody>
      </p:sp>
      <p:sp>
        <p:nvSpPr>
          <p:cNvPr id="6" name="">
            <a:extLst xmlns:a="http://schemas.openxmlformats.org/drawingml/2006/main">
              <a:ext uri="{FF2B5EF4-FFF2-40B4-BE49-F238E27FC236}">
                <a16:creationId xmlns:a16="http://schemas.microsoft.com/office/drawing/2014/main" id="{6C14B030-2972-4CBE-9DE6-79D1A5AE1A07}"/>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10</a:t>
            </a:r>
          </a:p>
        </p:txBody>
      </p:sp>
      <p:graphicFrame>
        <p:nvGraphicFramePr>
          <p:cNvPr id="15" name=""/>
          <p:cNvGraphicFramePr/>
          <p:nvPr/>
        </p:nvGraphicFramePr>
        <p:xfrm>
          <a:off xmlns:a="http://schemas.openxmlformats.org/drawingml/2006/main" x="895350" y="1600200"/>
          <a:ext xmlns:a="http://schemas.openxmlformats.org/drawingml/2006/main" cx="10401300" cy="3314700"/>
        </p:xfrm>
        <a:graphic xmlns:a="http://schemas.openxmlformats.org/drawingml/2006/main">
          <a:graphicData uri="http://schemas.openxmlformats.org/drawingml/2006/table">
            <a:tbl>
              <a:tblPr/>
              <a:tblGrid>
                <a:gridCol w="2705100"/>
                <a:gridCol w="3714750"/>
                <a:gridCol w="3981450"/>
              </a:tblGrid>
              <a:tr h="552450">
                <a:tc>
                  <a:txBody>
                    <a:bodyPr wrap="square" lIns="104775" tIns="66675" rIns="104775" bIns="66675">
                      <a:normAutofit/>
                    </a:bodyPr>
                    <a:lstStyle/>
                    <a:p>
                      <a:pPr algn="l"/>
                      <a:r>
                        <a:rPr sz="1313" b="1">
                          <a:solidFill>
                            <a:srgbClr val="FFFFFF"/>
                          </a:solidFill>
                          <a:latin typeface="Lexend"/>
                          <a:ea typeface="Lexend"/>
                          <a:cs typeface="Lexend"/>
                        </a:rPr>
                        <a:t>Evidence or mandate</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Gap described in the paper</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Design response</a:t>
                      </a:r>
                    </a:p>
                  </a:txBody>
                  <a:tcPr marL="91440" marR="91440" marT="45720" marB="45720" anchor="ctr">
                    <a:solidFill>
                      <a:srgbClr val="252D30"/>
                    </a:solidFill>
                  </a:tcPr>
                </a:tc>
              </a:tr>
              <a:tr h="920750">
                <a:tc>
                  <a:txBody>
                    <a:bodyPr wrap="square" lIns="104775" tIns="66675" rIns="104775" bIns="66675">
                      <a:normAutofit/>
                    </a:bodyPr>
                    <a:lstStyle/>
                    <a:p>
                      <a:pPr algn="l"/>
                      <a:r>
                        <a:rPr sz="1350">
                          <a:solidFill>
                            <a:srgbClr val="252D30"/>
                          </a:solidFill>
                          <a:latin typeface="Source Sans 3"/>
                          <a:ea typeface="Source Sans 3"/>
                          <a:cs typeface="Source Sans 3"/>
                        </a:rPr>
                        <a:t>RA 10121, Section 12</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Local information is collected and handled across jurisdictions and office functions</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Shared records scoped by role and jurisdiction</a:t>
                      </a:r>
                    </a:p>
                  </a:txBody>
                  <a:tcPr marL="91440" marR="91440" marT="45720" marB="45720" anchor="ctr">
                    <a:solidFill>
                      <a:srgbClr val="FFFFFF"/>
                    </a:solidFill>
                  </a:tcPr>
                </a:tc>
              </a:tr>
              <a:tr h="920750">
                <a:tc>
                  <a:txBody>
                    <a:bodyPr wrap="square" lIns="104775" tIns="66675" rIns="104775" bIns="66675">
                      <a:normAutofit/>
                    </a:bodyPr>
                    <a:lstStyle/>
                    <a:p>
                      <a:pPr algn="l"/>
                      <a:r>
                        <a:rPr sz="1350">
                          <a:solidFill>
                            <a:srgbClr val="252D30"/>
                          </a:solidFill>
                          <a:latin typeface="Source Sans 3"/>
                          <a:ea typeface="Source Sans 3"/>
                          <a:cs typeface="Source Sans 3"/>
                        </a:rPr>
                        <a:t>NDRRMOC SOPG (2024)</a:t>
                      </a:r>
                    </a:p>
                  </a:txBody>
                  <a:tcPr marL="91440" marR="91440" marT="45720" marB="45720" anchor="ctr">
                    <a:solidFill>
                      <a:srgbClr val="E9ECE8"/>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Initial, Progress, Terminal and Final reporting update the situation over time</a:t>
                      </a:r>
                    </a:p>
                  </a:txBody>
                  <a:tcPr marL="91440" marR="91440" marT="45720" marB="45720" anchor="ctr">
                    <a:solidFill>
                      <a:srgbClr val="E9ECE8"/>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Versioned reports retain source, cutoff and status</a:t>
                      </a:r>
                    </a:p>
                  </a:txBody>
                  <a:tcPr marL="91440" marR="91440" marT="45720" marB="45720" anchor="ctr">
                    <a:solidFill>
                      <a:srgbClr val="E9ECE8"/>
                    </a:solidFill>
                  </a:tcPr>
                </a:tc>
              </a:tr>
              <a:tr h="920750">
                <a:tc>
                  <a:txBody>
                    <a:bodyPr wrap="square" lIns="104775" tIns="66675" rIns="104775" bIns="66675">
                      <a:normAutofit/>
                    </a:bodyPr>
                    <a:lstStyle/>
                    <a:p>
                      <a:pPr algn="l"/>
                      <a:r>
                        <a:rPr sz="1350">
                          <a:solidFill>
                            <a:srgbClr val="252D30"/>
                          </a:solidFill>
                          <a:latin typeface="Source Sans 3"/>
                          <a:ea typeface="Source Sans 3"/>
                          <a:cs typeface="Source Sans 3"/>
                        </a:rPr>
                        <a:t>Validation before official dissemination</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Clarification and verification depend on calls and staff follow-up</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Human review records a decision, reason and correction history</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2078FE41-4874-4DC3-94F1-DDAE0A651417}"/>
              </a:ext>
            </a:extLst>
          </p:cNvPr>
          <p:cNvSpPr>
            <a:spLocks xmlns:a="http://schemas.openxmlformats.org/drawingml/2006/main" noGrp="1"/>
          </p:cNvSpPr>
          <p:nvPr/>
        </p:nvSpPr>
        <p:spPr>
          <a:xfrm xmlns:a="http://schemas.openxmlformats.org/drawingml/2006/main">
            <a:off x="933450" y="52768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1">
                <a:solidFill>
                  <a:srgbClr val="A9782A"/>
                </a:solidFill>
                <a:latin typeface="Source Sans 3"/>
                <a:ea typeface="Source Sans 3"/>
                <a:cs typeface="Source Sans 3"/>
              </a:defRPr>
            </a:pPr>
            <a:r>
              <a:rPr sz="1425" b="1">
                <a:solidFill>
                  <a:srgbClr val="A9782A"/>
                </a:solidFill>
                <a:latin typeface="Source Sans 3"/>
                <a:ea typeface="Source Sans 3"/>
                <a:cs typeface="Source Sans 3"/>
              </a:rPr>
              <a:t>RA 10121 does not require this specific digital platform.</a:t>
            </a:r>
          </a:p>
        </p:txBody>
      </p:sp>
    </p:spTree>
    <p:extLst>
      <p:ext uri="{BB962C8B-B14F-4D97-AF65-F5344CB8AC3E}">
        <p14:creationId xmlns:p14="http://schemas.microsoft.com/office/powerpoint/2010/main" val="864395379"/>
      </p:ext>
    </p:extLst>
  </p:cSld>
</p:sld>
</file>

<file path=ppt/slides/slide1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CC4A3EC-33EB-420D-80AE-174B384FD641}"/>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F1919F-2219-461C-BF27-3DA5146724B5}"/>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a:t>
            </a:r>
          </a:p>
        </p:txBody>
      </p:sp>
      <p:sp>
        <p:nvSpPr>
          <p:cNvPr id="3" name="">
            <a:extLst xmlns:a="http://schemas.openxmlformats.org/drawingml/2006/main">
              <a:ext uri="{FF2B5EF4-FFF2-40B4-BE49-F238E27FC236}">
                <a16:creationId xmlns:a16="http://schemas.microsoft.com/office/drawing/2014/main" id="{6357230D-DCBD-47C8-A178-745827B87AAB}"/>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Role-based system for DRRM reporting</a:t>
            </a:r>
          </a:p>
        </p:txBody>
      </p:sp>
      <p:sp>
        <p:nvSpPr>
          <p:cNvPr id="4" name="">
            <a:extLst xmlns:a="http://schemas.openxmlformats.org/drawingml/2006/main">
              <a:ext uri="{FF2B5EF4-FFF2-40B4-BE49-F238E27FC236}">
                <a16:creationId xmlns:a16="http://schemas.microsoft.com/office/drawing/2014/main" id="{3A8D1E63-48DB-4EC6-B959-B9F6AE43A765}"/>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EC38041-CACC-4C22-9FD0-E15DA1D83F8F}"/>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General Objective, Scope and Limitations</a:t>
            </a:r>
          </a:p>
        </p:txBody>
      </p:sp>
      <p:sp>
        <p:nvSpPr>
          <p:cNvPr id="6" name="">
            <a:extLst xmlns:a="http://schemas.openxmlformats.org/drawingml/2006/main">
              <a:ext uri="{FF2B5EF4-FFF2-40B4-BE49-F238E27FC236}">
                <a16:creationId xmlns:a16="http://schemas.microsoft.com/office/drawing/2014/main" id="{F3719E3F-E6AD-4D78-973F-C08EF9684625}"/>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11</a:t>
            </a:r>
          </a:p>
        </p:txBody>
      </p:sp>
      <p:sp>
        <p:nvSpPr>
          <p:cNvPr id="7" name="">
            <a:extLst xmlns:a="http://schemas.openxmlformats.org/drawingml/2006/main">
              <a:ext uri="{FF2B5EF4-FFF2-40B4-BE49-F238E27FC236}">
                <a16:creationId xmlns:a16="http://schemas.microsoft.com/office/drawing/2014/main" id="{D495C8B2-1885-4D21-86D0-2B14DD2A4FF8}"/>
              </a:ext>
            </a:extLst>
          </p:cNvPr>
          <p:cNvSpPr>
            <a:spLocks xmlns:a="http://schemas.openxmlformats.org/drawingml/2006/main" noGrp="1"/>
          </p:cNvSpPr>
          <p:nvPr/>
        </p:nvSpPr>
        <p:spPr>
          <a:xfrm xmlns:a="http://schemas.openxmlformats.org/drawingml/2006/main">
            <a:off x="933450" y="1762125"/>
            <a:ext cx="309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1">
                <a:solidFill>
                  <a:srgbClr val="276E6B"/>
                </a:solidFill>
                <a:latin typeface="Lexend"/>
                <a:ea typeface="Lexend"/>
                <a:cs typeface="Lexend"/>
              </a:defRPr>
            </a:pPr>
            <a:r>
              <a:rPr sz="1275" b="1">
                <a:solidFill>
                  <a:srgbClr val="276E6B"/>
                </a:solidFill>
                <a:latin typeface="Lexend"/>
                <a:ea typeface="Lexend"/>
                <a:cs typeface="Lexend"/>
              </a:rPr>
              <a:t>WHAT IT IS</a:t>
            </a:r>
          </a:p>
        </p:txBody>
      </p:sp>
      <p:sp>
        <p:nvSpPr>
          <p:cNvPr id="8" name="">
            <a:extLst xmlns:a="http://schemas.openxmlformats.org/drawingml/2006/main">
              <a:ext uri="{FF2B5EF4-FFF2-40B4-BE49-F238E27FC236}">
                <a16:creationId xmlns:a16="http://schemas.microsoft.com/office/drawing/2014/main" id="{85F2B7D5-F908-4428-8C7C-5D7B6FDC101B}"/>
              </a:ext>
            </a:extLst>
          </p:cNvPr>
          <p:cNvSpPr>
            <a:spLocks xmlns:a="http://schemas.openxmlformats.org/drawingml/2006/main" noGrp="1"/>
          </p:cNvSpPr>
          <p:nvPr/>
        </p:nvSpPr>
        <p:spPr>
          <a:xfrm xmlns:a="http://schemas.openxmlformats.org/drawingml/2006/main">
            <a:off x="933450" y="2133600"/>
            <a:ext cx="3095625" cy="1952625"/>
          </a:xfrm>
          <a:prstGeom xmlns:a="http://schemas.openxmlformats.org/drawingml/2006/main" prst="roundRect">
            <a:avLst>
              <a:gd name="adj" fmla="val 3902"/>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71450" tIns="76200" rIns="171450" bIns="76200" anchor="ctr">
            <a:normAutofit fontScale="100000"/>
          </a:bodyPr>
          <a:lstStyle xmlns:a="http://schemas.openxmlformats.org/drawingml/2006/main"/>
          <a:p xmlns:a="http://schemas.openxmlformats.org/drawingml/2006/main">
            <a:pPr algn="ctr">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 centralized web system for aggregate profiles, incident reports, verification, report history and editable SitRep drafts.</a:t>
            </a:r>
          </a:p>
        </p:txBody>
      </p:sp>
      <p:sp>
        <p:nvSpPr>
          <p:cNvPr id="9" name="">
            <a:extLst xmlns:a="http://schemas.openxmlformats.org/drawingml/2006/main">
              <a:ext uri="{FF2B5EF4-FFF2-40B4-BE49-F238E27FC236}">
                <a16:creationId xmlns:a16="http://schemas.microsoft.com/office/drawing/2014/main" id="{2C6A3E40-041B-4899-AEE7-FA63BE6D953D}"/>
              </a:ext>
            </a:extLst>
          </p:cNvPr>
          <p:cNvSpPr>
            <a:spLocks xmlns:a="http://schemas.openxmlformats.org/drawingml/2006/main" noGrp="1"/>
          </p:cNvSpPr>
          <p:nvPr/>
        </p:nvSpPr>
        <p:spPr>
          <a:xfrm xmlns:a="http://schemas.openxmlformats.org/drawingml/2006/main">
            <a:off x="4476750" y="1762125"/>
            <a:ext cx="309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1">
                <a:solidFill>
                  <a:srgbClr val="276E6B"/>
                </a:solidFill>
                <a:latin typeface="Lexend"/>
                <a:ea typeface="Lexend"/>
                <a:cs typeface="Lexend"/>
              </a:defRPr>
            </a:pPr>
            <a:r>
              <a:rPr sz="1275" b="1">
                <a:solidFill>
                  <a:srgbClr val="276E6B"/>
                </a:solidFill>
                <a:latin typeface="Lexend"/>
                <a:ea typeface="Lexend"/>
                <a:cs typeface="Lexend"/>
              </a:rPr>
              <a:t>WHY IT IS NEEDED</a:t>
            </a:r>
          </a:p>
        </p:txBody>
      </p:sp>
      <p:sp>
        <p:nvSpPr>
          <p:cNvPr id="10" name="">
            <a:extLst xmlns:a="http://schemas.openxmlformats.org/drawingml/2006/main">
              <a:ext uri="{FF2B5EF4-FFF2-40B4-BE49-F238E27FC236}">
                <a16:creationId xmlns:a16="http://schemas.microsoft.com/office/drawing/2014/main" id="{DE5B963D-66B0-4FDA-86B8-4FD012607A92}"/>
              </a:ext>
            </a:extLst>
          </p:cNvPr>
          <p:cNvSpPr>
            <a:spLocks xmlns:a="http://schemas.openxmlformats.org/drawingml/2006/main" noGrp="1"/>
          </p:cNvSpPr>
          <p:nvPr/>
        </p:nvSpPr>
        <p:spPr>
          <a:xfrm xmlns:a="http://schemas.openxmlformats.org/drawingml/2006/main">
            <a:off x="4476750" y="2133600"/>
            <a:ext cx="309562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71450" tIns="76200" rIns="171450" bIns="76200" anchor="ctr">
            <a:normAutofit fontScale="100000"/>
          </a:bodyPr>
          <a:lstStyle xmlns:a="http://schemas.openxmlformats.org/drawingml/2006/main"/>
          <a:p xmlns:a="http://schemas.openxmlformats.org/drawingml/2006/main">
            <a:pPr algn="ctr">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The paper identifies delays, manual record handling, limited data sharing and inefficient verification in the current workflow.</a:t>
            </a:r>
          </a:p>
        </p:txBody>
      </p:sp>
      <p:sp>
        <p:nvSpPr>
          <p:cNvPr id="11" name="">
            <a:extLst xmlns:a="http://schemas.openxmlformats.org/drawingml/2006/main">
              <a:ext uri="{FF2B5EF4-FFF2-40B4-BE49-F238E27FC236}">
                <a16:creationId xmlns:a16="http://schemas.microsoft.com/office/drawing/2014/main" id="{4B05FF3F-4B73-4B7C-97B2-6CE023B98B60}"/>
              </a:ext>
            </a:extLst>
          </p:cNvPr>
          <p:cNvSpPr>
            <a:spLocks xmlns:a="http://schemas.openxmlformats.org/drawingml/2006/main" noGrp="1"/>
          </p:cNvSpPr>
          <p:nvPr/>
        </p:nvSpPr>
        <p:spPr>
          <a:xfrm xmlns:a="http://schemas.openxmlformats.org/drawingml/2006/main">
            <a:off x="8020050" y="1762125"/>
            <a:ext cx="309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1">
                <a:solidFill>
                  <a:srgbClr val="276E6B"/>
                </a:solidFill>
                <a:latin typeface="Lexend"/>
                <a:ea typeface="Lexend"/>
                <a:cs typeface="Lexend"/>
              </a:defRPr>
            </a:pPr>
            <a:r>
              <a:rPr sz="1275" b="1">
                <a:solidFill>
                  <a:srgbClr val="276E6B"/>
                </a:solidFill>
                <a:latin typeface="Lexend"/>
                <a:ea typeface="Lexend"/>
                <a:cs typeface="Lexend"/>
              </a:rPr>
              <a:t>HOW IT WORKS</a:t>
            </a:r>
          </a:p>
        </p:txBody>
      </p:sp>
      <p:sp>
        <p:nvSpPr>
          <p:cNvPr id="12" name="">
            <a:extLst xmlns:a="http://schemas.openxmlformats.org/drawingml/2006/main">
              <a:ext uri="{FF2B5EF4-FFF2-40B4-BE49-F238E27FC236}">
                <a16:creationId xmlns:a16="http://schemas.microsoft.com/office/drawing/2014/main" id="{6CE40BFD-5F77-48B5-AC34-63542C6639C4}"/>
              </a:ext>
            </a:extLst>
          </p:cNvPr>
          <p:cNvSpPr>
            <a:spLocks xmlns:a="http://schemas.openxmlformats.org/drawingml/2006/main" noGrp="1"/>
          </p:cNvSpPr>
          <p:nvPr/>
        </p:nvSpPr>
        <p:spPr>
          <a:xfrm xmlns:a="http://schemas.openxmlformats.org/drawingml/2006/main">
            <a:off x="8020050" y="2133600"/>
            <a:ext cx="309562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71450" tIns="76200" rIns="171450" bIns="76200" anchor="ctr">
            <a:normAutofit fontScale="100000"/>
          </a:bodyPr>
          <a:lstStyle xmlns:a="http://schemas.openxmlformats.org/drawingml/2006/main"/>
          <a:p xmlns:a="http://schemas.openxmlformats.org/drawingml/2006/main">
            <a:pPr algn="ctr">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submits initial information. Barangay verifies and consolidates it. DRRM reviews verified reports and prepares the SitRep draft.</a:t>
            </a:r>
          </a:p>
        </p:txBody>
      </p:sp>
      <p:sp>
        <p:nvSpPr>
          <p:cNvPr id="13" name="">
            <a:extLst xmlns:a="http://schemas.openxmlformats.org/drawingml/2006/main">
              <a:ext uri="{FF2B5EF4-FFF2-40B4-BE49-F238E27FC236}">
                <a16:creationId xmlns:a16="http://schemas.microsoft.com/office/drawing/2014/main" id="{560347E3-D9CB-4C0D-B1EC-7022D9408413}"/>
              </a:ext>
            </a:extLst>
          </p:cNvPr>
          <p:cNvSpPr>
            <a:spLocks xmlns:a="http://schemas.openxmlformats.org/drawingml/2006/main" noGrp="1"/>
          </p:cNvSpPr>
          <p:nvPr/>
        </p:nvSpPr>
        <p:spPr>
          <a:xfrm xmlns:a="http://schemas.openxmlformats.org/drawingml/2006/main">
            <a:off x="1000125" y="4314825"/>
            <a:ext cx="1019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Verified records retain their source and version. Corrections return to the responsible level.</a:t>
            </a:r>
          </a:p>
        </p:txBody>
      </p:sp>
      <p:sp>
        <p:nvSpPr>
          <p:cNvPr id="14" name="">
            <a:extLst xmlns:a="http://schemas.openxmlformats.org/drawingml/2006/main">
              <a:ext uri="{FF2B5EF4-FFF2-40B4-BE49-F238E27FC236}">
                <a16:creationId xmlns:a16="http://schemas.microsoft.com/office/drawing/2014/main" id="{314835E3-0547-4D42-99F0-D81FFF16DEDE}"/>
              </a:ext>
            </a:extLst>
          </p:cNvPr>
          <p:cNvSpPr>
            <a:spLocks xmlns:a="http://schemas.openxmlformats.org/drawingml/2006/main" noGrp="1"/>
          </p:cNvSpPr>
          <p:nvPr/>
        </p:nvSpPr>
        <p:spPr>
          <a:xfrm xmlns:a="http://schemas.openxmlformats.org/drawingml/2006/main">
            <a:off x="2000250" y="4914900"/>
            <a:ext cx="81915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5" name="">
            <a:extLst xmlns:a="http://schemas.openxmlformats.org/drawingml/2006/main">
              <a:ext uri="{FF2B5EF4-FFF2-40B4-BE49-F238E27FC236}">
                <a16:creationId xmlns:a16="http://schemas.microsoft.com/office/drawing/2014/main" id="{8CEBA3FB-E01A-42B7-A748-30D4904350D9}"/>
              </a:ext>
            </a:extLst>
          </p:cNvPr>
          <p:cNvSpPr>
            <a:spLocks xmlns:a="http://schemas.openxmlformats.org/drawingml/2006/main" noGrp="1"/>
          </p:cNvSpPr>
          <p:nvPr/>
        </p:nvSpPr>
        <p:spPr>
          <a:xfrm xmlns:a="http://schemas.openxmlformats.org/drawingml/2006/main">
            <a:off x="1000125" y="5143500"/>
            <a:ext cx="1019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Human officials retain authority over factual review, approval and official release.</a:t>
            </a:r>
          </a:p>
        </p:txBody>
      </p:sp>
    </p:spTree>
    <p:extLst>
      <p:ext uri="{BB962C8B-B14F-4D97-AF65-F5344CB8AC3E}">
        <p14:creationId xmlns:p14="http://schemas.microsoft.com/office/powerpoint/2010/main" val="1337364988"/>
      </p:ext>
    </p:extLst>
  </p:cSld>
</p:sld>
</file>

<file path=ppt/slides/slide1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B2F1CEB-2149-42A1-ABB6-155E57D430ED}"/>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8EA8A5-E8AE-48E2-BCB1-58A28A3D0545}"/>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OBJECTIVES</a:t>
            </a:r>
          </a:p>
        </p:txBody>
      </p:sp>
      <p:sp>
        <p:nvSpPr>
          <p:cNvPr id="3" name="">
            <a:extLst xmlns:a="http://schemas.openxmlformats.org/drawingml/2006/main">
              <a:ext uri="{FF2B5EF4-FFF2-40B4-BE49-F238E27FC236}">
                <a16:creationId xmlns:a16="http://schemas.microsoft.com/office/drawing/2014/main" id="{51ADC8E7-1A69-4A1F-84FE-9AC953E382FB}"/>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objectives connect module development to evaluation</a:t>
            </a:r>
          </a:p>
        </p:txBody>
      </p:sp>
      <p:sp>
        <p:nvSpPr>
          <p:cNvPr id="4" name="">
            <a:extLst xmlns:a="http://schemas.openxmlformats.org/drawingml/2006/main">
              <a:ext uri="{FF2B5EF4-FFF2-40B4-BE49-F238E27FC236}">
                <a16:creationId xmlns:a16="http://schemas.microsoft.com/office/drawing/2014/main" id="{C2EF3406-C0FE-467C-B0DB-14DF804C0D0C}"/>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27777E6F-985F-4546-B470-B2C592C41E3E}"/>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General and Specific Objectives</a:t>
            </a:r>
          </a:p>
        </p:txBody>
      </p:sp>
      <p:sp>
        <p:nvSpPr>
          <p:cNvPr id="6" name="">
            <a:extLst xmlns:a="http://schemas.openxmlformats.org/drawingml/2006/main">
              <a:ext uri="{FF2B5EF4-FFF2-40B4-BE49-F238E27FC236}">
                <a16:creationId xmlns:a16="http://schemas.microsoft.com/office/drawing/2014/main" id="{D293E44F-4032-4140-BE27-512B5C8AF0A3}"/>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12</a:t>
            </a:r>
          </a:p>
        </p:txBody>
      </p:sp>
      <p:sp>
        <p:nvSpPr>
          <p:cNvPr id="7" name="">
            <a:extLst xmlns:a="http://schemas.openxmlformats.org/drawingml/2006/main">
              <a:ext uri="{FF2B5EF4-FFF2-40B4-BE49-F238E27FC236}">
                <a16:creationId xmlns:a16="http://schemas.microsoft.com/office/drawing/2014/main" id="{760CF10F-8987-4E30-AD44-E3FD54185177}"/>
              </a:ext>
            </a:extLst>
          </p:cNvPr>
          <p:cNvSpPr>
            <a:spLocks xmlns:a="http://schemas.openxmlformats.org/drawingml/2006/main" noGrp="1"/>
          </p:cNvSpPr>
          <p:nvPr/>
        </p:nvSpPr>
        <p:spPr>
          <a:xfrm xmlns:a="http://schemas.openxmlformats.org/drawingml/2006/main">
            <a:off x="933450" y="1381125"/>
            <a:ext cx="10287000" cy="12382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BFF1CCC-D760-45AC-AED4-B7FA76C5F232}"/>
              </a:ext>
            </a:extLst>
          </p:cNvPr>
          <p:cNvSpPr>
            <a:spLocks xmlns:a="http://schemas.openxmlformats.org/drawingml/2006/main" noGrp="1"/>
          </p:cNvSpPr>
          <p:nvPr/>
        </p:nvSpPr>
        <p:spPr>
          <a:xfrm xmlns:a="http://schemas.openxmlformats.org/drawingml/2006/main">
            <a:off x="1181100" y="1552575"/>
            <a:ext cx="2524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D8E9E6"/>
                </a:solidFill>
                <a:latin typeface="Lexend"/>
                <a:ea typeface="Lexend"/>
                <a:cs typeface="Lexend"/>
              </a:defRPr>
            </a:pPr>
            <a:r>
              <a:rPr sz="1200" b="1">
                <a:solidFill>
                  <a:srgbClr val="D8E9E6"/>
                </a:solidFill>
                <a:latin typeface="Lexend"/>
                <a:ea typeface="Lexend"/>
                <a:cs typeface="Lexend"/>
              </a:rPr>
              <a:t>GENERAL OBJECTIVE</a:t>
            </a:r>
          </a:p>
        </p:txBody>
      </p:sp>
      <p:sp>
        <p:nvSpPr>
          <p:cNvPr id="9" name="">
            <a:extLst xmlns:a="http://schemas.openxmlformats.org/drawingml/2006/main">
              <a:ext uri="{FF2B5EF4-FFF2-40B4-BE49-F238E27FC236}">
                <a16:creationId xmlns:a16="http://schemas.microsoft.com/office/drawing/2014/main" id="{BBDA468A-CE01-4291-A695-E907DB19024F}"/>
              </a:ext>
            </a:extLst>
          </p:cNvPr>
          <p:cNvSpPr>
            <a:spLocks xmlns:a="http://schemas.openxmlformats.org/drawingml/2006/main" noGrp="1"/>
          </p:cNvSpPr>
          <p:nvPr/>
        </p:nvSpPr>
        <p:spPr>
          <a:xfrm xmlns:a="http://schemas.openxmlformats.org/drawingml/2006/main">
            <a:off x="1181100" y="1885950"/>
            <a:ext cx="9677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650" b="1">
                <a:solidFill>
                  <a:srgbClr val="FFFFFF"/>
                </a:solidFill>
                <a:latin typeface="Source Sans 3"/>
                <a:ea typeface="Source Sans 3"/>
                <a:cs typeface="Source Sans 3"/>
              </a:defRPr>
            </a:pPr>
            <a:r>
              <a:rPr sz="1650" b="1">
                <a:solidFill>
                  <a:srgbClr val="FFFFFF"/>
                </a:solidFill>
                <a:latin typeface="Source Sans 3"/>
                <a:ea typeface="Source Sans 3"/>
                <a:cs typeface="Source Sans 3"/>
              </a:rPr>
              <a:t>Design, develop and evaluate a centralized, role-based online system for grassroots incident reporting and NDRRMC SitRep consolidation.</a:t>
            </a:r>
          </a:p>
        </p:txBody>
      </p:sp>
      <p:sp>
        <p:nvSpPr>
          <p:cNvPr id="10" name="">
            <a:extLst xmlns:a="http://schemas.openxmlformats.org/drawingml/2006/main">
              <a:ext uri="{FF2B5EF4-FFF2-40B4-BE49-F238E27FC236}">
                <a16:creationId xmlns:a16="http://schemas.microsoft.com/office/drawing/2014/main" id="{7B9A6FE1-8745-45F4-9BB3-7C7DB597EFE1}"/>
              </a:ext>
            </a:extLst>
          </p:cNvPr>
          <p:cNvSpPr>
            <a:spLocks xmlns:a="http://schemas.openxmlformats.org/drawingml/2006/main" noGrp="1"/>
          </p:cNvSpPr>
          <p:nvPr/>
        </p:nvSpPr>
        <p:spPr>
          <a:xfrm xmlns:a="http://schemas.openxmlformats.org/drawingml/2006/main">
            <a:off x="952500" y="2924175"/>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Build</a:t>
            </a:r>
          </a:p>
        </p:txBody>
      </p:sp>
      <p:sp>
        <p:nvSpPr>
          <p:cNvPr id="11" name="">
            <a:extLst xmlns:a="http://schemas.openxmlformats.org/drawingml/2006/main">
              <a:ext uri="{FF2B5EF4-FFF2-40B4-BE49-F238E27FC236}">
                <a16:creationId xmlns:a16="http://schemas.microsoft.com/office/drawing/2014/main" id="{D5538E0C-BD96-48E9-91ED-001B2734C7D7}"/>
              </a:ext>
            </a:extLst>
          </p:cNvPr>
          <p:cNvSpPr>
            <a:spLocks xmlns:a="http://schemas.openxmlformats.org/drawingml/2006/main" noGrp="1"/>
          </p:cNvSpPr>
          <p:nvPr/>
        </p:nvSpPr>
        <p:spPr>
          <a:xfrm xmlns:a="http://schemas.openxmlformats.org/drawingml/2006/main">
            <a:off x="2743200" y="2924175"/>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17 distinct modules for account administration, profiles, incident reporting, verification, histories, hazards, dashboard and SitRep.</a:t>
            </a:r>
          </a:p>
        </p:txBody>
      </p:sp>
      <p:sp>
        <p:nvSpPr>
          <p:cNvPr id="12" name="">
            <a:extLst xmlns:a="http://schemas.openxmlformats.org/drawingml/2006/main">
              <a:ext uri="{FF2B5EF4-FFF2-40B4-BE49-F238E27FC236}">
                <a16:creationId xmlns:a16="http://schemas.microsoft.com/office/drawing/2014/main" id="{73A30A87-98E0-49A1-8E01-2D225B8E403B}"/>
              </a:ext>
            </a:extLst>
          </p:cNvPr>
          <p:cNvSpPr>
            <a:spLocks xmlns:a="http://schemas.openxmlformats.org/drawingml/2006/main" noGrp="1"/>
          </p:cNvSpPr>
          <p:nvPr/>
        </p:nvSpPr>
        <p:spPr>
          <a:xfrm xmlns:a="http://schemas.openxmlformats.org/drawingml/2006/main">
            <a:off x="952500" y="3562350"/>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Preserve</a:t>
            </a:r>
          </a:p>
        </p:txBody>
      </p:sp>
      <p:sp>
        <p:nvSpPr>
          <p:cNvPr id="13" name="">
            <a:extLst xmlns:a="http://schemas.openxmlformats.org/drawingml/2006/main">
              <a:ext uri="{FF2B5EF4-FFF2-40B4-BE49-F238E27FC236}">
                <a16:creationId xmlns:a16="http://schemas.microsoft.com/office/drawing/2014/main" id="{F1E0B0D2-2653-466A-B927-D6EA8085A69C}"/>
              </a:ext>
            </a:extLst>
          </p:cNvPr>
          <p:cNvSpPr>
            <a:spLocks xmlns:a="http://schemas.openxmlformats.org/drawingml/2006/main" noGrp="1"/>
          </p:cNvSpPr>
          <p:nvPr/>
        </p:nvSpPr>
        <p:spPr>
          <a:xfrm xmlns:a="http://schemas.openxmlformats.org/drawingml/2006/main">
            <a:off x="2743200" y="3562350"/>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required fields, jurisdiction, provenance, decisions, correction history and report versions.</a:t>
            </a:r>
          </a:p>
        </p:txBody>
      </p:sp>
      <p:sp>
        <p:nvSpPr>
          <p:cNvPr id="14" name="">
            <a:extLst xmlns:a="http://schemas.openxmlformats.org/drawingml/2006/main">
              <a:ext uri="{FF2B5EF4-FFF2-40B4-BE49-F238E27FC236}">
                <a16:creationId xmlns:a16="http://schemas.microsoft.com/office/drawing/2014/main" id="{48853184-3C07-4EFC-9E3B-1099186CA7A9}"/>
              </a:ext>
            </a:extLst>
          </p:cNvPr>
          <p:cNvSpPr>
            <a:spLocks xmlns:a="http://schemas.openxmlformats.org/drawingml/2006/main" noGrp="1"/>
          </p:cNvSpPr>
          <p:nvPr/>
        </p:nvSpPr>
        <p:spPr>
          <a:xfrm xmlns:a="http://schemas.openxmlformats.org/drawingml/2006/main">
            <a:off x="952500" y="4200525"/>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Consolidate</a:t>
            </a:r>
          </a:p>
        </p:txBody>
      </p:sp>
      <p:sp>
        <p:nvSpPr>
          <p:cNvPr id="15" name="">
            <a:extLst xmlns:a="http://schemas.openxmlformats.org/drawingml/2006/main">
              <a:ext uri="{FF2B5EF4-FFF2-40B4-BE49-F238E27FC236}">
                <a16:creationId xmlns:a16="http://schemas.microsoft.com/office/drawing/2014/main" id="{D0B23161-A765-4595-ACE1-430A6C7EE7E6}"/>
              </a:ext>
            </a:extLst>
          </p:cNvPr>
          <p:cNvSpPr>
            <a:spLocks xmlns:a="http://schemas.openxmlformats.org/drawingml/2006/main" noGrp="1"/>
          </p:cNvSpPr>
          <p:nvPr/>
        </p:nvSpPr>
        <p:spPr>
          <a:xfrm xmlns:a="http://schemas.openxmlformats.org/drawingml/2006/main">
            <a:off x="2743200" y="4200525"/>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verified Barangay incident reports into editable, template-based Situation Report drafts.</a:t>
            </a:r>
          </a:p>
        </p:txBody>
      </p:sp>
      <p:sp>
        <p:nvSpPr>
          <p:cNvPr id="16" name="">
            <a:extLst xmlns:a="http://schemas.openxmlformats.org/drawingml/2006/main">
              <a:ext uri="{FF2B5EF4-FFF2-40B4-BE49-F238E27FC236}">
                <a16:creationId xmlns:a16="http://schemas.microsoft.com/office/drawing/2014/main" id="{2F4C5364-F7CC-403D-BE60-D5109925DA1B}"/>
              </a:ext>
            </a:extLst>
          </p:cNvPr>
          <p:cNvSpPr>
            <a:spLocks xmlns:a="http://schemas.openxmlformats.org/drawingml/2006/main" noGrp="1"/>
          </p:cNvSpPr>
          <p:nvPr/>
        </p:nvSpPr>
        <p:spPr>
          <a:xfrm xmlns:a="http://schemas.openxmlformats.org/drawingml/2006/main">
            <a:off x="952500" y="4838700"/>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Evaluate</a:t>
            </a:r>
          </a:p>
        </p:txBody>
      </p:sp>
      <p:sp>
        <p:nvSpPr>
          <p:cNvPr id="17" name="">
            <a:extLst xmlns:a="http://schemas.openxmlformats.org/drawingml/2006/main">
              <a:ext uri="{FF2B5EF4-FFF2-40B4-BE49-F238E27FC236}">
                <a16:creationId xmlns:a16="http://schemas.microsoft.com/office/drawing/2014/main" id="{8E0D4E55-FCD1-4475-B391-4622FB3F509C}"/>
              </a:ext>
            </a:extLst>
          </p:cNvPr>
          <p:cNvSpPr>
            <a:spLocks xmlns:a="http://schemas.openxmlformats.org/drawingml/2006/main" noGrp="1"/>
          </p:cNvSpPr>
          <p:nvPr/>
        </p:nvSpPr>
        <p:spPr>
          <a:xfrm xmlns:a="http://schemas.openxmlformats.org/drawingml/2006/main">
            <a:off x="2743200" y="4838700"/>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functionality, integration, security, responsive behavior, acceptance and usability.</a:t>
            </a:r>
          </a:p>
        </p:txBody>
      </p:sp>
      <p:sp>
        <p:nvSpPr>
          <p:cNvPr id="18" name="">
            <a:extLst xmlns:a="http://schemas.openxmlformats.org/drawingml/2006/main">
              <a:ext uri="{FF2B5EF4-FFF2-40B4-BE49-F238E27FC236}">
                <a16:creationId xmlns:a16="http://schemas.microsoft.com/office/drawing/2014/main" id="{64136498-6AB5-436D-AB28-8771C3162F35}"/>
              </a:ext>
            </a:extLst>
          </p:cNvPr>
          <p:cNvSpPr>
            <a:spLocks xmlns:a="http://schemas.openxmlformats.org/drawingml/2006/main" noGrp="1"/>
          </p:cNvSpPr>
          <p:nvPr/>
        </p:nvSpPr>
        <p:spPr>
          <a:xfrm xmlns:a="http://schemas.openxmlformats.org/drawingml/2006/main">
            <a:off x="952500" y="55816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A9782A"/>
                </a:solidFill>
                <a:latin typeface="Source Sans 3"/>
                <a:ea typeface="Source Sans 3"/>
                <a:cs typeface="Source Sans 3"/>
              </a:defRPr>
            </a:pPr>
            <a:r>
              <a:rPr sz="1350" b="1">
                <a:solidFill>
                  <a:srgbClr val="A9782A"/>
                </a:solidFill>
                <a:latin typeface="Source Sans 3"/>
                <a:ea typeface="Source Sans 3"/>
                <a:cs typeface="Source Sans 3"/>
              </a:rPr>
              <a:t>Targets in the manuscript are planned acceptance criteria, not results.</a:t>
            </a:r>
          </a:p>
        </p:txBody>
      </p:sp>
    </p:spTree>
    <p:extLst>
      <p:ext uri="{BB962C8B-B14F-4D97-AF65-F5344CB8AC3E}">
        <p14:creationId xmlns:p14="http://schemas.microsoft.com/office/powerpoint/2010/main" val="518299077"/>
      </p:ext>
    </p:extLst>
  </p:cSld>
</p:sld>
</file>

<file path=ppt/slides/slide1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293F4E1-DE20-4B77-B34B-2CD9B6119764}"/>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C63789-757F-4611-86F2-8888901D5D46}"/>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FLOWCHART</a:t>
            </a:r>
          </a:p>
        </p:txBody>
      </p:sp>
      <p:sp>
        <p:nvSpPr>
          <p:cNvPr id="3" name="">
            <a:extLst xmlns:a="http://schemas.openxmlformats.org/drawingml/2006/main">
              <a:ext uri="{FF2B5EF4-FFF2-40B4-BE49-F238E27FC236}">
                <a16:creationId xmlns:a16="http://schemas.microsoft.com/office/drawing/2014/main" id="{AB2B92D8-378B-475D-9381-507B69E5A6DF}"/>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Review gates govern upward reporting</a:t>
            </a:r>
          </a:p>
        </p:txBody>
      </p:sp>
      <p:sp>
        <p:nvSpPr>
          <p:cNvPr id="4" name="">
            <a:extLst xmlns:a="http://schemas.openxmlformats.org/drawingml/2006/main">
              <a:ext uri="{FF2B5EF4-FFF2-40B4-BE49-F238E27FC236}">
                <a16:creationId xmlns:a16="http://schemas.microsoft.com/office/drawing/2014/main" id="{999C345F-28A5-4694-882E-CAF2718E64F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DA55E9C-E7B0-40C7-AA91-F0D27306B085}"/>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 and module flowcharts</a:t>
            </a:r>
          </a:p>
        </p:txBody>
      </p:sp>
      <p:sp>
        <p:nvSpPr>
          <p:cNvPr id="6" name="">
            <a:extLst xmlns:a="http://schemas.openxmlformats.org/drawingml/2006/main">
              <a:ext uri="{FF2B5EF4-FFF2-40B4-BE49-F238E27FC236}">
                <a16:creationId xmlns:a16="http://schemas.microsoft.com/office/drawing/2014/main" id="{1D99A071-80AB-423B-B00C-04DC32BE8B2B}"/>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13</a:t>
            </a:r>
          </a:p>
        </p:txBody>
      </p:sp>
      <p:sp>
        <p:nvSpPr>
          <p:cNvPr id="7" name="">
            <a:extLst xmlns:a="http://schemas.openxmlformats.org/drawingml/2006/main">
              <a:ext uri="{FF2B5EF4-FFF2-40B4-BE49-F238E27FC236}">
                <a16:creationId xmlns:a16="http://schemas.microsoft.com/office/drawing/2014/main" id="{42390AF9-B000-4DB9-9706-F1D264EFF71F}"/>
              </a:ext>
            </a:extLst>
          </p:cNvPr>
          <p:cNvSpPr>
            <a:spLocks xmlns:a="http://schemas.openxmlformats.org/drawingml/2006/main" noGrp="1"/>
          </p:cNvSpPr>
          <p:nvPr/>
        </p:nvSpPr>
        <p:spPr>
          <a:xfrm xmlns:a="http://schemas.openxmlformats.org/drawingml/2006/main">
            <a:off x="4572000" y="1257300"/>
            <a:ext cx="2857500" cy="495300"/>
          </a:xfrm>
          <a:prstGeom xmlns:a="http://schemas.openxmlformats.org/drawingml/2006/main" prst="ellipse">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93031"/>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Sign in with issued account</a:t>
            </a:r>
          </a:p>
        </p:txBody>
      </p:sp>
      <p:sp>
        <p:nvSpPr>
          <p:cNvPr id="8" name="">
            <a:extLst xmlns:a="http://schemas.openxmlformats.org/drawingml/2006/main">
              <a:ext uri="{FF2B5EF4-FFF2-40B4-BE49-F238E27FC236}">
                <a16:creationId xmlns:a16="http://schemas.microsoft.com/office/drawing/2014/main" id="{BF5EBF5F-70DD-4304-A1AA-71634E5C6BCF}"/>
              </a:ext>
            </a:extLst>
          </p:cNvPr>
          <p:cNvSpPr>
            <a:spLocks xmlns:a="http://schemas.openxmlformats.org/drawingml/2006/main" noGrp="1"/>
          </p:cNvSpPr>
          <p:nvPr/>
        </p:nvSpPr>
        <p:spPr>
          <a:xfrm xmlns:a="http://schemas.openxmlformats.org/drawingml/2006/main">
            <a:off x="857250" y="2247900"/>
            <a:ext cx="2190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Purok submits</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profile or initial report</a:t>
            </a:r>
          </a:p>
        </p:txBody>
      </p:sp>
      <p:sp>
        <p:nvSpPr>
          <p:cNvPr id="9" name="">
            <a:extLst xmlns:a="http://schemas.openxmlformats.org/drawingml/2006/main">
              <a:ext uri="{FF2B5EF4-FFF2-40B4-BE49-F238E27FC236}">
                <a16:creationId xmlns:a16="http://schemas.microsoft.com/office/drawing/2014/main" id="{26B6466B-BED9-42D6-8EB6-8575CA92EAC5}"/>
              </a:ext>
            </a:extLst>
          </p:cNvPr>
          <p:cNvSpPr>
            <a:spLocks xmlns:a="http://schemas.openxmlformats.org/drawingml/2006/main" noGrp="1"/>
          </p:cNvSpPr>
          <p:nvPr/>
        </p:nvSpPr>
        <p:spPr>
          <a:xfrm xmlns:a="http://schemas.openxmlformats.org/drawingml/2006/main">
            <a:off x="3667125" y="2247900"/>
            <a:ext cx="2095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Barangay verifies</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Purok submission</a:t>
            </a:r>
          </a:p>
        </p:txBody>
      </p:sp>
      <p:sp>
        <p:nvSpPr>
          <p:cNvPr id="10" name="">
            <a:extLst xmlns:a="http://schemas.openxmlformats.org/drawingml/2006/main">
              <a:ext uri="{FF2B5EF4-FFF2-40B4-BE49-F238E27FC236}">
                <a16:creationId xmlns:a16="http://schemas.microsoft.com/office/drawing/2014/main" id="{CAF770A5-0A66-408C-8F76-21B227F2AC24}"/>
              </a:ext>
            </a:extLst>
          </p:cNvPr>
          <p:cNvSpPr>
            <a:spLocks xmlns:a="http://schemas.openxmlformats.org/drawingml/2006/main" noGrp="1"/>
          </p:cNvSpPr>
          <p:nvPr/>
        </p:nvSpPr>
        <p:spPr>
          <a:xfrm xmlns:a="http://schemas.openxmlformats.org/drawingml/2006/main">
            <a:off x="6334125" y="2247900"/>
            <a:ext cx="1219200" cy="838200"/>
          </a:xfrm>
          <a:prstGeom xmlns:a="http://schemas.openxmlformats.org/drawingml/2006/main" prst="diamond">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47625" tIns="76200" rIns="47625" bIns="76200" anchor="ctr">
            <a:normAutofit fontScale="69603"/>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Accepted?</a:t>
            </a:r>
          </a:p>
        </p:txBody>
      </p:sp>
      <p:sp>
        <p:nvSpPr>
          <p:cNvPr id="11" name="">
            <a:extLst xmlns:a="http://schemas.openxmlformats.org/drawingml/2006/main">
              <a:ext uri="{FF2B5EF4-FFF2-40B4-BE49-F238E27FC236}">
                <a16:creationId xmlns:a16="http://schemas.microsoft.com/office/drawing/2014/main" id="{664D0B7E-7E4B-4657-A5BB-EE0DE067B9F1}"/>
              </a:ext>
            </a:extLst>
          </p:cNvPr>
          <p:cNvSpPr>
            <a:spLocks xmlns:a="http://schemas.openxmlformats.org/drawingml/2006/main" noGrp="1"/>
          </p:cNvSpPr>
          <p:nvPr/>
        </p:nvSpPr>
        <p:spPr>
          <a:xfrm xmlns:a="http://schemas.openxmlformats.org/drawingml/2006/main">
            <a:off x="8134350" y="3429000"/>
            <a:ext cx="1809750" cy="723900"/>
          </a:xfrm>
          <a:prstGeom xmlns:a="http://schemas.openxmlformats.org/drawingml/2006/main" prst="roundRect">
            <a:avLst>
              <a:gd name="adj" fmla="val 10526"/>
            </a:avLst>
          </a:prstGeom>
          <a:solidFill xmlns:a="http://schemas.openxmlformats.org/drawingml/2006/main">
            <a:srgbClr val="F3EBDD"/>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Return to Purok</a:t>
            </a:r>
          </a:p>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with reason</a:t>
            </a:r>
          </a:p>
        </p:txBody>
      </p:sp>
      <p:sp>
        <p:nvSpPr>
          <p:cNvPr id="12" name="">
            <a:extLst xmlns:a="http://schemas.openxmlformats.org/drawingml/2006/main">
              <a:ext uri="{FF2B5EF4-FFF2-40B4-BE49-F238E27FC236}">
                <a16:creationId xmlns:a16="http://schemas.microsoft.com/office/drawing/2014/main" id="{0BEFD455-5BB6-40F5-A569-37BEAF595241}"/>
              </a:ext>
            </a:extLst>
          </p:cNvPr>
          <p:cNvSpPr>
            <a:spLocks xmlns:a="http://schemas.openxmlformats.org/drawingml/2006/main" noGrp="1"/>
          </p:cNvSpPr>
          <p:nvPr/>
        </p:nvSpPr>
        <p:spPr>
          <a:xfrm xmlns:a="http://schemas.openxmlformats.org/drawingml/2006/main">
            <a:off x="8239125" y="2247900"/>
            <a:ext cx="1809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Barangay consolidates</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verified Purok data</a:t>
            </a:r>
          </a:p>
        </p:txBody>
      </p:sp>
      <p:sp>
        <p:nvSpPr>
          <p:cNvPr id="13" name="">
            <a:extLst xmlns:a="http://schemas.openxmlformats.org/drawingml/2006/main">
              <a:ext uri="{FF2B5EF4-FFF2-40B4-BE49-F238E27FC236}">
                <a16:creationId xmlns:a16="http://schemas.microsoft.com/office/drawing/2014/main" id="{18429B4F-19B3-4C5A-8D33-4B106B9E8BFB}"/>
              </a:ext>
            </a:extLst>
          </p:cNvPr>
          <p:cNvSpPr>
            <a:spLocks xmlns:a="http://schemas.openxmlformats.org/drawingml/2006/main" noGrp="1"/>
          </p:cNvSpPr>
          <p:nvPr/>
        </p:nvSpPr>
        <p:spPr>
          <a:xfrm xmlns:a="http://schemas.openxmlformats.org/drawingml/2006/main">
            <a:off x="1028700" y="4324350"/>
            <a:ext cx="2190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DRRM Administrator</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verifies Barangay report</a:t>
            </a:r>
          </a:p>
        </p:txBody>
      </p:sp>
      <p:sp>
        <p:nvSpPr>
          <p:cNvPr id="14" name="">
            <a:extLst xmlns:a="http://schemas.openxmlformats.org/drawingml/2006/main">
              <a:ext uri="{FF2B5EF4-FFF2-40B4-BE49-F238E27FC236}">
                <a16:creationId xmlns:a16="http://schemas.microsoft.com/office/drawing/2014/main" id="{B678C9AB-E728-4844-83E8-7277E7130B7A}"/>
              </a:ext>
            </a:extLst>
          </p:cNvPr>
          <p:cNvSpPr>
            <a:spLocks xmlns:a="http://schemas.openxmlformats.org/drawingml/2006/main" noGrp="1"/>
          </p:cNvSpPr>
          <p:nvPr/>
        </p:nvSpPr>
        <p:spPr>
          <a:xfrm xmlns:a="http://schemas.openxmlformats.org/drawingml/2006/main">
            <a:off x="4171950" y="4324350"/>
            <a:ext cx="1219200" cy="838200"/>
          </a:xfrm>
          <a:prstGeom xmlns:a="http://schemas.openxmlformats.org/drawingml/2006/main" prst="diamond">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47625" tIns="76200" rIns="47625" bIns="76200" anchor="ctr">
            <a:normAutofit fontScale="69603"/>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Accepted?</a:t>
            </a:r>
          </a:p>
        </p:txBody>
      </p:sp>
      <p:sp>
        <p:nvSpPr>
          <p:cNvPr id="15" name="">
            <a:extLst xmlns:a="http://schemas.openxmlformats.org/drawingml/2006/main">
              <a:ext uri="{FF2B5EF4-FFF2-40B4-BE49-F238E27FC236}">
                <a16:creationId xmlns:a16="http://schemas.microsoft.com/office/drawing/2014/main" id="{FFC7DD93-BFA0-4D45-99A5-CB385539650C}"/>
              </a:ext>
            </a:extLst>
          </p:cNvPr>
          <p:cNvSpPr>
            <a:spLocks xmlns:a="http://schemas.openxmlformats.org/drawingml/2006/main" noGrp="1"/>
          </p:cNvSpPr>
          <p:nvPr/>
        </p:nvSpPr>
        <p:spPr>
          <a:xfrm xmlns:a="http://schemas.openxmlformats.org/drawingml/2006/main">
            <a:off x="5953125" y="5191125"/>
            <a:ext cx="1809750" cy="647700"/>
          </a:xfrm>
          <a:prstGeom xmlns:a="http://schemas.openxmlformats.org/drawingml/2006/main" prst="roundRect">
            <a:avLst>
              <a:gd name="adj" fmla="val 11765"/>
            </a:avLst>
          </a:prstGeom>
          <a:solidFill xmlns:a="http://schemas.openxmlformats.org/drawingml/2006/main">
            <a:srgbClr val="F3EBDD"/>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Return to Barangay</a:t>
            </a:r>
          </a:p>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with reason</a:t>
            </a:r>
          </a:p>
        </p:txBody>
      </p:sp>
      <p:sp>
        <p:nvSpPr>
          <p:cNvPr id="16" name="">
            <a:extLst xmlns:a="http://schemas.openxmlformats.org/drawingml/2006/main">
              <a:ext uri="{FF2B5EF4-FFF2-40B4-BE49-F238E27FC236}">
                <a16:creationId xmlns:a16="http://schemas.microsoft.com/office/drawing/2014/main" id="{4B13B5A7-F3E5-4696-AE8A-288B94718157}"/>
              </a:ext>
            </a:extLst>
          </p:cNvPr>
          <p:cNvSpPr>
            <a:spLocks xmlns:a="http://schemas.openxmlformats.org/drawingml/2006/main" noGrp="1"/>
          </p:cNvSpPr>
          <p:nvPr/>
        </p:nvSpPr>
        <p:spPr>
          <a:xfrm xmlns:a="http://schemas.openxmlformats.org/drawingml/2006/main">
            <a:off x="6667500" y="4324350"/>
            <a:ext cx="1809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Prepare and edit</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SitRep draft</a:t>
            </a:r>
          </a:p>
        </p:txBody>
      </p:sp>
      <p:sp>
        <p:nvSpPr>
          <p:cNvPr id="17" name="">
            <a:extLst xmlns:a="http://schemas.openxmlformats.org/drawingml/2006/main">
              <a:ext uri="{FF2B5EF4-FFF2-40B4-BE49-F238E27FC236}">
                <a16:creationId xmlns:a16="http://schemas.microsoft.com/office/drawing/2014/main" id="{57549A12-FD50-4182-9CDC-6A1315CC2D8B}"/>
              </a:ext>
            </a:extLst>
          </p:cNvPr>
          <p:cNvSpPr>
            <a:spLocks xmlns:a="http://schemas.openxmlformats.org/drawingml/2006/main" noGrp="1"/>
          </p:cNvSpPr>
          <p:nvPr/>
        </p:nvSpPr>
        <p:spPr>
          <a:xfrm xmlns:a="http://schemas.openxmlformats.org/drawingml/2006/main">
            <a:off x="9239250" y="4324350"/>
            <a:ext cx="2143125" cy="838200"/>
          </a:xfrm>
          <a:prstGeom xmlns:a="http://schemas.openxmlformats.org/drawingml/2006/main" prst="roundRect">
            <a:avLst>
              <a:gd name="adj" fmla="val 9091"/>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Authorized review,</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approval and export</a:t>
            </a:r>
          </a:p>
        </p:txBody>
      </p:sp>
      <p:cxnSp>
        <p:nvCxnSpPr>
          <p:cNvPr id="49" name=""/>
          <p:cNvCxnSpPr>
            <a:stCxn xmlns:a="http://schemas.openxmlformats.org/drawingml/2006/main" id="7" idx="4"/>
            <a:endCxn xmlns:a="http://schemas.openxmlformats.org/drawingml/2006/main" id="8" idx="0"/>
          </p:cNvCxnSpPr>
          <p:nvPr/>
        </p:nvCxnSpPr>
        <p:spPr>
          <a:xfrm xmlns:a="http://schemas.openxmlformats.org/drawingml/2006/main" flipH="1">
            <a:off x="1952625" y="1752600"/>
            <a:ext cx="4048125" cy="495300"/>
          </a:xfrm>
          <a:prstGeom xmlns:a="http://schemas.openxmlformats.org/drawingml/2006/main" prst="bentConnector4">
            <a:avLst>
              <a:gd name="adj1" fmla="val 0"/>
              <a:gd name="adj2" fmla="val 50000"/>
            </a:avLst>
          </a:prstGeom>
          <a:ln xmlns:a="http://schemas.openxmlformats.org/drawingml/2006/main" w="19050">
            <a:solidFill>
              <a:srgbClr val="276E6B"/>
            </a:solidFill>
            <a:prstDash val="solid"/>
            <a:tailEnd type="arrow" w="sm" len="sm"/>
          </a:ln>
        </p:spPr>
      </p:cxnSp>
      <p:cxnSp>
        <p:nvCxnSpPr>
          <p:cNvPr id="50" name=""/>
          <p:cNvCxnSpPr>
            <a:stCxn xmlns:a="http://schemas.openxmlformats.org/drawingml/2006/main" id="8" idx="3"/>
            <a:endCxn xmlns:a="http://schemas.openxmlformats.org/drawingml/2006/main" id="9" idx="1"/>
          </p:cNvCxnSpPr>
          <p:nvPr/>
        </p:nvCxnSpPr>
        <p:spPr>
          <a:xfrm xmlns:a="http://schemas.openxmlformats.org/drawingml/2006/main">
            <a:off x="3048000" y="2667000"/>
            <a:ext cx="61912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1" name=""/>
          <p:cNvCxnSpPr>
            <a:stCxn xmlns:a="http://schemas.openxmlformats.org/drawingml/2006/main" id="9" idx="3"/>
            <a:endCxn xmlns:a="http://schemas.openxmlformats.org/drawingml/2006/main" id="10" idx="1"/>
          </p:cNvCxnSpPr>
          <p:nvPr/>
        </p:nvCxnSpPr>
        <p:spPr>
          <a:xfrm xmlns:a="http://schemas.openxmlformats.org/drawingml/2006/main">
            <a:off x="5762625" y="2667000"/>
            <a:ext cx="57150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2" name=""/>
          <p:cNvCxnSpPr>
            <a:stCxn xmlns:a="http://schemas.openxmlformats.org/drawingml/2006/main" id="10" idx="3"/>
            <a:endCxn xmlns:a="http://schemas.openxmlformats.org/drawingml/2006/main" id="12" idx="1"/>
          </p:cNvCxnSpPr>
          <p:nvPr/>
        </p:nvCxnSpPr>
        <p:spPr>
          <a:xfrm xmlns:a="http://schemas.openxmlformats.org/drawingml/2006/main">
            <a:off x="7553325" y="2667000"/>
            <a:ext cx="68580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3" name=""/>
          <p:cNvCxnSpPr>
            <a:stCxn xmlns:a="http://schemas.openxmlformats.org/drawingml/2006/main" id="10" idx="2"/>
            <a:endCxn xmlns:a="http://schemas.openxmlformats.org/drawingml/2006/main" id="11" idx="0"/>
          </p:cNvCxnSpPr>
          <p:nvPr/>
        </p:nvCxnSpPr>
        <p:spPr>
          <a:xfrm xmlns:a="http://schemas.openxmlformats.org/drawingml/2006/main">
            <a:off x="6943725" y="3086100"/>
            <a:ext cx="2095500" cy="342900"/>
          </a:xfrm>
          <a:prstGeom xmlns:a="http://schemas.openxmlformats.org/drawingml/2006/main" prst="bentConnector4">
            <a:avLst>
              <a:gd name="adj1" fmla="val 0"/>
              <a:gd name="adj2" fmla="val 50000"/>
            </a:avLst>
          </a:prstGeom>
          <a:ln xmlns:a="http://schemas.openxmlformats.org/drawingml/2006/main" w="19050">
            <a:solidFill>
              <a:srgbClr val="A9782A"/>
            </a:solidFill>
            <a:prstDash val="solid"/>
            <a:tailEnd type="arrow" w="sm" len="sm"/>
          </a:ln>
        </p:spPr>
      </p:cxnSp>
      <p:cxnSp>
        <p:nvCxnSpPr>
          <p:cNvPr id="54" name=""/>
          <p:cNvCxnSpPr>
            <a:stCxn xmlns:a="http://schemas.openxmlformats.org/drawingml/2006/main" id="12" idx="2"/>
            <a:endCxn xmlns:a="http://schemas.openxmlformats.org/drawingml/2006/main" id="13" idx="0"/>
          </p:cNvCxnSpPr>
          <p:nvPr/>
        </p:nvCxnSpPr>
        <p:spPr>
          <a:xfrm xmlns:a="http://schemas.openxmlformats.org/drawingml/2006/main" flipH="1">
            <a:off x="2124075" y="3086100"/>
            <a:ext cx="7019925" cy="1238250"/>
          </a:xfrm>
          <a:prstGeom xmlns:a="http://schemas.openxmlformats.org/drawingml/2006/main" prst="bentConnector4">
            <a:avLst>
              <a:gd name="adj1" fmla="val 0"/>
              <a:gd name="adj2" fmla="val 18462"/>
            </a:avLst>
          </a:prstGeom>
          <a:ln xmlns:a="http://schemas.openxmlformats.org/drawingml/2006/main" w="19050">
            <a:solidFill>
              <a:srgbClr val="276E6B"/>
            </a:solidFill>
            <a:prstDash val="solid"/>
            <a:tailEnd type="arrow" w="sm" len="sm"/>
          </a:ln>
        </p:spPr>
      </p:cxnSp>
      <p:cxnSp>
        <p:nvCxnSpPr>
          <p:cNvPr id="55" name=""/>
          <p:cNvCxnSpPr>
            <a:stCxn xmlns:a="http://schemas.openxmlformats.org/drawingml/2006/main" id="13" idx="3"/>
            <a:endCxn xmlns:a="http://schemas.openxmlformats.org/drawingml/2006/main" id="14" idx="1"/>
          </p:cNvCxnSpPr>
          <p:nvPr/>
        </p:nvCxnSpPr>
        <p:spPr>
          <a:xfrm xmlns:a="http://schemas.openxmlformats.org/drawingml/2006/main">
            <a:off x="3219450" y="4743450"/>
            <a:ext cx="95250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6" name=""/>
          <p:cNvCxnSpPr>
            <a:stCxn xmlns:a="http://schemas.openxmlformats.org/drawingml/2006/main" id="14" idx="3"/>
            <a:endCxn xmlns:a="http://schemas.openxmlformats.org/drawingml/2006/main" id="16" idx="1"/>
          </p:cNvCxnSpPr>
          <p:nvPr/>
        </p:nvCxnSpPr>
        <p:spPr>
          <a:xfrm xmlns:a="http://schemas.openxmlformats.org/drawingml/2006/main">
            <a:off x="5391150" y="4743450"/>
            <a:ext cx="127635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7" name=""/>
          <p:cNvCxnSpPr>
            <a:stCxn xmlns:a="http://schemas.openxmlformats.org/drawingml/2006/main" id="14" idx="2"/>
            <a:endCxn xmlns:a="http://schemas.openxmlformats.org/drawingml/2006/main" id="15" idx="0"/>
          </p:cNvCxnSpPr>
          <p:nvPr/>
        </p:nvCxnSpPr>
        <p:spPr>
          <a:xfrm xmlns:a="http://schemas.openxmlformats.org/drawingml/2006/main">
            <a:off x="4781550" y="5162550"/>
            <a:ext cx="2076450" cy="28575"/>
          </a:xfrm>
          <a:prstGeom xmlns:a="http://schemas.openxmlformats.org/drawingml/2006/main" prst="bentConnector4">
            <a:avLst>
              <a:gd name="adj1" fmla="val 0"/>
              <a:gd name="adj2" fmla="val 50000"/>
            </a:avLst>
          </a:prstGeom>
          <a:ln xmlns:a="http://schemas.openxmlformats.org/drawingml/2006/main" w="19050">
            <a:solidFill>
              <a:srgbClr val="A9782A"/>
            </a:solidFill>
            <a:prstDash val="solid"/>
            <a:tailEnd type="arrow" w="sm" len="sm"/>
          </a:ln>
        </p:spPr>
      </p:cxnSp>
      <p:cxnSp>
        <p:nvCxnSpPr>
          <p:cNvPr id="58" name=""/>
          <p:cNvCxnSpPr>
            <a:stCxn xmlns:a="http://schemas.openxmlformats.org/drawingml/2006/main" id="16" idx="3"/>
            <a:endCxn xmlns:a="http://schemas.openxmlformats.org/drawingml/2006/main" id="17" idx="1"/>
          </p:cNvCxnSpPr>
          <p:nvPr/>
        </p:nvCxnSpPr>
        <p:spPr>
          <a:xfrm xmlns:a="http://schemas.openxmlformats.org/drawingml/2006/main">
            <a:off x="8477250" y="4743450"/>
            <a:ext cx="76200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sp>
        <p:nvSpPr>
          <p:cNvPr id="28" name="">
            <a:extLst xmlns:a="http://schemas.openxmlformats.org/drawingml/2006/main">
              <a:ext uri="{FF2B5EF4-FFF2-40B4-BE49-F238E27FC236}">
                <a16:creationId xmlns:a16="http://schemas.microsoft.com/office/drawing/2014/main" id="{AB622783-9C41-4C94-87A2-24BAE317229C}"/>
              </a:ext>
            </a:extLst>
          </p:cNvPr>
          <p:cNvSpPr>
            <a:spLocks xmlns:a="http://schemas.openxmlformats.org/drawingml/2006/main" noGrp="1"/>
          </p:cNvSpPr>
          <p:nvPr/>
        </p:nvSpPr>
        <p:spPr>
          <a:xfrm xmlns:a="http://schemas.openxmlformats.org/drawingml/2006/main">
            <a:off x="7639050" y="24574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50" b="1">
                <a:solidFill>
                  <a:srgbClr val="276E6B"/>
                </a:solidFill>
                <a:latin typeface="Source Sans 3"/>
                <a:ea typeface="Source Sans 3"/>
                <a:cs typeface="Source Sans 3"/>
              </a:defRPr>
            </a:pPr>
            <a:r>
              <a:rPr sz="1050" b="1">
                <a:solidFill>
                  <a:srgbClr val="276E6B"/>
                </a:solidFill>
                <a:latin typeface="Source Sans 3"/>
                <a:ea typeface="Source Sans 3"/>
                <a:cs typeface="Source Sans 3"/>
              </a:rPr>
              <a:t>YES</a:t>
            </a:r>
          </a:p>
        </p:txBody>
      </p:sp>
      <p:sp>
        <p:nvSpPr>
          <p:cNvPr id="29" name="">
            <a:extLst xmlns:a="http://schemas.openxmlformats.org/drawingml/2006/main">
              <a:ext uri="{FF2B5EF4-FFF2-40B4-BE49-F238E27FC236}">
                <a16:creationId xmlns:a16="http://schemas.microsoft.com/office/drawing/2014/main" id="{A6EE2D45-7319-4E5E-9617-4C839130DD0E}"/>
              </a:ext>
            </a:extLst>
          </p:cNvPr>
          <p:cNvSpPr>
            <a:spLocks xmlns:a="http://schemas.openxmlformats.org/drawingml/2006/main" noGrp="1"/>
          </p:cNvSpPr>
          <p:nvPr/>
        </p:nvSpPr>
        <p:spPr>
          <a:xfrm xmlns:a="http://schemas.openxmlformats.org/drawingml/2006/main">
            <a:off x="7353300" y="3095625"/>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50" b="1">
                <a:solidFill>
                  <a:srgbClr val="A9782A"/>
                </a:solidFill>
                <a:latin typeface="Source Sans 3"/>
                <a:ea typeface="Source Sans 3"/>
                <a:cs typeface="Source Sans 3"/>
              </a:defRPr>
            </a:pPr>
            <a:r>
              <a:rPr sz="1050" b="1">
                <a:solidFill>
                  <a:srgbClr val="A9782A"/>
                </a:solidFill>
                <a:latin typeface="Source Sans 3"/>
                <a:ea typeface="Source Sans 3"/>
                <a:cs typeface="Source Sans 3"/>
              </a:rPr>
              <a:t>RETURN</a:t>
            </a:r>
          </a:p>
        </p:txBody>
      </p:sp>
      <p:sp>
        <p:nvSpPr>
          <p:cNvPr id="30" name="">
            <a:extLst xmlns:a="http://schemas.openxmlformats.org/drawingml/2006/main">
              <a:ext uri="{FF2B5EF4-FFF2-40B4-BE49-F238E27FC236}">
                <a16:creationId xmlns:a16="http://schemas.microsoft.com/office/drawing/2014/main" id="{2F1CCC60-B3F8-483D-8803-8F486087B654}"/>
              </a:ext>
            </a:extLst>
          </p:cNvPr>
          <p:cNvSpPr>
            <a:spLocks xmlns:a="http://schemas.openxmlformats.org/drawingml/2006/main" noGrp="1"/>
          </p:cNvSpPr>
          <p:nvPr/>
        </p:nvSpPr>
        <p:spPr>
          <a:xfrm xmlns:a="http://schemas.openxmlformats.org/drawingml/2006/main">
            <a:off x="5476875" y="446722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50" b="1">
                <a:solidFill>
                  <a:srgbClr val="276E6B"/>
                </a:solidFill>
                <a:latin typeface="Source Sans 3"/>
                <a:ea typeface="Source Sans 3"/>
                <a:cs typeface="Source Sans 3"/>
              </a:defRPr>
            </a:pPr>
            <a:r>
              <a:rPr sz="1050" b="1">
                <a:solidFill>
                  <a:srgbClr val="276E6B"/>
                </a:solidFill>
                <a:latin typeface="Source Sans 3"/>
                <a:ea typeface="Source Sans 3"/>
                <a:cs typeface="Source Sans 3"/>
              </a:rPr>
              <a:t>YES</a:t>
            </a:r>
          </a:p>
        </p:txBody>
      </p:sp>
      <p:sp>
        <p:nvSpPr>
          <p:cNvPr id="31" name="">
            <a:extLst xmlns:a="http://schemas.openxmlformats.org/drawingml/2006/main">
              <a:ext uri="{FF2B5EF4-FFF2-40B4-BE49-F238E27FC236}">
                <a16:creationId xmlns:a16="http://schemas.microsoft.com/office/drawing/2014/main" id="{B226C6A0-9198-4F33-9266-1D3C34CF2617}"/>
              </a:ext>
            </a:extLst>
          </p:cNvPr>
          <p:cNvSpPr>
            <a:spLocks xmlns:a="http://schemas.openxmlformats.org/drawingml/2006/main" noGrp="1"/>
          </p:cNvSpPr>
          <p:nvPr/>
        </p:nvSpPr>
        <p:spPr>
          <a:xfrm xmlns:a="http://schemas.openxmlformats.org/drawingml/2006/main">
            <a:off x="4705350" y="5133975"/>
            <a:ext cx="781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5238"/>
          </a:bodyPr>
          <a:lstStyle xmlns:a="http://schemas.openxmlformats.org/drawingml/2006/main"/>
          <a:p xmlns:a="http://schemas.openxmlformats.org/drawingml/2006/main">
            <a:pPr algn="ctr">
              <a:defRPr sz="1050" b="1">
                <a:solidFill>
                  <a:srgbClr val="A9782A"/>
                </a:solidFill>
                <a:latin typeface="Source Sans 3"/>
                <a:ea typeface="Source Sans 3"/>
                <a:cs typeface="Source Sans 3"/>
              </a:defRPr>
            </a:pPr>
            <a:r>
              <a:rPr sz="1050" b="1">
                <a:solidFill>
                  <a:srgbClr val="A9782A"/>
                </a:solidFill>
                <a:latin typeface="Source Sans 3"/>
                <a:ea typeface="Source Sans 3"/>
                <a:cs typeface="Source Sans 3"/>
              </a:rPr>
              <a:t>RETURN</a:t>
            </a:r>
          </a:p>
        </p:txBody>
      </p:sp>
    </p:spTree>
    <p:extLst>
      <p:ext uri="{BB962C8B-B14F-4D97-AF65-F5344CB8AC3E}">
        <p14:creationId xmlns:p14="http://schemas.microsoft.com/office/powerpoint/2010/main" val="2006707020"/>
      </p:ext>
    </p:extLst>
  </p:cSld>
</p:sld>
</file>

<file path=ppt/slides/slide1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A4A8C0A8-596F-4380-971D-E5B889AD84A2}"/>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8EB1A9-938D-41F9-82C4-13E97C4D2021}"/>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OVERVIEW</a:t>
            </a:r>
          </a:p>
        </p:txBody>
      </p:sp>
      <p:sp>
        <p:nvSpPr>
          <p:cNvPr id="3" name="">
            <a:extLst xmlns:a="http://schemas.openxmlformats.org/drawingml/2006/main">
              <a:ext uri="{FF2B5EF4-FFF2-40B4-BE49-F238E27FC236}">
                <a16:creationId xmlns:a16="http://schemas.microsoft.com/office/drawing/2014/main" id="{F7296CBF-C600-44B2-8E9A-4E3ABCBDC172}"/>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Modules remain separate by reporting level</a:t>
            </a:r>
          </a:p>
        </p:txBody>
      </p:sp>
      <p:sp>
        <p:nvSpPr>
          <p:cNvPr id="4" name="">
            <a:extLst xmlns:a="http://schemas.openxmlformats.org/drawingml/2006/main">
              <a:ext uri="{FF2B5EF4-FFF2-40B4-BE49-F238E27FC236}">
                <a16:creationId xmlns:a16="http://schemas.microsoft.com/office/drawing/2014/main" id="{C78AC1DC-6341-4116-90E8-B0F1C40B4223}"/>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7D44F25-9D1E-4FB3-A990-F6904FCD9F1F}"/>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and Table 3</a:t>
            </a:r>
          </a:p>
        </p:txBody>
      </p:sp>
      <p:sp>
        <p:nvSpPr>
          <p:cNvPr id="6" name="">
            <a:extLst xmlns:a="http://schemas.openxmlformats.org/drawingml/2006/main">
              <a:ext uri="{FF2B5EF4-FFF2-40B4-BE49-F238E27FC236}">
                <a16:creationId xmlns:a16="http://schemas.microsoft.com/office/drawing/2014/main" id="{E105909B-FE91-4431-9746-3561DC3F1D44}"/>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14</a:t>
            </a:r>
          </a:p>
        </p:txBody>
      </p:sp>
      <p:sp>
        <p:nvSpPr>
          <p:cNvPr id="7" name="">
            <a:extLst xmlns:a="http://schemas.openxmlformats.org/drawingml/2006/main">
              <a:ext uri="{FF2B5EF4-FFF2-40B4-BE49-F238E27FC236}">
                <a16:creationId xmlns:a16="http://schemas.microsoft.com/office/drawing/2014/main" id="{52893CE2-F061-48BD-A720-7C5DA2524370}"/>
              </a:ext>
            </a:extLst>
          </p:cNvPr>
          <p:cNvSpPr>
            <a:spLocks xmlns:a="http://schemas.openxmlformats.org/drawingml/2006/main" noGrp="1"/>
          </p:cNvSpPr>
          <p:nvPr/>
        </p:nvSpPr>
        <p:spPr>
          <a:xfrm xmlns:a="http://schemas.openxmlformats.org/drawingml/2006/main">
            <a:off x="914400" y="14001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4042CD6E-4D37-4A33-8210-DBE4BF55E826}"/>
              </a:ext>
            </a:extLst>
          </p:cNvPr>
          <p:cNvSpPr>
            <a:spLocks xmlns:a="http://schemas.openxmlformats.org/drawingml/2006/main" noGrp="1"/>
          </p:cNvSpPr>
          <p:nvPr/>
        </p:nvSpPr>
        <p:spPr>
          <a:xfrm xmlns:a="http://schemas.openxmlformats.org/drawingml/2006/main">
            <a:off x="914400" y="1762125"/>
            <a:ext cx="310515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9" name="">
            <a:extLst xmlns:a="http://schemas.openxmlformats.org/drawingml/2006/main">
              <a:ext uri="{FF2B5EF4-FFF2-40B4-BE49-F238E27FC236}">
                <a16:creationId xmlns:a16="http://schemas.microsoft.com/office/drawing/2014/main" id="{9512333A-2986-4086-BD80-22241C2B998C}"/>
              </a:ext>
            </a:extLst>
          </p:cNvPr>
          <p:cNvSpPr>
            <a:spLocks xmlns:a="http://schemas.openxmlformats.org/drawingml/2006/main" noGrp="1"/>
          </p:cNvSpPr>
          <p:nvPr/>
        </p:nvSpPr>
        <p:spPr>
          <a:xfrm xmlns:a="http://schemas.openxmlformats.org/drawingml/2006/main">
            <a:off x="914400" y="19716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10" name="">
            <a:extLst xmlns:a="http://schemas.openxmlformats.org/drawingml/2006/main">
              <a:ext uri="{FF2B5EF4-FFF2-40B4-BE49-F238E27FC236}">
                <a16:creationId xmlns:a16="http://schemas.microsoft.com/office/drawing/2014/main" id="{7B20B720-9A19-4701-A466-4F93DA3179B9}"/>
              </a:ext>
            </a:extLst>
          </p:cNvPr>
          <p:cNvSpPr>
            <a:spLocks xmlns:a="http://schemas.openxmlformats.org/drawingml/2006/main" noGrp="1"/>
          </p:cNvSpPr>
          <p:nvPr/>
        </p:nvSpPr>
        <p:spPr>
          <a:xfrm xmlns:a="http://schemas.openxmlformats.org/drawingml/2006/main">
            <a:off x="1371600" y="19716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User Management</a:t>
            </a:r>
          </a:p>
        </p:txBody>
      </p:sp>
      <p:sp>
        <p:nvSpPr>
          <p:cNvPr id="11" name="">
            <a:extLst xmlns:a="http://schemas.openxmlformats.org/drawingml/2006/main">
              <a:ext uri="{FF2B5EF4-FFF2-40B4-BE49-F238E27FC236}">
                <a16:creationId xmlns:a16="http://schemas.microsoft.com/office/drawing/2014/main" id="{E1F72BFA-9B9B-4E97-9A1C-E43377AFD3DD}"/>
              </a:ext>
            </a:extLst>
          </p:cNvPr>
          <p:cNvSpPr>
            <a:spLocks xmlns:a="http://schemas.openxmlformats.org/drawingml/2006/main" noGrp="1"/>
          </p:cNvSpPr>
          <p:nvPr/>
        </p:nvSpPr>
        <p:spPr>
          <a:xfrm xmlns:a="http://schemas.openxmlformats.org/drawingml/2006/main">
            <a:off x="1371600" y="24574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2" name="">
            <a:extLst xmlns:a="http://schemas.openxmlformats.org/drawingml/2006/main">
              <a:ext uri="{FF2B5EF4-FFF2-40B4-BE49-F238E27FC236}">
                <a16:creationId xmlns:a16="http://schemas.microsoft.com/office/drawing/2014/main" id="{68143603-7494-4097-BAC2-73B2B5B33978}"/>
              </a:ext>
            </a:extLst>
          </p:cNvPr>
          <p:cNvSpPr>
            <a:spLocks xmlns:a="http://schemas.openxmlformats.org/drawingml/2006/main" noGrp="1"/>
          </p:cNvSpPr>
          <p:nvPr/>
        </p:nvSpPr>
        <p:spPr>
          <a:xfrm xmlns:a="http://schemas.openxmlformats.org/drawingml/2006/main">
            <a:off x="914400" y="25241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13" name="">
            <a:extLst xmlns:a="http://schemas.openxmlformats.org/drawingml/2006/main">
              <a:ext uri="{FF2B5EF4-FFF2-40B4-BE49-F238E27FC236}">
                <a16:creationId xmlns:a16="http://schemas.microsoft.com/office/drawing/2014/main" id="{C3F1AFC2-C222-4255-BC2D-12554117ED59}"/>
              </a:ext>
            </a:extLst>
          </p:cNvPr>
          <p:cNvSpPr>
            <a:spLocks xmlns:a="http://schemas.openxmlformats.org/drawingml/2006/main" noGrp="1"/>
          </p:cNvSpPr>
          <p:nvPr/>
        </p:nvSpPr>
        <p:spPr>
          <a:xfrm xmlns:a="http://schemas.openxmlformats.org/drawingml/2006/main">
            <a:off x="1371600" y="25241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Profile Creation</a:t>
            </a:r>
          </a:p>
        </p:txBody>
      </p:sp>
      <p:sp>
        <p:nvSpPr>
          <p:cNvPr id="14" name="">
            <a:extLst xmlns:a="http://schemas.openxmlformats.org/drawingml/2006/main">
              <a:ext uri="{FF2B5EF4-FFF2-40B4-BE49-F238E27FC236}">
                <a16:creationId xmlns:a16="http://schemas.microsoft.com/office/drawing/2014/main" id="{177F4366-8E8F-47E5-9509-97369F8C52DC}"/>
              </a:ext>
            </a:extLst>
          </p:cNvPr>
          <p:cNvSpPr>
            <a:spLocks xmlns:a="http://schemas.openxmlformats.org/drawingml/2006/main" noGrp="1"/>
          </p:cNvSpPr>
          <p:nvPr/>
        </p:nvSpPr>
        <p:spPr>
          <a:xfrm xmlns:a="http://schemas.openxmlformats.org/drawingml/2006/main">
            <a:off x="1371600" y="30099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5" name="">
            <a:extLst xmlns:a="http://schemas.openxmlformats.org/drawingml/2006/main">
              <a:ext uri="{FF2B5EF4-FFF2-40B4-BE49-F238E27FC236}">
                <a16:creationId xmlns:a16="http://schemas.microsoft.com/office/drawing/2014/main" id="{E073721C-DEE7-4531-A80A-319D17A087D4}"/>
              </a:ext>
            </a:extLst>
          </p:cNvPr>
          <p:cNvSpPr>
            <a:spLocks xmlns:a="http://schemas.openxmlformats.org/drawingml/2006/main" noGrp="1"/>
          </p:cNvSpPr>
          <p:nvPr/>
        </p:nvSpPr>
        <p:spPr>
          <a:xfrm xmlns:a="http://schemas.openxmlformats.org/drawingml/2006/main">
            <a:off x="914400" y="30765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16" name="">
            <a:extLst xmlns:a="http://schemas.openxmlformats.org/drawingml/2006/main">
              <a:ext uri="{FF2B5EF4-FFF2-40B4-BE49-F238E27FC236}">
                <a16:creationId xmlns:a16="http://schemas.microsoft.com/office/drawing/2014/main" id="{40026238-2CA7-46C0-B5A2-201EEA29A4EE}"/>
              </a:ext>
            </a:extLst>
          </p:cNvPr>
          <p:cNvSpPr>
            <a:spLocks xmlns:a="http://schemas.openxmlformats.org/drawingml/2006/main" noGrp="1"/>
          </p:cNvSpPr>
          <p:nvPr/>
        </p:nvSpPr>
        <p:spPr>
          <a:xfrm xmlns:a="http://schemas.openxmlformats.org/drawingml/2006/main">
            <a:off x="1371600" y="30765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Profile Verification</a:t>
            </a:r>
          </a:p>
        </p:txBody>
      </p:sp>
      <p:sp>
        <p:nvSpPr>
          <p:cNvPr id="17" name="">
            <a:extLst xmlns:a="http://schemas.openxmlformats.org/drawingml/2006/main">
              <a:ext uri="{FF2B5EF4-FFF2-40B4-BE49-F238E27FC236}">
                <a16:creationId xmlns:a16="http://schemas.microsoft.com/office/drawing/2014/main" id="{5E79E470-3CBC-4F86-8ECA-CFC07F312762}"/>
              </a:ext>
            </a:extLst>
          </p:cNvPr>
          <p:cNvSpPr>
            <a:spLocks xmlns:a="http://schemas.openxmlformats.org/drawingml/2006/main" noGrp="1"/>
          </p:cNvSpPr>
          <p:nvPr/>
        </p:nvSpPr>
        <p:spPr>
          <a:xfrm xmlns:a="http://schemas.openxmlformats.org/drawingml/2006/main">
            <a:off x="1371600" y="35623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459AFD78-2821-40F8-9739-7DC0DB61A022}"/>
              </a:ext>
            </a:extLst>
          </p:cNvPr>
          <p:cNvSpPr>
            <a:spLocks xmlns:a="http://schemas.openxmlformats.org/drawingml/2006/main" noGrp="1"/>
          </p:cNvSpPr>
          <p:nvPr/>
        </p:nvSpPr>
        <p:spPr>
          <a:xfrm xmlns:a="http://schemas.openxmlformats.org/drawingml/2006/main">
            <a:off x="914400" y="36290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19" name="">
            <a:extLst xmlns:a="http://schemas.openxmlformats.org/drawingml/2006/main">
              <a:ext uri="{FF2B5EF4-FFF2-40B4-BE49-F238E27FC236}">
                <a16:creationId xmlns:a16="http://schemas.microsoft.com/office/drawing/2014/main" id="{ED290EA4-D909-46EC-A271-B119718A939B}"/>
              </a:ext>
            </a:extLst>
          </p:cNvPr>
          <p:cNvSpPr>
            <a:spLocks xmlns:a="http://schemas.openxmlformats.org/drawingml/2006/main" noGrp="1"/>
          </p:cNvSpPr>
          <p:nvPr/>
        </p:nvSpPr>
        <p:spPr>
          <a:xfrm xmlns:a="http://schemas.openxmlformats.org/drawingml/2006/main">
            <a:off x="1371600" y="36290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Incident Reporting</a:t>
            </a:r>
          </a:p>
        </p:txBody>
      </p:sp>
      <p:sp>
        <p:nvSpPr>
          <p:cNvPr id="20" name="">
            <a:extLst xmlns:a="http://schemas.openxmlformats.org/drawingml/2006/main">
              <a:ext uri="{FF2B5EF4-FFF2-40B4-BE49-F238E27FC236}">
                <a16:creationId xmlns:a16="http://schemas.microsoft.com/office/drawing/2014/main" id="{144DDB2B-CA69-458C-8C7B-0F127E06D90E}"/>
              </a:ext>
            </a:extLst>
          </p:cNvPr>
          <p:cNvSpPr>
            <a:spLocks xmlns:a="http://schemas.openxmlformats.org/drawingml/2006/main" noGrp="1"/>
          </p:cNvSpPr>
          <p:nvPr/>
        </p:nvSpPr>
        <p:spPr>
          <a:xfrm xmlns:a="http://schemas.openxmlformats.org/drawingml/2006/main">
            <a:off x="1371600" y="41148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1" name="">
            <a:extLst xmlns:a="http://schemas.openxmlformats.org/drawingml/2006/main">
              <a:ext uri="{FF2B5EF4-FFF2-40B4-BE49-F238E27FC236}">
                <a16:creationId xmlns:a16="http://schemas.microsoft.com/office/drawing/2014/main" id="{69EE6BD3-95A1-4BF0-8B05-6C7C0EADED14}"/>
              </a:ext>
            </a:extLst>
          </p:cNvPr>
          <p:cNvSpPr>
            <a:spLocks xmlns:a="http://schemas.openxmlformats.org/drawingml/2006/main" noGrp="1"/>
          </p:cNvSpPr>
          <p:nvPr/>
        </p:nvSpPr>
        <p:spPr>
          <a:xfrm xmlns:a="http://schemas.openxmlformats.org/drawingml/2006/main">
            <a:off x="914400" y="41814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05</a:t>
            </a:r>
          </a:p>
        </p:txBody>
      </p:sp>
      <p:sp>
        <p:nvSpPr>
          <p:cNvPr id="22" name="">
            <a:extLst xmlns:a="http://schemas.openxmlformats.org/drawingml/2006/main">
              <a:ext uri="{FF2B5EF4-FFF2-40B4-BE49-F238E27FC236}">
                <a16:creationId xmlns:a16="http://schemas.microsoft.com/office/drawing/2014/main" id="{AA92CCB2-4A6B-49B5-9110-8487F8811569}"/>
              </a:ext>
            </a:extLst>
          </p:cNvPr>
          <p:cNvSpPr>
            <a:spLocks xmlns:a="http://schemas.openxmlformats.org/drawingml/2006/main" noGrp="1"/>
          </p:cNvSpPr>
          <p:nvPr/>
        </p:nvSpPr>
        <p:spPr>
          <a:xfrm xmlns:a="http://schemas.openxmlformats.org/drawingml/2006/main">
            <a:off x="1371600" y="41814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Incident Report Verification</a:t>
            </a:r>
          </a:p>
        </p:txBody>
      </p:sp>
      <p:sp>
        <p:nvSpPr>
          <p:cNvPr id="23" name="">
            <a:extLst xmlns:a="http://schemas.openxmlformats.org/drawingml/2006/main">
              <a:ext uri="{FF2B5EF4-FFF2-40B4-BE49-F238E27FC236}">
                <a16:creationId xmlns:a16="http://schemas.microsoft.com/office/drawing/2014/main" id="{FC7CE1A8-64B4-43F2-83C0-5136A9E30220}"/>
              </a:ext>
            </a:extLst>
          </p:cNvPr>
          <p:cNvSpPr>
            <a:spLocks xmlns:a="http://schemas.openxmlformats.org/drawingml/2006/main" noGrp="1"/>
          </p:cNvSpPr>
          <p:nvPr/>
        </p:nvSpPr>
        <p:spPr>
          <a:xfrm xmlns:a="http://schemas.openxmlformats.org/drawingml/2006/main">
            <a:off x="1371600" y="46672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4" name="">
            <a:extLst xmlns:a="http://schemas.openxmlformats.org/drawingml/2006/main">
              <a:ext uri="{FF2B5EF4-FFF2-40B4-BE49-F238E27FC236}">
                <a16:creationId xmlns:a16="http://schemas.microsoft.com/office/drawing/2014/main" id="{D5F9F463-62A8-49E0-ACB2-8F9F458E858C}"/>
              </a:ext>
            </a:extLst>
          </p:cNvPr>
          <p:cNvSpPr>
            <a:spLocks xmlns:a="http://schemas.openxmlformats.org/drawingml/2006/main" noGrp="1"/>
          </p:cNvSpPr>
          <p:nvPr/>
        </p:nvSpPr>
        <p:spPr>
          <a:xfrm xmlns:a="http://schemas.openxmlformats.org/drawingml/2006/main">
            <a:off x="914400" y="47339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06</a:t>
            </a:r>
          </a:p>
        </p:txBody>
      </p:sp>
      <p:sp>
        <p:nvSpPr>
          <p:cNvPr id="25" name="">
            <a:extLst xmlns:a="http://schemas.openxmlformats.org/drawingml/2006/main">
              <a:ext uri="{FF2B5EF4-FFF2-40B4-BE49-F238E27FC236}">
                <a16:creationId xmlns:a16="http://schemas.microsoft.com/office/drawing/2014/main" id="{69D75F2A-8301-4D5F-B029-6F2859176876}"/>
              </a:ext>
            </a:extLst>
          </p:cNvPr>
          <p:cNvSpPr>
            <a:spLocks xmlns:a="http://schemas.openxmlformats.org/drawingml/2006/main" noGrp="1"/>
          </p:cNvSpPr>
          <p:nvPr/>
        </p:nvSpPr>
        <p:spPr>
          <a:xfrm xmlns:a="http://schemas.openxmlformats.org/drawingml/2006/main">
            <a:off x="1371600" y="47339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Incident Report History</a:t>
            </a:r>
          </a:p>
        </p:txBody>
      </p:sp>
      <p:sp>
        <p:nvSpPr>
          <p:cNvPr id="26" name="">
            <a:extLst xmlns:a="http://schemas.openxmlformats.org/drawingml/2006/main">
              <a:ext uri="{FF2B5EF4-FFF2-40B4-BE49-F238E27FC236}">
                <a16:creationId xmlns:a16="http://schemas.microsoft.com/office/drawing/2014/main" id="{E8353024-7915-41CC-8748-3E6EAA1E3FF7}"/>
              </a:ext>
            </a:extLst>
          </p:cNvPr>
          <p:cNvSpPr>
            <a:spLocks xmlns:a="http://schemas.openxmlformats.org/drawingml/2006/main" noGrp="1"/>
          </p:cNvSpPr>
          <p:nvPr/>
        </p:nvSpPr>
        <p:spPr>
          <a:xfrm xmlns:a="http://schemas.openxmlformats.org/drawingml/2006/main">
            <a:off x="4486275" y="14001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BARANGAY</a:t>
            </a:r>
          </a:p>
        </p:txBody>
      </p:sp>
      <p:sp>
        <p:nvSpPr>
          <p:cNvPr id="27" name="">
            <a:extLst xmlns:a="http://schemas.openxmlformats.org/drawingml/2006/main">
              <a:ext uri="{FF2B5EF4-FFF2-40B4-BE49-F238E27FC236}">
                <a16:creationId xmlns:a16="http://schemas.microsoft.com/office/drawing/2014/main" id="{16C0DA27-562F-436A-A311-68805EEF5848}"/>
              </a:ext>
            </a:extLst>
          </p:cNvPr>
          <p:cNvSpPr>
            <a:spLocks xmlns:a="http://schemas.openxmlformats.org/drawingml/2006/main" noGrp="1"/>
          </p:cNvSpPr>
          <p:nvPr/>
        </p:nvSpPr>
        <p:spPr>
          <a:xfrm xmlns:a="http://schemas.openxmlformats.org/drawingml/2006/main">
            <a:off x="4486275" y="1762125"/>
            <a:ext cx="310515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28" name="">
            <a:extLst xmlns:a="http://schemas.openxmlformats.org/drawingml/2006/main">
              <a:ext uri="{FF2B5EF4-FFF2-40B4-BE49-F238E27FC236}">
                <a16:creationId xmlns:a16="http://schemas.microsoft.com/office/drawing/2014/main" id="{CDE1E047-44A1-4C00-B44D-9C02DF2C82BF}"/>
              </a:ext>
            </a:extLst>
          </p:cNvPr>
          <p:cNvSpPr>
            <a:spLocks xmlns:a="http://schemas.openxmlformats.org/drawingml/2006/main" noGrp="1"/>
          </p:cNvSpPr>
          <p:nvPr/>
        </p:nvSpPr>
        <p:spPr>
          <a:xfrm xmlns:a="http://schemas.openxmlformats.org/drawingml/2006/main">
            <a:off x="4486275" y="19716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29" name="">
            <a:extLst xmlns:a="http://schemas.openxmlformats.org/drawingml/2006/main">
              <a:ext uri="{FF2B5EF4-FFF2-40B4-BE49-F238E27FC236}">
                <a16:creationId xmlns:a16="http://schemas.microsoft.com/office/drawing/2014/main" id="{B8C641B8-E60F-49FE-A238-9CF6EC72C42E}"/>
              </a:ext>
            </a:extLst>
          </p:cNvPr>
          <p:cNvSpPr>
            <a:spLocks xmlns:a="http://schemas.openxmlformats.org/drawingml/2006/main" noGrp="1"/>
          </p:cNvSpPr>
          <p:nvPr/>
        </p:nvSpPr>
        <p:spPr>
          <a:xfrm xmlns:a="http://schemas.openxmlformats.org/drawingml/2006/main">
            <a:off x="4943475" y="19716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User Management</a:t>
            </a:r>
          </a:p>
        </p:txBody>
      </p:sp>
      <p:sp>
        <p:nvSpPr>
          <p:cNvPr id="30" name="">
            <a:extLst xmlns:a="http://schemas.openxmlformats.org/drawingml/2006/main">
              <a:ext uri="{FF2B5EF4-FFF2-40B4-BE49-F238E27FC236}">
                <a16:creationId xmlns:a16="http://schemas.microsoft.com/office/drawing/2014/main" id="{DE0282C6-C56A-4E68-9B3B-F56854CA8EAF}"/>
              </a:ext>
            </a:extLst>
          </p:cNvPr>
          <p:cNvSpPr>
            <a:spLocks xmlns:a="http://schemas.openxmlformats.org/drawingml/2006/main" noGrp="1"/>
          </p:cNvSpPr>
          <p:nvPr/>
        </p:nvSpPr>
        <p:spPr>
          <a:xfrm xmlns:a="http://schemas.openxmlformats.org/drawingml/2006/main">
            <a:off x="4943475" y="24574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1" name="">
            <a:extLst xmlns:a="http://schemas.openxmlformats.org/drawingml/2006/main">
              <a:ext uri="{FF2B5EF4-FFF2-40B4-BE49-F238E27FC236}">
                <a16:creationId xmlns:a16="http://schemas.microsoft.com/office/drawing/2014/main" id="{02DAEEF3-F7B2-4E48-84E0-A735D68DCA20}"/>
              </a:ext>
            </a:extLst>
          </p:cNvPr>
          <p:cNvSpPr>
            <a:spLocks xmlns:a="http://schemas.openxmlformats.org/drawingml/2006/main" noGrp="1"/>
          </p:cNvSpPr>
          <p:nvPr/>
        </p:nvSpPr>
        <p:spPr>
          <a:xfrm xmlns:a="http://schemas.openxmlformats.org/drawingml/2006/main">
            <a:off x="4486275" y="25241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32" name="">
            <a:extLst xmlns:a="http://schemas.openxmlformats.org/drawingml/2006/main">
              <a:ext uri="{FF2B5EF4-FFF2-40B4-BE49-F238E27FC236}">
                <a16:creationId xmlns:a16="http://schemas.microsoft.com/office/drawing/2014/main" id="{5C46A627-1FC5-4F74-9CF8-8311544B4B5A}"/>
              </a:ext>
            </a:extLst>
          </p:cNvPr>
          <p:cNvSpPr>
            <a:spLocks xmlns:a="http://schemas.openxmlformats.org/drawingml/2006/main" noGrp="1"/>
          </p:cNvSpPr>
          <p:nvPr/>
        </p:nvSpPr>
        <p:spPr>
          <a:xfrm xmlns:a="http://schemas.openxmlformats.org/drawingml/2006/main">
            <a:off x="4943475" y="25241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Profile Creation</a:t>
            </a:r>
          </a:p>
        </p:txBody>
      </p:sp>
      <p:sp>
        <p:nvSpPr>
          <p:cNvPr id="33" name="">
            <a:extLst xmlns:a="http://schemas.openxmlformats.org/drawingml/2006/main">
              <a:ext uri="{FF2B5EF4-FFF2-40B4-BE49-F238E27FC236}">
                <a16:creationId xmlns:a16="http://schemas.microsoft.com/office/drawing/2014/main" id="{3D76B4F7-22B8-4EA0-A86E-DECD13A00910}"/>
              </a:ext>
            </a:extLst>
          </p:cNvPr>
          <p:cNvSpPr>
            <a:spLocks xmlns:a="http://schemas.openxmlformats.org/drawingml/2006/main" noGrp="1"/>
          </p:cNvSpPr>
          <p:nvPr/>
        </p:nvSpPr>
        <p:spPr>
          <a:xfrm xmlns:a="http://schemas.openxmlformats.org/drawingml/2006/main">
            <a:off x="4943475" y="30099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4" name="">
            <a:extLst xmlns:a="http://schemas.openxmlformats.org/drawingml/2006/main">
              <a:ext uri="{FF2B5EF4-FFF2-40B4-BE49-F238E27FC236}">
                <a16:creationId xmlns:a16="http://schemas.microsoft.com/office/drawing/2014/main" id="{57F9E712-ED7F-4B18-881C-1A1624B071E2}"/>
              </a:ext>
            </a:extLst>
          </p:cNvPr>
          <p:cNvSpPr>
            <a:spLocks xmlns:a="http://schemas.openxmlformats.org/drawingml/2006/main" noGrp="1"/>
          </p:cNvSpPr>
          <p:nvPr/>
        </p:nvSpPr>
        <p:spPr>
          <a:xfrm xmlns:a="http://schemas.openxmlformats.org/drawingml/2006/main">
            <a:off x="4486275" y="30765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35" name="">
            <a:extLst xmlns:a="http://schemas.openxmlformats.org/drawingml/2006/main">
              <a:ext uri="{FF2B5EF4-FFF2-40B4-BE49-F238E27FC236}">
                <a16:creationId xmlns:a16="http://schemas.microsoft.com/office/drawing/2014/main" id="{ECA8B9A9-CF5C-4F0E-AB59-0C7C731D55F8}"/>
              </a:ext>
            </a:extLst>
          </p:cNvPr>
          <p:cNvSpPr>
            <a:spLocks xmlns:a="http://schemas.openxmlformats.org/drawingml/2006/main" noGrp="1"/>
          </p:cNvSpPr>
          <p:nvPr/>
        </p:nvSpPr>
        <p:spPr>
          <a:xfrm xmlns:a="http://schemas.openxmlformats.org/drawingml/2006/main">
            <a:off x="4943475" y="30765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Profile Verification</a:t>
            </a:r>
          </a:p>
        </p:txBody>
      </p:sp>
      <p:sp>
        <p:nvSpPr>
          <p:cNvPr id="36" name="">
            <a:extLst xmlns:a="http://schemas.openxmlformats.org/drawingml/2006/main">
              <a:ext uri="{FF2B5EF4-FFF2-40B4-BE49-F238E27FC236}">
                <a16:creationId xmlns:a16="http://schemas.microsoft.com/office/drawing/2014/main" id="{D473C882-B170-4D41-85FE-8FFAB48F3EF2}"/>
              </a:ext>
            </a:extLst>
          </p:cNvPr>
          <p:cNvSpPr>
            <a:spLocks xmlns:a="http://schemas.openxmlformats.org/drawingml/2006/main" noGrp="1"/>
          </p:cNvSpPr>
          <p:nvPr/>
        </p:nvSpPr>
        <p:spPr>
          <a:xfrm xmlns:a="http://schemas.openxmlformats.org/drawingml/2006/main">
            <a:off x="4943475" y="35623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7" name="">
            <a:extLst xmlns:a="http://schemas.openxmlformats.org/drawingml/2006/main">
              <a:ext uri="{FF2B5EF4-FFF2-40B4-BE49-F238E27FC236}">
                <a16:creationId xmlns:a16="http://schemas.microsoft.com/office/drawing/2014/main" id="{09D95C8F-F3AE-4189-B3B1-53C50AB2C102}"/>
              </a:ext>
            </a:extLst>
          </p:cNvPr>
          <p:cNvSpPr>
            <a:spLocks xmlns:a="http://schemas.openxmlformats.org/drawingml/2006/main" noGrp="1"/>
          </p:cNvSpPr>
          <p:nvPr/>
        </p:nvSpPr>
        <p:spPr>
          <a:xfrm xmlns:a="http://schemas.openxmlformats.org/drawingml/2006/main">
            <a:off x="4486275" y="36290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38" name="">
            <a:extLst xmlns:a="http://schemas.openxmlformats.org/drawingml/2006/main">
              <a:ext uri="{FF2B5EF4-FFF2-40B4-BE49-F238E27FC236}">
                <a16:creationId xmlns:a16="http://schemas.microsoft.com/office/drawing/2014/main" id="{484A4CE4-8DCA-4F1C-BA58-F6CF45DFA7A4}"/>
              </a:ext>
            </a:extLst>
          </p:cNvPr>
          <p:cNvSpPr>
            <a:spLocks xmlns:a="http://schemas.openxmlformats.org/drawingml/2006/main" noGrp="1"/>
          </p:cNvSpPr>
          <p:nvPr/>
        </p:nvSpPr>
        <p:spPr>
          <a:xfrm xmlns:a="http://schemas.openxmlformats.org/drawingml/2006/main">
            <a:off x="4943475" y="36290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Incident Reporting</a:t>
            </a:r>
          </a:p>
        </p:txBody>
      </p:sp>
      <p:sp>
        <p:nvSpPr>
          <p:cNvPr id="39" name="">
            <a:extLst xmlns:a="http://schemas.openxmlformats.org/drawingml/2006/main">
              <a:ext uri="{FF2B5EF4-FFF2-40B4-BE49-F238E27FC236}">
                <a16:creationId xmlns:a16="http://schemas.microsoft.com/office/drawing/2014/main" id="{5DE2AE3E-53A3-4CF3-B8CB-D797D8C82449}"/>
              </a:ext>
            </a:extLst>
          </p:cNvPr>
          <p:cNvSpPr>
            <a:spLocks xmlns:a="http://schemas.openxmlformats.org/drawingml/2006/main" noGrp="1"/>
          </p:cNvSpPr>
          <p:nvPr/>
        </p:nvSpPr>
        <p:spPr>
          <a:xfrm xmlns:a="http://schemas.openxmlformats.org/drawingml/2006/main">
            <a:off x="4943475" y="41148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0" name="">
            <a:extLst xmlns:a="http://schemas.openxmlformats.org/drawingml/2006/main">
              <a:ext uri="{FF2B5EF4-FFF2-40B4-BE49-F238E27FC236}">
                <a16:creationId xmlns:a16="http://schemas.microsoft.com/office/drawing/2014/main" id="{CFA9F43F-84A3-46B0-9855-E23228F1BB04}"/>
              </a:ext>
            </a:extLst>
          </p:cNvPr>
          <p:cNvSpPr>
            <a:spLocks xmlns:a="http://schemas.openxmlformats.org/drawingml/2006/main" noGrp="1"/>
          </p:cNvSpPr>
          <p:nvPr/>
        </p:nvSpPr>
        <p:spPr>
          <a:xfrm xmlns:a="http://schemas.openxmlformats.org/drawingml/2006/main">
            <a:off x="4486275" y="41814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05</a:t>
            </a:r>
          </a:p>
        </p:txBody>
      </p:sp>
      <p:sp>
        <p:nvSpPr>
          <p:cNvPr id="41" name="">
            <a:extLst xmlns:a="http://schemas.openxmlformats.org/drawingml/2006/main">
              <a:ext uri="{FF2B5EF4-FFF2-40B4-BE49-F238E27FC236}">
                <a16:creationId xmlns:a16="http://schemas.microsoft.com/office/drawing/2014/main" id="{17B832C9-DEC8-4608-9395-1EE31F47B9D3}"/>
              </a:ext>
            </a:extLst>
          </p:cNvPr>
          <p:cNvSpPr>
            <a:spLocks xmlns:a="http://schemas.openxmlformats.org/drawingml/2006/main" noGrp="1"/>
          </p:cNvSpPr>
          <p:nvPr/>
        </p:nvSpPr>
        <p:spPr>
          <a:xfrm xmlns:a="http://schemas.openxmlformats.org/drawingml/2006/main">
            <a:off x="4943475" y="41814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Incident Report Verification</a:t>
            </a:r>
          </a:p>
        </p:txBody>
      </p:sp>
      <p:sp>
        <p:nvSpPr>
          <p:cNvPr id="42" name="">
            <a:extLst xmlns:a="http://schemas.openxmlformats.org/drawingml/2006/main">
              <a:ext uri="{FF2B5EF4-FFF2-40B4-BE49-F238E27FC236}">
                <a16:creationId xmlns:a16="http://schemas.microsoft.com/office/drawing/2014/main" id="{867A71CE-841A-4940-A167-CE505B2E44FF}"/>
              </a:ext>
            </a:extLst>
          </p:cNvPr>
          <p:cNvSpPr>
            <a:spLocks xmlns:a="http://schemas.openxmlformats.org/drawingml/2006/main" noGrp="1"/>
          </p:cNvSpPr>
          <p:nvPr/>
        </p:nvSpPr>
        <p:spPr>
          <a:xfrm xmlns:a="http://schemas.openxmlformats.org/drawingml/2006/main">
            <a:off x="4943475" y="46672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3" name="">
            <a:extLst xmlns:a="http://schemas.openxmlformats.org/drawingml/2006/main">
              <a:ext uri="{FF2B5EF4-FFF2-40B4-BE49-F238E27FC236}">
                <a16:creationId xmlns:a16="http://schemas.microsoft.com/office/drawing/2014/main" id="{9DDC6897-C30F-4053-83CA-8D69DC42D87C}"/>
              </a:ext>
            </a:extLst>
          </p:cNvPr>
          <p:cNvSpPr>
            <a:spLocks xmlns:a="http://schemas.openxmlformats.org/drawingml/2006/main" noGrp="1"/>
          </p:cNvSpPr>
          <p:nvPr/>
        </p:nvSpPr>
        <p:spPr>
          <a:xfrm xmlns:a="http://schemas.openxmlformats.org/drawingml/2006/main">
            <a:off x="4486275" y="47339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06</a:t>
            </a:r>
          </a:p>
        </p:txBody>
      </p:sp>
      <p:sp>
        <p:nvSpPr>
          <p:cNvPr id="44" name="">
            <a:extLst xmlns:a="http://schemas.openxmlformats.org/drawingml/2006/main">
              <a:ext uri="{FF2B5EF4-FFF2-40B4-BE49-F238E27FC236}">
                <a16:creationId xmlns:a16="http://schemas.microsoft.com/office/drawing/2014/main" id="{09E07DFF-7F21-4906-9E4A-422778135349}"/>
              </a:ext>
            </a:extLst>
          </p:cNvPr>
          <p:cNvSpPr>
            <a:spLocks xmlns:a="http://schemas.openxmlformats.org/drawingml/2006/main" noGrp="1"/>
          </p:cNvSpPr>
          <p:nvPr/>
        </p:nvSpPr>
        <p:spPr>
          <a:xfrm xmlns:a="http://schemas.openxmlformats.org/drawingml/2006/main">
            <a:off x="4943475" y="47339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Incident Report History</a:t>
            </a:r>
          </a:p>
        </p:txBody>
      </p:sp>
      <p:sp>
        <p:nvSpPr>
          <p:cNvPr id="45" name="">
            <a:extLst xmlns:a="http://schemas.openxmlformats.org/drawingml/2006/main">
              <a:ext uri="{FF2B5EF4-FFF2-40B4-BE49-F238E27FC236}">
                <a16:creationId xmlns:a16="http://schemas.microsoft.com/office/drawing/2014/main" id="{F4467187-2BBB-46E0-8E82-91980E21730E}"/>
              </a:ext>
            </a:extLst>
          </p:cNvPr>
          <p:cNvSpPr>
            <a:spLocks xmlns:a="http://schemas.openxmlformats.org/drawingml/2006/main" noGrp="1"/>
          </p:cNvSpPr>
          <p:nvPr/>
        </p:nvSpPr>
        <p:spPr>
          <a:xfrm xmlns:a="http://schemas.openxmlformats.org/drawingml/2006/main">
            <a:off x="8058150" y="14001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DRRM ADMINISTRATOR</a:t>
            </a:r>
          </a:p>
        </p:txBody>
      </p:sp>
      <p:sp>
        <p:nvSpPr>
          <p:cNvPr id="46" name="">
            <a:extLst xmlns:a="http://schemas.openxmlformats.org/drawingml/2006/main">
              <a:ext uri="{FF2B5EF4-FFF2-40B4-BE49-F238E27FC236}">
                <a16:creationId xmlns:a16="http://schemas.microsoft.com/office/drawing/2014/main" id="{B48404ED-AF80-4DB9-8D26-54A550AB773A}"/>
              </a:ext>
            </a:extLst>
          </p:cNvPr>
          <p:cNvSpPr>
            <a:spLocks xmlns:a="http://schemas.openxmlformats.org/drawingml/2006/main" noGrp="1"/>
          </p:cNvSpPr>
          <p:nvPr/>
        </p:nvSpPr>
        <p:spPr>
          <a:xfrm xmlns:a="http://schemas.openxmlformats.org/drawingml/2006/main">
            <a:off x="8058150" y="1762125"/>
            <a:ext cx="310515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47" name="">
            <a:extLst xmlns:a="http://schemas.openxmlformats.org/drawingml/2006/main">
              <a:ext uri="{FF2B5EF4-FFF2-40B4-BE49-F238E27FC236}">
                <a16:creationId xmlns:a16="http://schemas.microsoft.com/office/drawing/2014/main" id="{E96D0E79-7CA1-4E8B-B94B-E58CC9C2BA6F}"/>
              </a:ext>
            </a:extLst>
          </p:cNvPr>
          <p:cNvSpPr>
            <a:spLocks xmlns:a="http://schemas.openxmlformats.org/drawingml/2006/main" noGrp="1"/>
          </p:cNvSpPr>
          <p:nvPr/>
        </p:nvSpPr>
        <p:spPr>
          <a:xfrm xmlns:a="http://schemas.openxmlformats.org/drawingml/2006/main">
            <a:off x="8058150" y="19716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48" name="">
            <a:extLst xmlns:a="http://schemas.openxmlformats.org/drawingml/2006/main">
              <a:ext uri="{FF2B5EF4-FFF2-40B4-BE49-F238E27FC236}">
                <a16:creationId xmlns:a16="http://schemas.microsoft.com/office/drawing/2014/main" id="{C877DAFA-D1AE-4F60-B9A4-04414AC2B4CD}"/>
              </a:ext>
            </a:extLst>
          </p:cNvPr>
          <p:cNvSpPr>
            <a:spLocks xmlns:a="http://schemas.openxmlformats.org/drawingml/2006/main" noGrp="1"/>
          </p:cNvSpPr>
          <p:nvPr/>
        </p:nvSpPr>
        <p:spPr>
          <a:xfrm xmlns:a="http://schemas.openxmlformats.org/drawingml/2006/main">
            <a:off x="8515350" y="19716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System User Management</a:t>
            </a:r>
          </a:p>
        </p:txBody>
      </p:sp>
      <p:sp>
        <p:nvSpPr>
          <p:cNvPr id="49" name="">
            <a:extLst xmlns:a="http://schemas.openxmlformats.org/drawingml/2006/main">
              <a:ext uri="{FF2B5EF4-FFF2-40B4-BE49-F238E27FC236}">
                <a16:creationId xmlns:a16="http://schemas.microsoft.com/office/drawing/2014/main" id="{C0E020D2-5105-4A57-B4F5-B655C3198333}"/>
              </a:ext>
            </a:extLst>
          </p:cNvPr>
          <p:cNvSpPr>
            <a:spLocks xmlns:a="http://schemas.openxmlformats.org/drawingml/2006/main" noGrp="1"/>
          </p:cNvSpPr>
          <p:nvPr/>
        </p:nvSpPr>
        <p:spPr>
          <a:xfrm xmlns:a="http://schemas.openxmlformats.org/drawingml/2006/main">
            <a:off x="8515350" y="24574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0" name="">
            <a:extLst xmlns:a="http://schemas.openxmlformats.org/drawingml/2006/main">
              <a:ext uri="{FF2B5EF4-FFF2-40B4-BE49-F238E27FC236}">
                <a16:creationId xmlns:a16="http://schemas.microsoft.com/office/drawing/2014/main" id="{08439A58-B219-40C6-BB43-7901C2CDFBCC}"/>
              </a:ext>
            </a:extLst>
          </p:cNvPr>
          <p:cNvSpPr>
            <a:spLocks xmlns:a="http://schemas.openxmlformats.org/drawingml/2006/main" noGrp="1"/>
          </p:cNvSpPr>
          <p:nvPr/>
        </p:nvSpPr>
        <p:spPr>
          <a:xfrm xmlns:a="http://schemas.openxmlformats.org/drawingml/2006/main">
            <a:off x="8058150" y="25241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51" name="">
            <a:extLst xmlns:a="http://schemas.openxmlformats.org/drawingml/2006/main">
              <a:ext uri="{FF2B5EF4-FFF2-40B4-BE49-F238E27FC236}">
                <a16:creationId xmlns:a16="http://schemas.microsoft.com/office/drawing/2014/main" id="{2C298F5F-F1F4-4E5A-AD08-8FA93EA685CA}"/>
              </a:ext>
            </a:extLst>
          </p:cNvPr>
          <p:cNvSpPr>
            <a:spLocks xmlns:a="http://schemas.openxmlformats.org/drawingml/2006/main" noGrp="1"/>
          </p:cNvSpPr>
          <p:nvPr/>
        </p:nvSpPr>
        <p:spPr>
          <a:xfrm xmlns:a="http://schemas.openxmlformats.org/drawingml/2006/main">
            <a:off x="8515350" y="25241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Hazard Creation</a:t>
            </a:r>
          </a:p>
        </p:txBody>
      </p:sp>
      <p:sp>
        <p:nvSpPr>
          <p:cNvPr id="52" name="">
            <a:extLst xmlns:a="http://schemas.openxmlformats.org/drawingml/2006/main">
              <a:ext uri="{FF2B5EF4-FFF2-40B4-BE49-F238E27FC236}">
                <a16:creationId xmlns:a16="http://schemas.microsoft.com/office/drawing/2014/main" id="{50A4826C-F911-40E3-B9BC-4341351812C4}"/>
              </a:ext>
            </a:extLst>
          </p:cNvPr>
          <p:cNvSpPr>
            <a:spLocks xmlns:a="http://schemas.openxmlformats.org/drawingml/2006/main" noGrp="1"/>
          </p:cNvSpPr>
          <p:nvPr/>
        </p:nvSpPr>
        <p:spPr>
          <a:xfrm xmlns:a="http://schemas.openxmlformats.org/drawingml/2006/main">
            <a:off x="8515350" y="30099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3" name="">
            <a:extLst xmlns:a="http://schemas.openxmlformats.org/drawingml/2006/main">
              <a:ext uri="{FF2B5EF4-FFF2-40B4-BE49-F238E27FC236}">
                <a16:creationId xmlns:a16="http://schemas.microsoft.com/office/drawing/2014/main" id="{D73F9972-6137-44FD-9B81-908DBDC7EB15}"/>
              </a:ext>
            </a:extLst>
          </p:cNvPr>
          <p:cNvSpPr>
            <a:spLocks xmlns:a="http://schemas.openxmlformats.org/drawingml/2006/main" noGrp="1"/>
          </p:cNvSpPr>
          <p:nvPr/>
        </p:nvSpPr>
        <p:spPr>
          <a:xfrm xmlns:a="http://schemas.openxmlformats.org/drawingml/2006/main">
            <a:off x="8058150" y="30765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54" name="">
            <a:extLst xmlns:a="http://schemas.openxmlformats.org/drawingml/2006/main">
              <a:ext uri="{FF2B5EF4-FFF2-40B4-BE49-F238E27FC236}">
                <a16:creationId xmlns:a16="http://schemas.microsoft.com/office/drawing/2014/main" id="{A4DEF76C-9394-4CD6-B813-B00C86690243}"/>
              </a:ext>
            </a:extLst>
          </p:cNvPr>
          <p:cNvSpPr>
            <a:spLocks xmlns:a="http://schemas.openxmlformats.org/drawingml/2006/main" noGrp="1"/>
          </p:cNvSpPr>
          <p:nvPr/>
        </p:nvSpPr>
        <p:spPr>
          <a:xfrm xmlns:a="http://schemas.openxmlformats.org/drawingml/2006/main">
            <a:off x="8515350" y="30765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Situation Report Generation</a:t>
            </a:r>
          </a:p>
        </p:txBody>
      </p:sp>
      <p:sp>
        <p:nvSpPr>
          <p:cNvPr id="55" name="">
            <a:extLst xmlns:a="http://schemas.openxmlformats.org/drawingml/2006/main">
              <a:ext uri="{FF2B5EF4-FFF2-40B4-BE49-F238E27FC236}">
                <a16:creationId xmlns:a16="http://schemas.microsoft.com/office/drawing/2014/main" id="{CE5B0492-F5A1-43FB-BF8C-FB801040FAFE}"/>
              </a:ext>
            </a:extLst>
          </p:cNvPr>
          <p:cNvSpPr>
            <a:spLocks xmlns:a="http://schemas.openxmlformats.org/drawingml/2006/main" noGrp="1"/>
          </p:cNvSpPr>
          <p:nvPr/>
        </p:nvSpPr>
        <p:spPr>
          <a:xfrm xmlns:a="http://schemas.openxmlformats.org/drawingml/2006/main">
            <a:off x="8515350" y="35623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6" name="">
            <a:extLst xmlns:a="http://schemas.openxmlformats.org/drawingml/2006/main">
              <a:ext uri="{FF2B5EF4-FFF2-40B4-BE49-F238E27FC236}">
                <a16:creationId xmlns:a16="http://schemas.microsoft.com/office/drawing/2014/main" id="{F24FE714-087D-40E7-A252-0DF3AB150677}"/>
              </a:ext>
            </a:extLst>
          </p:cNvPr>
          <p:cNvSpPr>
            <a:spLocks xmlns:a="http://schemas.openxmlformats.org/drawingml/2006/main" noGrp="1"/>
          </p:cNvSpPr>
          <p:nvPr/>
        </p:nvSpPr>
        <p:spPr>
          <a:xfrm xmlns:a="http://schemas.openxmlformats.org/drawingml/2006/main">
            <a:off x="8058150" y="36290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57" name="">
            <a:extLst xmlns:a="http://schemas.openxmlformats.org/drawingml/2006/main">
              <a:ext uri="{FF2B5EF4-FFF2-40B4-BE49-F238E27FC236}">
                <a16:creationId xmlns:a16="http://schemas.microsoft.com/office/drawing/2014/main" id="{26280FD6-9FFF-4807-AE53-03D04F2C1FB2}"/>
              </a:ext>
            </a:extLst>
          </p:cNvPr>
          <p:cNvSpPr>
            <a:spLocks xmlns:a="http://schemas.openxmlformats.org/drawingml/2006/main" noGrp="1"/>
          </p:cNvSpPr>
          <p:nvPr/>
        </p:nvSpPr>
        <p:spPr>
          <a:xfrm xmlns:a="http://schemas.openxmlformats.org/drawingml/2006/main">
            <a:off x="8515350" y="36290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Situation Report Historical Catalog</a:t>
            </a:r>
          </a:p>
        </p:txBody>
      </p:sp>
      <p:sp>
        <p:nvSpPr>
          <p:cNvPr id="58" name="">
            <a:extLst xmlns:a="http://schemas.openxmlformats.org/drawingml/2006/main">
              <a:ext uri="{FF2B5EF4-FFF2-40B4-BE49-F238E27FC236}">
                <a16:creationId xmlns:a16="http://schemas.microsoft.com/office/drawing/2014/main" id="{1E365E0B-F3C7-4BD3-8BAF-3D60610EA578}"/>
              </a:ext>
            </a:extLst>
          </p:cNvPr>
          <p:cNvSpPr>
            <a:spLocks xmlns:a="http://schemas.openxmlformats.org/drawingml/2006/main" noGrp="1"/>
          </p:cNvSpPr>
          <p:nvPr/>
        </p:nvSpPr>
        <p:spPr>
          <a:xfrm xmlns:a="http://schemas.openxmlformats.org/drawingml/2006/main">
            <a:off x="8515350" y="41148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9" name="">
            <a:extLst xmlns:a="http://schemas.openxmlformats.org/drawingml/2006/main">
              <a:ext uri="{FF2B5EF4-FFF2-40B4-BE49-F238E27FC236}">
                <a16:creationId xmlns:a16="http://schemas.microsoft.com/office/drawing/2014/main" id="{3D4BD6BF-46AD-45BA-8EC5-0A04B4B0551D}"/>
              </a:ext>
            </a:extLst>
          </p:cNvPr>
          <p:cNvSpPr>
            <a:spLocks xmlns:a="http://schemas.openxmlformats.org/drawingml/2006/main" noGrp="1"/>
          </p:cNvSpPr>
          <p:nvPr/>
        </p:nvSpPr>
        <p:spPr>
          <a:xfrm xmlns:a="http://schemas.openxmlformats.org/drawingml/2006/main">
            <a:off x="8058150" y="41814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05</a:t>
            </a:r>
          </a:p>
        </p:txBody>
      </p:sp>
      <p:sp>
        <p:nvSpPr>
          <p:cNvPr id="60" name="">
            <a:extLst xmlns:a="http://schemas.openxmlformats.org/drawingml/2006/main">
              <a:ext uri="{FF2B5EF4-FFF2-40B4-BE49-F238E27FC236}">
                <a16:creationId xmlns:a16="http://schemas.microsoft.com/office/drawing/2014/main" id="{1A28988E-3E9C-4C08-9B30-1D9B8FCC1FE8}"/>
              </a:ext>
            </a:extLst>
          </p:cNvPr>
          <p:cNvSpPr>
            <a:spLocks xmlns:a="http://schemas.openxmlformats.org/drawingml/2006/main" noGrp="1"/>
          </p:cNvSpPr>
          <p:nvPr/>
        </p:nvSpPr>
        <p:spPr>
          <a:xfrm xmlns:a="http://schemas.openxmlformats.org/drawingml/2006/main">
            <a:off x="8515350" y="41814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System Dashboard</a:t>
            </a:r>
          </a:p>
        </p:txBody>
      </p:sp>
      <p:sp>
        <p:nvSpPr>
          <p:cNvPr id="61" name="">
            <a:extLst xmlns:a="http://schemas.openxmlformats.org/drawingml/2006/main">
              <a:ext uri="{FF2B5EF4-FFF2-40B4-BE49-F238E27FC236}">
                <a16:creationId xmlns:a16="http://schemas.microsoft.com/office/drawing/2014/main" id="{4B21D00B-023A-448D-B474-E3A6E0C44FF3}"/>
              </a:ext>
            </a:extLst>
          </p:cNvPr>
          <p:cNvSpPr>
            <a:spLocks xmlns:a="http://schemas.openxmlformats.org/drawingml/2006/main" noGrp="1"/>
          </p:cNvSpPr>
          <p:nvPr/>
        </p:nvSpPr>
        <p:spPr>
          <a:xfrm xmlns:a="http://schemas.openxmlformats.org/drawingml/2006/main">
            <a:off x="933450" y="55626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Verification decisions remain human decisions at each authorized level.</a:t>
            </a:r>
          </a:p>
        </p:txBody>
      </p:sp>
    </p:spTree>
    <p:extLst>
      <p:ext uri="{BB962C8B-B14F-4D97-AF65-F5344CB8AC3E}">
        <p14:creationId xmlns:p14="http://schemas.microsoft.com/office/powerpoint/2010/main" val="1232988223"/>
      </p:ext>
    </p:extLst>
  </p:cSld>
</p:sld>
</file>

<file path=ppt/slides/slide1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16D1B05-F693-4AF0-B862-CC3AF0FC243C}"/>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1210C2-D60B-4EDF-9D30-57BA97205DDB}"/>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EXISTING SYSTEMS</a:t>
            </a:r>
          </a:p>
        </p:txBody>
      </p:sp>
      <p:sp>
        <p:nvSpPr>
          <p:cNvPr id="3" name="">
            <a:extLst xmlns:a="http://schemas.openxmlformats.org/drawingml/2006/main">
              <a:ext uri="{FF2B5EF4-FFF2-40B4-BE49-F238E27FC236}">
                <a16:creationId xmlns:a16="http://schemas.microsoft.com/office/drawing/2014/main" id="{6248DD7E-30EA-4C87-AE74-F05EF7C5A084}"/>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Related systems solve different parts of the reporting problem</a:t>
            </a:r>
          </a:p>
        </p:txBody>
      </p:sp>
      <p:sp>
        <p:nvSpPr>
          <p:cNvPr id="4" name="">
            <a:extLst xmlns:a="http://schemas.openxmlformats.org/drawingml/2006/main">
              <a:ext uri="{FF2B5EF4-FFF2-40B4-BE49-F238E27FC236}">
                <a16:creationId xmlns:a16="http://schemas.microsoft.com/office/drawing/2014/main" id="{176DF93A-0E09-4ED8-BD62-A3DA3F35E902}"/>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AFC09F96-93AA-4E67-8078-8BE931AE23C6}"/>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Sections 2.6–2.7 and Table 1</a:t>
            </a:r>
          </a:p>
        </p:txBody>
      </p:sp>
      <p:sp>
        <p:nvSpPr>
          <p:cNvPr id="6" name="">
            <a:extLst xmlns:a="http://schemas.openxmlformats.org/drawingml/2006/main">
              <a:ext uri="{FF2B5EF4-FFF2-40B4-BE49-F238E27FC236}">
                <a16:creationId xmlns:a16="http://schemas.microsoft.com/office/drawing/2014/main" id="{EE9F0450-E639-4DE4-848D-9DC6EAD071DB}"/>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15</a:t>
            </a:r>
          </a:p>
        </p:txBody>
      </p:sp>
      <p:graphicFrame>
        <p:nvGraphicFramePr>
          <p:cNvPr id="15" name=""/>
          <p:cNvGraphicFramePr/>
          <p:nvPr/>
        </p:nvGraphicFramePr>
        <p:xfrm>
          <a:off xmlns:a="http://schemas.openxmlformats.org/drawingml/2006/main" x="895350" y="1438275"/>
          <a:ext xmlns:a="http://schemas.openxmlformats.org/drawingml/2006/main" cx="10401300" cy="4000500"/>
        </p:xfrm>
        <a:graphic xmlns:a="http://schemas.openxmlformats.org/drawingml/2006/main">
          <a:graphicData uri="http://schemas.openxmlformats.org/drawingml/2006/table">
            <a:tbl>
              <a:tblPr/>
              <a:tblGrid>
                <a:gridCol w="2095500"/>
                <a:gridCol w="3943350"/>
                <a:gridCol w="4362450"/>
              </a:tblGrid>
              <a:tr h="533400">
                <a:tc>
                  <a:txBody>
                    <a:bodyPr wrap="square" lIns="104775" tIns="66675" rIns="104775" bIns="66675">
                      <a:normAutofit/>
                    </a:bodyPr>
                    <a:lstStyle/>
                    <a:p>
                      <a:pPr algn="l"/>
                      <a:r>
                        <a:rPr sz="1313" b="1">
                          <a:solidFill>
                            <a:srgbClr val="FFFFFF"/>
                          </a:solidFill>
                          <a:latin typeface="Lexend"/>
                          <a:ea typeface="Lexend"/>
                          <a:cs typeface="Lexend"/>
                        </a:rPr>
                        <a:t>System reviewed</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Focus described in the paper</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Relevance to the proposed system</a:t>
                      </a:r>
                    </a:p>
                  </a:txBody>
                  <a:tcPr marL="91440" marR="91440" marT="45720" marB="45720" anchor="ctr">
                    <a:solidFill>
                      <a:srgbClr val="252D30"/>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Bandilyo App</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Mobile incident reporting, geolocation and SMS-based communication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distinguishes its proposed tiered verification and SitRep lifecycle</a:t>
                      </a:r>
                    </a:p>
                  </a:txBody>
                  <a:tcPr marL="91440" marR="91440" marT="45720" marB="45720" anchor="ctr">
                    <a:solidFill>
                      <a:srgbClr val="FFFFFF"/>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AGAPP</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Near-real-time disaster information reporting with basic review</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identifies a gap in standardized, retrievable SitRep history</a:t>
                      </a:r>
                    </a:p>
                  </a:txBody>
                  <a:tcPr marL="91440" marR="91440" marT="45720" marB="45720" anchor="ctr">
                    <a:solidFill>
                      <a:srgbClr val="E9ECE8"/>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IRespondPH</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Citizen reporting, LGU review, public-facing information and heatmaps</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focuses the proposal on administrative jurisdictional reporting and template-based SitReps</a:t>
                      </a:r>
                    </a:p>
                  </a:txBody>
                  <a:tcPr marL="91440" marR="91440" marT="45720" marB="45720" anchor="ctr">
                    <a:solidFill>
                      <a:srgbClr val="FFFFFF"/>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Mamamayan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Resident reports routed to an emergency operations center for response</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focuses the proposal on formal SitRep preparation and report history</a:t>
                      </a:r>
                    </a:p>
                  </a:txBody>
                  <a:tcPr marL="91440" marR="91440" marT="45720" marB="45720" anchor="ctr">
                    <a:solidFill>
                      <a:srgbClr val="E9ECE8"/>
                    </a:solidFill>
                  </a:tcPr>
                </a:tc>
              </a:tr>
            </a:tbl>
          </a:graphicData>
        </a:graphic>
      </p:graphicFrame>
      <p:sp>
        <p:nvSpPr>
          <p:cNvPr id="8" name="">
            <a:extLst xmlns:a="http://schemas.openxmlformats.org/drawingml/2006/main">
              <a:ext uri="{FF2B5EF4-FFF2-40B4-BE49-F238E27FC236}">
                <a16:creationId xmlns:a16="http://schemas.microsoft.com/office/drawing/2014/main" id="{28B3CC89-886D-4EA1-BB4A-1F2B0438AD94}"/>
              </a:ext>
            </a:extLst>
          </p:cNvPr>
          <p:cNvSpPr>
            <a:spLocks xmlns:a="http://schemas.openxmlformats.org/drawingml/2006/main" noGrp="1"/>
          </p:cNvSpPr>
          <p:nvPr/>
        </p:nvSpPr>
        <p:spPr>
          <a:xfrm xmlns:a="http://schemas.openxmlformats.org/drawingml/2006/main">
            <a:off x="933450" y="55435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0">
                <a:solidFill>
                  <a:srgbClr val="59676A"/>
                </a:solidFill>
                <a:latin typeface="Source Sans 3"/>
                <a:ea typeface="Source Sans 3"/>
                <a:cs typeface="Source Sans 3"/>
              </a:defRPr>
            </a:pPr>
            <a:r>
              <a:rPr sz="1200" b="0">
                <a:solidFill>
                  <a:srgbClr val="59676A"/>
                </a:solidFill>
                <a:latin typeface="Source Sans 3"/>
                <a:ea typeface="Source Sans 3"/>
                <a:cs typeface="Source Sans 3"/>
              </a:rPr>
              <a:t>Comparison is limited to the related work reviewed in the manuscript.</a:t>
            </a:r>
          </a:p>
        </p:txBody>
      </p:sp>
    </p:spTree>
    <p:extLst>
      <p:ext uri="{BB962C8B-B14F-4D97-AF65-F5344CB8AC3E}">
        <p14:creationId xmlns:p14="http://schemas.microsoft.com/office/powerpoint/2010/main" val="1285013476"/>
      </p:ext>
    </p:extLst>
  </p:cSld>
</p:sld>
</file>

<file path=ppt/slides/slide1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CEF085-DB57-461C-A01B-1027629687E5}"/>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39DCE7-5F10-4074-83F2-E184B02E1EB2}"/>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PROBLEM, OBJECTIVES, AND METHODS</a:t>
            </a:r>
          </a:p>
        </p:txBody>
      </p:sp>
      <p:sp>
        <p:nvSpPr>
          <p:cNvPr id="3" name="">
            <a:extLst xmlns:a="http://schemas.openxmlformats.org/drawingml/2006/main">
              <a:ext uri="{FF2B5EF4-FFF2-40B4-BE49-F238E27FC236}">
                <a16:creationId xmlns:a16="http://schemas.microsoft.com/office/drawing/2014/main" id="{6D3B7BB8-1465-4C66-A80D-2AC0FA53D89D}"/>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matrix links each problem to its objective and method</a:t>
            </a:r>
          </a:p>
        </p:txBody>
      </p:sp>
      <p:sp>
        <p:nvSpPr>
          <p:cNvPr id="4" name="">
            <a:extLst xmlns:a="http://schemas.openxmlformats.org/drawingml/2006/main">
              <a:ext uri="{FF2B5EF4-FFF2-40B4-BE49-F238E27FC236}">
                <a16:creationId xmlns:a16="http://schemas.microsoft.com/office/drawing/2014/main" id="{F06C49B0-3820-41FA-A05E-3906B1185086}"/>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AF4B3DC0-BDE9-41DC-A406-5C673E2BD179}"/>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Statement of the Problem, Specific Objectives and proposed-system workflow</a:t>
            </a:r>
          </a:p>
        </p:txBody>
      </p:sp>
      <p:sp>
        <p:nvSpPr>
          <p:cNvPr id="6" name="">
            <a:extLst xmlns:a="http://schemas.openxmlformats.org/drawingml/2006/main">
              <a:ext uri="{FF2B5EF4-FFF2-40B4-BE49-F238E27FC236}">
                <a16:creationId xmlns:a16="http://schemas.microsoft.com/office/drawing/2014/main" id="{AC2C5112-C72B-4ABD-80BE-81C1948E4D09}"/>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16</a:t>
            </a:r>
          </a:p>
        </p:txBody>
      </p:sp>
      <p:graphicFrame>
        <p:nvGraphicFramePr>
          <p:cNvPr id="15" name=""/>
          <p:cNvGraphicFramePr/>
          <p:nvPr/>
        </p:nvGraphicFramePr>
        <p:xfrm>
          <a:off xmlns:a="http://schemas.openxmlformats.org/drawingml/2006/main" x="895350" y="1409700"/>
          <a:ext xmlns:a="http://schemas.openxmlformats.org/drawingml/2006/main" cx="10401300" cy="4029075"/>
        </p:xfrm>
        <a:graphic xmlns:a="http://schemas.openxmlformats.org/drawingml/2006/main">
          <a:graphicData uri="http://schemas.openxmlformats.org/drawingml/2006/table">
            <a:tbl>
              <a:tblPr/>
              <a:tblGrid>
                <a:gridCol w="2238375"/>
                <a:gridCol w="3476625"/>
                <a:gridCol w="4686300"/>
              </a:tblGrid>
              <a:tr h="533400">
                <a:tc>
                  <a:txBody>
                    <a:bodyPr wrap="square" lIns="104775" tIns="66675" rIns="104775" bIns="66675">
                      <a:normAutofit/>
                    </a:bodyPr>
                    <a:lstStyle/>
                    <a:p>
                      <a:pPr algn="l"/>
                      <a:r>
                        <a:rPr sz="1350" b="1">
                          <a:solidFill>
                            <a:srgbClr val="FFFFFF"/>
                          </a:solidFill>
                          <a:latin typeface="Lexend"/>
                          <a:ea typeface="Lexend"/>
                          <a:cs typeface="Lexend"/>
                        </a:rPr>
                        <a:t>Problem</a:t>
                      </a:r>
                    </a:p>
                  </a:txBody>
                  <a:tcPr marL="91440" marR="91440" marT="45720" marB="45720" anchor="ctr">
                    <a:solidFill>
                      <a:srgbClr val="252D30"/>
                    </a:solidFill>
                  </a:tcPr>
                </a:tc>
                <a:tc>
                  <a:txBody>
                    <a:bodyPr wrap="square" lIns="104775" tIns="66675" rIns="104775" bIns="66675">
                      <a:normAutofit/>
                    </a:bodyPr>
                    <a:lstStyle/>
                    <a:p>
                      <a:pPr algn="l"/>
                      <a:r>
                        <a:rPr sz="1350" b="1">
                          <a:solidFill>
                            <a:srgbClr val="FFFFFF"/>
                          </a:solidFill>
                          <a:latin typeface="Lexend"/>
                          <a:ea typeface="Lexend"/>
                          <a:cs typeface="Lexend"/>
                        </a:rPr>
                        <a:t>Objective</a:t>
                      </a:r>
                    </a:p>
                  </a:txBody>
                  <a:tcPr marL="91440" marR="91440" marT="45720" marB="45720" anchor="ctr">
                    <a:solidFill>
                      <a:srgbClr val="252D30"/>
                    </a:solidFill>
                  </a:tcPr>
                </a:tc>
                <a:tc>
                  <a:txBody>
                    <a:bodyPr wrap="square" lIns="104775" tIns="66675" rIns="104775" bIns="66675">
                      <a:normAutofit/>
                    </a:bodyPr>
                    <a:lstStyle/>
                    <a:p>
                      <a:pPr algn="l"/>
                      <a:r>
                        <a:rPr sz="1350" b="1">
                          <a:solidFill>
                            <a:srgbClr val="FFFFFF"/>
                          </a:solidFill>
                          <a:latin typeface="Lexend"/>
                          <a:ea typeface="Lexend"/>
                          <a:cs typeface="Lexend"/>
                        </a:rPr>
                        <a:t>Method</a:t>
                      </a:r>
                    </a:p>
                  </a:txBody>
                  <a:tcPr marL="91440" marR="91440" marT="45720" marB="45720" anchor="ctr">
                    <a:solidFill>
                      <a:srgbClr val="252D30"/>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Communication delay</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Streamline submission and status tracking</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Role-based online submission routed upward from Purok through Barangay to DRRM.</a:t>
                      </a:r>
                    </a:p>
                  </a:txBody>
                  <a:tcPr marL="91440" marR="91440" marT="45720" marB="45720" anchor="ctr">
                    <a:solidFill>
                      <a:srgbClr val="FFFFFF"/>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Manual record management</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Reduce repeated handling and support report preparation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Centralized records with report history and editable SitRep drafts.</a:t>
                      </a:r>
                    </a:p>
                  </a:txBody>
                  <a:tcPr marL="91440" marR="91440" marT="45720" marB="45720" anchor="ctr">
                    <a:solidFill>
                      <a:srgbClr val="E9ECE8"/>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Limited data sharing</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Provide authorized access to information needed for consolidation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Role- and jurisdiction-based access to source-attributed records and dashboards.</a:t>
                      </a:r>
                    </a:p>
                  </a:txBody>
                  <a:tcPr marL="91440" marR="91440" marT="45720" marB="45720" anchor="ctr">
                    <a:solidFill>
                      <a:srgbClr val="FFFFFF"/>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Inefficient verification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Improve completeness and traceability of review</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Staged human review supported by completeness and consistency checks, recorded decisions and correction reasons.</a:t>
                      </a:r>
                    </a:p>
                  </a:txBody>
                  <a:tcPr marL="91440" marR="91440" marT="45720" marB="45720" anchor="ctr">
                    <a:solidFill>
                      <a:srgbClr val="E9ECE8"/>
                    </a:solidFill>
                  </a:tcPr>
                </a:tc>
              </a:tr>
            </a:tbl>
          </a:graphicData>
        </a:graphic>
      </p:graphicFrame>
      <p:sp>
        <p:nvSpPr>
          <p:cNvPr id="8" name="">
            <a:extLst xmlns:a="http://schemas.openxmlformats.org/drawingml/2006/main">
              <a:ext uri="{FF2B5EF4-FFF2-40B4-BE49-F238E27FC236}">
                <a16:creationId xmlns:a16="http://schemas.microsoft.com/office/drawing/2014/main" id="{0E143458-5DB1-4FBD-9B5C-AAA5D911098F}"/>
              </a:ext>
            </a:extLst>
          </p:cNvPr>
          <p:cNvSpPr>
            <a:spLocks xmlns:a="http://schemas.openxmlformats.org/drawingml/2006/main" noGrp="1"/>
          </p:cNvSpPr>
          <p:nvPr/>
        </p:nvSpPr>
        <p:spPr>
          <a:xfrm xmlns:a="http://schemas.openxmlformats.org/drawingml/2006/main">
            <a:off x="933450" y="55816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Source Sans 3"/>
                <a:ea typeface="Source Sans 3"/>
                <a:cs typeface="Source Sans 3"/>
              </a:defRPr>
            </a:pPr>
            <a:r>
              <a:rPr sz="1350" b="1">
                <a:solidFill>
                  <a:srgbClr val="276E6B"/>
                </a:solidFill>
                <a:latin typeface="Source Sans 3"/>
                <a:ea typeface="Source Sans 3"/>
                <a:cs typeface="Source Sans 3"/>
              </a:rPr>
              <a:t>Automated checks support completeness and consistency. Human reviewers decide factual accuracy.</a:t>
            </a:r>
          </a:p>
        </p:txBody>
      </p:sp>
    </p:spTree>
    <p:extLst>
      <p:ext uri="{BB962C8B-B14F-4D97-AF65-F5344CB8AC3E}">
        <p14:creationId xmlns:p14="http://schemas.microsoft.com/office/powerpoint/2010/main" val="388367412"/>
      </p:ext>
    </p:extLst>
  </p:cSld>
</p:sld>
</file>

<file path=ppt/slides/slide1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31F89DA-BD95-43D1-9C44-3101A10233FE}"/>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A55193-21B2-4910-BA1E-4D42279ABD01}"/>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USERS AND CHARACTERISTICS</a:t>
            </a:r>
          </a:p>
        </p:txBody>
      </p:sp>
      <p:sp>
        <p:nvSpPr>
          <p:cNvPr id="3" name="">
            <a:extLst xmlns:a="http://schemas.openxmlformats.org/drawingml/2006/main">
              <a:ext uri="{FF2B5EF4-FFF2-40B4-BE49-F238E27FC236}">
                <a16:creationId xmlns:a16="http://schemas.microsoft.com/office/drawing/2014/main" id="{B338C4FD-C3A5-4747-87FC-ACDEDD145013}"/>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interface follows each role's work and device context</a:t>
            </a:r>
          </a:p>
        </p:txBody>
      </p:sp>
      <p:sp>
        <p:nvSpPr>
          <p:cNvPr id="4" name="">
            <a:extLst xmlns:a="http://schemas.openxmlformats.org/drawingml/2006/main">
              <a:ext uri="{FF2B5EF4-FFF2-40B4-BE49-F238E27FC236}">
                <a16:creationId xmlns:a16="http://schemas.microsoft.com/office/drawing/2014/main" id="{76C35206-FD0A-4373-8C16-B8CD212CF08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B490303-AAE2-497D-A4C8-F941CAC6B956}"/>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Table 2, Scope and module descriptions</a:t>
            </a:r>
          </a:p>
        </p:txBody>
      </p:sp>
      <p:sp>
        <p:nvSpPr>
          <p:cNvPr id="6" name="">
            <a:extLst xmlns:a="http://schemas.openxmlformats.org/drawingml/2006/main">
              <a:ext uri="{FF2B5EF4-FFF2-40B4-BE49-F238E27FC236}">
                <a16:creationId xmlns:a16="http://schemas.microsoft.com/office/drawing/2014/main" id="{B31CDDA4-BE5F-4ECA-8565-291D8DF8D2C9}"/>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17</a:t>
            </a:r>
          </a:p>
        </p:txBody>
      </p:sp>
      <p:sp>
        <p:nvSpPr>
          <p:cNvPr id="7" name="">
            <a:extLst xmlns:a="http://schemas.openxmlformats.org/drawingml/2006/main">
              <a:ext uri="{FF2B5EF4-FFF2-40B4-BE49-F238E27FC236}">
                <a16:creationId xmlns:a16="http://schemas.microsoft.com/office/drawing/2014/main" id="{E834751C-BDAF-431A-AE8D-076085E6E792}"/>
              </a:ext>
            </a:extLst>
          </p:cNvPr>
          <p:cNvSpPr>
            <a:spLocks xmlns:a="http://schemas.openxmlformats.org/drawingml/2006/main" noGrp="1"/>
          </p:cNvSpPr>
          <p:nvPr/>
        </p:nvSpPr>
        <p:spPr>
          <a:xfrm xmlns:a="http://schemas.openxmlformats.org/drawingml/2006/main">
            <a:off x="933450" y="1466850"/>
            <a:ext cx="2552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PUROK PERSONNEL</a:t>
            </a:r>
          </a:p>
        </p:txBody>
      </p:sp>
      <p:sp>
        <p:nvSpPr>
          <p:cNvPr id="8" name="">
            <a:extLst xmlns:a="http://schemas.openxmlformats.org/drawingml/2006/main">
              <a:ext uri="{FF2B5EF4-FFF2-40B4-BE49-F238E27FC236}">
                <a16:creationId xmlns:a16="http://schemas.microsoft.com/office/drawing/2014/main" id="{B60750CB-5B16-4E67-970F-CC9E11B1A107}"/>
              </a:ext>
            </a:extLst>
          </p:cNvPr>
          <p:cNvSpPr>
            <a:spLocks xmlns:a="http://schemas.openxmlformats.org/drawingml/2006/main" noGrp="1"/>
          </p:cNvSpPr>
          <p:nvPr/>
        </p:nvSpPr>
        <p:spPr>
          <a:xfrm xmlns:a="http://schemas.openxmlformats.org/drawingml/2006/main">
            <a:off x="3695700" y="1457325"/>
            <a:ext cx="742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Mobile-first browser use. Enters aggregate community profile values and initial incident information. Tracks submission status and corrections.</a:t>
            </a:r>
          </a:p>
        </p:txBody>
      </p:sp>
      <p:sp>
        <p:nvSpPr>
          <p:cNvPr id="9" name="">
            <a:extLst xmlns:a="http://schemas.openxmlformats.org/drawingml/2006/main">
              <a:ext uri="{FF2B5EF4-FFF2-40B4-BE49-F238E27FC236}">
                <a16:creationId xmlns:a16="http://schemas.microsoft.com/office/drawing/2014/main" id="{93AD207F-BF1E-4F38-932B-50768094A337}"/>
              </a:ext>
            </a:extLst>
          </p:cNvPr>
          <p:cNvSpPr>
            <a:spLocks xmlns:a="http://schemas.openxmlformats.org/drawingml/2006/main" noGrp="1"/>
          </p:cNvSpPr>
          <p:nvPr/>
        </p:nvSpPr>
        <p:spPr>
          <a:xfrm xmlns:a="http://schemas.openxmlformats.org/drawingml/2006/main">
            <a:off x="933450" y="2428875"/>
            <a:ext cx="10210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BD4A7FE0-0605-49B1-884E-9F0395B99C87}"/>
              </a:ext>
            </a:extLst>
          </p:cNvPr>
          <p:cNvSpPr>
            <a:spLocks xmlns:a="http://schemas.openxmlformats.org/drawingml/2006/main" noGrp="1"/>
          </p:cNvSpPr>
          <p:nvPr/>
        </p:nvSpPr>
        <p:spPr>
          <a:xfrm xmlns:a="http://schemas.openxmlformats.org/drawingml/2006/main">
            <a:off x="933450" y="2771775"/>
            <a:ext cx="2552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BARANGAY PERSONNEL</a:t>
            </a:r>
          </a:p>
        </p:txBody>
      </p:sp>
      <p:sp>
        <p:nvSpPr>
          <p:cNvPr id="11" name="">
            <a:extLst xmlns:a="http://schemas.openxmlformats.org/drawingml/2006/main">
              <a:ext uri="{FF2B5EF4-FFF2-40B4-BE49-F238E27FC236}">
                <a16:creationId xmlns:a16="http://schemas.microsoft.com/office/drawing/2014/main" id="{B3935211-6E4F-42E9-BEC6-F8EE7603CA8D}"/>
              </a:ext>
            </a:extLst>
          </p:cNvPr>
          <p:cNvSpPr>
            <a:spLocks xmlns:a="http://schemas.openxmlformats.org/drawingml/2006/main" noGrp="1"/>
          </p:cNvSpPr>
          <p:nvPr/>
        </p:nvSpPr>
        <p:spPr>
          <a:xfrm xmlns:a="http://schemas.openxmlformats.org/drawingml/2006/main">
            <a:off x="3695700" y="2762250"/>
            <a:ext cx="742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Mobile and desktop browser use. Reviews Purok submissions, consolidates verified data, adds Barangay-level assessment and tracks report history.</a:t>
            </a:r>
          </a:p>
        </p:txBody>
      </p:sp>
      <p:sp>
        <p:nvSpPr>
          <p:cNvPr id="12" name="">
            <a:extLst xmlns:a="http://schemas.openxmlformats.org/drawingml/2006/main">
              <a:ext uri="{FF2B5EF4-FFF2-40B4-BE49-F238E27FC236}">
                <a16:creationId xmlns:a16="http://schemas.microsoft.com/office/drawing/2014/main" id="{0EBD0799-CC96-46A4-8B74-4093B6409476}"/>
              </a:ext>
            </a:extLst>
          </p:cNvPr>
          <p:cNvSpPr>
            <a:spLocks xmlns:a="http://schemas.openxmlformats.org/drawingml/2006/main" noGrp="1"/>
          </p:cNvSpPr>
          <p:nvPr/>
        </p:nvSpPr>
        <p:spPr>
          <a:xfrm xmlns:a="http://schemas.openxmlformats.org/drawingml/2006/main">
            <a:off x="933450" y="3733800"/>
            <a:ext cx="10210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6A679135-16C7-4000-8C2C-FDA9943B0830}"/>
              </a:ext>
            </a:extLst>
          </p:cNvPr>
          <p:cNvSpPr>
            <a:spLocks xmlns:a="http://schemas.openxmlformats.org/drawingml/2006/main" noGrp="1"/>
          </p:cNvSpPr>
          <p:nvPr/>
        </p:nvSpPr>
        <p:spPr>
          <a:xfrm xmlns:a="http://schemas.openxmlformats.org/drawingml/2006/main">
            <a:off x="933450" y="4076700"/>
            <a:ext cx="2552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DRRM ADMINISTRATOR</a:t>
            </a:r>
          </a:p>
        </p:txBody>
      </p:sp>
      <p:sp>
        <p:nvSpPr>
          <p:cNvPr id="14" name="">
            <a:extLst xmlns:a="http://schemas.openxmlformats.org/drawingml/2006/main">
              <a:ext uri="{FF2B5EF4-FFF2-40B4-BE49-F238E27FC236}">
                <a16:creationId xmlns:a16="http://schemas.microsoft.com/office/drawing/2014/main" id="{14526A15-E623-4E65-AED7-6DE28BCD4224}"/>
              </a:ext>
            </a:extLst>
          </p:cNvPr>
          <p:cNvSpPr>
            <a:spLocks xmlns:a="http://schemas.openxmlformats.org/drawingml/2006/main" noGrp="1"/>
          </p:cNvSpPr>
          <p:nvPr/>
        </p:nvSpPr>
        <p:spPr>
          <a:xfrm xmlns:a="http://schemas.openxmlformats.org/drawingml/2006/main">
            <a:off x="3695700" y="4067175"/>
            <a:ext cx="742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Desktop-capable administrative work. Manages accounts and hazard types, verifies Barangay submissions, prepares SitReps and views system-level summaries.</a:t>
            </a:r>
          </a:p>
        </p:txBody>
      </p:sp>
    </p:spTree>
    <p:extLst>
      <p:ext uri="{BB962C8B-B14F-4D97-AF65-F5344CB8AC3E}">
        <p14:creationId xmlns:p14="http://schemas.microsoft.com/office/powerpoint/2010/main" val="1991434288"/>
      </p:ext>
    </p:extLst>
  </p:cSld>
</p:sld>
</file>

<file path=ppt/slides/slide1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70FA095C-9B98-432D-B93D-B0F3245FA5A9}"/>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1C591C-F09C-4151-B463-35B240E085D3}"/>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SCOPE AND LIMITATIONS</a:t>
            </a:r>
          </a:p>
        </p:txBody>
      </p:sp>
      <p:sp>
        <p:nvSpPr>
          <p:cNvPr id="3" name="">
            <a:extLst xmlns:a="http://schemas.openxmlformats.org/drawingml/2006/main">
              <a:ext uri="{FF2B5EF4-FFF2-40B4-BE49-F238E27FC236}">
                <a16:creationId xmlns:a16="http://schemas.microsoft.com/office/drawing/2014/main" id="{DAE2D5F4-55C1-4F13-A086-B47109D3506F}"/>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proposal covers response and recovery reporting</a:t>
            </a:r>
          </a:p>
        </p:txBody>
      </p:sp>
      <p:sp>
        <p:nvSpPr>
          <p:cNvPr id="4" name="">
            <a:extLst xmlns:a="http://schemas.openxmlformats.org/drawingml/2006/main">
              <a:ext uri="{FF2B5EF4-FFF2-40B4-BE49-F238E27FC236}">
                <a16:creationId xmlns:a16="http://schemas.microsoft.com/office/drawing/2014/main" id="{4A71D024-ADD9-4E4F-A163-F674C765DE28}"/>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1A6022F-31EB-48DD-9AE0-9E54BFC36E2C}"/>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Scope and Limitations</a:t>
            </a:r>
          </a:p>
        </p:txBody>
      </p:sp>
      <p:sp>
        <p:nvSpPr>
          <p:cNvPr id="6" name="">
            <a:extLst xmlns:a="http://schemas.openxmlformats.org/drawingml/2006/main">
              <a:ext uri="{FF2B5EF4-FFF2-40B4-BE49-F238E27FC236}">
                <a16:creationId xmlns:a16="http://schemas.microsoft.com/office/drawing/2014/main" id="{8559ABA5-3720-4E8F-BCBA-3A2F3EDD8FDB}"/>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18</a:t>
            </a:r>
          </a:p>
        </p:txBody>
      </p:sp>
      <p:sp>
        <p:nvSpPr>
          <p:cNvPr id="7" name="">
            <a:extLst xmlns:a="http://schemas.openxmlformats.org/drawingml/2006/main">
              <a:ext uri="{FF2B5EF4-FFF2-40B4-BE49-F238E27FC236}">
                <a16:creationId xmlns:a16="http://schemas.microsoft.com/office/drawing/2014/main" id="{478858BC-0678-4B5C-89B9-285A9D5599CA}"/>
              </a:ext>
            </a:extLst>
          </p:cNvPr>
          <p:cNvSpPr>
            <a:spLocks xmlns:a="http://schemas.openxmlformats.org/drawingml/2006/main" noGrp="1"/>
          </p:cNvSpPr>
          <p:nvPr/>
        </p:nvSpPr>
        <p:spPr>
          <a:xfrm xmlns:a="http://schemas.openxmlformats.org/drawingml/2006/main">
            <a:off x="933450" y="1438275"/>
            <a:ext cx="4619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IN SCOPE</a:t>
            </a:r>
          </a:p>
        </p:txBody>
      </p:sp>
      <p:sp>
        <p:nvSpPr>
          <p:cNvPr id="8" name="">
            <a:extLst xmlns:a="http://schemas.openxmlformats.org/drawingml/2006/main">
              <a:ext uri="{FF2B5EF4-FFF2-40B4-BE49-F238E27FC236}">
                <a16:creationId xmlns:a16="http://schemas.microsoft.com/office/drawing/2014/main" id="{3DC7C1F2-96A7-441F-BFF2-F1F008C6EFE0}"/>
              </a:ext>
            </a:extLst>
          </p:cNvPr>
          <p:cNvSpPr>
            <a:spLocks xmlns:a="http://schemas.openxmlformats.org/drawingml/2006/main" noGrp="1"/>
          </p:cNvSpPr>
          <p:nvPr/>
        </p:nvSpPr>
        <p:spPr>
          <a:xfrm xmlns:a="http://schemas.openxmlformats.org/drawingml/2006/main">
            <a:off x="933450" y="180975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9" name="">
            <a:extLst xmlns:a="http://schemas.openxmlformats.org/drawingml/2006/main">
              <a:ext uri="{FF2B5EF4-FFF2-40B4-BE49-F238E27FC236}">
                <a16:creationId xmlns:a16="http://schemas.microsoft.com/office/drawing/2014/main" id="{BCCA3DB9-B5FC-4694-9D26-7C69F7B18AEB}"/>
              </a:ext>
            </a:extLst>
          </p:cNvPr>
          <p:cNvSpPr>
            <a:spLocks xmlns:a="http://schemas.openxmlformats.org/drawingml/2006/main" noGrp="1"/>
          </p:cNvSpPr>
          <p:nvPr/>
        </p:nvSpPr>
        <p:spPr>
          <a:xfrm xmlns:a="http://schemas.openxmlformats.org/drawingml/2006/main">
            <a:off x="1390650" y="1809750"/>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Barangay and DRRM Administrator roles</a:t>
            </a:r>
          </a:p>
        </p:txBody>
      </p:sp>
      <p:sp>
        <p:nvSpPr>
          <p:cNvPr id="10" name="">
            <a:extLst xmlns:a="http://schemas.openxmlformats.org/drawingml/2006/main">
              <a:ext uri="{FF2B5EF4-FFF2-40B4-BE49-F238E27FC236}">
                <a16:creationId xmlns:a16="http://schemas.microsoft.com/office/drawing/2014/main" id="{1CA2096A-6EB7-4738-8CD1-697B1416B1EE}"/>
              </a:ext>
            </a:extLst>
          </p:cNvPr>
          <p:cNvSpPr>
            <a:spLocks xmlns:a="http://schemas.openxmlformats.org/drawingml/2006/main" noGrp="1"/>
          </p:cNvSpPr>
          <p:nvPr/>
        </p:nvSpPr>
        <p:spPr>
          <a:xfrm xmlns:a="http://schemas.openxmlformats.org/drawingml/2006/main">
            <a:off x="1390650" y="2476500"/>
            <a:ext cx="42291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52A0F4E8-7BCD-47B7-B614-478A60D5AAC9}"/>
              </a:ext>
            </a:extLst>
          </p:cNvPr>
          <p:cNvSpPr>
            <a:spLocks xmlns:a="http://schemas.openxmlformats.org/drawingml/2006/main" noGrp="1"/>
          </p:cNvSpPr>
          <p:nvPr/>
        </p:nvSpPr>
        <p:spPr>
          <a:xfrm xmlns:a="http://schemas.openxmlformats.org/drawingml/2006/main">
            <a:off x="933450" y="254317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784F5261-8A2E-4415-9D64-6585F940FB1B}"/>
              </a:ext>
            </a:extLst>
          </p:cNvPr>
          <p:cNvSpPr>
            <a:spLocks xmlns:a="http://schemas.openxmlformats.org/drawingml/2006/main" noGrp="1"/>
          </p:cNvSpPr>
          <p:nvPr/>
        </p:nvSpPr>
        <p:spPr>
          <a:xfrm xmlns:a="http://schemas.openxmlformats.org/drawingml/2006/main">
            <a:off x="1390650" y="2543175"/>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Profile and incident reporting with verification</a:t>
            </a:r>
          </a:p>
        </p:txBody>
      </p:sp>
      <p:sp>
        <p:nvSpPr>
          <p:cNvPr id="13" name="">
            <a:extLst xmlns:a="http://schemas.openxmlformats.org/drawingml/2006/main">
              <a:ext uri="{FF2B5EF4-FFF2-40B4-BE49-F238E27FC236}">
                <a16:creationId xmlns:a16="http://schemas.microsoft.com/office/drawing/2014/main" id="{AA0E909B-48D6-4F59-81F1-43635BCF5E10}"/>
              </a:ext>
            </a:extLst>
          </p:cNvPr>
          <p:cNvSpPr>
            <a:spLocks xmlns:a="http://schemas.openxmlformats.org/drawingml/2006/main" noGrp="1"/>
          </p:cNvSpPr>
          <p:nvPr/>
        </p:nvSpPr>
        <p:spPr>
          <a:xfrm xmlns:a="http://schemas.openxmlformats.org/drawingml/2006/main">
            <a:off x="1390650" y="3209925"/>
            <a:ext cx="42291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8EB6ACF6-55B2-47FB-A61E-A33A50E583DD}"/>
              </a:ext>
            </a:extLst>
          </p:cNvPr>
          <p:cNvSpPr>
            <a:spLocks xmlns:a="http://schemas.openxmlformats.org/drawingml/2006/main" noGrp="1"/>
          </p:cNvSpPr>
          <p:nvPr/>
        </p:nvSpPr>
        <p:spPr>
          <a:xfrm xmlns:a="http://schemas.openxmlformats.org/drawingml/2006/main">
            <a:off x="933450" y="327660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15" name="">
            <a:extLst xmlns:a="http://schemas.openxmlformats.org/drawingml/2006/main">
              <a:ext uri="{FF2B5EF4-FFF2-40B4-BE49-F238E27FC236}">
                <a16:creationId xmlns:a16="http://schemas.microsoft.com/office/drawing/2014/main" id="{69596C96-8D13-4E85-BB39-0E4DBB71E9F7}"/>
              </a:ext>
            </a:extLst>
          </p:cNvPr>
          <p:cNvSpPr>
            <a:spLocks xmlns:a="http://schemas.openxmlformats.org/drawingml/2006/main" noGrp="1"/>
          </p:cNvSpPr>
          <p:nvPr/>
        </p:nvSpPr>
        <p:spPr>
          <a:xfrm xmlns:a="http://schemas.openxmlformats.org/drawingml/2006/main">
            <a:off x="1390650" y="3276600"/>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Response and recovery SitReps</a:t>
            </a:r>
          </a:p>
        </p:txBody>
      </p:sp>
      <p:sp>
        <p:nvSpPr>
          <p:cNvPr id="16" name="">
            <a:extLst xmlns:a="http://schemas.openxmlformats.org/drawingml/2006/main">
              <a:ext uri="{FF2B5EF4-FFF2-40B4-BE49-F238E27FC236}">
                <a16:creationId xmlns:a16="http://schemas.microsoft.com/office/drawing/2014/main" id="{302647D3-71F9-469C-A285-78633EDF73BE}"/>
              </a:ext>
            </a:extLst>
          </p:cNvPr>
          <p:cNvSpPr>
            <a:spLocks xmlns:a="http://schemas.openxmlformats.org/drawingml/2006/main" noGrp="1"/>
          </p:cNvSpPr>
          <p:nvPr/>
        </p:nvSpPr>
        <p:spPr>
          <a:xfrm xmlns:a="http://schemas.openxmlformats.org/drawingml/2006/main">
            <a:off x="1390650" y="3943350"/>
            <a:ext cx="42291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7" name="">
            <a:extLst xmlns:a="http://schemas.openxmlformats.org/drawingml/2006/main">
              <a:ext uri="{FF2B5EF4-FFF2-40B4-BE49-F238E27FC236}">
                <a16:creationId xmlns:a16="http://schemas.microsoft.com/office/drawing/2014/main" id="{3240C15D-2F7C-48AB-A265-4BCF35721B69}"/>
              </a:ext>
            </a:extLst>
          </p:cNvPr>
          <p:cNvSpPr>
            <a:spLocks xmlns:a="http://schemas.openxmlformats.org/drawingml/2006/main" noGrp="1"/>
          </p:cNvSpPr>
          <p:nvPr/>
        </p:nvSpPr>
        <p:spPr>
          <a:xfrm xmlns:a="http://schemas.openxmlformats.org/drawingml/2006/main">
            <a:off x="933450" y="401002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18" name="">
            <a:extLst xmlns:a="http://schemas.openxmlformats.org/drawingml/2006/main">
              <a:ext uri="{FF2B5EF4-FFF2-40B4-BE49-F238E27FC236}">
                <a16:creationId xmlns:a16="http://schemas.microsoft.com/office/drawing/2014/main" id="{50F9A496-78A2-463D-8D5E-6FF9D461D1CE}"/>
              </a:ext>
            </a:extLst>
          </p:cNvPr>
          <p:cNvSpPr>
            <a:spLocks xmlns:a="http://schemas.openxmlformats.org/drawingml/2006/main" noGrp="1"/>
          </p:cNvSpPr>
          <p:nvPr/>
        </p:nvSpPr>
        <p:spPr>
          <a:xfrm xmlns:a="http://schemas.openxmlformats.org/drawingml/2006/main">
            <a:off x="1390650" y="4010025"/>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Role-based history, dashboard and exports</a:t>
            </a:r>
          </a:p>
        </p:txBody>
      </p:sp>
      <p:sp>
        <p:nvSpPr>
          <p:cNvPr id="19" name="">
            <a:extLst xmlns:a="http://schemas.openxmlformats.org/drawingml/2006/main">
              <a:ext uri="{FF2B5EF4-FFF2-40B4-BE49-F238E27FC236}">
                <a16:creationId xmlns:a16="http://schemas.microsoft.com/office/drawing/2014/main" id="{6320F661-1AD8-4E69-9C40-7BDA73F1A2CE}"/>
              </a:ext>
            </a:extLst>
          </p:cNvPr>
          <p:cNvSpPr>
            <a:spLocks xmlns:a="http://schemas.openxmlformats.org/drawingml/2006/main" noGrp="1"/>
          </p:cNvSpPr>
          <p:nvPr/>
        </p:nvSpPr>
        <p:spPr>
          <a:xfrm xmlns:a="http://schemas.openxmlformats.org/drawingml/2006/main">
            <a:off x="6286500" y="1438275"/>
            <a:ext cx="4762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LIMITATIONS</a:t>
            </a:r>
          </a:p>
        </p:txBody>
      </p:sp>
      <p:sp>
        <p:nvSpPr>
          <p:cNvPr id="20" name="">
            <a:extLst xmlns:a="http://schemas.openxmlformats.org/drawingml/2006/main">
              <a:ext uri="{FF2B5EF4-FFF2-40B4-BE49-F238E27FC236}">
                <a16:creationId xmlns:a16="http://schemas.microsoft.com/office/drawing/2014/main" id="{B1A121EF-F85B-401F-BAE5-EBFE4F2842BE}"/>
              </a:ext>
            </a:extLst>
          </p:cNvPr>
          <p:cNvSpPr>
            <a:spLocks xmlns:a="http://schemas.openxmlformats.org/drawingml/2006/main" noGrp="1"/>
          </p:cNvSpPr>
          <p:nvPr/>
        </p:nvSpPr>
        <p:spPr>
          <a:xfrm xmlns:a="http://schemas.openxmlformats.org/drawingml/2006/main">
            <a:off x="6286500" y="180975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21" name="">
            <a:extLst xmlns:a="http://schemas.openxmlformats.org/drawingml/2006/main">
              <a:ext uri="{FF2B5EF4-FFF2-40B4-BE49-F238E27FC236}">
                <a16:creationId xmlns:a16="http://schemas.microsoft.com/office/drawing/2014/main" id="{69F8F6FF-4840-44AE-8B69-865CFE2C7082}"/>
              </a:ext>
            </a:extLst>
          </p:cNvPr>
          <p:cNvSpPr>
            <a:spLocks xmlns:a="http://schemas.openxmlformats.org/drawingml/2006/main" noGrp="1"/>
          </p:cNvSpPr>
          <p:nvPr/>
        </p:nvSpPr>
        <p:spPr>
          <a:xfrm xmlns:a="http://schemas.openxmlformats.org/drawingml/2006/main">
            <a:off x="6743700" y="1809750"/>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Internet and central database are required</a:t>
            </a:r>
          </a:p>
        </p:txBody>
      </p:sp>
      <p:sp>
        <p:nvSpPr>
          <p:cNvPr id="22" name="">
            <a:extLst xmlns:a="http://schemas.openxmlformats.org/drawingml/2006/main">
              <a:ext uri="{FF2B5EF4-FFF2-40B4-BE49-F238E27FC236}">
                <a16:creationId xmlns:a16="http://schemas.microsoft.com/office/drawing/2014/main" id="{1872516C-3B22-4EC0-9575-AF5AB6F7EF22}"/>
              </a:ext>
            </a:extLst>
          </p:cNvPr>
          <p:cNvSpPr>
            <a:spLocks xmlns:a="http://schemas.openxmlformats.org/drawingml/2006/main" noGrp="1"/>
          </p:cNvSpPr>
          <p:nvPr/>
        </p:nvSpPr>
        <p:spPr>
          <a:xfrm xmlns:a="http://schemas.openxmlformats.org/drawingml/2006/main">
            <a:off x="6743700" y="2476500"/>
            <a:ext cx="44005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E2E235F3-DC11-4EB5-8FF9-E8F741F792BC}"/>
              </a:ext>
            </a:extLst>
          </p:cNvPr>
          <p:cNvSpPr>
            <a:spLocks xmlns:a="http://schemas.openxmlformats.org/drawingml/2006/main" noGrp="1"/>
          </p:cNvSpPr>
          <p:nvPr/>
        </p:nvSpPr>
        <p:spPr>
          <a:xfrm xmlns:a="http://schemas.openxmlformats.org/drawingml/2006/main">
            <a:off x="6286500" y="254317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24" name="">
            <a:extLst xmlns:a="http://schemas.openxmlformats.org/drawingml/2006/main">
              <a:ext uri="{FF2B5EF4-FFF2-40B4-BE49-F238E27FC236}">
                <a16:creationId xmlns:a16="http://schemas.microsoft.com/office/drawing/2014/main" id="{3166DB68-AD88-4348-BB0C-5B1F563FC73A}"/>
              </a:ext>
            </a:extLst>
          </p:cNvPr>
          <p:cNvSpPr>
            <a:spLocks xmlns:a="http://schemas.openxmlformats.org/drawingml/2006/main" noGrp="1"/>
          </p:cNvSpPr>
          <p:nvPr/>
        </p:nvSpPr>
        <p:spPr>
          <a:xfrm xmlns:a="http://schemas.openxmlformats.org/drawingml/2006/main">
            <a:off x="6743700" y="2543175"/>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No offline synchronization or SMS fallback</a:t>
            </a:r>
          </a:p>
        </p:txBody>
      </p:sp>
      <p:sp>
        <p:nvSpPr>
          <p:cNvPr id="25" name="">
            <a:extLst xmlns:a="http://schemas.openxmlformats.org/drawingml/2006/main">
              <a:ext uri="{FF2B5EF4-FFF2-40B4-BE49-F238E27FC236}">
                <a16:creationId xmlns:a16="http://schemas.microsoft.com/office/drawing/2014/main" id="{CE76E5E6-3A9F-482C-A1EC-3C6DC6A1D8AC}"/>
              </a:ext>
            </a:extLst>
          </p:cNvPr>
          <p:cNvSpPr>
            <a:spLocks xmlns:a="http://schemas.openxmlformats.org/drawingml/2006/main" noGrp="1"/>
          </p:cNvSpPr>
          <p:nvPr/>
        </p:nvSpPr>
        <p:spPr>
          <a:xfrm xmlns:a="http://schemas.openxmlformats.org/drawingml/2006/main">
            <a:off x="6743700" y="3209925"/>
            <a:ext cx="44005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6" name="">
            <a:extLst xmlns:a="http://schemas.openxmlformats.org/drawingml/2006/main">
              <a:ext uri="{FF2B5EF4-FFF2-40B4-BE49-F238E27FC236}">
                <a16:creationId xmlns:a16="http://schemas.microsoft.com/office/drawing/2014/main" id="{4D81293B-E42D-445C-9C74-B59BA3A8CE22}"/>
              </a:ext>
            </a:extLst>
          </p:cNvPr>
          <p:cNvSpPr>
            <a:spLocks xmlns:a="http://schemas.openxmlformats.org/drawingml/2006/main" noGrp="1"/>
          </p:cNvSpPr>
          <p:nvPr/>
        </p:nvSpPr>
        <p:spPr>
          <a:xfrm xmlns:a="http://schemas.openxmlformats.org/drawingml/2006/main">
            <a:off x="6286500" y="327660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27" name="">
            <a:extLst xmlns:a="http://schemas.openxmlformats.org/drawingml/2006/main">
              <a:ext uri="{FF2B5EF4-FFF2-40B4-BE49-F238E27FC236}">
                <a16:creationId xmlns:a16="http://schemas.microsoft.com/office/drawing/2014/main" id="{F99F1E41-CDC5-49FE-9B7C-5A8CA13142A4}"/>
              </a:ext>
            </a:extLst>
          </p:cNvPr>
          <p:cNvSpPr>
            <a:spLocks xmlns:a="http://schemas.openxmlformats.org/drawingml/2006/main" noGrp="1"/>
          </p:cNvSpPr>
          <p:nvPr/>
        </p:nvSpPr>
        <p:spPr>
          <a:xfrm xmlns:a="http://schemas.openxmlformats.org/drawingml/2006/main">
            <a:off x="6743700" y="3276600"/>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No native mobile app or public announcement module</a:t>
            </a:r>
          </a:p>
        </p:txBody>
      </p:sp>
      <p:sp>
        <p:nvSpPr>
          <p:cNvPr id="28" name="">
            <a:extLst xmlns:a="http://schemas.openxmlformats.org/drawingml/2006/main">
              <a:ext uri="{FF2B5EF4-FFF2-40B4-BE49-F238E27FC236}">
                <a16:creationId xmlns:a16="http://schemas.microsoft.com/office/drawing/2014/main" id="{5E99D16C-43E5-4D58-85EB-FFE9193B3360}"/>
              </a:ext>
            </a:extLst>
          </p:cNvPr>
          <p:cNvSpPr>
            <a:spLocks xmlns:a="http://schemas.openxmlformats.org/drawingml/2006/main" noGrp="1"/>
          </p:cNvSpPr>
          <p:nvPr/>
        </p:nvSpPr>
        <p:spPr>
          <a:xfrm xmlns:a="http://schemas.openxmlformats.org/drawingml/2006/main">
            <a:off x="6743700" y="3943350"/>
            <a:ext cx="44005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9" name="">
            <a:extLst xmlns:a="http://schemas.openxmlformats.org/drawingml/2006/main">
              <a:ext uri="{FF2B5EF4-FFF2-40B4-BE49-F238E27FC236}">
                <a16:creationId xmlns:a16="http://schemas.microsoft.com/office/drawing/2014/main" id="{A181BEFE-6BBA-46A6-9B47-52C5ED3F8722}"/>
              </a:ext>
            </a:extLst>
          </p:cNvPr>
          <p:cNvSpPr>
            <a:spLocks xmlns:a="http://schemas.openxmlformats.org/drawingml/2006/main" noGrp="1"/>
          </p:cNvSpPr>
          <p:nvPr/>
        </p:nvSpPr>
        <p:spPr>
          <a:xfrm xmlns:a="http://schemas.openxmlformats.org/drawingml/2006/main">
            <a:off x="6286500" y="401002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30" name="">
            <a:extLst xmlns:a="http://schemas.openxmlformats.org/drawingml/2006/main">
              <a:ext uri="{FF2B5EF4-FFF2-40B4-BE49-F238E27FC236}">
                <a16:creationId xmlns:a16="http://schemas.microsoft.com/office/drawing/2014/main" id="{8420AF04-FC6F-4E8B-AE65-CFBFE7B12D79}"/>
              </a:ext>
            </a:extLst>
          </p:cNvPr>
          <p:cNvSpPr>
            <a:spLocks xmlns:a="http://schemas.openxmlformats.org/drawingml/2006/main" noGrp="1"/>
          </p:cNvSpPr>
          <p:nvPr/>
        </p:nvSpPr>
        <p:spPr>
          <a:xfrm xmlns:a="http://schemas.openxmlformats.org/drawingml/2006/main">
            <a:off x="6743700" y="4010025"/>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Pre-disaster preparedness and risk monitoring are excluded</a:t>
            </a:r>
          </a:p>
        </p:txBody>
      </p:sp>
      <p:sp>
        <p:nvSpPr>
          <p:cNvPr id="31" name="">
            <a:extLst xmlns:a="http://schemas.openxmlformats.org/drawingml/2006/main">
              <a:ext uri="{FF2B5EF4-FFF2-40B4-BE49-F238E27FC236}">
                <a16:creationId xmlns:a16="http://schemas.microsoft.com/office/drawing/2014/main" id="{44BE5643-2576-467E-B4F8-857AE7D66CB7}"/>
              </a:ext>
            </a:extLst>
          </p:cNvPr>
          <p:cNvSpPr>
            <a:spLocks xmlns:a="http://schemas.openxmlformats.org/drawingml/2006/main" noGrp="1"/>
          </p:cNvSpPr>
          <p:nvPr/>
        </p:nvSpPr>
        <p:spPr>
          <a:xfrm xmlns:a="http://schemas.openxmlformats.org/drawingml/2006/main">
            <a:off x="933450" y="5067300"/>
            <a:ext cx="10229850" cy="685800"/>
          </a:xfrm>
          <a:prstGeom xmlns:a="http://schemas.openxmlformats.org/drawingml/2006/main" prst="rect">
            <a:avLst/>
          </a:prstGeom>
          <a:solidFill xmlns:a="http://schemas.openxmlformats.org/drawingml/2006/main">
            <a:srgbClr val="F3EBD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B4C70A9-6441-4026-A2BB-E0C5CA60F8A1}"/>
              </a:ext>
            </a:extLst>
          </p:cNvPr>
          <p:cNvSpPr>
            <a:spLocks xmlns:a="http://schemas.openxmlformats.org/drawingml/2006/main" noGrp="1"/>
          </p:cNvSpPr>
          <p:nvPr/>
        </p:nvSpPr>
        <p:spPr>
          <a:xfrm xmlns:a="http://schemas.openxmlformats.org/drawingml/2006/main">
            <a:off x="1143000" y="5181600"/>
            <a:ext cx="9829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Before defense, align the multi-organization scope, access matrix and Figure 25 with the stated web-only design.</a:t>
            </a:r>
          </a:p>
        </p:txBody>
      </p:sp>
    </p:spTree>
    <p:extLst>
      <p:ext uri="{BB962C8B-B14F-4D97-AF65-F5344CB8AC3E}">
        <p14:creationId xmlns:p14="http://schemas.microsoft.com/office/powerpoint/2010/main" val="547731586"/>
      </p:ext>
    </p:extLst>
  </p:cSld>
</p:sld>
</file>

<file path=ppt/slides/slide1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20687AD-FA41-4999-96DF-825954962A9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5D50F8-A2D4-40C6-9780-5FC839FB3E60}"/>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ARCHITECTURAL DESIGN</a:t>
            </a:r>
          </a:p>
        </p:txBody>
      </p:sp>
      <p:sp>
        <p:nvSpPr>
          <p:cNvPr id="3" name="">
            <a:extLst xmlns:a="http://schemas.openxmlformats.org/drawingml/2006/main">
              <a:ext uri="{FF2B5EF4-FFF2-40B4-BE49-F238E27FC236}">
                <a16:creationId xmlns:a16="http://schemas.microsoft.com/office/drawing/2014/main" id="{C35211E3-7D85-429C-9F88-5F841225F02A}"/>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Four layers separate interface, workflow, network and storage</a:t>
            </a:r>
          </a:p>
        </p:txBody>
      </p:sp>
      <p:sp>
        <p:nvSpPr>
          <p:cNvPr id="4" name="">
            <a:extLst xmlns:a="http://schemas.openxmlformats.org/drawingml/2006/main">
              <a:ext uri="{FF2B5EF4-FFF2-40B4-BE49-F238E27FC236}">
                <a16:creationId xmlns:a16="http://schemas.microsoft.com/office/drawing/2014/main" id="{525E043C-3180-4C5C-A419-C9054D652071}"/>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6E32C0A-3881-47F3-939C-EFBCFCA574DA}"/>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Chapter 3 system architecture and technical specifications</a:t>
            </a:r>
          </a:p>
        </p:txBody>
      </p:sp>
      <p:sp>
        <p:nvSpPr>
          <p:cNvPr id="6" name="">
            <a:extLst xmlns:a="http://schemas.openxmlformats.org/drawingml/2006/main">
              <a:ext uri="{FF2B5EF4-FFF2-40B4-BE49-F238E27FC236}">
                <a16:creationId xmlns:a16="http://schemas.microsoft.com/office/drawing/2014/main" id="{E23E4BBC-8DBA-4EEE-AA62-BAF63B53E62B}"/>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19</a:t>
            </a:r>
          </a:p>
        </p:txBody>
      </p:sp>
      <p:sp>
        <p:nvSpPr>
          <p:cNvPr id="7" name="">
            <a:extLst xmlns:a="http://schemas.openxmlformats.org/drawingml/2006/main">
              <a:ext uri="{FF2B5EF4-FFF2-40B4-BE49-F238E27FC236}">
                <a16:creationId xmlns:a16="http://schemas.microsoft.com/office/drawing/2014/main" id="{6F6ECC67-0CBC-44D9-9F80-2A039DBDE55C}"/>
              </a:ext>
            </a:extLst>
          </p:cNvPr>
          <p:cNvSpPr>
            <a:spLocks xmlns:a="http://schemas.openxmlformats.org/drawingml/2006/main" noGrp="1"/>
          </p:cNvSpPr>
          <p:nvPr/>
        </p:nvSpPr>
        <p:spPr>
          <a:xfrm xmlns:a="http://schemas.openxmlformats.org/drawingml/2006/main">
            <a:off x="933450" y="1409700"/>
            <a:ext cx="10267950" cy="685800"/>
          </a:xfrm>
          <a:prstGeom xmlns:a="http://schemas.openxmlformats.org/drawingml/2006/main" prst="rect">
            <a:avLst/>
          </a:prstGeom>
          <a:solidFill xmlns:a="http://schemas.openxmlformats.org/drawingml/2006/main">
            <a:srgbClr val="E4EFEC"/>
          </a:solidFill>
          <a:ln xmlns:a="http://schemas.openxmlformats.org/drawingml/2006/main" w="9525">
            <a:solidFill>
              <a:srgbClr val="D3DCDA"/>
            </a:solidFill>
          </a:ln>
        </p:spPr>
      </p:sp>
      <p:sp>
        <p:nvSpPr>
          <p:cNvPr id="8" name="">
            <a:extLst xmlns:a="http://schemas.openxmlformats.org/drawingml/2006/main">
              <a:ext uri="{FF2B5EF4-FFF2-40B4-BE49-F238E27FC236}">
                <a16:creationId xmlns:a16="http://schemas.microsoft.com/office/drawing/2014/main" id="{5D83D8A1-E477-48F3-B0EB-BF14B1B3E586}"/>
              </a:ext>
            </a:extLst>
          </p:cNvPr>
          <p:cNvSpPr>
            <a:spLocks xmlns:a="http://schemas.openxmlformats.org/drawingml/2006/main" noGrp="1"/>
          </p:cNvSpPr>
          <p:nvPr/>
        </p:nvSpPr>
        <p:spPr>
          <a:xfrm xmlns:a="http://schemas.openxmlformats.org/drawingml/2006/main">
            <a:off x="1162050" y="15240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PRESENTATION</a:t>
            </a:r>
          </a:p>
        </p:txBody>
      </p:sp>
      <p:sp>
        <p:nvSpPr>
          <p:cNvPr id="9" name="">
            <a:extLst xmlns:a="http://schemas.openxmlformats.org/drawingml/2006/main">
              <a:ext uri="{FF2B5EF4-FFF2-40B4-BE49-F238E27FC236}">
                <a16:creationId xmlns:a16="http://schemas.microsoft.com/office/drawing/2014/main" id="{6F624458-D6A6-406D-9190-2D90AFEFF2C8}"/>
              </a:ext>
            </a:extLst>
          </p:cNvPr>
          <p:cNvSpPr>
            <a:spLocks xmlns:a="http://schemas.openxmlformats.org/drawingml/2006/main" noGrp="1"/>
          </p:cNvSpPr>
          <p:nvPr/>
        </p:nvSpPr>
        <p:spPr>
          <a:xfrm xmlns:a="http://schemas.openxmlformats.org/drawingml/2006/main">
            <a:off x="3276600" y="14859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Responsive browser interface</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is mobile-first. Barangay and DRRM are desktop-capable.</a:t>
            </a:r>
          </a:p>
        </p:txBody>
      </p:sp>
      <p:sp>
        <p:nvSpPr>
          <p:cNvPr id="10" name="">
            <a:extLst xmlns:a="http://schemas.openxmlformats.org/drawingml/2006/main">
              <a:ext uri="{FF2B5EF4-FFF2-40B4-BE49-F238E27FC236}">
                <a16:creationId xmlns:a16="http://schemas.microsoft.com/office/drawing/2014/main" id="{95E8432A-27CD-469C-94A2-F326584FFBDC}"/>
              </a:ext>
            </a:extLst>
          </p:cNvPr>
          <p:cNvSpPr>
            <a:spLocks xmlns:a="http://schemas.openxmlformats.org/drawingml/2006/main" noGrp="1"/>
          </p:cNvSpPr>
          <p:nvPr/>
        </p:nvSpPr>
        <p:spPr>
          <a:xfrm xmlns:a="http://schemas.openxmlformats.org/drawingml/2006/main">
            <a:off x="5962650" y="20764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2593"/>
          </a:bodyPr>
          <a:lstStyle xmlns:a="http://schemas.openxmlformats.org/drawingml/2006/main"/>
          <a:p xmlns:a="http://schemas.openxmlformats.org/drawingml/2006/main">
            <a:pPr algn="ctr">
              <a:defRPr sz="1350" b="0">
                <a:solidFill>
                  <a:srgbClr val="276E6B"/>
                </a:solidFill>
                <a:latin typeface="Source Sans 3"/>
                <a:ea typeface="Source Sans 3"/>
                <a:cs typeface="Source Sans 3"/>
              </a:defRPr>
            </a:pPr>
            <a:r>
              <a:rPr sz="1350" b="0">
                <a:solidFill>
                  <a:srgbClr val="276E6B"/>
                </a:solidFill>
                <a:latin typeface="Source Sans 3"/>
                <a:ea typeface="Source Sans 3"/>
                <a:cs typeface="Source Sans 3"/>
              </a:rPr>
              <a:t>↓</a:t>
            </a:r>
          </a:p>
        </p:txBody>
      </p:sp>
      <p:sp>
        <p:nvSpPr>
          <p:cNvPr id="11" name="">
            <a:extLst xmlns:a="http://schemas.openxmlformats.org/drawingml/2006/main">
              <a:ext uri="{FF2B5EF4-FFF2-40B4-BE49-F238E27FC236}">
                <a16:creationId xmlns:a16="http://schemas.microsoft.com/office/drawing/2014/main" id="{FF9D9647-630A-42CC-BD38-6B72FE0EA386}"/>
              </a:ext>
            </a:extLst>
          </p:cNvPr>
          <p:cNvSpPr>
            <a:spLocks xmlns:a="http://schemas.openxmlformats.org/drawingml/2006/main" noGrp="1"/>
          </p:cNvSpPr>
          <p:nvPr/>
        </p:nvSpPr>
        <p:spPr>
          <a:xfrm xmlns:a="http://schemas.openxmlformats.org/drawingml/2006/main">
            <a:off x="933450" y="2324100"/>
            <a:ext cx="102679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3DCDA"/>
            </a:solidFill>
          </a:ln>
        </p:spPr>
      </p:sp>
      <p:sp>
        <p:nvSpPr>
          <p:cNvPr id="12" name="">
            <a:extLst xmlns:a="http://schemas.openxmlformats.org/drawingml/2006/main">
              <a:ext uri="{FF2B5EF4-FFF2-40B4-BE49-F238E27FC236}">
                <a16:creationId xmlns:a16="http://schemas.microsoft.com/office/drawing/2014/main" id="{34456E37-6AA0-4CA0-86D6-B241432254F9}"/>
              </a:ext>
            </a:extLst>
          </p:cNvPr>
          <p:cNvSpPr>
            <a:spLocks xmlns:a="http://schemas.openxmlformats.org/drawingml/2006/main" noGrp="1"/>
          </p:cNvSpPr>
          <p:nvPr/>
        </p:nvSpPr>
        <p:spPr>
          <a:xfrm xmlns:a="http://schemas.openxmlformats.org/drawingml/2006/main">
            <a:off x="1162050" y="24384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APPLICATION</a:t>
            </a:r>
          </a:p>
        </p:txBody>
      </p:sp>
      <p:sp>
        <p:nvSpPr>
          <p:cNvPr id="13" name="">
            <a:extLst xmlns:a="http://schemas.openxmlformats.org/drawingml/2006/main">
              <a:ext uri="{FF2B5EF4-FFF2-40B4-BE49-F238E27FC236}">
                <a16:creationId xmlns:a16="http://schemas.microsoft.com/office/drawing/2014/main" id="{54162CCA-30A0-49EE-B6B7-7277F9D01889}"/>
              </a:ext>
            </a:extLst>
          </p:cNvPr>
          <p:cNvSpPr>
            <a:spLocks xmlns:a="http://schemas.openxmlformats.org/drawingml/2006/main" noGrp="1"/>
          </p:cNvSpPr>
          <p:nvPr/>
        </p:nvSpPr>
        <p:spPr>
          <a:xfrm xmlns:a="http://schemas.openxmlformats.org/drawingml/2006/main">
            <a:off x="3276600" y="24003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Role-specific workflows, required-field checks, verification, aggregation and SitRep editing</a:t>
            </a:r>
          </a:p>
        </p:txBody>
      </p:sp>
      <p:sp>
        <p:nvSpPr>
          <p:cNvPr id="14" name="">
            <a:extLst xmlns:a="http://schemas.openxmlformats.org/drawingml/2006/main">
              <a:ext uri="{FF2B5EF4-FFF2-40B4-BE49-F238E27FC236}">
                <a16:creationId xmlns:a16="http://schemas.microsoft.com/office/drawing/2014/main" id="{DA257BA2-FC05-4F95-964A-425AA7EB892C}"/>
              </a:ext>
            </a:extLst>
          </p:cNvPr>
          <p:cNvSpPr>
            <a:spLocks xmlns:a="http://schemas.openxmlformats.org/drawingml/2006/main" noGrp="1"/>
          </p:cNvSpPr>
          <p:nvPr/>
        </p:nvSpPr>
        <p:spPr>
          <a:xfrm xmlns:a="http://schemas.openxmlformats.org/drawingml/2006/main">
            <a:off x="5962650" y="29908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2593"/>
          </a:bodyPr>
          <a:lstStyle xmlns:a="http://schemas.openxmlformats.org/drawingml/2006/main"/>
          <a:p xmlns:a="http://schemas.openxmlformats.org/drawingml/2006/main">
            <a:pPr algn="ctr">
              <a:defRPr sz="1350" b="0">
                <a:solidFill>
                  <a:srgbClr val="276E6B"/>
                </a:solidFill>
                <a:latin typeface="Source Sans 3"/>
                <a:ea typeface="Source Sans 3"/>
                <a:cs typeface="Source Sans 3"/>
              </a:defRPr>
            </a:pPr>
            <a:r>
              <a:rPr sz="1350" b="0">
                <a:solidFill>
                  <a:srgbClr val="276E6B"/>
                </a:solidFill>
                <a:latin typeface="Source Sans 3"/>
                <a:ea typeface="Source Sans 3"/>
                <a:cs typeface="Source Sans 3"/>
              </a:rPr>
              <a:t>↓</a:t>
            </a:r>
          </a:p>
        </p:txBody>
      </p:sp>
      <p:sp>
        <p:nvSpPr>
          <p:cNvPr id="15" name="">
            <a:extLst xmlns:a="http://schemas.openxmlformats.org/drawingml/2006/main">
              <a:ext uri="{FF2B5EF4-FFF2-40B4-BE49-F238E27FC236}">
                <a16:creationId xmlns:a16="http://schemas.microsoft.com/office/drawing/2014/main" id="{27D31492-27AE-4352-88C6-D484908F8721}"/>
              </a:ext>
            </a:extLst>
          </p:cNvPr>
          <p:cNvSpPr>
            <a:spLocks xmlns:a="http://schemas.openxmlformats.org/drawingml/2006/main" noGrp="1"/>
          </p:cNvSpPr>
          <p:nvPr/>
        </p:nvSpPr>
        <p:spPr>
          <a:xfrm xmlns:a="http://schemas.openxmlformats.org/drawingml/2006/main">
            <a:off x="933450" y="3238500"/>
            <a:ext cx="102679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05777FC9-6CB2-4F27-8DB8-FB0D13738EBC}"/>
              </a:ext>
            </a:extLst>
          </p:cNvPr>
          <p:cNvSpPr>
            <a:spLocks xmlns:a="http://schemas.openxmlformats.org/drawingml/2006/main" noGrp="1"/>
          </p:cNvSpPr>
          <p:nvPr/>
        </p:nvSpPr>
        <p:spPr>
          <a:xfrm xmlns:a="http://schemas.openxmlformats.org/drawingml/2006/main">
            <a:off x="1162050" y="33528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NETWORK</a:t>
            </a:r>
          </a:p>
        </p:txBody>
      </p:sp>
      <p:sp>
        <p:nvSpPr>
          <p:cNvPr id="17" name="">
            <a:extLst xmlns:a="http://schemas.openxmlformats.org/drawingml/2006/main">
              <a:ext uri="{FF2B5EF4-FFF2-40B4-BE49-F238E27FC236}">
                <a16:creationId xmlns:a16="http://schemas.microsoft.com/office/drawing/2014/main" id="{C5365DEA-C4A5-48FF-9ABA-16D78DC898C7}"/>
              </a:ext>
            </a:extLst>
          </p:cNvPr>
          <p:cNvSpPr>
            <a:spLocks xmlns:a="http://schemas.openxmlformats.org/drawingml/2006/main" noGrp="1"/>
          </p:cNvSpPr>
          <p:nvPr/>
        </p:nvSpPr>
        <p:spPr>
          <a:xfrm xmlns:a="http://schemas.openxmlformats.org/drawingml/2006/main">
            <a:off x="3276600" y="33147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REST API over HTTPS; real-time data operations while connected</a:t>
            </a:r>
          </a:p>
        </p:txBody>
      </p:sp>
      <p:sp>
        <p:nvSpPr>
          <p:cNvPr id="18" name="">
            <a:extLst xmlns:a="http://schemas.openxmlformats.org/drawingml/2006/main">
              <a:ext uri="{FF2B5EF4-FFF2-40B4-BE49-F238E27FC236}">
                <a16:creationId xmlns:a16="http://schemas.microsoft.com/office/drawing/2014/main" id="{1206F2AF-DB4F-49CD-BDEB-93079CC75313}"/>
              </a:ext>
            </a:extLst>
          </p:cNvPr>
          <p:cNvSpPr>
            <a:spLocks xmlns:a="http://schemas.openxmlformats.org/drawingml/2006/main" noGrp="1"/>
          </p:cNvSpPr>
          <p:nvPr/>
        </p:nvSpPr>
        <p:spPr>
          <a:xfrm xmlns:a="http://schemas.openxmlformats.org/drawingml/2006/main">
            <a:off x="5962650" y="39052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2593"/>
          </a:bodyPr>
          <a:lstStyle xmlns:a="http://schemas.openxmlformats.org/drawingml/2006/main"/>
          <a:p xmlns:a="http://schemas.openxmlformats.org/drawingml/2006/main">
            <a:pPr algn="ctr">
              <a:defRPr sz="1350" b="0">
                <a:solidFill>
                  <a:srgbClr val="276E6B"/>
                </a:solidFill>
                <a:latin typeface="Source Sans 3"/>
                <a:ea typeface="Source Sans 3"/>
                <a:cs typeface="Source Sans 3"/>
              </a:defRPr>
            </a:pPr>
            <a:r>
              <a:rPr sz="1350" b="0">
                <a:solidFill>
                  <a:srgbClr val="276E6B"/>
                </a:solidFill>
                <a:latin typeface="Source Sans 3"/>
                <a:ea typeface="Source Sans 3"/>
                <a:cs typeface="Source Sans 3"/>
              </a:rPr>
              <a:t>↓</a:t>
            </a:r>
          </a:p>
        </p:txBody>
      </p:sp>
      <p:sp>
        <p:nvSpPr>
          <p:cNvPr id="19" name="">
            <a:extLst xmlns:a="http://schemas.openxmlformats.org/drawingml/2006/main">
              <a:ext uri="{FF2B5EF4-FFF2-40B4-BE49-F238E27FC236}">
                <a16:creationId xmlns:a16="http://schemas.microsoft.com/office/drawing/2014/main" id="{8BD5653D-11D8-42F9-BB62-7D28C1718DE5}"/>
              </a:ext>
            </a:extLst>
          </p:cNvPr>
          <p:cNvSpPr>
            <a:spLocks xmlns:a="http://schemas.openxmlformats.org/drawingml/2006/main" noGrp="1"/>
          </p:cNvSpPr>
          <p:nvPr/>
        </p:nvSpPr>
        <p:spPr>
          <a:xfrm xmlns:a="http://schemas.openxmlformats.org/drawingml/2006/main">
            <a:off x="933450" y="4152900"/>
            <a:ext cx="102679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3DCDA"/>
            </a:solidFill>
          </a:ln>
        </p:spPr>
      </p:sp>
      <p:sp>
        <p:nvSpPr>
          <p:cNvPr id="20" name="">
            <a:extLst xmlns:a="http://schemas.openxmlformats.org/drawingml/2006/main">
              <a:ext uri="{FF2B5EF4-FFF2-40B4-BE49-F238E27FC236}">
                <a16:creationId xmlns:a16="http://schemas.microsoft.com/office/drawing/2014/main" id="{AFB6E95A-63BE-488A-9AA2-002207810DA4}"/>
              </a:ext>
            </a:extLst>
          </p:cNvPr>
          <p:cNvSpPr>
            <a:spLocks xmlns:a="http://schemas.openxmlformats.org/drawingml/2006/main" noGrp="1"/>
          </p:cNvSpPr>
          <p:nvPr/>
        </p:nvSpPr>
        <p:spPr>
          <a:xfrm xmlns:a="http://schemas.openxmlformats.org/drawingml/2006/main">
            <a:off x="1162050" y="42672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DATA</a:t>
            </a:r>
          </a:p>
        </p:txBody>
      </p:sp>
      <p:sp>
        <p:nvSpPr>
          <p:cNvPr id="21" name="">
            <a:extLst xmlns:a="http://schemas.openxmlformats.org/drawingml/2006/main">
              <a:ext uri="{FF2B5EF4-FFF2-40B4-BE49-F238E27FC236}">
                <a16:creationId xmlns:a16="http://schemas.microsoft.com/office/drawing/2014/main" id="{EB3CC3CC-D18A-41E1-87B3-3D9F7B0638A9}"/>
              </a:ext>
            </a:extLst>
          </p:cNvPr>
          <p:cNvSpPr>
            <a:spLocks xmlns:a="http://schemas.openxmlformats.org/drawingml/2006/main" noGrp="1"/>
          </p:cNvSpPr>
          <p:nvPr/>
        </p:nvSpPr>
        <p:spPr>
          <a:xfrm xmlns:a="http://schemas.openxmlformats.org/drawingml/2006/main">
            <a:off x="3276600" y="42291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Centralized PostgreSQL records, report versions and audit history</a:t>
            </a:r>
          </a:p>
        </p:txBody>
      </p:sp>
      <p:sp>
        <p:nvSpPr>
          <p:cNvPr id="22" name="">
            <a:extLst xmlns:a="http://schemas.openxmlformats.org/drawingml/2006/main">
              <a:ext uri="{FF2B5EF4-FFF2-40B4-BE49-F238E27FC236}">
                <a16:creationId xmlns:a16="http://schemas.microsoft.com/office/drawing/2014/main" id="{9235A289-18F3-4EA6-BBF8-22F77CA6DC21}"/>
              </a:ext>
            </a:extLst>
          </p:cNvPr>
          <p:cNvSpPr>
            <a:spLocks xmlns:a="http://schemas.openxmlformats.org/drawingml/2006/main" noGrp="1"/>
          </p:cNvSpPr>
          <p:nvPr/>
        </p:nvSpPr>
        <p:spPr>
          <a:xfrm xmlns:a="http://schemas.openxmlformats.org/drawingml/2006/main">
            <a:off x="933450" y="5238750"/>
            <a:ext cx="10267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A9782A"/>
                </a:solidFill>
                <a:latin typeface="Source Sans 3"/>
                <a:ea typeface="Source Sans 3"/>
                <a:cs typeface="Source Sans 3"/>
              </a:defRPr>
            </a:pPr>
            <a:r>
              <a:rPr sz="1350" b="1">
                <a:solidFill>
                  <a:srgbClr val="A9782A"/>
                </a:solidFill>
                <a:latin typeface="Source Sans 3"/>
                <a:ea typeface="Source Sans 3"/>
                <a:cs typeface="Source Sans 3"/>
              </a:rPr>
              <a:t>The service does not promise operation during internet, power or telecommunications failures.</a:t>
            </a:r>
          </a:p>
        </p:txBody>
      </p:sp>
    </p:spTree>
    <p:extLst>
      <p:ext uri="{BB962C8B-B14F-4D97-AF65-F5344CB8AC3E}">
        <p14:creationId xmlns:p14="http://schemas.microsoft.com/office/powerpoint/2010/main" val="858419914"/>
      </p:ext>
    </p:extLst>
  </p:cSld>
</p:sld>
</file>

<file path=ppt/slides/slide2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4449FEE-3FC3-45C2-AD75-DD02A1C6B7D6}"/>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F39ABB-28D0-402A-945C-52511F58C0C6}"/>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A8FBD51C-F335-4C60-B5F7-7B771FB858EB}"/>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Purok accounts and profile modules</a:t>
            </a:r>
          </a:p>
        </p:txBody>
      </p:sp>
      <p:sp>
        <p:nvSpPr>
          <p:cNvPr id="4" name="">
            <a:extLst xmlns:a="http://schemas.openxmlformats.org/drawingml/2006/main">
              <a:ext uri="{FF2B5EF4-FFF2-40B4-BE49-F238E27FC236}">
                <a16:creationId xmlns:a16="http://schemas.microsoft.com/office/drawing/2014/main" id="{C5004A28-B8EF-4501-8D46-D1FB82FE747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7C7FA7AB-A29B-4FFE-981A-2E8D529318C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303–305 and Table 3</a:t>
            </a:r>
          </a:p>
        </p:txBody>
      </p:sp>
      <p:sp>
        <p:nvSpPr>
          <p:cNvPr id="6" name="">
            <a:extLst xmlns:a="http://schemas.openxmlformats.org/drawingml/2006/main">
              <a:ext uri="{FF2B5EF4-FFF2-40B4-BE49-F238E27FC236}">
                <a16:creationId xmlns:a16="http://schemas.microsoft.com/office/drawing/2014/main" id="{D4C955A7-FFBE-4CA5-BF86-FD59DEC7ED44}"/>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20</a:t>
            </a:r>
          </a:p>
        </p:txBody>
      </p:sp>
      <p:sp>
        <p:nvSpPr>
          <p:cNvPr id="7" name="">
            <a:extLst xmlns:a="http://schemas.openxmlformats.org/drawingml/2006/main">
              <a:ext uri="{FF2B5EF4-FFF2-40B4-BE49-F238E27FC236}">
                <a16:creationId xmlns:a16="http://schemas.microsoft.com/office/drawing/2014/main" id="{0B5AE86A-8733-4AC7-B1D2-67290E26D443}"/>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8034744C-8803-4C33-A52D-634A8075B6AC}"/>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4F14FC47-CE64-4B03-A14F-3580CDCF2BA7}"/>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88B486F3-7211-419B-8602-57D733A4B729}"/>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User Management</a:t>
            </a:r>
          </a:p>
        </p:txBody>
      </p:sp>
      <p:sp>
        <p:nvSpPr>
          <p:cNvPr id="11" name="">
            <a:extLst xmlns:a="http://schemas.openxmlformats.org/drawingml/2006/main">
              <a:ext uri="{FF2B5EF4-FFF2-40B4-BE49-F238E27FC236}">
                <a16:creationId xmlns:a16="http://schemas.microsoft.com/office/drawing/2014/main" id="{CC354D7F-882B-4B01-8713-A40F50222207}"/>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Authorized Barangay personnel create a Purok account, assign its Barangay and issue credentials.</a:t>
            </a:r>
          </a:p>
        </p:txBody>
      </p:sp>
      <p:sp>
        <p:nvSpPr>
          <p:cNvPr id="12" name="">
            <a:extLst xmlns:a="http://schemas.openxmlformats.org/drawingml/2006/main">
              <a:ext uri="{FF2B5EF4-FFF2-40B4-BE49-F238E27FC236}">
                <a16:creationId xmlns:a16="http://schemas.microsoft.com/office/drawing/2014/main" id="{D249092A-564B-4DA1-904E-77EB419EF06C}"/>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Correct jurisdiction routes submissions to the responsible reviewer.</a:t>
            </a:r>
          </a:p>
        </p:txBody>
      </p:sp>
      <p:sp>
        <p:nvSpPr>
          <p:cNvPr id="13" name="">
            <a:extLst xmlns:a="http://schemas.openxmlformats.org/drawingml/2006/main">
              <a:ext uri="{FF2B5EF4-FFF2-40B4-BE49-F238E27FC236}">
                <a16:creationId xmlns:a16="http://schemas.microsoft.com/office/drawing/2014/main" id="{71BD6194-3E68-4D21-B65F-5048AC069A96}"/>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CE372274-D8F9-40B5-A809-45B18147D520}"/>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Profile Creation</a:t>
            </a:r>
          </a:p>
        </p:txBody>
      </p:sp>
      <p:sp>
        <p:nvSpPr>
          <p:cNvPr id="15" name="">
            <a:extLst xmlns:a="http://schemas.openxmlformats.org/drawingml/2006/main">
              <a:ext uri="{FF2B5EF4-FFF2-40B4-BE49-F238E27FC236}">
                <a16:creationId xmlns:a16="http://schemas.microsoft.com/office/drawing/2014/main" id="{DAF31446-7791-4633-A3C1-4EF3BB863BA6}"/>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Record Purok identity and monthly aggregate population, housing, vulnerability and hazard exposure values.</a:t>
            </a:r>
          </a:p>
        </p:txBody>
      </p:sp>
      <p:sp>
        <p:nvSpPr>
          <p:cNvPr id="16" name="">
            <a:extLst xmlns:a="http://schemas.openxmlformats.org/drawingml/2006/main">
              <a:ext uri="{FF2B5EF4-FFF2-40B4-BE49-F238E27FC236}">
                <a16:creationId xmlns:a16="http://schemas.microsoft.com/office/drawing/2014/main" id="{ABA497C4-FF9A-4F19-B967-4C496C25B01A}"/>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Establishes the baseline for exposure analysis and Barangay consolidation. No named household records are required.</a:t>
            </a:r>
          </a:p>
        </p:txBody>
      </p:sp>
      <p:sp>
        <p:nvSpPr>
          <p:cNvPr id="17" name="">
            <a:extLst xmlns:a="http://schemas.openxmlformats.org/drawingml/2006/main">
              <a:ext uri="{FF2B5EF4-FFF2-40B4-BE49-F238E27FC236}">
                <a16:creationId xmlns:a16="http://schemas.microsoft.com/office/drawing/2014/main" id="{6A9478BC-7539-47D8-A529-8DDFB11991EF}"/>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275327BF-39FA-4FC9-B720-FCFEA48A292C}"/>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Profile Verification</a:t>
            </a:r>
          </a:p>
        </p:txBody>
      </p:sp>
      <p:sp>
        <p:nvSpPr>
          <p:cNvPr id="19" name="">
            <a:extLst xmlns:a="http://schemas.openxmlformats.org/drawingml/2006/main">
              <a:ext uri="{FF2B5EF4-FFF2-40B4-BE49-F238E27FC236}">
                <a16:creationId xmlns:a16="http://schemas.microsoft.com/office/drawing/2014/main" id="{1A17F6EE-0DDA-45CE-BDE7-1552D446E08F}"/>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 Barangay reviewer compares the submitted profile with reference information and approves or returns it with a reason.</a:t>
            </a:r>
          </a:p>
        </p:txBody>
      </p:sp>
      <p:sp>
        <p:nvSpPr>
          <p:cNvPr id="20" name="">
            <a:extLst xmlns:a="http://schemas.openxmlformats.org/drawingml/2006/main">
              <a:ext uri="{FF2B5EF4-FFF2-40B4-BE49-F238E27FC236}">
                <a16:creationId xmlns:a16="http://schemas.microsoft.com/office/drawing/2014/main" id="{451D0E4D-6A10-433D-9DE1-4271A479CDD7}"/>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Keeps unverified baseline data from being treated as confirmed.</a:t>
            </a:r>
          </a:p>
        </p:txBody>
      </p:sp>
    </p:spTree>
    <p:extLst>
      <p:ext uri="{BB962C8B-B14F-4D97-AF65-F5344CB8AC3E}">
        <p14:creationId xmlns:p14="http://schemas.microsoft.com/office/powerpoint/2010/main" val="231563324"/>
      </p:ext>
    </p:extLst>
  </p:cSld>
</p:sld>
</file>

<file path=ppt/slides/slide2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ECE5473-F92D-4208-BC55-6C0C26FD1F6B}"/>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023BB8-C86A-4419-B207-B9E9B7D13DD8}"/>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56290223-8965-423C-846E-14B4AEEDDED4}"/>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Purok incident reporting modules</a:t>
            </a:r>
          </a:p>
        </p:txBody>
      </p:sp>
      <p:sp>
        <p:nvSpPr>
          <p:cNvPr id="4" name="">
            <a:extLst xmlns:a="http://schemas.openxmlformats.org/drawingml/2006/main">
              <a:ext uri="{FF2B5EF4-FFF2-40B4-BE49-F238E27FC236}">
                <a16:creationId xmlns:a16="http://schemas.microsoft.com/office/drawing/2014/main" id="{A714A327-77B8-48D9-9B42-F816974454F4}"/>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FE6EA28-FB53-4D94-9E00-CE2F1D2D0E0E}"/>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306–308 and Table 3</a:t>
            </a:r>
          </a:p>
        </p:txBody>
      </p:sp>
      <p:sp>
        <p:nvSpPr>
          <p:cNvPr id="6" name="">
            <a:extLst xmlns:a="http://schemas.openxmlformats.org/drawingml/2006/main">
              <a:ext uri="{FF2B5EF4-FFF2-40B4-BE49-F238E27FC236}">
                <a16:creationId xmlns:a16="http://schemas.microsoft.com/office/drawing/2014/main" id="{5F0036D1-2EE0-4C39-ABA1-FE902ED65368}"/>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21</a:t>
            </a:r>
          </a:p>
        </p:txBody>
      </p:sp>
      <p:sp>
        <p:nvSpPr>
          <p:cNvPr id="7" name="">
            <a:extLst xmlns:a="http://schemas.openxmlformats.org/drawingml/2006/main">
              <a:ext uri="{FF2B5EF4-FFF2-40B4-BE49-F238E27FC236}">
                <a16:creationId xmlns:a16="http://schemas.microsoft.com/office/drawing/2014/main" id="{4AA66166-A77A-498F-9869-ECF9815D6511}"/>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625EA853-076E-4E3A-B7BF-9BCDD661FE17}"/>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8C7F0B39-3075-434A-8360-C3ECB40679DE}"/>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716F8EFA-F79F-4280-8D62-AADAF04B167E}"/>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Incident Reporting</a:t>
            </a:r>
          </a:p>
        </p:txBody>
      </p:sp>
      <p:sp>
        <p:nvSpPr>
          <p:cNvPr id="11" name="">
            <a:extLst xmlns:a="http://schemas.openxmlformats.org/drawingml/2006/main">
              <a:ext uri="{FF2B5EF4-FFF2-40B4-BE49-F238E27FC236}">
                <a16:creationId xmlns:a16="http://schemas.microsoft.com/office/drawing/2014/main" id="{13CBFA82-FE29-48FF-8D55-7FA1AD5EB9FF}"/>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Submit hazard, location, observed date and time, initial situation and affected or exposure-unit totals. Keep later changes as versions.</a:t>
            </a:r>
          </a:p>
        </p:txBody>
      </p:sp>
      <p:sp>
        <p:nvSpPr>
          <p:cNvPr id="12" name="">
            <a:extLst xmlns:a="http://schemas.openxmlformats.org/drawingml/2006/main">
              <a:ext uri="{FF2B5EF4-FFF2-40B4-BE49-F238E27FC236}">
                <a16:creationId xmlns:a16="http://schemas.microsoft.com/office/drawing/2014/main" id="{018722A1-2B15-43DA-8634-60D78EEF5A2B}"/>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Captures a useful first report without making Purok complete the full SitRep assessment.</a:t>
            </a:r>
          </a:p>
        </p:txBody>
      </p:sp>
      <p:sp>
        <p:nvSpPr>
          <p:cNvPr id="13" name="">
            <a:extLst xmlns:a="http://schemas.openxmlformats.org/drawingml/2006/main">
              <a:ext uri="{FF2B5EF4-FFF2-40B4-BE49-F238E27FC236}">
                <a16:creationId xmlns:a16="http://schemas.microsoft.com/office/drawing/2014/main" id="{65235EA9-8F75-4B25-9923-B4960A57CFD9}"/>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EF7604CB-6702-4683-B4C5-75B79B267080}"/>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Incident Report Verification</a:t>
            </a:r>
          </a:p>
        </p:txBody>
      </p:sp>
      <p:sp>
        <p:nvSpPr>
          <p:cNvPr id="15" name="">
            <a:extLst xmlns:a="http://schemas.openxmlformats.org/drawingml/2006/main">
              <a:ext uri="{FF2B5EF4-FFF2-40B4-BE49-F238E27FC236}">
                <a16:creationId xmlns:a16="http://schemas.microsoft.com/office/drawing/2014/main" id="{B5B53763-A56B-4751-876C-0454B4954113}"/>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Barangay reviewers compare sources and versions, flag possible duplicates or conflicts, then validate, partially validate, return or reject with a reason.</a:t>
            </a:r>
          </a:p>
        </p:txBody>
      </p:sp>
      <p:sp>
        <p:nvSpPr>
          <p:cNvPr id="16" name="">
            <a:extLst xmlns:a="http://schemas.openxmlformats.org/drawingml/2006/main">
              <a:ext uri="{FF2B5EF4-FFF2-40B4-BE49-F238E27FC236}">
                <a16:creationId xmlns:a16="http://schemas.microsoft.com/office/drawing/2014/main" id="{CBAFDAFB-F603-4E2A-BFE9-51F4C99DC162}"/>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Makes review and correction accountable. Automated checks do not decide factual accuracy.</a:t>
            </a:r>
          </a:p>
        </p:txBody>
      </p:sp>
      <p:sp>
        <p:nvSpPr>
          <p:cNvPr id="17" name="">
            <a:extLst xmlns:a="http://schemas.openxmlformats.org/drawingml/2006/main">
              <a:ext uri="{FF2B5EF4-FFF2-40B4-BE49-F238E27FC236}">
                <a16:creationId xmlns:a16="http://schemas.microsoft.com/office/drawing/2014/main" id="{C6EFD043-97DD-4A9E-993C-59586D71121B}"/>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85C0E793-C5F7-404B-AF49-27568F73FAC3}"/>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Incident Report History</a:t>
            </a:r>
          </a:p>
        </p:txBody>
      </p:sp>
      <p:sp>
        <p:nvSpPr>
          <p:cNvPr id="19" name="">
            <a:extLst xmlns:a="http://schemas.openxmlformats.org/drawingml/2006/main">
              <a:ext uri="{FF2B5EF4-FFF2-40B4-BE49-F238E27FC236}">
                <a16:creationId xmlns:a16="http://schemas.microsoft.com/office/drawing/2014/main" id="{B2F6F0BE-871D-4B90-838B-F6E832EE5313}"/>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Retrieve current and prior versions of Purok incident reports with their status.</a:t>
            </a:r>
          </a:p>
        </p:txBody>
      </p:sp>
      <p:sp>
        <p:nvSpPr>
          <p:cNvPr id="20" name="">
            <a:extLst xmlns:a="http://schemas.openxmlformats.org/drawingml/2006/main">
              <a:ext uri="{FF2B5EF4-FFF2-40B4-BE49-F238E27FC236}">
                <a16:creationId xmlns:a16="http://schemas.microsoft.com/office/drawing/2014/main" id="{5B8F66DD-C636-4323-8553-4973002CAE9E}"/>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Shows what changed as the event developed and preserves the originating record.</a:t>
            </a:r>
          </a:p>
        </p:txBody>
      </p:sp>
    </p:spTree>
    <p:extLst>
      <p:ext uri="{BB962C8B-B14F-4D97-AF65-F5344CB8AC3E}">
        <p14:creationId xmlns:p14="http://schemas.microsoft.com/office/powerpoint/2010/main" val="1571758789"/>
      </p:ext>
    </p:extLst>
  </p:cSld>
</p:sld>
</file>

<file path=ppt/slides/slide2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ECF5398-63BA-4313-8910-295611A81132}"/>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90BC00-AFE0-4E6A-B30D-AE6A1BC33FB0}"/>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5093F391-F99C-4006-B22A-56D9A0C113FE}"/>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Barangay accounts and profile modules</a:t>
            </a:r>
          </a:p>
        </p:txBody>
      </p:sp>
      <p:sp>
        <p:nvSpPr>
          <p:cNvPr id="4" name="">
            <a:extLst xmlns:a="http://schemas.openxmlformats.org/drawingml/2006/main">
              <a:ext uri="{FF2B5EF4-FFF2-40B4-BE49-F238E27FC236}">
                <a16:creationId xmlns:a16="http://schemas.microsoft.com/office/drawing/2014/main" id="{3B6C7D2E-35E3-4D46-8A6B-3D251ADC42E4}"/>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6C8459C-4170-4CA9-9C0D-C557BC639F1C}"/>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309–311 and Table 3</a:t>
            </a:r>
          </a:p>
        </p:txBody>
      </p:sp>
      <p:sp>
        <p:nvSpPr>
          <p:cNvPr id="6" name="">
            <a:extLst xmlns:a="http://schemas.openxmlformats.org/drawingml/2006/main">
              <a:ext uri="{FF2B5EF4-FFF2-40B4-BE49-F238E27FC236}">
                <a16:creationId xmlns:a16="http://schemas.microsoft.com/office/drawing/2014/main" id="{2F246773-AF90-4CBF-A754-DE39D43288AD}"/>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22</a:t>
            </a:r>
          </a:p>
        </p:txBody>
      </p:sp>
      <p:sp>
        <p:nvSpPr>
          <p:cNvPr id="7" name="">
            <a:extLst xmlns:a="http://schemas.openxmlformats.org/drawingml/2006/main">
              <a:ext uri="{FF2B5EF4-FFF2-40B4-BE49-F238E27FC236}">
                <a16:creationId xmlns:a16="http://schemas.microsoft.com/office/drawing/2014/main" id="{F38ED162-3766-4F84-ADCD-0EBE74E5D994}"/>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4A452E45-6816-4A5F-8B6A-C1D4B18A06E5}"/>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A458F8F7-F92B-479F-8382-754DB8B34D2D}"/>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11BEFE95-D69A-4E46-9B8E-7949351A8F07}"/>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User Management</a:t>
            </a:r>
          </a:p>
        </p:txBody>
      </p:sp>
      <p:sp>
        <p:nvSpPr>
          <p:cNvPr id="11" name="">
            <a:extLst xmlns:a="http://schemas.openxmlformats.org/drawingml/2006/main">
              <a:ext uri="{FF2B5EF4-FFF2-40B4-BE49-F238E27FC236}">
                <a16:creationId xmlns:a16="http://schemas.microsoft.com/office/drawing/2014/main" id="{36034D86-7531-4173-A235-562D75D34777}"/>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Authorized DRRM Administrators create Barangay accounts and issue system-generated credentials.</a:t>
            </a:r>
          </a:p>
        </p:txBody>
      </p:sp>
      <p:sp>
        <p:nvSpPr>
          <p:cNvPr id="12" name="">
            <a:extLst xmlns:a="http://schemas.openxmlformats.org/drawingml/2006/main">
              <a:ext uri="{FF2B5EF4-FFF2-40B4-BE49-F238E27FC236}">
                <a16:creationId xmlns:a16="http://schemas.microsoft.com/office/drawing/2014/main" id="{D73166E6-6102-4A6E-94FC-F1339829BA4C}"/>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Keeps account creation under the level responsible for citywide user administration.</a:t>
            </a:r>
          </a:p>
        </p:txBody>
      </p:sp>
      <p:sp>
        <p:nvSpPr>
          <p:cNvPr id="13" name="">
            <a:extLst xmlns:a="http://schemas.openxmlformats.org/drawingml/2006/main">
              <a:ext uri="{FF2B5EF4-FFF2-40B4-BE49-F238E27FC236}">
                <a16:creationId xmlns:a16="http://schemas.microsoft.com/office/drawing/2014/main" id="{875ED181-6DE3-46EC-AD12-74441AAC190D}"/>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8552C1D8-1DAE-4FA1-9058-9A54DF924196}"/>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Profile Creation</a:t>
            </a:r>
          </a:p>
        </p:txBody>
      </p:sp>
      <p:sp>
        <p:nvSpPr>
          <p:cNvPr id="15" name="">
            <a:extLst xmlns:a="http://schemas.openxmlformats.org/drawingml/2006/main">
              <a:ext uri="{FF2B5EF4-FFF2-40B4-BE49-F238E27FC236}">
                <a16:creationId xmlns:a16="http://schemas.microsoft.com/office/drawing/2014/main" id="{B0D1B2AC-5B67-42E5-B956-28E4AA4DA9CB}"/>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Consolidate verified Purok profile records into the Barangay profile.</a:t>
            </a:r>
          </a:p>
        </p:txBody>
      </p:sp>
      <p:sp>
        <p:nvSpPr>
          <p:cNvPr id="16" name="">
            <a:extLst xmlns:a="http://schemas.openxmlformats.org/drawingml/2006/main">
              <a:ext uri="{FF2B5EF4-FFF2-40B4-BE49-F238E27FC236}">
                <a16:creationId xmlns:a16="http://schemas.microsoft.com/office/drawing/2014/main" id="{77BBC32F-785C-480B-B85E-5278FCE30B0E}"/>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Builds the higher-level baseline from its constituent Purok data instead of re-entering it.</a:t>
            </a:r>
          </a:p>
        </p:txBody>
      </p:sp>
      <p:sp>
        <p:nvSpPr>
          <p:cNvPr id="17" name="">
            <a:extLst xmlns:a="http://schemas.openxmlformats.org/drawingml/2006/main">
              <a:ext uri="{FF2B5EF4-FFF2-40B4-BE49-F238E27FC236}">
                <a16:creationId xmlns:a16="http://schemas.microsoft.com/office/drawing/2014/main" id="{496204C5-B642-40E6-BBFA-3DD175675F52}"/>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0CE70690-A591-403C-AE35-B78B94501EAA}"/>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Profile Verification</a:t>
            </a:r>
          </a:p>
        </p:txBody>
      </p:sp>
      <p:sp>
        <p:nvSpPr>
          <p:cNvPr id="19" name="">
            <a:extLst xmlns:a="http://schemas.openxmlformats.org/drawingml/2006/main">
              <a:ext uri="{FF2B5EF4-FFF2-40B4-BE49-F238E27FC236}">
                <a16:creationId xmlns:a16="http://schemas.microsoft.com/office/drawing/2014/main" id="{2AD85068-16CA-452E-B42B-CB02BBF08FE9}"/>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An authorized DRRM reviewer checks the consolidated profile against references and records the decision.</a:t>
            </a:r>
          </a:p>
        </p:txBody>
      </p:sp>
      <p:sp>
        <p:nvSpPr>
          <p:cNvPr id="20" name="">
            <a:extLst xmlns:a="http://schemas.openxmlformats.org/drawingml/2006/main">
              <a:ext uri="{FF2B5EF4-FFF2-40B4-BE49-F238E27FC236}">
                <a16:creationId xmlns:a16="http://schemas.microsoft.com/office/drawing/2014/main" id="{9F717ECF-009C-421E-8D92-679B2AF49387}"/>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Adds a higher-level review before the Barangay profile is treated as verified.</a:t>
            </a:r>
          </a:p>
        </p:txBody>
      </p:sp>
    </p:spTree>
    <p:extLst>
      <p:ext uri="{BB962C8B-B14F-4D97-AF65-F5344CB8AC3E}">
        <p14:creationId xmlns:p14="http://schemas.microsoft.com/office/powerpoint/2010/main" val="1691317608"/>
      </p:ext>
    </p:extLst>
  </p:cSld>
</p:sld>
</file>

<file path=ppt/slides/slide2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841F78B-626A-4411-9C27-856440FBB20E}"/>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0209A7-7160-44BB-8857-A68A7C519D1A}"/>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FB2508FC-B1A0-4844-B331-A26DFED0A11C}"/>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Barangay incident reporting modules</a:t>
            </a:r>
          </a:p>
        </p:txBody>
      </p:sp>
      <p:sp>
        <p:nvSpPr>
          <p:cNvPr id="4" name="">
            <a:extLst xmlns:a="http://schemas.openxmlformats.org/drawingml/2006/main">
              <a:ext uri="{FF2B5EF4-FFF2-40B4-BE49-F238E27FC236}">
                <a16:creationId xmlns:a16="http://schemas.microsoft.com/office/drawing/2014/main" id="{648DA1C0-A30E-40FA-854E-D1F8D309CE5C}"/>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71DA42DB-A4E0-471D-AEAC-BF3B6992D70D}"/>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312–314 and Table 3</a:t>
            </a:r>
          </a:p>
        </p:txBody>
      </p:sp>
      <p:sp>
        <p:nvSpPr>
          <p:cNvPr id="6" name="">
            <a:extLst xmlns:a="http://schemas.openxmlformats.org/drawingml/2006/main">
              <a:ext uri="{FF2B5EF4-FFF2-40B4-BE49-F238E27FC236}">
                <a16:creationId xmlns:a16="http://schemas.microsoft.com/office/drawing/2014/main" id="{02DA9D22-A61C-4518-A835-9F580B2E828E}"/>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23</a:t>
            </a:r>
          </a:p>
        </p:txBody>
      </p:sp>
      <p:sp>
        <p:nvSpPr>
          <p:cNvPr id="7" name="">
            <a:extLst xmlns:a="http://schemas.openxmlformats.org/drawingml/2006/main">
              <a:ext uri="{FF2B5EF4-FFF2-40B4-BE49-F238E27FC236}">
                <a16:creationId xmlns:a16="http://schemas.microsoft.com/office/drawing/2014/main" id="{3043AA44-A7FA-44A2-AF7A-C8C8A1989616}"/>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0C683DA9-E4C4-49C1-91A0-ABAF9C96F8DF}"/>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1FA3883F-E678-47AA-8C98-20A450A12BBE}"/>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C4F35A19-F386-4732-BF5D-F2C77097238A}"/>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Incident Reporting</a:t>
            </a:r>
          </a:p>
        </p:txBody>
      </p:sp>
      <p:sp>
        <p:nvSpPr>
          <p:cNvPr id="11" name="">
            <a:extLst xmlns:a="http://schemas.openxmlformats.org/drawingml/2006/main">
              <a:ext uri="{FF2B5EF4-FFF2-40B4-BE49-F238E27FC236}">
                <a16:creationId xmlns:a16="http://schemas.microsoft.com/office/drawing/2014/main" id="{3D7F426C-2407-460F-A672-78D54898BF78}"/>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Consolidate eligible verified Purok reports, add Barangay-level assessment, and return unverified source reports for correction.</a:t>
            </a:r>
          </a:p>
        </p:txBody>
      </p:sp>
      <p:sp>
        <p:nvSpPr>
          <p:cNvPr id="12" name="">
            <a:extLst xmlns:a="http://schemas.openxmlformats.org/drawingml/2006/main">
              <a:ext uri="{FF2B5EF4-FFF2-40B4-BE49-F238E27FC236}">
                <a16:creationId xmlns:a16="http://schemas.microsoft.com/office/drawing/2014/main" id="{F08D4601-6B30-4725-AACB-EDE17B893461}"/>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Produces a multi-Purok incident account with more aggregated effects.</a:t>
            </a:r>
          </a:p>
        </p:txBody>
      </p:sp>
      <p:sp>
        <p:nvSpPr>
          <p:cNvPr id="13" name="">
            <a:extLst xmlns:a="http://schemas.openxmlformats.org/drawingml/2006/main">
              <a:ext uri="{FF2B5EF4-FFF2-40B4-BE49-F238E27FC236}">
                <a16:creationId xmlns:a16="http://schemas.microsoft.com/office/drawing/2014/main" id="{8A4EF21B-7C01-45B4-9B23-00A0C4D737EE}"/>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51191080-9677-4ABE-A0BB-B6D8C5E7EBED}"/>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Incident Report Verification</a:t>
            </a:r>
          </a:p>
        </p:txBody>
      </p:sp>
      <p:sp>
        <p:nvSpPr>
          <p:cNvPr id="15" name="">
            <a:extLst xmlns:a="http://schemas.openxmlformats.org/drawingml/2006/main">
              <a:ext uri="{FF2B5EF4-FFF2-40B4-BE49-F238E27FC236}">
                <a16:creationId xmlns:a16="http://schemas.microsoft.com/office/drawing/2014/main" id="{7B145E00-6062-4483-9C87-9375058B13FE}"/>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DRRM reviewers check new or modified submissions, compare sources, flag conflicts, and verify, partially verify, return or reject with a reason.</a:t>
            </a:r>
          </a:p>
        </p:txBody>
      </p:sp>
      <p:sp>
        <p:nvSpPr>
          <p:cNvPr id="16" name="">
            <a:extLst xmlns:a="http://schemas.openxmlformats.org/drawingml/2006/main">
              <a:ext uri="{FF2B5EF4-FFF2-40B4-BE49-F238E27FC236}">
                <a16:creationId xmlns:a16="http://schemas.microsoft.com/office/drawing/2014/main" id="{64877915-30E4-4DEC-B52E-94B0E168DDFE}"/>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Only reviewed Barangay reports are eligible for SitRep consolidation.</a:t>
            </a:r>
          </a:p>
        </p:txBody>
      </p:sp>
      <p:sp>
        <p:nvSpPr>
          <p:cNvPr id="17" name="">
            <a:extLst xmlns:a="http://schemas.openxmlformats.org/drawingml/2006/main">
              <a:ext uri="{FF2B5EF4-FFF2-40B4-BE49-F238E27FC236}">
                <a16:creationId xmlns:a16="http://schemas.microsoft.com/office/drawing/2014/main" id="{B5BC24A8-6D63-42EE-A6A0-D1ADE14D0FC1}"/>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7555EBF6-AC14-46B3-B58F-B42CE6EAF54B}"/>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Incident Report History</a:t>
            </a:r>
          </a:p>
        </p:txBody>
      </p:sp>
      <p:sp>
        <p:nvSpPr>
          <p:cNvPr id="19" name="">
            <a:extLst xmlns:a="http://schemas.openxmlformats.org/drawingml/2006/main">
              <a:ext uri="{FF2B5EF4-FFF2-40B4-BE49-F238E27FC236}">
                <a16:creationId xmlns:a16="http://schemas.microsoft.com/office/drawing/2014/main" id="{B3193019-3DA7-4646-AC81-C6AD529A9C7F}"/>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Retrieve current and earlier versions of consolidated Barangay reports.</a:t>
            </a:r>
          </a:p>
        </p:txBody>
      </p:sp>
      <p:sp>
        <p:nvSpPr>
          <p:cNvPr id="20" name="">
            <a:extLst xmlns:a="http://schemas.openxmlformats.org/drawingml/2006/main">
              <a:ext uri="{FF2B5EF4-FFF2-40B4-BE49-F238E27FC236}">
                <a16:creationId xmlns:a16="http://schemas.microsoft.com/office/drawing/2014/main" id="{0399EABB-4912-47B3-80CB-5BDC7725975B}"/>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Supports review, correction and tracing of SitRep source data over time.</a:t>
            </a:r>
          </a:p>
        </p:txBody>
      </p:sp>
    </p:spTree>
    <p:extLst>
      <p:ext uri="{BB962C8B-B14F-4D97-AF65-F5344CB8AC3E}">
        <p14:creationId xmlns:p14="http://schemas.microsoft.com/office/powerpoint/2010/main" val="1306105064"/>
      </p:ext>
    </p:extLst>
  </p:cSld>
</p:sld>
</file>

<file path=ppt/slides/slide2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AC52473-D0DA-4961-9F24-2351E70BA4EB}"/>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BFDEE8-E6CB-4C31-A6A6-20096368D3C0}"/>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575DD144-AF95-424C-B469-DEED4EA07928}"/>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DRRM administration and hazard modules</a:t>
            </a:r>
          </a:p>
        </p:txBody>
      </p:sp>
      <p:sp>
        <p:nvSpPr>
          <p:cNvPr id="4" name="">
            <a:extLst xmlns:a="http://schemas.openxmlformats.org/drawingml/2006/main">
              <a:ext uri="{FF2B5EF4-FFF2-40B4-BE49-F238E27FC236}">
                <a16:creationId xmlns:a16="http://schemas.microsoft.com/office/drawing/2014/main" id="{194F916E-49DF-4B01-8222-371BBCA05E23}"/>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BD65D9C8-9421-4806-B37F-FE1713D72597}"/>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316–317 and Table 3</a:t>
            </a:r>
          </a:p>
        </p:txBody>
      </p:sp>
      <p:sp>
        <p:nvSpPr>
          <p:cNvPr id="6" name="">
            <a:extLst xmlns:a="http://schemas.openxmlformats.org/drawingml/2006/main">
              <a:ext uri="{FF2B5EF4-FFF2-40B4-BE49-F238E27FC236}">
                <a16:creationId xmlns:a16="http://schemas.microsoft.com/office/drawing/2014/main" id="{01934361-5557-42FE-B01F-4ED93413C3BD}"/>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24</a:t>
            </a:r>
          </a:p>
        </p:txBody>
      </p:sp>
      <p:sp>
        <p:nvSpPr>
          <p:cNvPr id="7" name="">
            <a:extLst xmlns:a="http://schemas.openxmlformats.org/drawingml/2006/main">
              <a:ext uri="{FF2B5EF4-FFF2-40B4-BE49-F238E27FC236}">
                <a16:creationId xmlns:a16="http://schemas.microsoft.com/office/drawing/2014/main" id="{654AA154-67D3-4D23-BA54-E7509EF64C2B}"/>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EAD6414C-507C-4DBD-9B0A-993E979EB4C9}"/>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50194EA9-0346-432F-915F-67C14ABDEE1D}"/>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ACA7170C-EE0C-4F25-AC93-D1BCE564EE7D}"/>
              </a:ext>
            </a:extLst>
          </p:cNvPr>
          <p:cNvSpPr>
            <a:spLocks xmlns:a="http://schemas.openxmlformats.org/drawingml/2006/main" noGrp="1"/>
          </p:cNvSpPr>
          <p:nvPr/>
        </p:nvSpPr>
        <p:spPr>
          <a:xfrm xmlns:a="http://schemas.openxmlformats.org/drawingml/2006/main">
            <a:off x="933450" y="1733550"/>
            <a:ext cx="21526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System User Management</a:t>
            </a:r>
          </a:p>
        </p:txBody>
      </p:sp>
      <p:sp>
        <p:nvSpPr>
          <p:cNvPr id="11" name="">
            <a:extLst xmlns:a="http://schemas.openxmlformats.org/drawingml/2006/main">
              <a:ext uri="{FF2B5EF4-FFF2-40B4-BE49-F238E27FC236}">
                <a16:creationId xmlns:a16="http://schemas.microsoft.com/office/drawing/2014/main" id="{B73A1273-6718-4081-88DC-C5E363FA220E}"/>
              </a:ext>
            </a:extLst>
          </p:cNvPr>
          <p:cNvSpPr>
            <a:spLocks xmlns:a="http://schemas.openxmlformats.org/drawingml/2006/main" noGrp="1"/>
          </p:cNvSpPr>
          <p:nvPr/>
        </p:nvSpPr>
        <p:spPr>
          <a:xfrm xmlns:a="http://schemas.openxmlformats.org/drawingml/2006/main">
            <a:off x="3352800" y="1733550"/>
            <a:ext cx="4667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DRRM Administrators view, edit, activate or suspend accounts across all three levels.</a:t>
            </a:r>
          </a:p>
        </p:txBody>
      </p:sp>
      <p:sp>
        <p:nvSpPr>
          <p:cNvPr id="12" name="">
            <a:extLst xmlns:a="http://schemas.openxmlformats.org/drawingml/2006/main">
              <a:ext uri="{FF2B5EF4-FFF2-40B4-BE49-F238E27FC236}">
                <a16:creationId xmlns:a16="http://schemas.microsoft.com/office/drawing/2014/main" id="{8B8C8BFE-A613-4264-9539-D38AAFE17901}"/>
              </a:ext>
            </a:extLst>
          </p:cNvPr>
          <p:cNvSpPr>
            <a:spLocks xmlns:a="http://schemas.openxmlformats.org/drawingml/2006/main" noGrp="1"/>
          </p:cNvSpPr>
          <p:nvPr/>
        </p:nvSpPr>
        <p:spPr>
          <a:xfrm xmlns:a="http://schemas.openxmlformats.org/drawingml/2006/main">
            <a:off x="8343900" y="1733550"/>
            <a:ext cx="2762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Controls access while preserving authorship and approval history when an account changes.</a:t>
            </a:r>
          </a:p>
        </p:txBody>
      </p:sp>
      <p:sp>
        <p:nvSpPr>
          <p:cNvPr id="13" name="">
            <a:extLst xmlns:a="http://schemas.openxmlformats.org/drawingml/2006/main">
              <a:ext uri="{FF2B5EF4-FFF2-40B4-BE49-F238E27FC236}">
                <a16:creationId xmlns:a16="http://schemas.microsoft.com/office/drawing/2014/main" id="{CB8A5C42-0E1A-4F6B-8DDA-213D4DD94F90}"/>
              </a:ext>
            </a:extLst>
          </p:cNvPr>
          <p:cNvSpPr>
            <a:spLocks xmlns:a="http://schemas.openxmlformats.org/drawingml/2006/main" noGrp="1"/>
          </p:cNvSpPr>
          <p:nvPr/>
        </p:nvSpPr>
        <p:spPr>
          <a:xfrm xmlns:a="http://schemas.openxmlformats.org/drawingml/2006/main">
            <a:off x="933450" y="3638550"/>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75B2DA85-A0D1-4BDF-AE82-5D3AC60DFD97}"/>
              </a:ext>
            </a:extLst>
          </p:cNvPr>
          <p:cNvSpPr>
            <a:spLocks xmlns:a="http://schemas.openxmlformats.org/drawingml/2006/main" noGrp="1"/>
          </p:cNvSpPr>
          <p:nvPr/>
        </p:nvSpPr>
        <p:spPr>
          <a:xfrm xmlns:a="http://schemas.openxmlformats.org/drawingml/2006/main">
            <a:off x="933450" y="3743325"/>
            <a:ext cx="21526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Hazard Creation</a:t>
            </a:r>
          </a:p>
        </p:txBody>
      </p:sp>
      <p:sp>
        <p:nvSpPr>
          <p:cNvPr id="15" name="">
            <a:extLst xmlns:a="http://schemas.openxmlformats.org/drawingml/2006/main">
              <a:ext uri="{FF2B5EF4-FFF2-40B4-BE49-F238E27FC236}">
                <a16:creationId xmlns:a16="http://schemas.microsoft.com/office/drawing/2014/main" id="{F48DED7B-5568-4702-9614-B6D545C0F261}"/>
              </a:ext>
            </a:extLst>
          </p:cNvPr>
          <p:cNvSpPr>
            <a:spLocks xmlns:a="http://schemas.openxmlformats.org/drawingml/2006/main" noGrp="1"/>
          </p:cNvSpPr>
          <p:nvPr/>
        </p:nvSpPr>
        <p:spPr>
          <a:xfrm xmlns:a="http://schemas.openxmlformats.org/drawingml/2006/main">
            <a:off x="3352800" y="3743325"/>
            <a:ext cx="4667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Authorized users record hazard details and classify entries against the participating organization's CDRA types, adding a type when needed.</a:t>
            </a:r>
          </a:p>
        </p:txBody>
      </p:sp>
      <p:sp>
        <p:nvSpPr>
          <p:cNvPr id="16" name="">
            <a:extLst xmlns:a="http://schemas.openxmlformats.org/drawingml/2006/main">
              <a:ext uri="{FF2B5EF4-FFF2-40B4-BE49-F238E27FC236}">
                <a16:creationId xmlns:a16="http://schemas.microsoft.com/office/drawing/2014/main" id="{8690C5C7-E2E9-4904-B46D-9232D99F2CAC}"/>
              </a:ext>
            </a:extLst>
          </p:cNvPr>
          <p:cNvSpPr>
            <a:spLocks xmlns:a="http://schemas.openxmlformats.org/drawingml/2006/main" noGrp="1"/>
          </p:cNvSpPr>
          <p:nvPr/>
        </p:nvSpPr>
        <p:spPr>
          <a:xfrm xmlns:a="http://schemas.openxmlformats.org/drawingml/2006/main">
            <a:off x="8343900" y="3743325"/>
            <a:ext cx="2762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Keeps hazard terminology consistent with local assessment practice. The system records the chosen type and does not independently classify events.</a:t>
            </a:r>
          </a:p>
        </p:txBody>
      </p:sp>
    </p:spTree>
    <p:extLst>
      <p:ext uri="{BB962C8B-B14F-4D97-AF65-F5344CB8AC3E}">
        <p14:creationId xmlns:p14="http://schemas.microsoft.com/office/powerpoint/2010/main" val="1113670102"/>
      </p:ext>
    </p:extLst>
  </p:cSld>
</p:sld>
</file>

<file path=ppt/slides/slide2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86C93CB-CC67-462D-8417-275236A8C710}"/>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1DF6C0-7B94-41D3-A5B8-FA76E7F1FF1F}"/>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C34CED41-24F2-4B1A-9A05-E8555C5B14D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DRRM reporting and analytics modules</a:t>
            </a:r>
          </a:p>
        </p:txBody>
      </p:sp>
      <p:sp>
        <p:nvSpPr>
          <p:cNvPr id="4" name="">
            <a:extLst xmlns:a="http://schemas.openxmlformats.org/drawingml/2006/main">
              <a:ext uri="{FF2B5EF4-FFF2-40B4-BE49-F238E27FC236}">
                <a16:creationId xmlns:a16="http://schemas.microsoft.com/office/drawing/2014/main" id="{E5C2B2B3-2611-490B-8A8D-BD2227A151E3}"/>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C8020305-A67A-4F25-B48A-197314A9B6E4}"/>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318–320 and Table 3</a:t>
            </a:r>
          </a:p>
        </p:txBody>
      </p:sp>
      <p:sp>
        <p:nvSpPr>
          <p:cNvPr id="6" name="">
            <a:extLst xmlns:a="http://schemas.openxmlformats.org/drawingml/2006/main">
              <a:ext uri="{FF2B5EF4-FFF2-40B4-BE49-F238E27FC236}">
                <a16:creationId xmlns:a16="http://schemas.microsoft.com/office/drawing/2014/main" id="{ABFB41EC-A477-4FDD-9E2D-2FD8600F19BC}"/>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25</a:t>
            </a:r>
          </a:p>
        </p:txBody>
      </p:sp>
      <p:sp>
        <p:nvSpPr>
          <p:cNvPr id="7" name="">
            <a:extLst xmlns:a="http://schemas.openxmlformats.org/drawingml/2006/main">
              <a:ext uri="{FF2B5EF4-FFF2-40B4-BE49-F238E27FC236}">
                <a16:creationId xmlns:a16="http://schemas.microsoft.com/office/drawing/2014/main" id="{9577FC22-CDE7-4669-AEE5-0EC4DE8B262E}"/>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FB73779D-A9F5-4836-A0D9-738D5875D9B6}"/>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FE333B70-8CBA-4FDA-AAA8-AB20D51568CD}"/>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8B2BFE9F-ED36-427D-ABC1-74B31A5B8611}"/>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Situation Report Generation</a:t>
            </a:r>
          </a:p>
        </p:txBody>
      </p:sp>
      <p:sp>
        <p:nvSpPr>
          <p:cNvPr id="11" name="">
            <a:extLst xmlns:a="http://schemas.openxmlformats.org/drawingml/2006/main">
              <a:ext uri="{FF2B5EF4-FFF2-40B4-BE49-F238E27FC236}">
                <a16:creationId xmlns:a16="http://schemas.microsoft.com/office/drawing/2014/main" id="{63793EDC-A586-4416-B6DE-5EEF086BC273}"/>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Select an incident and cutoff, retrieve verified Barangay reports, build an editable template-based draft, then route it for authorized review, approval and export.</a:t>
            </a:r>
          </a:p>
        </p:txBody>
      </p:sp>
      <p:sp>
        <p:nvSpPr>
          <p:cNvPr id="12" name="">
            <a:extLst xmlns:a="http://schemas.openxmlformats.org/drawingml/2006/main">
              <a:ext uri="{FF2B5EF4-FFF2-40B4-BE49-F238E27FC236}">
                <a16:creationId xmlns:a16="http://schemas.microsoft.com/office/drawing/2014/main" id="{F2AED6AD-3495-4011-8A4A-89D82886F846}"/>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Reduces repeated summarization while retaining source attribution and human authority.</a:t>
            </a:r>
          </a:p>
        </p:txBody>
      </p:sp>
      <p:sp>
        <p:nvSpPr>
          <p:cNvPr id="13" name="">
            <a:extLst xmlns:a="http://schemas.openxmlformats.org/drawingml/2006/main">
              <a:ext uri="{FF2B5EF4-FFF2-40B4-BE49-F238E27FC236}">
                <a16:creationId xmlns:a16="http://schemas.microsoft.com/office/drawing/2014/main" id="{CD691618-43CE-4CB9-8FE4-68DDDF4B5073}"/>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DC7DE7E4-AF90-43F1-ABD7-18CDB8C1302D}"/>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Situation Report Historical Catalog</a:t>
            </a:r>
          </a:p>
        </p:txBody>
      </p:sp>
      <p:sp>
        <p:nvSpPr>
          <p:cNvPr id="15" name="">
            <a:extLst xmlns:a="http://schemas.openxmlformats.org/drawingml/2006/main">
              <a:ext uri="{FF2B5EF4-FFF2-40B4-BE49-F238E27FC236}">
                <a16:creationId xmlns:a16="http://schemas.microsoft.com/office/drawing/2014/main" id="{47083FFE-9B05-4B88-83C9-FEAF76714294}"/>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Search, filter, compare, export, correct or supersede reports while retaining prior approved versions and record controls.</a:t>
            </a:r>
          </a:p>
        </p:txBody>
      </p:sp>
      <p:sp>
        <p:nvSpPr>
          <p:cNvPr id="16" name="">
            <a:extLst xmlns:a="http://schemas.openxmlformats.org/drawingml/2006/main">
              <a:ext uri="{FF2B5EF4-FFF2-40B4-BE49-F238E27FC236}">
                <a16:creationId xmlns:a16="http://schemas.microsoft.com/office/drawing/2014/main" id="{76D32A69-1EB8-4EFD-AEA9-E71E02DCE79F}"/>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Preserves continuity and supports audit, retention and later retrieval.</a:t>
            </a:r>
          </a:p>
        </p:txBody>
      </p:sp>
      <p:sp>
        <p:nvSpPr>
          <p:cNvPr id="17" name="">
            <a:extLst xmlns:a="http://schemas.openxmlformats.org/drawingml/2006/main">
              <a:ext uri="{FF2B5EF4-FFF2-40B4-BE49-F238E27FC236}">
                <a16:creationId xmlns:a16="http://schemas.microsoft.com/office/drawing/2014/main" id="{4B6B692D-4E8B-4F83-BA58-B04ED99E81F2}"/>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37CCA623-3535-487C-A034-74E84AF41F79}"/>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System Dashboard</a:t>
            </a:r>
          </a:p>
        </p:txBody>
      </p:sp>
      <p:sp>
        <p:nvSpPr>
          <p:cNvPr id="19" name="">
            <a:extLst xmlns:a="http://schemas.openxmlformats.org/drawingml/2006/main">
              <a:ext uri="{FF2B5EF4-FFF2-40B4-BE49-F238E27FC236}">
                <a16:creationId xmlns:a16="http://schemas.microsoft.com/office/drawing/2014/main" id="{559312F4-9A12-4FF6-8FA6-CABE9EAA9A96}"/>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Show role-specific incident, population, report-status, verification, SitRep-coverage and processing summaries, with filters and last-update time.</a:t>
            </a:r>
          </a:p>
        </p:txBody>
      </p:sp>
      <p:sp>
        <p:nvSpPr>
          <p:cNvPr id="20" name="">
            <a:extLst xmlns:a="http://schemas.openxmlformats.org/drawingml/2006/main">
              <a:ext uri="{FF2B5EF4-FFF2-40B4-BE49-F238E27FC236}">
                <a16:creationId xmlns:a16="http://schemas.microsoft.com/office/drawing/2014/main" id="{C57FD2A8-14DE-47A9-9E31-6D07A59EE617}"/>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Gives each level relevant operational visibility and distinguishes provisional from verified data.</a:t>
            </a:r>
          </a:p>
        </p:txBody>
      </p:sp>
    </p:spTree>
    <p:extLst>
      <p:ext uri="{BB962C8B-B14F-4D97-AF65-F5344CB8AC3E}">
        <p14:creationId xmlns:p14="http://schemas.microsoft.com/office/powerpoint/2010/main" val="376302899"/>
      </p:ext>
    </p:extLst>
  </p:cSld>
</p:sld>
</file>

<file path=ppt/slides/slide2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BDAAB16-198C-4764-9A5C-F40ADEB9225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30948C-BF94-4F20-898A-CBC4ED87C6B6}"/>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DATA FLOW DIAGRAM</a:t>
            </a:r>
          </a:p>
        </p:txBody>
      </p:sp>
      <p:sp>
        <p:nvSpPr>
          <p:cNvPr id="3" name="">
            <a:extLst xmlns:a="http://schemas.openxmlformats.org/drawingml/2006/main">
              <a:ext uri="{FF2B5EF4-FFF2-40B4-BE49-F238E27FC236}">
                <a16:creationId xmlns:a16="http://schemas.microsoft.com/office/drawing/2014/main" id="{10F0BBCF-BFFC-4025-A4B0-6F4EFDE53CFF}"/>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Level 0 separates three actors and seventeen processes</a:t>
            </a:r>
          </a:p>
        </p:txBody>
      </p:sp>
      <p:sp>
        <p:nvSpPr>
          <p:cNvPr id="4" name="">
            <a:extLst xmlns:a="http://schemas.openxmlformats.org/drawingml/2006/main">
              <a:ext uri="{FF2B5EF4-FFF2-40B4-BE49-F238E27FC236}">
                <a16:creationId xmlns:a16="http://schemas.microsoft.com/office/drawing/2014/main" id="{F83414F3-0E68-41D3-AA71-1A5745E1B499}"/>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A39A721F-5246-452D-8E44-FAB5D7D4F954}"/>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27</a:t>
            </a:r>
          </a:p>
        </p:txBody>
      </p:sp>
      <p:sp>
        <p:nvSpPr>
          <p:cNvPr id="6" name="">
            <a:extLst xmlns:a="http://schemas.openxmlformats.org/drawingml/2006/main">
              <a:ext uri="{FF2B5EF4-FFF2-40B4-BE49-F238E27FC236}">
                <a16:creationId xmlns:a16="http://schemas.microsoft.com/office/drawing/2014/main" id="{4B55EBB1-8A91-43A5-BD00-AC11B40C69D4}"/>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26</a:t>
            </a:r>
          </a:p>
        </p:txBody>
      </p:sp>
      <p:sp>
        <p:nvSpPr>
          <p:cNvPr id="7" name="">
            <a:extLst xmlns:a="http://schemas.openxmlformats.org/drawingml/2006/main">
              <a:ext uri="{FF2B5EF4-FFF2-40B4-BE49-F238E27FC236}">
                <a16:creationId xmlns:a16="http://schemas.microsoft.com/office/drawing/2014/main" id="{A3917D5F-F25D-42A5-913A-91FACA9D01F0}"/>
              </a:ext>
            </a:extLst>
          </p:cNvPr>
          <p:cNvSpPr>
            <a:spLocks xmlns:a="http://schemas.openxmlformats.org/drawingml/2006/main" noGrp="1"/>
          </p:cNvSpPr>
          <p:nvPr/>
        </p:nvSpPr>
        <p:spPr>
          <a:xfrm xmlns:a="http://schemas.openxmlformats.org/drawingml/2006/main">
            <a:off x="952500" y="1409700"/>
            <a:ext cx="152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2FA25800-99D1-42FA-9995-6E7611867960}"/>
              </a:ext>
            </a:extLst>
          </p:cNvPr>
          <p:cNvSpPr>
            <a:spLocks xmlns:a="http://schemas.openxmlformats.org/drawingml/2006/main" noGrp="1"/>
          </p:cNvSpPr>
          <p:nvPr/>
        </p:nvSpPr>
        <p:spPr>
          <a:xfrm xmlns:a="http://schemas.openxmlformats.org/drawingml/2006/main">
            <a:off x="2647950" y="1409700"/>
            <a:ext cx="859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Creates aggregate profile data and initial incident reports. Barangay verification produces a review state and correction path.</a:t>
            </a:r>
          </a:p>
        </p:txBody>
      </p:sp>
      <p:sp>
        <p:nvSpPr>
          <p:cNvPr id="9" name="">
            <a:extLst xmlns:a="http://schemas.openxmlformats.org/drawingml/2006/main">
              <a:ext uri="{FF2B5EF4-FFF2-40B4-BE49-F238E27FC236}">
                <a16:creationId xmlns:a16="http://schemas.microsoft.com/office/drawing/2014/main" id="{A12E80F1-10BD-4BAB-B6C8-03A2EFEF3800}"/>
              </a:ext>
            </a:extLst>
          </p:cNvPr>
          <p:cNvSpPr>
            <a:spLocks xmlns:a="http://schemas.openxmlformats.org/drawingml/2006/main" noGrp="1"/>
          </p:cNvSpPr>
          <p:nvPr/>
        </p:nvSpPr>
        <p:spPr>
          <a:xfrm xmlns:a="http://schemas.openxmlformats.org/drawingml/2006/main">
            <a:off x="952500" y="2133600"/>
            <a:ext cx="152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BARANGAY</a:t>
            </a:r>
          </a:p>
        </p:txBody>
      </p:sp>
      <p:sp>
        <p:nvSpPr>
          <p:cNvPr id="10" name="">
            <a:extLst xmlns:a="http://schemas.openxmlformats.org/drawingml/2006/main">
              <a:ext uri="{FF2B5EF4-FFF2-40B4-BE49-F238E27FC236}">
                <a16:creationId xmlns:a16="http://schemas.microsoft.com/office/drawing/2014/main" id="{DD87EC48-ADCB-428D-A848-D0C41F0ED953}"/>
              </a:ext>
            </a:extLst>
          </p:cNvPr>
          <p:cNvSpPr>
            <a:spLocks xmlns:a="http://schemas.openxmlformats.org/drawingml/2006/main" noGrp="1"/>
          </p:cNvSpPr>
          <p:nvPr/>
        </p:nvSpPr>
        <p:spPr>
          <a:xfrm xmlns:a="http://schemas.openxmlformats.org/drawingml/2006/main">
            <a:off x="2647950" y="2133600"/>
            <a:ext cx="859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Verifies Purok submissions, consolidates verified records and submits the Barangay incident report to DRRM.</a:t>
            </a:r>
          </a:p>
        </p:txBody>
      </p:sp>
      <p:sp>
        <p:nvSpPr>
          <p:cNvPr id="11" name="">
            <a:extLst xmlns:a="http://schemas.openxmlformats.org/drawingml/2006/main">
              <a:ext uri="{FF2B5EF4-FFF2-40B4-BE49-F238E27FC236}">
                <a16:creationId xmlns:a16="http://schemas.microsoft.com/office/drawing/2014/main" id="{E68BE6EC-EDE7-4D94-8EA0-160AEE8A6CD2}"/>
              </a:ext>
            </a:extLst>
          </p:cNvPr>
          <p:cNvSpPr>
            <a:spLocks xmlns:a="http://schemas.openxmlformats.org/drawingml/2006/main" noGrp="1"/>
          </p:cNvSpPr>
          <p:nvPr/>
        </p:nvSpPr>
        <p:spPr>
          <a:xfrm xmlns:a="http://schemas.openxmlformats.org/drawingml/2006/main">
            <a:off x="952500" y="2857500"/>
            <a:ext cx="152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DRRM</a:t>
            </a:r>
          </a:p>
        </p:txBody>
      </p:sp>
      <p:sp>
        <p:nvSpPr>
          <p:cNvPr id="12" name="">
            <a:extLst xmlns:a="http://schemas.openxmlformats.org/drawingml/2006/main">
              <a:ext uri="{FF2B5EF4-FFF2-40B4-BE49-F238E27FC236}">
                <a16:creationId xmlns:a16="http://schemas.microsoft.com/office/drawing/2014/main" id="{B069E73C-87CB-489F-8A88-90FBF42162E0}"/>
              </a:ext>
            </a:extLst>
          </p:cNvPr>
          <p:cNvSpPr>
            <a:spLocks xmlns:a="http://schemas.openxmlformats.org/drawingml/2006/main" noGrp="1"/>
          </p:cNvSpPr>
          <p:nvPr/>
        </p:nvSpPr>
        <p:spPr>
          <a:xfrm xmlns:a="http://schemas.openxmlformats.org/drawingml/2006/main">
            <a:off x="2647950" y="2857500"/>
            <a:ext cx="859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Manages system users and hazards, verifies Barangay reports, and generates and stores Situation Reports.</a:t>
            </a:r>
          </a:p>
        </p:txBody>
      </p:sp>
      <p:sp>
        <p:nvSpPr>
          <p:cNvPr id="13" name="">
            <a:extLst xmlns:a="http://schemas.openxmlformats.org/drawingml/2006/main">
              <a:ext uri="{FF2B5EF4-FFF2-40B4-BE49-F238E27FC236}">
                <a16:creationId xmlns:a16="http://schemas.microsoft.com/office/drawing/2014/main" id="{598FA2F8-CF06-4772-B2AE-61FBDE55A38B}"/>
              </a:ext>
            </a:extLst>
          </p:cNvPr>
          <p:cNvSpPr>
            <a:spLocks xmlns:a="http://schemas.openxmlformats.org/drawingml/2006/main" noGrp="1"/>
          </p:cNvSpPr>
          <p:nvPr/>
        </p:nvSpPr>
        <p:spPr>
          <a:xfrm xmlns:a="http://schemas.openxmlformats.org/drawingml/2006/main">
            <a:off x="952500" y="3609975"/>
            <a:ext cx="102489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4" name="">
            <a:extLst xmlns:a="http://schemas.openxmlformats.org/drawingml/2006/main">
              <a:ext uri="{FF2B5EF4-FFF2-40B4-BE49-F238E27FC236}">
                <a16:creationId xmlns:a16="http://schemas.microsoft.com/office/drawing/2014/main" id="{7953D0F4-7520-404E-8F81-1677B9534400}"/>
              </a:ext>
            </a:extLst>
          </p:cNvPr>
          <p:cNvSpPr>
            <a:spLocks xmlns:a="http://schemas.openxmlformats.org/drawingml/2006/main" noGrp="1"/>
          </p:cNvSpPr>
          <p:nvPr/>
        </p:nvSpPr>
        <p:spPr>
          <a:xfrm xmlns:a="http://schemas.openxmlformats.org/drawingml/2006/main">
            <a:off x="9334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Accounts</a:t>
            </a:r>
          </a:p>
        </p:txBody>
      </p:sp>
      <p:sp>
        <p:nvSpPr>
          <p:cNvPr id="15" name="">
            <a:extLst xmlns:a="http://schemas.openxmlformats.org/drawingml/2006/main">
              <a:ext uri="{FF2B5EF4-FFF2-40B4-BE49-F238E27FC236}">
                <a16:creationId xmlns:a16="http://schemas.microsoft.com/office/drawing/2014/main" id="{7968A546-5AEC-4DE6-A5C0-8E8D072153F9}"/>
              </a:ext>
            </a:extLst>
          </p:cNvPr>
          <p:cNvSpPr>
            <a:spLocks xmlns:a="http://schemas.openxmlformats.org/drawingml/2006/main" noGrp="1"/>
          </p:cNvSpPr>
          <p:nvPr/>
        </p:nvSpPr>
        <p:spPr>
          <a:xfrm xmlns:a="http://schemas.openxmlformats.org/drawingml/2006/main">
            <a:off x="9334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16" name="">
            <a:extLst xmlns:a="http://schemas.openxmlformats.org/drawingml/2006/main">
              <a:ext uri="{FF2B5EF4-FFF2-40B4-BE49-F238E27FC236}">
                <a16:creationId xmlns:a16="http://schemas.microsoft.com/office/drawing/2014/main" id="{836EEF7E-839A-4CEA-9109-5934FCB1235F}"/>
              </a:ext>
            </a:extLst>
          </p:cNvPr>
          <p:cNvSpPr>
            <a:spLocks xmlns:a="http://schemas.openxmlformats.org/drawingml/2006/main" noGrp="1"/>
          </p:cNvSpPr>
          <p:nvPr/>
        </p:nvSpPr>
        <p:spPr>
          <a:xfrm xmlns:a="http://schemas.openxmlformats.org/drawingml/2006/main">
            <a:off x="230505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7" name="">
            <a:extLst xmlns:a="http://schemas.openxmlformats.org/drawingml/2006/main">
              <a:ext uri="{FF2B5EF4-FFF2-40B4-BE49-F238E27FC236}">
                <a16:creationId xmlns:a16="http://schemas.microsoft.com/office/drawing/2014/main" id="{BE1C0AF5-40B0-4CE0-8408-D816904C3247}"/>
              </a:ext>
            </a:extLst>
          </p:cNvPr>
          <p:cNvSpPr>
            <a:spLocks xmlns:a="http://schemas.openxmlformats.org/drawingml/2006/main" noGrp="1"/>
          </p:cNvSpPr>
          <p:nvPr/>
        </p:nvSpPr>
        <p:spPr>
          <a:xfrm xmlns:a="http://schemas.openxmlformats.org/drawingml/2006/main">
            <a:off x="240030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Purok Profile</a:t>
            </a:r>
          </a:p>
        </p:txBody>
      </p:sp>
      <p:sp>
        <p:nvSpPr>
          <p:cNvPr id="18" name="">
            <a:extLst xmlns:a="http://schemas.openxmlformats.org/drawingml/2006/main">
              <a:ext uri="{FF2B5EF4-FFF2-40B4-BE49-F238E27FC236}">
                <a16:creationId xmlns:a16="http://schemas.microsoft.com/office/drawing/2014/main" id="{B39FED19-96F1-4B55-8264-B130AB31464A}"/>
              </a:ext>
            </a:extLst>
          </p:cNvPr>
          <p:cNvSpPr>
            <a:spLocks xmlns:a="http://schemas.openxmlformats.org/drawingml/2006/main" noGrp="1"/>
          </p:cNvSpPr>
          <p:nvPr/>
        </p:nvSpPr>
        <p:spPr>
          <a:xfrm xmlns:a="http://schemas.openxmlformats.org/drawingml/2006/main">
            <a:off x="240030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19" name="">
            <a:extLst xmlns:a="http://schemas.openxmlformats.org/drawingml/2006/main">
              <a:ext uri="{FF2B5EF4-FFF2-40B4-BE49-F238E27FC236}">
                <a16:creationId xmlns:a16="http://schemas.microsoft.com/office/drawing/2014/main" id="{A5FE5C6C-2F31-4FE8-9A18-BB7B7FE8A1C5}"/>
              </a:ext>
            </a:extLst>
          </p:cNvPr>
          <p:cNvSpPr>
            <a:spLocks xmlns:a="http://schemas.openxmlformats.org/drawingml/2006/main" noGrp="1"/>
          </p:cNvSpPr>
          <p:nvPr/>
        </p:nvSpPr>
        <p:spPr>
          <a:xfrm xmlns:a="http://schemas.openxmlformats.org/drawingml/2006/main">
            <a:off x="377190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0" name="">
            <a:extLst xmlns:a="http://schemas.openxmlformats.org/drawingml/2006/main">
              <a:ext uri="{FF2B5EF4-FFF2-40B4-BE49-F238E27FC236}">
                <a16:creationId xmlns:a16="http://schemas.microsoft.com/office/drawing/2014/main" id="{7F52DA3F-1B44-420D-BD71-7C541DAF13B6}"/>
              </a:ext>
            </a:extLst>
          </p:cNvPr>
          <p:cNvSpPr>
            <a:spLocks xmlns:a="http://schemas.openxmlformats.org/drawingml/2006/main" noGrp="1"/>
          </p:cNvSpPr>
          <p:nvPr/>
        </p:nvSpPr>
        <p:spPr>
          <a:xfrm xmlns:a="http://schemas.openxmlformats.org/drawingml/2006/main">
            <a:off x="38671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Barangay Profile</a:t>
            </a:r>
          </a:p>
        </p:txBody>
      </p:sp>
      <p:sp>
        <p:nvSpPr>
          <p:cNvPr id="21" name="">
            <a:extLst xmlns:a="http://schemas.openxmlformats.org/drawingml/2006/main">
              <a:ext uri="{FF2B5EF4-FFF2-40B4-BE49-F238E27FC236}">
                <a16:creationId xmlns:a16="http://schemas.microsoft.com/office/drawing/2014/main" id="{C07E5F31-8109-4876-872D-AC92DF6D6D75}"/>
              </a:ext>
            </a:extLst>
          </p:cNvPr>
          <p:cNvSpPr>
            <a:spLocks xmlns:a="http://schemas.openxmlformats.org/drawingml/2006/main" noGrp="1"/>
          </p:cNvSpPr>
          <p:nvPr/>
        </p:nvSpPr>
        <p:spPr>
          <a:xfrm xmlns:a="http://schemas.openxmlformats.org/drawingml/2006/main">
            <a:off x="38671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22" name="">
            <a:extLst xmlns:a="http://schemas.openxmlformats.org/drawingml/2006/main">
              <a:ext uri="{FF2B5EF4-FFF2-40B4-BE49-F238E27FC236}">
                <a16:creationId xmlns:a16="http://schemas.microsoft.com/office/drawing/2014/main" id="{70B0A3E7-0E0C-4934-AAD9-4E1CAC9E7154}"/>
              </a:ext>
            </a:extLst>
          </p:cNvPr>
          <p:cNvSpPr>
            <a:spLocks xmlns:a="http://schemas.openxmlformats.org/drawingml/2006/main" noGrp="1"/>
          </p:cNvSpPr>
          <p:nvPr/>
        </p:nvSpPr>
        <p:spPr>
          <a:xfrm xmlns:a="http://schemas.openxmlformats.org/drawingml/2006/main">
            <a:off x="523875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F1C3EEC4-5132-43F8-973E-AFD21AF0CD52}"/>
              </a:ext>
            </a:extLst>
          </p:cNvPr>
          <p:cNvSpPr>
            <a:spLocks xmlns:a="http://schemas.openxmlformats.org/drawingml/2006/main" noGrp="1"/>
          </p:cNvSpPr>
          <p:nvPr/>
        </p:nvSpPr>
        <p:spPr>
          <a:xfrm xmlns:a="http://schemas.openxmlformats.org/drawingml/2006/main">
            <a:off x="533400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Hazards</a:t>
            </a:r>
          </a:p>
        </p:txBody>
      </p:sp>
      <p:sp>
        <p:nvSpPr>
          <p:cNvPr id="24" name="">
            <a:extLst xmlns:a="http://schemas.openxmlformats.org/drawingml/2006/main">
              <a:ext uri="{FF2B5EF4-FFF2-40B4-BE49-F238E27FC236}">
                <a16:creationId xmlns:a16="http://schemas.microsoft.com/office/drawing/2014/main" id="{ED397A8D-7D54-4E74-928F-F2D344D89942}"/>
              </a:ext>
            </a:extLst>
          </p:cNvPr>
          <p:cNvSpPr>
            <a:spLocks xmlns:a="http://schemas.openxmlformats.org/drawingml/2006/main" noGrp="1"/>
          </p:cNvSpPr>
          <p:nvPr/>
        </p:nvSpPr>
        <p:spPr>
          <a:xfrm xmlns:a="http://schemas.openxmlformats.org/drawingml/2006/main">
            <a:off x="533400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25" name="">
            <a:extLst xmlns:a="http://schemas.openxmlformats.org/drawingml/2006/main">
              <a:ext uri="{FF2B5EF4-FFF2-40B4-BE49-F238E27FC236}">
                <a16:creationId xmlns:a16="http://schemas.microsoft.com/office/drawing/2014/main" id="{5318A600-37FA-407B-A4BB-DCB45CF1A844}"/>
              </a:ext>
            </a:extLst>
          </p:cNvPr>
          <p:cNvSpPr>
            <a:spLocks xmlns:a="http://schemas.openxmlformats.org/drawingml/2006/main" noGrp="1"/>
          </p:cNvSpPr>
          <p:nvPr/>
        </p:nvSpPr>
        <p:spPr>
          <a:xfrm xmlns:a="http://schemas.openxmlformats.org/drawingml/2006/main">
            <a:off x="670560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6" name="">
            <a:extLst xmlns:a="http://schemas.openxmlformats.org/drawingml/2006/main">
              <a:ext uri="{FF2B5EF4-FFF2-40B4-BE49-F238E27FC236}">
                <a16:creationId xmlns:a16="http://schemas.microsoft.com/office/drawing/2014/main" id="{00AB994F-3425-4D87-B176-7AE4E48EBC51}"/>
              </a:ext>
            </a:extLst>
          </p:cNvPr>
          <p:cNvSpPr>
            <a:spLocks xmlns:a="http://schemas.openxmlformats.org/drawingml/2006/main" noGrp="1"/>
          </p:cNvSpPr>
          <p:nvPr/>
        </p:nvSpPr>
        <p:spPr>
          <a:xfrm xmlns:a="http://schemas.openxmlformats.org/drawingml/2006/main">
            <a:off x="68008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Purok Incident</a:t>
            </a:r>
          </a:p>
        </p:txBody>
      </p:sp>
      <p:sp>
        <p:nvSpPr>
          <p:cNvPr id="27" name="">
            <a:extLst xmlns:a="http://schemas.openxmlformats.org/drawingml/2006/main">
              <a:ext uri="{FF2B5EF4-FFF2-40B4-BE49-F238E27FC236}">
                <a16:creationId xmlns:a16="http://schemas.microsoft.com/office/drawing/2014/main" id="{A8292244-A50B-4329-9C46-A09EABACC662}"/>
              </a:ext>
            </a:extLst>
          </p:cNvPr>
          <p:cNvSpPr>
            <a:spLocks xmlns:a="http://schemas.openxmlformats.org/drawingml/2006/main" noGrp="1"/>
          </p:cNvSpPr>
          <p:nvPr/>
        </p:nvSpPr>
        <p:spPr>
          <a:xfrm xmlns:a="http://schemas.openxmlformats.org/drawingml/2006/main">
            <a:off x="68008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28" name="">
            <a:extLst xmlns:a="http://schemas.openxmlformats.org/drawingml/2006/main">
              <a:ext uri="{FF2B5EF4-FFF2-40B4-BE49-F238E27FC236}">
                <a16:creationId xmlns:a16="http://schemas.microsoft.com/office/drawing/2014/main" id="{82C5659A-FE0A-48B5-9FCE-9D2FDFF9DE5B}"/>
              </a:ext>
            </a:extLst>
          </p:cNvPr>
          <p:cNvSpPr>
            <a:spLocks xmlns:a="http://schemas.openxmlformats.org/drawingml/2006/main" noGrp="1"/>
          </p:cNvSpPr>
          <p:nvPr/>
        </p:nvSpPr>
        <p:spPr>
          <a:xfrm xmlns:a="http://schemas.openxmlformats.org/drawingml/2006/main">
            <a:off x="817245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9" name="">
            <a:extLst xmlns:a="http://schemas.openxmlformats.org/drawingml/2006/main">
              <a:ext uri="{FF2B5EF4-FFF2-40B4-BE49-F238E27FC236}">
                <a16:creationId xmlns:a16="http://schemas.microsoft.com/office/drawing/2014/main" id="{76AA4EF7-1250-416A-943B-0502B2DD5EE6}"/>
              </a:ext>
            </a:extLst>
          </p:cNvPr>
          <p:cNvSpPr>
            <a:spLocks xmlns:a="http://schemas.openxmlformats.org/drawingml/2006/main" noGrp="1"/>
          </p:cNvSpPr>
          <p:nvPr/>
        </p:nvSpPr>
        <p:spPr>
          <a:xfrm xmlns:a="http://schemas.openxmlformats.org/drawingml/2006/main">
            <a:off x="826770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Barangay Incident</a:t>
            </a:r>
          </a:p>
        </p:txBody>
      </p:sp>
      <p:sp>
        <p:nvSpPr>
          <p:cNvPr id="30" name="">
            <a:extLst xmlns:a="http://schemas.openxmlformats.org/drawingml/2006/main">
              <a:ext uri="{FF2B5EF4-FFF2-40B4-BE49-F238E27FC236}">
                <a16:creationId xmlns:a16="http://schemas.microsoft.com/office/drawing/2014/main" id="{63185548-6D02-45F8-BE68-A9C372414339}"/>
              </a:ext>
            </a:extLst>
          </p:cNvPr>
          <p:cNvSpPr>
            <a:spLocks xmlns:a="http://schemas.openxmlformats.org/drawingml/2006/main" noGrp="1"/>
          </p:cNvSpPr>
          <p:nvPr/>
        </p:nvSpPr>
        <p:spPr>
          <a:xfrm xmlns:a="http://schemas.openxmlformats.org/drawingml/2006/main">
            <a:off x="826770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31" name="">
            <a:extLst xmlns:a="http://schemas.openxmlformats.org/drawingml/2006/main">
              <a:ext uri="{FF2B5EF4-FFF2-40B4-BE49-F238E27FC236}">
                <a16:creationId xmlns:a16="http://schemas.microsoft.com/office/drawing/2014/main" id="{54D6CBBD-6B5A-43B8-9386-A1722F2DC1BC}"/>
              </a:ext>
            </a:extLst>
          </p:cNvPr>
          <p:cNvSpPr>
            <a:spLocks xmlns:a="http://schemas.openxmlformats.org/drawingml/2006/main" noGrp="1"/>
          </p:cNvSpPr>
          <p:nvPr/>
        </p:nvSpPr>
        <p:spPr>
          <a:xfrm xmlns:a="http://schemas.openxmlformats.org/drawingml/2006/main">
            <a:off x="963930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2" name="">
            <a:extLst xmlns:a="http://schemas.openxmlformats.org/drawingml/2006/main">
              <a:ext uri="{FF2B5EF4-FFF2-40B4-BE49-F238E27FC236}">
                <a16:creationId xmlns:a16="http://schemas.microsoft.com/office/drawing/2014/main" id="{D4FEB574-63C3-4B89-91A0-E880EF73ADAE}"/>
              </a:ext>
            </a:extLst>
          </p:cNvPr>
          <p:cNvSpPr>
            <a:spLocks xmlns:a="http://schemas.openxmlformats.org/drawingml/2006/main" noGrp="1"/>
          </p:cNvSpPr>
          <p:nvPr/>
        </p:nvSpPr>
        <p:spPr>
          <a:xfrm xmlns:a="http://schemas.openxmlformats.org/drawingml/2006/main">
            <a:off x="97345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Situation Report</a:t>
            </a:r>
          </a:p>
        </p:txBody>
      </p:sp>
      <p:sp>
        <p:nvSpPr>
          <p:cNvPr id="33" name="">
            <a:extLst xmlns:a="http://schemas.openxmlformats.org/drawingml/2006/main">
              <a:ext uri="{FF2B5EF4-FFF2-40B4-BE49-F238E27FC236}">
                <a16:creationId xmlns:a16="http://schemas.microsoft.com/office/drawing/2014/main" id="{D7CA87F5-2427-447F-842B-15616A9CE974}"/>
              </a:ext>
            </a:extLst>
          </p:cNvPr>
          <p:cNvSpPr>
            <a:spLocks xmlns:a="http://schemas.openxmlformats.org/drawingml/2006/main" noGrp="1"/>
          </p:cNvSpPr>
          <p:nvPr/>
        </p:nvSpPr>
        <p:spPr>
          <a:xfrm xmlns:a="http://schemas.openxmlformats.org/drawingml/2006/main">
            <a:off x="97345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34" name="">
            <a:extLst xmlns:a="http://schemas.openxmlformats.org/drawingml/2006/main">
              <a:ext uri="{FF2B5EF4-FFF2-40B4-BE49-F238E27FC236}">
                <a16:creationId xmlns:a16="http://schemas.microsoft.com/office/drawing/2014/main" id="{54020B71-C2CB-4CBE-8B7A-445523184E76}"/>
              </a:ext>
            </a:extLst>
          </p:cNvPr>
          <p:cNvSpPr>
            <a:spLocks xmlns:a="http://schemas.openxmlformats.org/drawingml/2006/main" noGrp="1"/>
          </p:cNvSpPr>
          <p:nvPr/>
        </p:nvSpPr>
        <p:spPr>
          <a:xfrm xmlns:a="http://schemas.openxmlformats.org/drawingml/2006/main">
            <a:off x="952500" y="4924425"/>
            <a:ext cx="10248900" cy="7048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67A19975-8E7C-43B2-91A3-9114CD598507}"/>
              </a:ext>
            </a:extLst>
          </p:cNvPr>
          <p:cNvSpPr>
            <a:spLocks xmlns:a="http://schemas.openxmlformats.org/drawingml/2006/main" noGrp="1"/>
          </p:cNvSpPr>
          <p:nvPr/>
        </p:nvSpPr>
        <p:spPr>
          <a:xfrm xmlns:a="http://schemas.openxmlformats.org/drawingml/2006/main">
            <a:off x="1162050" y="5048250"/>
            <a:ext cx="9829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Interpretation: the DFD shows what data each process receives and returns. It does not by itself specify the relational keys or database constraints.</a:t>
            </a:r>
          </a:p>
        </p:txBody>
      </p:sp>
    </p:spTree>
    <p:extLst>
      <p:ext uri="{BB962C8B-B14F-4D97-AF65-F5344CB8AC3E}">
        <p14:creationId xmlns:p14="http://schemas.microsoft.com/office/powerpoint/2010/main" val="551397865"/>
      </p:ext>
    </p:extLst>
  </p:cSld>
</p:sld>
</file>

<file path=ppt/slides/slide2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933CE02-5216-4E66-B9CF-C4124FF510E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3EB135-58D1-4F7F-80C0-91B6FE19EFD8}"/>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ENTITY RELATIONSHIP DIAGRAM</a:t>
            </a:r>
          </a:p>
        </p:txBody>
      </p:sp>
      <p:sp>
        <p:nvSpPr>
          <p:cNvPr id="3" name="">
            <a:extLst xmlns:a="http://schemas.openxmlformats.org/drawingml/2006/main">
              <a:ext uri="{FF2B5EF4-FFF2-40B4-BE49-F238E27FC236}">
                <a16:creationId xmlns:a16="http://schemas.microsoft.com/office/drawing/2014/main" id="{00AC137B-18D1-48EE-A9A6-F2AEBA9E2C63}"/>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ERD separates account roles and operational record families</a:t>
            </a:r>
          </a:p>
        </p:txBody>
      </p:sp>
      <p:sp>
        <p:nvSpPr>
          <p:cNvPr id="4" name="">
            <a:extLst xmlns:a="http://schemas.openxmlformats.org/drawingml/2006/main">
              <a:ext uri="{FF2B5EF4-FFF2-40B4-BE49-F238E27FC236}">
                <a16:creationId xmlns:a16="http://schemas.microsoft.com/office/drawing/2014/main" id="{53D6337C-9EBB-45DA-880D-6392FDE5625C}"/>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325F8972-956D-491C-ACFA-A986F2D60D0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40 and the ERD convention discussed in the project</a:t>
            </a:r>
          </a:p>
        </p:txBody>
      </p:sp>
      <p:sp>
        <p:nvSpPr>
          <p:cNvPr id="6" name="">
            <a:extLst xmlns:a="http://schemas.openxmlformats.org/drawingml/2006/main">
              <a:ext uri="{FF2B5EF4-FFF2-40B4-BE49-F238E27FC236}">
                <a16:creationId xmlns:a16="http://schemas.microsoft.com/office/drawing/2014/main" id="{D4EB3020-A5A9-4A2E-B42A-129BD9C316A8}"/>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27</a:t>
            </a:r>
          </a:p>
        </p:txBody>
      </p:sp>
      <p:sp>
        <p:nvSpPr>
          <p:cNvPr id="7" name="">
            <a:extLst xmlns:a="http://schemas.openxmlformats.org/drawingml/2006/main">
              <a:ext uri="{FF2B5EF4-FFF2-40B4-BE49-F238E27FC236}">
                <a16:creationId xmlns:a16="http://schemas.microsoft.com/office/drawing/2014/main" id="{03B44E5F-31D6-428D-B11F-878B43B3936D}"/>
              </a:ext>
            </a:extLst>
          </p:cNvPr>
          <p:cNvSpPr>
            <a:spLocks xmlns:a="http://schemas.openxmlformats.org/drawingml/2006/main" noGrp="1"/>
          </p:cNvSpPr>
          <p:nvPr/>
        </p:nvSpPr>
        <p:spPr>
          <a:xfrm xmlns:a="http://schemas.openxmlformats.org/drawingml/2006/main">
            <a:off x="93345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IDENTITY</a:t>
            </a:r>
          </a:p>
        </p:txBody>
      </p:sp>
      <p:sp>
        <p:nvSpPr>
          <p:cNvPr id="8" name="">
            <a:extLst xmlns:a="http://schemas.openxmlformats.org/drawingml/2006/main">
              <a:ext uri="{FF2B5EF4-FFF2-40B4-BE49-F238E27FC236}">
                <a16:creationId xmlns:a16="http://schemas.microsoft.com/office/drawing/2014/main" id="{595425F6-C668-49D5-A748-9B827F159556}"/>
              </a:ext>
            </a:extLst>
          </p:cNvPr>
          <p:cNvSpPr>
            <a:spLocks xmlns:a="http://schemas.openxmlformats.org/drawingml/2006/main" noGrp="1"/>
          </p:cNvSpPr>
          <p:nvPr/>
        </p:nvSpPr>
        <p:spPr>
          <a:xfrm xmlns:a="http://schemas.openxmlformats.org/drawingml/2006/main">
            <a:off x="93345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9" name="">
            <a:extLst xmlns:a="http://schemas.openxmlformats.org/drawingml/2006/main">
              <a:ext uri="{FF2B5EF4-FFF2-40B4-BE49-F238E27FC236}">
                <a16:creationId xmlns:a16="http://schemas.microsoft.com/office/drawing/2014/main" id="{0B206175-1ED4-4B8A-AD72-AFF52FA297C1}"/>
              </a:ext>
            </a:extLst>
          </p:cNvPr>
          <p:cNvSpPr>
            <a:spLocks xmlns:a="http://schemas.openxmlformats.org/drawingml/2006/main" noGrp="1"/>
          </p:cNvSpPr>
          <p:nvPr/>
        </p:nvSpPr>
        <p:spPr>
          <a:xfrm xmlns:a="http://schemas.openxmlformats.org/drawingml/2006/main">
            <a:off x="93345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Account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account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Barangay account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DRRM account</a:t>
            </a:r>
          </a:p>
        </p:txBody>
      </p:sp>
      <p:sp>
        <p:nvSpPr>
          <p:cNvPr id="10" name="">
            <a:extLst xmlns:a="http://schemas.openxmlformats.org/drawingml/2006/main">
              <a:ext uri="{FF2B5EF4-FFF2-40B4-BE49-F238E27FC236}">
                <a16:creationId xmlns:a16="http://schemas.microsoft.com/office/drawing/2014/main" id="{025DCD1B-9384-422E-8096-7FD92DD2FBA4}"/>
              </a:ext>
            </a:extLst>
          </p:cNvPr>
          <p:cNvSpPr>
            <a:spLocks xmlns:a="http://schemas.openxmlformats.org/drawingml/2006/main" noGrp="1"/>
          </p:cNvSpPr>
          <p:nvPr/>
        </p:nvSpPr>
        <p:spPr>
          <a:xfrm xmlns:a="http://schemas.openxmlformats.org/drawingml/2006/main">
            <a:off x="358140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PROFILES</a:t>
            </a:r>
          </a:p>
        </p:txBody>
      </p:sp>
      <p:sp>
        <p:nvSpPr>
          <p:cNvPr id="11" name="">
            <a:extLst xmlns:a="http://schemas.openxmlformats.org/drawingml/2006/main">
              <a:ext uri="{FF2B5EF4-FFF2-40B4-BE49-F238E27FC236}">
                <a16:creationId xmlns:a16="http://schemas.microsoft.com/office/drawing/2014/main" id="{48638F5A-645C-49A2-AA53-16BF82184B78}"/>
              </a:ext>
            </a:extLst>
          </p:cNvPr>
          <p:cNvSpPr>
            <a:spLocks xmlns:a="http://schemas.openxmlformats.org/drawingml/2006/main" noGrp="1"/>
          </p:cNvSpPr>
          <p:nvPr/>
        </p:nvSpPr>
        <p:spPr>
          <a:xfrm xmlns:a="http://schemas.openxmlformats.org/drawingml/2006/main">
            <a:off x="358140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2" name="">
            <a:extLst xmlns:a="http://schemas.openxmlformats.org/drawingml/2006/main">
              <a:ext uri="{FF2B5EF4-FFF2-40B4-BE49-F238E27FC236}">
                <a16:creationId xmlns:a16="http://schemas.microsoft.com/office/drawing/2014/main" id="{C873A4BC-B35B-435C-A9B8-19E81765E39D}"/>
              </a:ext>
            </a:extLst>
          </p:cNvPr>
          <p:cNvSpPr>
            <a:spLocks xmlns:a="http://schemas.openxmlformats.org/drawingml/2006/main" noGrp="1"/>
          </p:cNvSpPr>
          <p:nvPr/>
        </p:nvSpPr>
        <p:spPr>
          <a:xfrm xmlns:a="http://schemas.openxmlformats.org/drawingml/2006/main">
            <a:off x="358140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profile</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Barangay profile</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Housing summary</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Hazard exposure</a:t>
            </a:r>
          </a:p>
        </p:txBody>
      </p:sp>
      <p:sp>
        <p:nvSpPr>
          <p:cNvPr id="13" name="">
            <a:extLst xmlns:a="http://schemas.openxmlformats.org/drawingml/2006/main">
              <a:ext uri="{FF2B5EF4-FFF2-40B4-BE49-F238E27FC236}">
                <a16:creationId xmlns:a16="http://schemas.microsoft.com/office/drawing/2014/main" id="{EC9EA2D9-5633-4DD0-96A3-4716C623BE3B}"/>
              </a:ext>
            </a:extLst>
          </p:cNvPr>
          <p:cNvSpPr>
            <a:spLocks xmlns:a="http://schemas.openxmlformats.org/drawingml/2006/main" noGrp="1"/>
          </p:cNvSpPr>
          <p:nvPr/>
        </p:nvSpPr>
        <p:spPr>
          <a:xfrm xmlns:a="http://schemas.openxmlformats.org/drawingml/2006/main">
            <a:off x="622935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INCIDENTS</a:t>
            </a:r>
          </a:p>
        </p:txBody>
      </p:sp>
      <p:sp>
        <p:nvSpPr>
          <p:cNvPr id="14" name="">
            <a:extLst xmlns:a="http://schemas.openxmlformats.org/drawingml/2006/main">
              <a:ext uri="{FF2B5EF4-FFF2-40B4-BE49-F238E27FC236}">
                <a16:creationId xmlns:a16="http://schemas.microsoft.com/office/drawing/2014/main" id="{96051635-B02E-4689-AE6F-3CEB8DCD14DB}"/>
              </a:ext>
            </a:extLst>
          </p:cNvPr>
          <p:cNvSpPr>
            <a:spLocks xmlns:a="http://schemas.openxmlformats.org/drawingml/2006/main" noGrp="1"/>
          </p:cNvSpPr>
          <p:nvPr/>
        </p:nvSpPr>
        <p:spPr>
          <a:xfrm xmlns:a="http://schemas.openxmlformats.org/drawingml/2006/main">
            <a:off x="622935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5" name="">
            <a:extLst xmlns:a="http://schemas.openxmlformats.org/drawingml/2006/main">
              <a:ext uri="{FF2B5EF4-FFF2-40B4-BE49-F238E27FC236}">
                <a16:creationId xmlns:a16="http://schemas.microsoft.com/office/drawing/2014/main" id="{77FD5ED0-8A2A-469D-A860-4F58B20E5163}"/>
              </a:ext>
            </a:extLst>
          </p:cNvPr>
          <p:cNvSpPr>
            <a:spLocks xmlns:a="http://schemas.openxmlformats.org/drawingml/2006/main" noGrp="1"/>
          </p:cNvSpPr>
          <p:nvPr/>
        </p:nvSpPr>
        <p:spPr>
          <a:xfrm xmlns:a="http://schemas.openxmlformats.org/drawingml/2006/main">
            <a:off x="622935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Hazard</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Incident report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Report version</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Affected population</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Casualty and damage</a:t>
            </a:r>
          </a:p>
        </p:txBody>
      </p:sp>
      <p:sp>
        <p:nvSpPr>
          <p:cNvPr id="16" name="">
            <a:extLst xmlns:a="http://schemas.openxmlformats.org/drawingml/2006/main">
              <a:ext uri="{FF2B5EF4-FFF2-40B4-BE49-F238E27FC236}">
                <a16:creationId xmlns:a16="http://schemas.microsoft.com/office/drawing/2014/main" id="{FCB23006-EF55-49C8-8B17-9B6A258E7EA8}"/>
              </a:ext>
            </a:extLst>
          </p:cNvPr>
          <p:cNvSpPr>
            <a:spLocks xmlns:a="http://schemas.openxmlformats.org/drawingml/2006/main" noGrp="1"/>
          </p:cNvSpPr>
          <p:nvPr/>
        </p:nvSpPr>
        <p:spPr>
          <a:xfrm xmlns:a="http://schemas.openxmlformats.org/drawingml/2006/main">
            <a:off x="887730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SITUATION REPORT</a:t>
            </a:r>
          </a:p>
        </p:txBody>
      </p:sp>
      <p:sp>
        <p:nvSpPr>
          <p:cNvPr id="17" name="">
            <a:extLst xmlns:a="http://schemas.openxmlformats.org/drawingml/2006/main">
              <a:ext uri="{FF2B5EF4-FFF2-40B4-BE49-F238E27FC236}">
                <a16:creationId xmlns:a16="http://schemas.microsoft.com/office/drawing/2014/main" id="{648FC7BA-3854-41C4-817B-7EB63AFF2B22}"/>
              </a:ext>
            </a:extLst>
          </p:cNvPr>
          <p:cNvSpPr>
            <a:spLocks xmlns:a="http://schemas.openxmlformats.org/drawingml/2006/main" noGrp="1"/>
          </p:cNvSpPr>
          <p:nvPr/>
        </p:nvSpPr>
        <p:spPr>
          <a:xfrm xmlns:a="http://schemas.openxmlformats.org/drawingml/2006/main">
            <a:off x="887730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8" name="">
            <a:extLst xmlns:a="http://schemas.openxmlformats.org/drawingml/2006/main">
              <a:ext uri="{FF2B5EF4-FFF2-40B4-BE49-F238E27FC236}">
                <a16:creationId xmlns:a16="http://schemas.microsoft.com/office/drawing/2014/main" id="{BFD44F41-5CEA-4CC9-8A25-63CDAC67348B}"/>
              </a:ext>
            </a:extLst>
          </p:cNvPr>
          <p:cNvSpPr>
            <a:spLocks xmlns:a="http://schemas.openxmlformats.org/drawingml/2006/main" noGrp="1"/>
          </p:cNvSpPr>
          <p:nvPr/>
        </p:nvSpPr>
        <p:spPr>
          <a:xfrm xmlns:a="http://schemas.openxmlformats.org/drawingml/2006/main">
            <a:off x="887730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Situation report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Report version</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Response actions</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Issues and recommendations</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Effects and assistance</a:t>
            </a:r>
          </a:p>
        </p:txBody>
      </p:sp>
      <p:sp>
        <p:nvSpPr>
          <p:cNvPr id="19" name="">
            <a:extLst xmlns:a="http://schemas.openxmlformats.org/drawingml/2006/main">
              <a:ext uri="{FF2B5EF4-FFF2-40B4-BE49-F238E27FC236}">
                <a16:creationId xmlns:a16="http://schemas.microsoft.com/office/drawing/2014/main" id="{CCC2F5A4-4F92-4286-8282-315D30A09F0E}"/>
              </a:ext>
            </a:extLst>
          </p:cNvPr>
          <p:cNvSpPr>
            <a:spLocks xmlns:a="http://schemas.openxmlformats.org/drawingml/2006/main" noGrp="1"/>
          </p:cNvSpPr>
          <p:nvPr/>
        </p:nvSpPr>
        <p:spPr>
          <a:xfrm xmlns:a="http://schemas.openxmlformats.org/drawingml/2006/main">
            <a:off x="933450" y="4352925"/>
            <a:ext cx="10267950" cy="10477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FD734B5-1720-47D4-9CD6-20F1781867DE}"/>
              </a:ext>
            </a:extLst>
          </p:cNvPr>
          <p:cNvSpPr>
            <a:spLocks xmlns:a="http://schemas.openxmlformats.org/drawingml/2006/main" noGrp="1"/>
          </p:cNvSpPr>
          <p:nvPr/>
        </p:nvSpPr>
        <p:spPr>
          <a:xfrm xmlns:a="http://schemas.openxmlformats.org/drawingml/2006/main">
            <a:off x="1162050" y="45053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ERD convention</a:t>
            </a:r>
          </a:p>
        </p:txBody>
      </p:sp>
      <p:sp>
        <p:nvSpPr>
          <p:cNvPr id="21" name="">
            <a:extLst xmlns:a="http://schemas.openxmlformats.org/drawingml/2006/main">
              <a:ext uri="{FF2B5EF4-FFF2-40B4-BE49-F238E27FC236}">
                <a16:creationId xmlns:a16="http://schemas.microsoft.com/office/drawing/2014/main" id="{3E283806-104F-4A39-8347-2CC0B0C23018}"/>
              </a:ext>
            </a:extLst>
          </p:cNvPr>
          <p:cNvSpPr>
            <a:spLocks xmlns:a="http://schemas.openxmlformats.org/drawingml/2006/main" noGrp="1"/>
          </p:cNvSpPr>
          <p:nvPr/>
        </p:nvSpPr>
        <p:spPr>
          <a:xfrm xmlns:a="http://schemas.openxmlformats.org/drawingml/2006/main">
            <a:off x="3048000" y="4438650"/>
            <a:ext cx="78295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Account is modeled as a supertype. Purok, Barangay and DRRM are role subtypes. Primary identifiers are underlined. Relationships are shown without adding FK attributes to the conceptual ERD.</a:t>
            </a:r>
          </a:p>
        </p:txBody>
      </p:sp>
    </p:spTree>
    <p:extLst>
      <p:ext uri="{BB962C8B-B14F-4D97-AF65-F5344CB8AC3E}">
        <p14:creationId xmlns:p14="http://schemas.microsoft.com/office/powerpoint/2010/main" val="1221564668"/>
      </p:ext>
    </p:extLst>
  </p:cSld>
</p:sld>
</file>

<file path=ppt/slides/slide2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1C1D7E7-2650-481B-86FB-5533400F86F5}"/>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2BB5F6-69A5-4DAE-A6A1-7681E2B78047}"/>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RELATIONAL DATA MODEL</a:t>
            </a:r>
          </a:p>
        </p:txBody>
      </p:sp>
      <p:sp>
        <p:nvSpPr>
          <p:cNvPr id="3" name="">
            <a:extLst xmlns:a="http://schemas.openxmlformats.org/drawingml/2006/main">
              <a:ext uri="{FF2B5EF4-FFF2-40B4-BE49-F238E27FC236}">
                <a16:creationId xmlns:a16="http://schemas.microsoft.com/office/drawing/2014/main" id="{84B36544-E776-47D7-B5FC-A5530AECD77B}"/>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RDM maps entities into connected relations</a:t>
            </a:r>
          </a:p>
        </p:txBody>
      </p:sp>
      <p:sp>
        <p:nvSpPr>
          <p:cNvPr id="4" name="">
            <a:extLst xmlns:a="http://schemas.openxmlformats.org/drawingml/2006/main">
              <a:ext uri="{FF2B5EF4-FFF2-40B4-BE49-F238E27FC236}">
                <a16:creationId xmlns:a16="http://schemas.microsoft.com/office/drawing/2014/main" id="{01D4103A-C7DD-48BD-9D37-342D6445ABDC}"/>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24DC7A8C-CAAE-4CAE-B999-7DBFF7919C5C}"/>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41 and database design</a:t>
            </a:r>
          </a:p>
        </p:txBody>
      </p:sp>
      <p:sp>
        <p:nvSpPr>
          <p:cNvPr id="6" name="">
            <a:extLst xmlns:a="http://schemas.openxmlformats.org/drawingml/2006/main">
              <a:ext uri="{FF2B5EF4-FFF2-40B4-BE49-F238E27FC236}">
                <a16:creationId xmlns:a16="http://schemas.microsoft.com/office/drawing/2014/main" id="{9BAAF064-ACB9-4E7E-99E5-C339B2FFC721}"/>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28</a:t>
            </a:r>
          </a:p>
        </p:txBody>
      </p:sp>
      <p:sp>
        <p:nvSpPr>
          <p:cNvPr id="7" name="">
            <a:extLst xmlns:a="http://schemas.openxmlformats.org/drawingml/2006/main">
              <a:ext uri="{FF2B5EF4-FFF2-40B4-BE49-F238E27FC236}">
                <a16:creationId xmlns:a16="http://schemas.microsoft.com/office/drawing/2014/main" id="{4C9280B3-9068-44AD-BD4E-EF4D387E738C}"/>
              </a:ext>
            </a:extLst>
          </p:cNvPr>
          <p:cNvSpPr>
            <a:spLocks xmlns:a="http://schemas.openxmlformats.org/drawingml/2006/main" noGrp="1"/>
          </p:cNvSpPr>
          <p:nvPr/>
        </p:nvSpPr>
        <p:spPr>
          <a:xfrm xmlns:a="http://schemas.openxmlformats.org/drawingml/2006/main">
            <a:off x="933450" y="140017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ACCOUNT AND JURISDICTION</a:t>
            </a:r>
          </a:p>
        </p:txBody>
      </p:sp>
      <p:sp>
        <p:nvSpPr>
          <p:cNvPr id="8" name="">
            <a:extLst xmlns:a="http://schemas.openxmlformats.org/drawingml/2006/main">
              <a:ext uri="{FF2B5EF4-FFF2-40B4-BE49-F238E27FC236}">
                <a16:creationId xmlns:a16="http://schemas.microsoft.com/office/drawing/2014/main" id="{CD57F27E-291C-4991-AD3B-8F755067B258}"/>
              </a:ext>
            </a:extLst>
          </p:cNvPr>
          <p:cNvSpPr>
            <a:spLocks xmlns:a="http://schemas.openxmlformats.org/drawingml/2006/main" noGrp="1"/>
          </p:cNvSpPr>
          <p:nvPr/>
        </p:nvSpPr>
        <p:spPr>
          <a:xfrm xmlns:a="http://schemas.openxmlformats.org/drawingml/2006/main">
            <a:off x="3857625" y="1381125"/>
            <a:ext cx="714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Account identity and its Purok, Barangay or DRRM role records. Jurisdiction links support routing and access scope.</a:t>
            </a:r>
          </a:p>
        </p:txBody>
      </p:sp>
      <p:sp>
        <p:nvSpPr>
          <p:cNvPr id="9" name="">
            <a:extLst xmlns:a="http://schemas.openxmlformats.org/drawingml/2006/main">
              <a:ext uri="{FF2B5EF4-FFF2-40B4-BE49-F238E27FC236}">
                <a16:creationId xmlns:a16="http://schemas.microsoft.com/office/drawing/2014/main" id="{BB8C5499-9473-4AE5-AAAB-4781B4734F41}"/>
              </a:ext>
            </a:extLst>
          </p:cNvPr>
          <p:cNvSpPr>
            <a:spLocks xmlns:a="http://schemas.openxmlformats.org/drawingml/2006/main" noGrp="1"/>
          </p:cNvSpPr>
          <p:nvPr/>
        </p:nvSpPr>
        <p:spPr>
          <a:xfrm xmlns:a="http://schemas.openxmlformats.org/drawingml/2006/main">
            <a:off x="933450" y="2238375"/>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1B501947-4E44-409E-BAEB-7C6A8DF1B407}"/>
              </a:ext>
            </a:extLst>
          </p:cNvPr>
          <p:cNvSpPr>
            <a:spLocks xmlns:a="http://schemas.openxmlformats.org/drawingml/2006/main" noGrp="1"/>
          </p:cNvSpPr>
          <p:nvPr/>
        </p:nvSpPr>
        <p:spPr>
          <a:xfrm xmlns:a="http://schemas.openxmlformats.org/drawingml/2006/main">
            <a:off x="933450" y="256222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PROFILE AND HAZARD</a:t>
            </a:r>
          </a:p>
        </p:txBody>
      </p:sp>
      <p:sp>
        <p:nvSpPr>
          <p:cNvPr id="11" name="">
            <a:extLst xmlns:a="http://schemas.openxmlformats.org/drawingml/2006/main">
              <a:ext uri="{FF2B5EF4-FFF2-40B4-BE49-F238E27FC236}">
                <a16:creationId xmlns:a16="http://schemas.microsoft.com/office/drawing/2014/main" id="{A575D5FF-3BCE-493E-96C8-F8905F5B7D49}"/>
              </a:ext>
            </a:extLst>
          </p:cNvPr>
          <p:cNvSpPr>
            <a:spLocks xmlns:a="http://schemas.openxmlformats.org/drawingml/2006/main" noGrp="1"/>
          </p:cNvSpPr>
          <p:nvPr/>
        </p:nvSpPr>
        <p:spPr>
          <a:xfrm xmlns:a="http://schemas.openxmlformats.org/drawingml/2006/main">
            <a:off x="3857625" y="2543175"/>
            <a:ext cx="714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Purok and Barangay profile records, supporting exposure summaries, hazard data and configured CDRA types.</a:t>
            </a:r>
          </a:p>
        </p:txBody>
      </p:sp>
      <p:sp>
        <p:nvSpPr>
          <p:cNvPr id="12" name="">
            <a:extLst xmlns:a="http://schemas.openxmlformats.org/drawingml/2006/main">
              <a:ext uri="{FF2B5EF4-FFF2-40B4-BE49-F238E27FC236}">
                <a16:creationId xmlns:a16="http://schemas.microsoft.com/office/drawing/2014/main" id="{F465554B-CF88-47EB-AB8A-5AEAFDC73AF8}"/>
              </a:ext>
            </a:extLst>
          </p:cNvPr>
          <p:cNvSpPr>
            <a:spLocks xmlns:a="http://schemas.openxmlformats.org/drawingml/2006/main" noGrp="1"/>
          </p:cNvSpPr>
          <p:nvPr/>
        </p:nvSpPr>
        <p:spPr>
          <a:xfrm xmlns:a="http://schemas.openxmlformats.org/drawingml/2006/main">
            <a:off x="933450" y="3400425"/>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C2FE8002-B427-4B5C-A693-D0D546B4F737}"/>
              </a:ext>
            </a:extLst>
          </p:cNvPr>
          <p:cNvSpPr>
            <a:spLocks xmlns:a="http://schemas.openxmlformats.org/drawingml/2006/main" noGrp="1"/>
          </p:cNvSpPr>
          <p:nvPr/>
        </p:nvSpPr>
        <p:spPr>
          <a:xfrm xmlns:a="http://schemas.openxmlformats.org/drawingml/2006/main">
            <a:off x="933450" y="372427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INCIDENT AND SITREP</a:t>
            </a:r>
          </a:p>
        </p:txBody>
      </p:sp>
      <p:sp>
        <p:nvSpPr>
          <p:cNvPr id="14" name="">
            <a:extLst xmlns:a="http://schemas.openxmlformats.org/drawingml/2006/main">
              <a:ext uri="{FF2B5EF4-FFF2-40B4-BE49-F238E27FC236}">
                <a16:creationId xmlns:a16="http://schemas.microsoft.com/office/drawing/2014/main" id="{AE70FA78-0FC1-4754-BAE8-98D8F869B286}"/>
              </a:ext>
            </a:extLst>
          </p:cNvPr>
          <p:cNvSpPr>
            <a:spLocks xmlns:a="http://schemas.openxmlformats.org/drawingml/2006/main" noGrp="1"/>
          </p:cNvSpPr>
          <p:nvPr/>
        </p:nvSpPr>
        <p:spPr>
          <a:xfrm xmlns:a="http://schemas.openxmlformats.org/drawingml/2006/main">
            <a:off x="3857625" y="3705225"/>
            <a:ext cx="714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Incident versions and verification history, linked to affected-population, casualty, damage and Situation Report records.</a:t>
            </a:r>
          </a:p>
        </p:txBody>
      </p:sp>
      <p:sp>
        <p:nvSpPr>
          <p:cNvPr id="15" name="">
            <a:extLst xmlns:a="http://schemas.openxmlformats.org/drawingml/2006/main">
              <a:ext uri="{FF2B5EF4-FFF2-40B4-BE49-F238E27FC236}">
                <a16:creationId xmlns:a16="http://schemas.microsoft.com/office/drawing/2014/main" id="{298984B1-CDF1-4727-8355-D8C0BC047A61}"/>
              </a:ext>
            </a:extLst>
          </p:cNvPr>
          <p:cNvSpPr>
            <a:spLocks xmlns:a="http://schemas.openxmlformats.org/drawingml/2006/main" noGrp="1"/>
          </p:cNvSpPr>
          <p:nvPr/>
        </p:nvSpPr>
        <p:spPr>
          <a:xfrm xmlns:a="http://schemas.openxmlformats.org/drawingml/2006/main">
            <a:off x="933450" y="5162550"/>
            <a:ext cx="10229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Read Figure 40 for the entity view. Read Figure 41 for the connected relational tables and key structure.</a:t>
            </a:r>
          </a:p>
        </p:txBody>
      </p:sp>
    </p:spTree>
    <p:extLst>
      <p:ext uri="{BB962C8B-B14F-4D97-AF65-F5344CB8AC3E}">
        <p14:creationId xmlns:p14="http://schemas.microsoft.com/office/powerpoint/2010/main" val="295026162"/>
      </p:ext>
    </p:extLst>
  </p:cSld>
</p:sld>
</file>

<file path=ppt/slides/slide2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D54AA6B-E46F-4C63-9265-DE3E68024FAC}"/>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51B4B7-1460-405D-9D56-6971F3C348C4}"/>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 FLOW</a:t>
            </a:r>
          </a:p>
        </p:txBody>
      </p:sp>
      <p:sp>
        <p:nvSpPr>
          <p:cNvPr id="3" name="">
            <a:extLst xmlns:a="http://schemas.openxmlformats.org/drawingml/2006/main">
              <a:ext uri="{FF2B5EF4-FFF2-40B4-BE49-F238E27FC236}">
                <a16:creationId xmlns:a16="http://schemas.microsoft.com/office/drawing/2014/main" id="{DDB16A1F-CD76-4F60-8EA5-9CC481C5FCD9}"/>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Purok user flow</a:t>
            </a:r>
          </a:p>
        </p:txBody>
      </p:sp>
      <p:sp>
        <p:nvSpPr>
          <p:cNvPr id="4" name="">
            <a:extLst xmlns:a="http://schemas.openxmlformats.org/drawingml/2006/main">
              <a:ext uri="{FF2B5EF4-FFF2-40B4-BE49-F238E27FC236}">
                <a16:creationId xmlns:a16="http://schemas.microsoft.com/office/drawing/2014/main" id="{0BA14341-FE9A-41CC-AF9F-912E21126094}"/>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D4225D5-B97A-4708-9B18-F17C83518664}"/>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Purok module flowcharts and role scope</a:t>
            </a:r>
          </a:p>
        </p:txBody>
      </p:sp>
      <p:sp>
        <p:nvSpPr>
          <p:cNvPr id="6" name="">
            <a:extLst xmlns:a="http://schemas.openxmlformats.org/drawingml/2006/main">
              <a:ext uri="{FF2B5EF4-FFF2-40B4-BE49-F238E27FC236}">
                <a16:creationId xmlns:a16="http://schemas.microsoft.com/office/drawing/2014/main" id="{0B91430C-EBA1-4E0D-9390-6CB531B1C5BD}"/>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29</a:t>
            </a:r>
          </a:p>
        </p:txBody>
      </p:sp>
      <p:sp>
        <p:nvSpPr>
          <p:cNvPr id="7" name="">
            <a:extLst xmlns:a="http://schemas.openxmlformats.org/drawingml/2006/main">
              <a:ext uri="{FF2B5EF4-FFF2-40B4-BE49-F238E27FC236}">
                <a16:creationId xmlns:a16="http://schemas.microsoft.com/office/drawing/2014/main" id="{B4C43F29-3A39-464A-9857-41001A8A5426}"/>
              </a:ext>
            </a:extLst>
          </p:cNvPr>
          <p:cNvSpPr>
            <a:spLocks xmlns:a="http://schemas.openxmlformats.org/drawingml/2006/main" noGrp="1"/>
          </p:cNvSpPr>
          <p:nvPr/>
        </p:nvSpPr>
        <p:spPr>
          <a:xfrm xmlns:a="http://schemas.openxmlformats.org/drawingml/2006/main">
            <a:off x="9334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589DDC51-FA6A-4EBE-BB4F-514F945B1CB4}"/>
              </a:ext>
            </a:extLst>
          </p:cNvPr>
          <p:cNvSpPr>
            <a:spLocks xmlns:a="http://schemas.openxmlformats.org/drawingml/2006/main" noGrp="1"/>
          </p:cNvSpPr>
          <p:nvPr/>
        </p:nvSpPr>
        <p:spPr>
          <a:xfrm xmlns:a="http://schemas.openxmlformats.org/drawingml/2006/main">
            <a:off x="9334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Sign in with credentials issued by an authorized higher-level user</a:t>
            </a:r>
          </a:p>
        </p:txBody>
      </p:sp>
      <p:sp>
        <p:nvSpPr>
          <p:cNvPr id="9" name="">
            <a:extLst xmlns:a="http://schemas.openxmlformats.org/drawingml/2006/main">
              <a:ext uri="{FF2B5EF4-FFF2-40B4-BE49-F238E27FC236}">
                <a16:creationId xmlns:a16="http://schemas.microsoft.com/office/drawing/2014/main" id="{FD36E040-6914-49A4-8DD7-98EF72631A37}"/>
              </a:ext>
            </a:extLst>
          </p:cNvPr>
          <p:cNvSpPr>
            <a:spLocks xmlns:a="http://schemas.openxmlformats.org/drawingml/2006/main" noGrp="1"/>
          </p:cNvSpPr>
          <p:nvPr/>
        </p:nvSpPr>
        <p:spPr>
          <a:xfrm xmlns:a="http://schemas.openxmlformats.org/drawingml/2006/main">
            <a:off x="44386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02</a:t>
            </a:r>
          </a:p>
        </p:txBody>
      </p:sp>
      <p:sp>
        <p:nvSpPr>
          <p:cNvPr id="10" name="">
            <a:extLst xmlns:a="http://schemas.openxmlformats.org/drawingml/2006/main">
              <a:ext uri="{FF2B5EF4-FFF2-40B4-BE49-F238E27FC236}">
                <a16:creationId xmlns:a16="http://schemas.microsoft.com/office/drawing/2014/main" id="{457A7F42-F413-4BB2-B8CE-AB5E85ACFA57}"/>
              </a:ext>
            </a:extLst>
          </p:cNvPr>
          <p:cNvSpPr>
            <a:spLocks xmlns:a="http://schemas.openxmlformats.org/drawingml/2006/main" noGrp="1"/>
          </p:cNvSpPr>
          <p:nvPr/>
        </p:nvSpPr>
        <p:spPr>
          <a:xfrm xmlns:a="http://schemas.openxmlformats.org/drawingml/2006/main">
            <a:off x="44386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Review the current verified monthly profile</a:t>
            </a:r>
          </a:p>
        </p:txBody>
      </p:sp>
      <p:sp>
        <p:nvSpPr>
          <p:cNvPr id="11" name="">
            <a:extLst xmlns:a="http://schemas.openxmlformats.org/drawingml/2006/main">
              <a:ext uri="{FF2B5EF4-FFF2-40B4-BE49-F238E27FC236}">
                <a16:creationId xmlns:a16="http://schemas.microsoft.com/office/drawing/2014/main" id="{2F3C4DB7-C690-4582-9489-0A30BB4E1385}"/>
              </a:ext>
            </a:extLst>
          </p:cNvPr>
          <p:cNvSpPr>
            <a:spLocks xmlns:a="http://schemas.openxmlformats.org/drawingml/2006/main" noGrp="1"/>
          </p:cNvSpPr>
          <p:nvPr/>
        </p:nvSpPr>
        <p:spPr>
          <a:xfrm xmlns:a="http://schemas.openxmlformats.org/drawingml/2006/main">
            <a:off x="79438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03</a:t>
            </a:r>
          </a:p>
        </p:txBody>
      </p:sp>
      <p:sp>
        <p:nvSpPr>
          <p:cNvPr id="12" name="">
            <a:extLst xmlns:a="http://schemas.openxmlformats.org/drawingml/2006/main">
              <a:ext uri="{FF2B5EF4-FFF2-40B4-BE49-F238E27FC236}">
                <a16:creationId xmlns:a16="http://schemas.microsoft.com/office/drawing/2014/main" id="{FBF23BE1-A8B8-4E1E-9A96-FBB78CBC20D9}"/>
              </a:ext>
            </a:extLst>
          </p:cNvPr>
          <p:cNvSpPr>
            <a:spLocks xmlns:a="http://schemas.openxmlformats.org/drawingml/2006/main" noGrp="1"/>
          </p:cNvSpPr>
          <p:nvPr/>
        </p:nvSpPr>
        <p:spPr>
          <a:xfrm xmlns:a="http://schemas.openxmlformats.org/drawingml/2006/main">
            <a:off x="79438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Enter aggregate population, housing, vulnerability and hazard-exposure values</a:t>
            </a:r>
          </a:p>
        </p:txBody>
      </p:sp>
      <p:sp>
        <p:nvSpPr>
          <p:cNvPr id="13" name="">
            <a:extLst xmlns:a="http://schemas.openxmlformats.org/drawingml/2006/main">
              <a:ext uri="{FF2B5EF4-FFF2-40B4-BE49-F238E27FC236}">
                <a16:creationId xmlns:a16="http://schemas.microsoft.com/office/drawing/2014/main" id="{CA401620-9810-464C-B08E-DCBBB03269C9}"/>
              </a:ext>
            </a:extLst>
          </p:cNvPr>
          <p:cNvSpPr>
            <a:spLocks xmlns:a="http://schemas.openxmlformats.org/drawingml/2006/main" noGrp="1"/>
          </p:cNvSpPr>
          <p:nvPr/>
        </p:nvSpPr>
        <p:spPr>
          <a:xfrm xmlns:a="http://schemas.openxmlformats.org/drawingml/2006/main">
            <a:off x="9334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04</a:t>
            </a:r>
          </a:p>
        </p:txBody>
      </p:sp>
      <p:sp>
        <p:nvSpPr>
          <p:cNvPr id="14" name="">
            <a:extLst xmlns:a="http://schemas.openxmlformats.org/drawingml/2006/main">
              <a:ext uri="{FF2B5EF4-FFF2-40B4-BE49-F238E27FC236}">
                <a16:creationId xmlns:a16="http://schemas.microsoft.com/office/drawing/2014/main" id="{4B558524-A19B-4050-8787-FEC86D4CBFCB}"/>
              </a:ext>
            </a:extLst>
          </p:cNvPr>
          <p:cNvSpPr>
            <a:spLocks xmlns:a="http://schemas.openxmlformats.org/drawingml/2006/main" noGrp="1"/>
          </p:cNvSpPr>
          <p:nvPr/>
        </p:nvSpPr>
        <p:spPr>
          <a:xfrm xmlns:a="http://schemas.openxmlformats.org/drawingml/2006/main">
            <a:off x="9334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Submit the profile to Barangay review and correct it if returned</a:t>
            </a:r>
          </a:p>
        </p:txBody>
      </p:sp>
      <p:sp>
        <p:nvSpPr>
          <p:cNvPr id="15" name="">
            <a:extLst xmlns:a="http://schemas.openxmlformats.org/drawingml/2006/main">
              <a:ext uri="{FF2B5EF4-FFF2-40B4-BE49-F238E27FC236}">
                <a16:creationId xmlns:a16="http://schemas.microsoft.com/office/drawing/2014/main" id="{FEBEB3A8-2C20-48E1-852D-7CB98B0F0025}"/>
              </a:ext>
            </a:extLst>
          </p:cNvPr>
          <p:cNvSpPr>
            <a:spLocks xmlns:a="http://schemas.openxmlformats.org/drawingml/2006/main" noGrp="1"/>
          </p:cNvSpPr>
          <p:nvPr/>
        </p:nvSpPr>
        <p:spPr>
          <a:xfrm xmlns:a="http://schemas.openxmlformats.org/drawingml/2006/main">
            <a:off x="44386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05</a:t>
            </a:r>
          </a:p>
        </p:txBody>
      </p:sp>
      <p:sp>
        <p:nvSpPr>
          <p:cNvPr id="16" name="">
            <a:extLst xmlns:a="http://schemas.openxmlformats.org/drawingml/2006/main">
              <a:ext uri="{FF2B5EF4-FFF2-40B4-BE49-F238E27FC236}">
                <a16:creationId xmlns:a16="http://schemas.microsoft.com/office/drawing/2014/main" id="{EDA48936-53D3-44DC-826F-917E166DA896}"/>
              </a:ext>
            </a:extLst>
          </p:cNvPr>
          <p:cNvSpPr>
            <a:spLocks xmlns:a="http://schemas.openxmlformats.org/drawingml/2006/main" noGrp="1"/>
          </p:cNvSpPr>
          <p:nvPr/>
        </p:nvSpPr>
        <p:spPr>
          <a:xfrm xmlns:a="http://schemas.openxmlformats.org/drawingml/2006/main">
            <a:off x="44386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For an incident, submit hazard, location, date and time, initial situation and affected or exposure counts</a:t>
            </a:r>
          </a:p>
        </p:txBody>
      </p:sp>
      <p:sp>
        <p:nvSpPr>
          <p:cNvPr id="17" name="">
            <a:extLst xmlns:a="http://schemas.openxmlformats.org/drawingml/2006/main">
              <a:ext uri="{FF2B5EF4-FFF2-40B4-BE49-F238E27FC236}">
                <a16:creationId xmlns:a16="http://schemas.microsoft.com/office/drawing/2014/main" id="{34F5927D-347B-495D-B18E-CEC78F20EE23}"/>
              </a:ext>
            </a:extLst>
          </p:cNvPr>
          <p:cNvSpPr>
            <a:spLocks xmlns:a="http://schemas.openxmlformats.org/drawingml/2006/main" noGrp="1"/>
          </p:cNvSpPr>
          <p:nvPr/>
        </p:nvSpPr>
        <p:spPr>
          <a:xfrm xmlns:a="http://schemas.openxmlformats.org/drawingml/2006/main">
            <a:off x="79438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06</a:t>
            </a:r>
          </a:p>
        </p:txBody>
      </p:sp>
      <p:sp>
        <p:nvSpPr>
          <p:cNvPr id="18" name="">
            <a:extLst xmlns:a="http://schemas.openxmlformats.org/drawingml/2006/main">
              <a:ext uri="{FF2B5EF4-FFF2-40B4-BE49-F238E27FC236}">
                <a16:creationId xmlns:a16="http://schemas.microsoft.com/office/drawing/2014/main" id="{B2D20E97-AF6A-4945-88B2-3C05014795C7}"/>
              </a:ext>
            </a:extLst>
          </p:cNvPr>
          <p:cNvSpPr>
            <a:spLocks xmlns:a="http://schemas.openxmlformats.org/drawingml/2006/main" noGrp="1"/>
          </p:cNvSpPr>
          <p:nvPr/>
        </p:nvSpPr>
        <p:spPr>
          <a:xfrm xmlns:a="http://schemas.openxmlformats.org/drawingml/2006/main">
            <a:off x="79438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Update the report as information changes and review status and prior versions</a:t>
            </a:r>
          </a:p>
        </p:txBody>
      </p:sp>
      <p:sp>
        <p:nvSpPr>
          <p:cNvPr id="19" name="">
            <a:extLst xmlns:a="http://schemas.openxmlformats.org/drawingml/2006/main">
              <a:ext uri="{FF2B5EF4-FFF2-40B4-BE49-F238E27FC236}">
                <a16:creationId xmlns:a16="http://schemas.microsoft.com/office/drawing/2014/main" id="{FAEA2ECD-C7CB-4EAE-BAC0-683B92DF80E0}"/>
              </a:ext>
            </a:extLst>
          </p:cNvPr>
          <p:cNvSpPr>
            <a:spLocks xmlns:a="http://schemas.openxmlformats.org/drawingml/2006/main" noGrp="1"/>
          </p:cNvSpPr>
          <p:nvPr/>
        </p:nvSpPr>
        <p:spPr>
          <a:xfrm xmlns:a="http://schemas.openxmlformats.org/drawingml/2006/main">
            <a:off x="933450" y="4953000"/>
            <a:ext cx="10248900" cy="7429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DF8F5AF-0DBE-4094-AAA8-EC8E22C0FA2F}"/>
              </a:ext>
            </a:extLst>
          </p:cNvPr>
          <p:cNvSpPr>
            <a:spLocks xmlns:a="http://schemas.openxmlformats.org/drawingml/2006/main" noGrp="1"/>
          </p:cNvSpPr>
          <p:nvPr/>
        </p:nvSpPr>
        <p:spPr>
          <a:xfrm xmlns:a="http://schemas.openxmlformats.org/drawingml/2006/main">
            <a:off x="1143000" y="5057775"/>
            <a:ext cx="9839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Purok input is deliberately an initial, aggregate report. It does not require named household records or a complete city-level damage assessment.</a:t>
            </a:r>
          </a:p>
        </p:txBody>
      </p:sp>
    </p:spTree>
    <p:extLst>
      <p:ext uri="{BB962C8B-B14F-4D97-AF65-F5344CB8AC3E}">
        <p14:creationId xmlns:p14="http://schemas.microsoft.com/office/powerpoint/2010/main" val="1120684086"/>
      </p:ext>
    </p:extLst>
  </p:cSld>
</p:sld>
</file>

<file path=ppt/slides/slide3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7677EA7-8746-472C-8FD0-2E4F9F65B20E}"/>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691A18-112F-47D8-A35C-48482C7CAF5C}"/>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 FLOW</a:t>
            </a:r>
          </a:p>
        </p:txBody>
      </p:sp>
      <p:sp>
        <p:nvSpPr>
          <p:cNvPr id="3" name="">
            <a:extLst xmlns:a="http://schemas.openxmlformats.org/drawingml/2006/main">
              <a:ext uri="{FF2B5EF4-FFF2-40B4-BE49-F238E27FC236}">
                <a16:creationId xmlns:a16="http://schemas.microsoft.com/office/drawing/2014/main" id="{327665E8-E74F-485B-B536-2F1F3E5120AC}"/>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Barangay user flow</a:t>
            </a:r>
          </a:p>
        </p:txBody>
      </p:sp>
      <p:sp>
        <p:nvSpPr>
          <p:cNvPr id="4" name="">
            <a:extLst xmlns:a="http://schemas.openxmlformats.org/drawingml/2006/main">
              <a:ext uri="{FF2B5EF4-FFF2-40B4-BE49-F238E27FC236}">
                <a16:creationId xmlns:a16="http://schemas.microsoft.com/office/drawing/2014/main" id="{D8FF99DE-9E64-4729-B32C-85168ABD78A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2E562517-F27D-4F48-9FB3-1A472E6711C6}"/>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Barangay module flowcharts and role scope</a:t>
            </a:r>
          </a:p>
        </p:txBody>
      </p:sp>
      <p:sp>
        <p:nvSpPr>
          <p:cNvPr id="6" name="">
            <a:extLst xmlns:a="http://schemas.openxmlformats.org/drawingml/2006/main">
              <a:ext uri="{FF2B5EF4-FFF2-40B4-BE49-F238E27FC236}">
                <a16:creationId xmlns:a16="http://schemas.microsoft.com/office/drawing/2014/main" id="{2805539B-31E9-4D47-A527-62715271E190}"/>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30</a:t>
            </a:r>
          </a:p>
        </p:txBody>
      </p:sp>
      <p:sp>
        <p:nvSpPr>
          <p:cNvPr id="7" name="">
            <a:extLst xmlns:a="http://schemas.openxmlformats.org/drawingml/2006/main">
              <a:ext uri="{FF2B5EF4-FFF2-40B4-BE49-F238E27FC236}">
                <a16:creationId xmlns:a16="http://schemas.microsoft.com/office/drawing/2014/main" id="{2E59D301-EC1B-4487-ACD5-67C78ECFB2FA}"/>
              </a:ext>
            </a:extLst>
          </p:cNvPr>
          <p:cNvSpPr>
            <a:spLocks xmlns:a="http://schemas.openxmlformats.org/drawingml/2006/main" noGrp="1"/>
          </p:cNvSpPr>
          <p:nvPr/>
        </p:nvSpPr>
        <p:spPr>
          <a:xfrm xmlns:a="http://schemas.openxmlformats.org/drawingml/2006/main">
            <a:off x="9334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3C7300DF-6214-452E-863C-EACE9CF441B6}"/>
              </a:ext>
            </a:extLst>
          </p:cNvPr>
          <p:cNvSpPr>
            <a:spLocks xmlns:a="http://schemas.openxmlformats.org/drawingml/2006/main" noGrp="1"/>
          </p:cNvSpPr>
          <p:nvPr/>
        </p:nvSpPr>
        <p:spPr>
          <a:xfrm xmlns:a="http://schemas.openxmlformats.org/drawingml/2006/main">
            <a:off x="9334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Sign in and open the Purok profile and incident review queues</a:t>
            </a:r>
          </a:p>
        </p:txBody>
      </p:sp>
      <p:sp>
        <p:nvSpPr>
          <p:cNvPr id="9" name="">
            <a:extLst xmlns:a="http://schemas.openxmlformats.org/drawingml/2006/main">
              <a:ext uri="{FF2B5EF4-FFF2-40B4-BE49-F238E27FC236}">
                <a16:creationId xmlns:a16="http://schemas.microsoft.com/office/drawing/2014/main" id="{3C1AB0D4-3BD7-4ED7-972B-47E9AD10B824}"/>
              </a:ext>
            </a:extLst>
          </p:cNvPr>
          <p:cNvSpPr>
            <a:spLocks xmlns:a="http://schemas.openxmlformats.org/drawingml/2006/main" noGrp="1"/>
          </p:cNvSpPr>
          <p:nvPr/>
        </p:nvSpPr>
        <p:spPr>
          <a:xfrm xmlns:a="http://schemas.openxmlformats.org/drawingml/2006/main">
            <a:off x="44386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02</a:t>
            </a:r>
          </a:p>
        </p:txBody>
      </p:sp>
      <p:sp>
        <p:nvSpPr>
          <p:cNvPr id="10" name="">
            <a:extLst xmlns:a="http://schemas.openxmlformats.org/drawingml/2006/main">
              <a:ext uri="{FF2B5EF4-FFF2-40B4-BE49-F238E27FC236}">
                <a16:creationId xmlns:a16="http://schemas.microsoft.com/office/drawing/2014/main" id="{27AEE3A8-D2A2-4E14-A7AA-C89B2222D3FF}"/>
              </a:ext>
            </a:extLst>
          </p:cNvPr>
          <p:cNvSpPr>
            <a:spLocks xmlns:a="http://schemas.openxmlformats.org/drawingml/2006/main" noGrp="1"/>
          </p:cNvSpPr>
          <p:nvPr/>
        </p:nvSpPr>
        <p:spPr>
          <a:xfrm xmlns:a="http://schemas.openxmlformats.org/drawingml/2006/main">
            <a:off x="44386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Compare submitted information with available references</a:t>
            </a:r>
          </a:p>
        </p:txBody>
      </p:sp>
      <p:sp>
        <p:nvSpPr>
          <p:cNvPr id="11" name="">
            <a:extLst xmlns:a="http://schemas.openxmlformats.org/drawingml/2006/main">
              <a:ext uri="{FF2B5EF4-FFF2-40B4-BE49-F238E27FC236}">
                <a16:creationId xmlns:a16="http://schemas.microsoft.com/office/drawing/2014/main" id="{02235B53-7A21-4BC3-9641-FD861948658E}"/>
              </a:ext>
            </a:extLst>
          </p:cNvPr>
          <p:cNvSpPr>
            <a:spLocks xmlns:a="http://schemas.openxmlformats.org/drawingml/2006/main" noGrp="1"/>
          </p:cNvSpPr>
          <p:nvPr/>
        </p:nvSpPr>
        <p:spPr>
          <a:xfrm xmlns:a="http://schemas.openxmlformats.org/drawingml/2006/main">
            <a:off x="79438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03</a:t>
            </a:r>
          </a:p>
        </p:txBody>
      </p:sp>
      <p:sp>
        <p:nvSpPr>
          <p:cNvPr id="12" name="">
            <a:extLst xmlns:a="http://schemas.openxmlformats.org/drawingml/2006/main">
              <a:ext uri="{FF2B5EF4-FFF2-40B4-BE49-F238E27FC236}">
                <a16:creationId xmlns:a16="http://schemas.microsoft.com/office/drawing/2014/main" id="{B57D51E0-CF60-4A8E-85C2-08B087697B7A}"/>
              </a:ext>
            </a:extLst>
          </p:cNvPr>
          <p:cNvSpPr>
            <a:spLocks xmlns:a="http://schemas.openxmlformats.org/drawingml/2006/main" noGrp="1"/>
          </p:cNvSpPr>
          <p:nvPr/>
        </p:nvSpPr>
        <p:spPr>
          <a:xfrm xmlns:a="http://schemas.openxmlformats.org/drawingml/2006/main">
            <a:off x="79438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Verify or return Purok profile and incident records with a recorded reason</a:t>
            </a:r>
          </a:p>
        </p:txBody>
      </p:sp>
      <p:sp>
        <p:nvSpPr>
          <p:cNvPr id="13" name="">
            <a:extLst xmlns:a="http://schemas.openxmlformats.org/drawingml/2006/main">
              <a:ext uri="{FF2B5EF4-FFF2-40B4-BE49-F238E27FC236}">
                <a16:creationId xmlns:a16="http://schemas.microsoft.com/office/drawing/2014/main" id="{8C53DD5B-AAAD-4E05-ABF4-000B0851C8AF}"/>
              </a:ext>
            </a:extLst>
          </p:cNvPr>
          <p:cNvSpPr>
            <a:spLocks xmlns:a="http://schemas.openxmlformats.org/drawingml/2006/main" noGrp="1"/>
          </p:cNvSpPr>
          <p:nvPr/>
        </p:nvSpPr>
        <p:spPr>
          <a:xfrm xmlns:a="http://schemas.openxmlformats.org/drawingml/2006/main">
            <a:off x="9334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04</a:t>
            </a:r>
          </a:p>
        </p:txBody>
      </p:sp>
      <p:sp>
        <p:nvSpPr>
          <p:cNvPr id="14" name="">
            <a:extLst xmlns:a="http://schemas.openxmlformats.org/drawingml/2006/main">
              <a:ext uri="{FF2B5EF4-FFF2-40B4-BE49-F238E27FC236}">
                <a16:creationId xmlns:a16="http://schemas.microsoft.com/office/drawing/2014/main" id="{CDAAEE02-892A-457B-AB41-9B7D58EF79B0}"/>
              </a:ext>
            </a:extLst>
          </p:cNvPr>
          <p:cNvSpPr>
            <a:spLocks xmlns:a="http://schemas.openxmlformats.org/drawingml/2006/main" noGrp="1"/>
          </p:cNvSpPr>
          <p:nvPr/>
        </p:nvSpPr>
        <p:spPr>
          <a:xfrm xmlns:a="http://schemas.openxmlformats.org/drawingml/2006/main">
            <a:off x="9334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Build the Barangay profile from verified Purok profile data</a:t>
            </a:r>
          </a:p>
        </p:txBody>
      </p:sp>
      <p:sp>
        <p:nvSpPr>
          <p:cNvPr id="15" name="">
            <a:extLst xmlns:a="http://schemas.openxmlformats.org/drawingml/2006/main">
              <a:ext uri="{FF2B5EF4-FFF2-40B4-BE49-F238E27FC236}">
                <a16:creationId xmlns:a16="http://schemas.microsoft.com/office/drawing/2014/main" id="{CBDC28EC-99BB-4B22-B1C1-4316525B29ED}"/>
              </a:ext>
            </a:extLst>
          </p:cNvPr>
          <p:cNvSpPr>
            <a:spLocks xmlns:a="http://schemas.openxmlformats.org/drawingml/2006/main" noGrp="1"/>
          </p:cNvSpPr>
          <p:nvPr/>
        </p:nvSpPr>
        <p:spPr>
          <a:xfrm xmlns:a="http://schemas.openxmlformats.org/drawingml/2006/main">
            <a:off x="44386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05</a:t>
            </a:r>
          </a:p>
        </p:txBody>
      </p:sp>
      <p:sp>
        <p:nvSpPr>
          <p:cNvPr id="16" name="">
            <a:extLst xmlns:a="http://schemas.openxmlformats.org/drawingml/2006/main">
              <a:ext uri="{FF2B5EF4-FFF2-40B4-BE49-F238E27FC236}">
                <a16:creationId xmlns:a16="http://schemas.microsoft.com/office/drawing/2014/main" id="{7B305C17-9235-4B5A-92A3-F3DA68209FD0}"/>
              </a:ext>
            </a:extLst>
          </p:cNvPr>
          <p:cNvSpPr>
            <a:spLocks xmlns:a="http://schemas.openxmlformats.org/drawingml/2006/main" noGrp="1"/>
          </p:cNvSpPr>
          <p:nvPr/>
        </p:nvSpPr>
        <p:spPr>
          <a:xfrm xmlns:a="http://schemas.openxmlformats.org/drawingml/2006/main">
            <a:off x="44386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Consolidate verified Purok incident reports and add Barangay-level affected-population, casualty and damage assessment</a:t>
            </a:r>
          </a:p>
        </p:txBody>
      </p:sp>
      <p:sp>
        <p:nvSpPr>
          <p:cNvPr id="17" name="">
            <a:extLst xmlns:a="http://schemas.openxmlformats.org/drawingml/2006/main">
              <a:ext uri="{FF2B5EF4-FFF2-40B4-BE49-F238E27FC236}">
                <a16:creationId xmlns:a16="http://schemas.microsoft.com/office/drawing/2014/main" id="{507A81B9-2BDB-4B4B-9735-DC07649E4F8D}"/>
              </a:ext>
            </a:extLst>
          </p:cNvPr>
          <p:cNvSpPr>
            <a:spLocks xmlns:a="http://schemas.openxmlformats.org/drawingml/2006/main" noGrp="1"/>
          </p:cNvSpPr>
          <p:nvPr/>
        </p:nvSpPr>
        <p:spPr>
          <a:xfrm xmlns:a="http://schemas.openxmlformats.org/drawingml/2006/main">
            <a:off x="79438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06</a:t>
            </a:r>
          </a:p>
        </p:txBody>
      </p:sp>
      <p:sp>
        <p:nvSpPr>
          <p:cNvPr id="18" name="">
            <a:extLst xmlns:a="http://schemas.openxmlformats.org/drawingml/2006/main">
              <a:ext uri="{FF2B5EF4-FFF2-40B4-BE49-F238E27FC236}">
                <a16:creationId xmlns:a16="http://schemas.microsoft.com/office/drawing/2014/main" id="{FB4695D8-88BB-4456-BB91-5E469EA77635}"/>
              </a:ext>
            </a:extLst>
          </p:cNvPr>
          <p:cNvSpPr>
            <a:spLocks xmlns:a="http://schemas.openxmlformats.org/drawingml/2006/main" noGrp="1"/>
          </p:cNvSpPr>
          <p:nvPr/>
        </p:nvSpPr>
        <p:spPr>
          <a:xfrm xmlns:a="http://schemas.openxmlformats.org/drawingml/2006/main">
            <a:off x="79438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Submit the Barangay report to DRRM and consult status and report history</a:t>
            </a:r>
          </a:p>
        </p:txBody>
      </p:sp>
      <p:sp>
        <p:nvSpPr>
          <p:cNvPr id="19" name="">
            <a:extLst xmlns:a="http://schemas.openxmlformats.org/drawingml/2006/main">
              <a:ext uri="{FF2B5EF4-FFF2-40B4-BE49-F238E27FC236}">
                <a16:creationId xmlns:a16="http://schemas.microsoft.com/office/drawing/2014/main" id="{6FD5C8A1-B709-47FC-8D6F-6207B4F3961A}"/>
              </a:ext>
            </a:extLst>
          </p:cNvPr>
          <p:cNvSpPr>
            <a:spLocks xmlns:a="http://schemas.openxmlformats.org/drawingml/2006/main" noGrp="1"/>
          </p:cNvSpPr>
          <p:nvPr/>
        </p:nvSpPr>
        <p:spPr>
          <a:xfrm xmlns:a="http://schemas.openxmlformats.org/drawingml/2006/main">
            <a:off x="933450" y="4953000"/>
            <a:ext cx="10248900" cy="7429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CD66350-499B-4BCE-B4A7-30A563B7CD7A}"/>
              </a:ext>
            </a:extLst>
          </p:cNvPr>
          <p:cNvSpPr>
            <a:spLocks xmlns:a="http://schemas.openxmlformats.org/drawingml/2006/main" noGrp="1"/>
          </p:cNvSpPr>
          <p:nvPr/>
        </p:nvSpPr>
        <p:spPr>
          <a:xfrm xmlns:a="http://schemas.openxmlformats.org/drawingml/2006/main">
            <a:off x="1143000" y="5057775"/>
            <a:ext cx="9839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Barangay reporting increases aggregation and assessment detail. The system should keep the Purok source and the Barangay contribution distinguishable to reduce double counting and preserve provenance.</a:t>
            </a:r>
          </a:p>
        </p:txBody>
      </p:sp>
    </p:spTree>
    <p:extLst>
      <p:ext uri="{BB962C8B-B14F-4D97-AF65-F5344CB8AC3E}">
        <p14:creationId xmlns:p14="http://schemas.microsoft.com/office/powerpoint/2010/main" val="1436611085"/>
      </p:ext>
    </p:extLst>
  </p:cSld>
</p:sld>
</file>

<file path=ppt/slides/slide3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7D0A69A-8900-433C-A7D4-472AE3D87631}"/>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2DA3DA-5908-496C-91FA-DC03B55F131C}"/>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 FLOW</a:t>
            </a:r>
          </a:p>
        </p:txBody>
      </p:sp>
      <p:sp>
        <p:nvSpPr>
          <p:cNvPr id="3" name="">
            <a:extLst xmlns:a="http://schemas.openxmlformats.org/drawingml/2006/main">
              <a:ext uri="{FF2B5EF4-FFF2-40B4-BE49-F238E27FC236}">
                <a16:creationId xmlns:a16="http://schemas.microsoft.com/office/drawing/2014/main" id="{7784FA85-9951-4374-9299-02D608305563}"/>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DRRM Administrator user flow</a:t>
            </a:r>
          </a:p>
        </p:txBody>
      </p:sp>
      <p:sp>
        <p:nvSpPr>
          <p:cNvPr id="4" name="">
            <a:extLst xmlns:a="http://schemas.openxmlformats.org/drawingml/2006/main">
              <a:ext uri="{FF2B5EF4-FFF2-40B4-BE49-F238E27FC236}">
                <a16:creationId xmlns:a16="http://schemas.microsoft.com/office/drawing/2014/main" id="{EFD339EB-B2E4-47F8-AD9D-9C39B1EC50A5}"/>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B7A4C973-1073-4FD3-AE29-47FBCFBF7CE8}"/>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System User Management, Hazard Creation and Situation Report modules</a:t>
            </a:r>
          </a:p>
        </p:txBody>
      </p:sp>
      <p:sp>
        <p:nvSpPr>
          <p:cNvPr id="6" name="">
            <a:extLst xmlns:a="http://schemas.openxmlformats.org/drawingml/2006/main">
              <a:ext uri="{FF2B5EF4-FFF2-40B4-BE49-F238E27FC236}">
                <a16:creationId xmlns:a16="http://schemas.microsoft.com/office/drawing/2014/main" id="{A6999F97-2C40-49F8-8BCF-B790676697BD}"/>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31</a:t>
            </a:r>
          </a:p>
        </p:txBody>
      </p:sp>
      <p:sp>
        <p:nvSpPr>
          <p:cNvPr id="7" name="">
            <a:extLst xmlns:a="http://schemas.openxmlformats.org/drawingml/2006/main">
              <a:ext uri="{FF2B5EF4-FFF2-40B4-BE49-F238E27FC236}">
                <a16:creationId xmlns:a16="http://schemas.microsoft.com/office/drawing/2014/main" id="{BE740764-4625-487A-9703-E536E65932DF}"/>
              </a:ext>
            </a:extLst>
          </p:cNvPr>
          <p:cNvSpPr>
            <a:spLocks xmlns:a="http://schemas.openxmlformats.org/drawingml/2006/main" noGrp="1"/>
          </p:cNvSpPr>
          <p:nvPr/>
        </p:nvSpPr>
        <p:spPr>
          <a:xfrm xmlns:a="http://schemas.openxmlformats.org/drawingml/2006/main">
            <a:off x="9334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85AEDB86-ACAE-498F-BA13-2F30D69EBAEC}"/>
              </a:ext>
            </a:extLst>
          </p:cNvPr>
          <p:cNvSpPr>
            <a:spLocks xmlns:a="http://schemas.openxmlformats.org/drawingml/2006/main" noGrp="1"/>
          </p:cNvSpPr>
          <p:nvPr/>
        </p:nvSpPr>
        <p:spPr>
          <a:xfrm xmlns:a="http://schemas.openxmlformats.org/drawingml/2006/main">
            <a:off x="93345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Sign in to the administrative workspace</a:t>
            </a:r>
          </a:p>
        </p:txBody>
      </p:sp>
      <p:sp>
        <p:nvSpPr>
          <p:cNvPr id="9" name="">
            <a:extLst xmlns:a="http://schemas.openxmlformats.org/drawingml/2006/main">
              <a:ext uri="{FF2B5EF4-FFF2-40B4-BE49-F238E27FC236}">
                <a16:creationId xmlns:a16="http://schemas.microsoft.com/office/drawing/2014/main" id="{CACF4A03-02B3-4FCB-9DB2-6C97F2A3C35B}"/>
              </a:ext>
            </a:extLst>
          </p:cNvPr>
          <p:cNvSpPr>
            <a:spLocks xmlns:a="http://schemas.openxmlformats.org/drawingml/2006/main" noGrp="1"/>
          </p:cNvSpPr>
          <p:nvPr/>
        </p:nvSpPr>
        <p:spPr>
          <a:xfrm xmlns:a="http://schemas.openxmlformats.org/drawingml/2006/main">
            <a:off x="361950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02</a:t>
            </a:r>
          </a:p>
        </p:txBody>
      </p:sp>
      <p:sp>
        <p:nvSpPr>
          <p:cNvPr id="10" name="">
            <a:extLst xmlns:a="http://schemas.openxmlformats.org/drawingml/2006/main">
              <a:ext uri="{FF2B5EF4-FFF2-40B4-BE49-F238E27FC236}">
                <a16:creationId xmlns:a16="http://schemas.microsoft.com/office/drawing/2014/main" id="{9DEB5A09-86D9-45F3-BB65-884CA0A78153}"/>
              </a:ext>
            </a:extLst>
          </p:cNvPr>
          <p:cNvSpPr>
            <a:spLocks xmlns:a="http://schemas.openxmlformats.org/drawingml/2006/main" noGrp="1"/>
          </p:cNvSpPr>
          <p:nvPr/>
        </p:nvSpPr>
        <p:spPr>
          <a:xfrm xmlns:a="http://schemas.openxmlformats.org/drawingml/2006/main">
            <a:off x="361950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Create or maintain Purok, Barangay and administrator accounts</a:t>
            </a:r>
          </a:p>
        </p:txBody>
      </p:sp>
      <p:sp>
        <p:nvSpPr>
          <p:cNvPr id="11" name="">
            <a:extLst xmlns:a="http://schemas.openxmlformats.org/drawingml/2006/main">
              <a:ext uri="{FF2B5EF4-FFF2-40B4-BE49-F238E27FC236}">
                <a16:creationId xmlns:a16="http://schemas.microsoft.com/office/drawing/2014/main" id="{A7A2130F-1A00-40D0-8032-66C885D24154}"/>
              </a:ext>
            </a:extLst>
          </p:cNvPr>
          <p:cNvSpPr>
            <a:spLocks xmlns:a="http://schemas.openxmlformats.org/drawingml/2006/main" noGrp="1"/>
          </p:cNvSpPr>
          <p:nvPr/>
        </p:nvSpPr>
        <p:spPr>
          <a:xfrm xmlns:a="http://schemas.openxmlformats.org/drawingml/2006/main">
            <a:off x="63055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03</a:t>
            </a:r>
          </a:p>
        </p:txBody>
      </p:sp>
      <p:sp>
        <p:nvSpPr>
          <p:cNvPr id="12" name="">
            <a:extLst xmlns:a="http://schemas.openxmlformats.org/drawingml/2006/main">
              <a:ext uri="{FF2B5EF4-FFF2-40B4-BE49-F238E27FC236}">
                <a16:creationId xmlns:a16="http://schemas.microsoft.com/office/drawing/2014/main" id="{76A1A46D-DF87-4CE8-98AD-5CC3F63FB1E9}"/>
              </a:ext>
            </a:extLst>
          </p:cNvPr>
          <p:cNvSpPr>
            <a:spLocks xmlns:a="http://schemas.openxmlformats.org/drawingml/2006/main" noGrp="1"/>
          </p:cNvSpPr>
          <p:nvPr/>
        </p:nvSpPr>
        <p:spPr>
          <a:xfrm xmlns:a="http://schemas.openxmlformats.org/drawingml/2006/main">
            <a:off x="630555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Configure hazard types according to the participating organization's CDRA</a:t>
            </a:r>
          </a:p>
        </p:txBody>
      </p:sp>
      <p:sp>
        <p:nvSpPr>
          <p:cNvPr id="13" name="">
            <a:extLst xmlns:a="http://schemas.openxmlformats.org/drawingml/2006/main">
              <a:ext uri="{FF2B5EF4-FFF2-40B4-BE49-F238E27FC236}">
                <a16:creationId xmlns:a16="http://schemas.microsoft.com/office/drawing/2014/main" id="{650CCF21-B94C-4AB1-8488-CD251367C6A1}"/>
              </a:ext>
            </a:extLst>
          </p:cNvPr>
          <p:cNvSpPr>
            <a:spLocks xmlns:a="http://schemas.openxmlformats.org/drawingml/2006/main" noGrp="1"/>
          </p:cNvSpPr>
          <p:nvPr/>
        </p:nvSpPr>
        <p:spPr>
          <a:xfrm xmlns:a="http://schemas.openxmlformats.org/drawingml/2006/main">
            <a:off x="899160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04</a:t>
            </a:r>
          </a:p>
        </p:txBody>
      </p:sp>
      <p:sp>
        <p:nvSpPr>
          <p:cNvPr id="14" name="">
            <a:extLst xmlns:a="http://schemas.openxmlformats.org/drawingml/2006/main">
              <a:ext uri="{FF2B5EF4-FFF2-40B4-BE49-F238E27FC236}">
                <a16:creationId xmlns:a16="http://schemas.microsoft.com/office/drawing/2014/main" id="{B256790A-5BD7-4C9F-BBAB-6CDAA8B459FD}"/>
              </a:ext>
            </a:extLst>
          </p:cNvPr>
          <p:cNvSpPr>
            <a:spLocks xmlns:a="http://schemas.openxmlformats.org/drawingml/2006/main" noGrp="1"/>
          </p:cNvSpPr>
          <p:nvPr/>
        </p:nvSpPr>
        <p:spPr>
          <a:xfrm xmlns:a="http://schemas.openxmlformats.org/drawingml/2006/main">
            <a:off x="899160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Review Barangay profiles and incident reports, then verify or return with a reason</a:t>
            </a:r>
          </a:p>
        </p:txBody>
      </p:sp>
      <p:sp>
        <p:nvSpPr>
          <p:cNvPr id="15" name="">
            <a:extLst xmlns:a="http://schemas.openxmlformats.org/drawingml/2006/main">
              <a:ext uri="{FF2B5EF4-FFF2-40B4-BE49-F238E27FC236}">
                <a16:creationId xmlns:a16="http://schemas.microsoft.com/office/drawing/2014/main" id="{4B28EF00-53C7-495A-945E-9BE1685B5F94}"/>
              </a:ext>
            </a:extLst>
          </p:cNvPr>
          <p:cNvSpPr>
            <a:spLocks xmlns:a="http://schemas.openxmlformats.org/drawingml/2006/main" noGrp="1"/>
          </p:cNvSpPr>
          <p:nvPr/>
        </p:nvSpPr>
        <p:spPr>
          <a:xfrm xmlns:a="http://schemas.openxmlformats.org/drawingml/2006/main">
            <a:off x="9334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05</a:t>
            </a:r>
          </a:p>
        </p:txBody>
      </p:sp>
      <p:sp>
        <p:nvSpPr>
          <p:cNvPr id="16" name="">
            <a:extLst xmlns:a="http://schemas.openxmlformats.org/drawingml/2006/main">
              <a:ext uri="{FF2B5EF4-FFF2-40B4-BE49-F238E27FC236}">
                <a16:creationId xmlns:a16="http://schemas.microsoft.com/office/drawing/2014/main" id="{31A01C10-4279-43A5-A919-DF28CEC2ADB4}"/>
              </a:ext>
            </a:extLst>
          </p:cNvPr>
          <p:cNvSpPr>
            <a:spLocks xmlns:a="http://schemas.openxmlformats.org/drawingml/2006/main" noGrp="1"/>
          </p:cNvSpPr>
          <p:nvPr/>
        </p:nvSpPr>
        <p:spPr>
          <a:xfrm xmlns:a="http://schemas.openxmlformats.org/drawingml/2006/main">
            <a:off x="933450" y="33909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Select an incident and reporting cutoff to retrieve eligible verified Barangay reports</a:t>
            </a:r>
          </a:p>
        </p:txBody>
      </p:sp>
      <p:sp>
        <p:nvSpPr>
          <p:cNvPr id="17" name="">
            <a:extLst xmlns:a="http://schemas.openxmlformats.org/drawingml/2006/main">
              <a:ext uri="{FF2B5EF4-FFF2-40B4-BE49-F238E27FC236}">
                <a16:creationId xmlns:a16="http://schemas.microsoft.com/office/drawing/2014/main" id="{22E7E719-A421-45A9-82B9-D723977F8FA0}"/>
              </a:ext>
            </a:extLst>
          </p:cNvPr>
          <p:cNvSpPr>
            <a:spLocks xmlns:a="http://schemas.openxmlformats.org/drawingml/2006/main" noGrp="1"/>
          </p:cNvSpPr>
          <p:nvPr/>
        </p:nvSpPr>
        <p:spPr>
          <a:xfrm xmlns:a="http://schemas.openxmlformats.org/drawingml/2006/main">
            <a:off x="361950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06</a:t>
            </a:r>
          </a:p>
        </p:txBody>
      </p:sp>
      <p:sp>
        <p:nvSpPr>
          <p:cNvPr id="18" name="">
            <a:extLst xmlns:a="http://schemas.openxmlformats.org/drawingml/2006/main">
              <a:ext uri="{FF2B5EF4-FFF2-40B4-BE49-F238E27FC236}">
                <a16:creationId xmlns:a16="http://schemas.microsoft.com/office/drawing/2014/main" id="{B48AB72D-EB23-4537-8E74-02E310FB73EE}"/>
              </a:ext>
            </a:extLst>
          </p:cNvPr>
          <p:cNvSpPr>
            <a:spLocks xmlns:a="http://schemas.openxmlformats.org/drawingml/2006/main" noGrp="1"/>
          </p:cNvSpPr>
          <p:nvPr/>
        </p:nvSpPr>
        <p:spPr>
          <a:xfrm xmlns:a="http://schemas.openxmlformats.org/drawingml/2006/main">
            <a:off x="3619500" y="33909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Prepare and edit the SitRep draft, route it for authorized review and approval, then export</a:t>
            </a:r>
          </a:p>
        </p:txBody>
      </p:sp>
      <p:sp>
        <p:nvSpPr>
          <p:cNvPr id="19" name="">
            <a:extLst xmlns:a="http://schemas.openxmlformats.org/drawingml/2006/main">
              <a:ext uri="{FF2B5EF4-FFF2-40B4-BE49-F238E27FC236}">
                <a16:creationId xmlns:a16="http://schemas.microsoft.com/office/drawing/2014/main" id="{0DF5B0BE-F83C-4CF9-A402-D6DC1CFB004F}"/>
              </a:ext>
            </a:extLst>
          </p:cNvPr>
          <p:cNvSpPr>
            <a:spLocks xmlns:a="http://schemas.openxmlformats.org/drawingml/2006/main" noGrp="1"/>
          </p:cNvSpPr>
          <p:nvPr/>
        </p:nvSpPr>
        <p:spPr>
          <a:xfrm xmlns:a="http://schemas.openxmlformats.org/drawingml/2006/main">
            <a:off x="63055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07</a:t>
            </a:r>
          </a:p>
        </p:txBody>
      </p:sp>
      <p:sp>
        <p:nvSpPr>
          <p:cNvPr id="20" name="">
            <a:extLst xmlns:a="http://schemas.openxmlformats.org/drawingml/2006/main">
              <a:ext uri="{FF2B5EF4-FFF2-40B4-BE49-F238E27FC236}">
                <a16:creationId xmlns:a16="http://schemas.microsoft.com/office/drawing/2014/main" id="{6F963DE9-08D7-4911-A2BA-BE635D583ABB}"/>
              </a:ext>
            </a:extLst>
          </p:cNvPr>
          <p:cNvSpPr>
            <a:spLocks xmlns:a="http://schemas.openxmlformats.org/drawingml/2006/main" noGrp="1"/>
          </p:cNvSpPr>
          <p:nvPr/>
        </p:nvSpPr>
        <p:spPr>
          <a:xfrm xmlns:a="http://schemas.openxmlformats.org/drawingml/2006/main">
            <a:off x="6305550" y="33909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Use the dashboard and historical catalog to monitor status and retrieve prior versions</a:t>
            </a:r>
          </a:p>
        </p:txBody>
      </p:sp>
      <p:sp>
        <p:nvSpPr>
          <p:cNvPr id="21" name="">
            <a:extLst xmlns:a="http://schemas.openxmlformats.org/drawingml/2006/main">
              <a:ext uri="{FF2B5EF4-FFF2-40B4-BE49-F238E27FC236}">
                <a16:creationId xmlns:a16="http://schemas.microsoft.com/office/drawing/2014/main" id="{A0EE7F40-3786-4BFD-BB08-6080A6C2A1EA}"/>
              </a:ext>
            </a:extLst>
          </p:cNvPr>
          <p:cNvSpPr>
            <a:spLocks xmlns:a="http://schemas.openxmlformats.org/drawingml/2006/main" noGrp="1"/>
          </p:cNvSpPr>
          <p:nvPr/>
        </p:nvSpPr>
        <p:spPr>
          <a:xfrm xmlns:a="http://schemas.openxmlformats.org/drawingml/2006/main">
            <a:off x="933450" y="4953000"/>
            <a:ext cx="10248900" cy="7429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5F8AB66-8015-4C3A-BB8C-C63725B27C1F}"/>
              </a:ext>
            </a:extLst>
          </p:cNvPr>
          <p:cNvSpPr>
            <a:spLocks xmlns:a="http://schemas.openxmlformats.org/drawingml/2006/main" noGrp="1"/>
          </p:cNvSpPr>
          <p:nvPr/>
        </p:nvSpPr>
        <p:spPr>
          <a:xfrm xmlns:a="http://schemas.openxmlformats.org/drawingml/2006/main">
            <a:off x="1143000" y="5057775"/>
            <a:ext cx="9839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The user-flow description does not assume that the same administrator must prepare and approve a SitRep. The paper assigns both actions to authorized personnel and the implementing organization should define its separation of duties.</a:t>
            </a:r>
          </a:p>
        </p:txBody>
      </p:sp>
    </p:spTree>
    <p:extLst>
      <p:ext uri="{BB962C8B-B14F-4D97-AF65-F5344CB8AC3E}">
        <p14:creationId xmlns:p14="http://schemas.microsoft.com/office/powerpoint/2010/main" val="882492999"/>
      </p:ext>
    </p:extLst>
  </p:cSld>
</p:sld>
</file>

<file path=ppt/slides/slide3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022744E-DE53-4D9B-A0C5-CE70B8FD22FD}"/>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D5F676-D89A-4C12-9429-126A8804A10B}"/>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OVERVIEW OF THE DEVELOPMENT PLAN</a:t>
            </a:r>
          </a:p>
        </p:txBody>
      </p:sp>
      <p:sp>
        <p:nvSpPr>
          <p:cNvPr id="3" name="">
            <a:extLst xmlns:a="http://schemas.openxmlformats.org/drawingml/2006/main">
              <a:ext uri="{FF2B5EF4-FFF2-40B4-BE49-F238E27FC236}">
                <a16:creationId xmlns:a16="http://schemas.microsoft.com/office/drawing/2014/main" id="{9B3BC62D-3DA1-4B7C-8029-7E3563DE6C09}"/>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proposal uses iterative development and staged evaluation</a:t>
            </a:r>
          </a:p>
        </p:txBody>
      </p:sp>
      <p:sp>
        <p:nvSpPr>
          <p:cNvPr id="4" name="">
            <a:extLst xmlns:a="http://schemas.openxmlformats.org/drawingml/2006/main">
              <a:ext uri="{FF2B5EF4-FFF2-40B4-BE49-F238E27FC236}">
                <a16:creationId xmlns:a16="http://schemas.microsoft.com/office/drawing/2014/main" id="{6B748349-8233-42A9-AFBC-14B53102493B}"/>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B0022672-8FD5-4CA8-8FCE-A698029FB7AD}"/>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Chapter 3, Development Methodology and Testing</a:t>
            </a:r>
          </a:p>
        </p:txBody>
      </p:sp>
      <p:sp>
        <p:nvSpPr>
          <p:cNvPr id="6" name="">
            <a:extLst xmlns:a="http://schemas.openxmlformats.org/drawingml/2006/main">
              <a:ext uri="{FF2B5EF4-FFF2-40B4-BE49-F238E27FC236}">
                <a16:creationId xmlns:a16="http://schemas.microsoft.com/office/drawing/2014/main" id="{FFF3398C-8E56-4F80-BB9C-B436A8EFA9FA}"/>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32</a:t>
            </a:r>
          </a:p>
        </p:txBody>
      </p:sp>
      <p:sp>
        <p:nvSpPr>
          <p:cNvPr id="7" name="">
            <a:extLst xmlns:a="http://schemas.openxmlformats.org/drawingml/2006/main">
              <a:ext uri="{FF2B5EF4-FFF2-40B4-BE49-F238E27FC236}">
                <a16:creationId xmlns:a16="http://schemas.microsoft.com/office/drawing/2014/main" id="{434FA33F-8A6C-4DCB-AB5C-7874D2686034}"/>
              </a:ext>
            </a:extLst>
          </p:cNvPr>
          <p:cNvSpPr>
            <a:spLocks xmlns:a="http://schemas.openxmlformats.org/drawingml/2006/main" noGrp="1"/>
          </p:cNvSpPr>
          <p:nvPr/>
        </p:nvSpPr>
        <p:spPr>
          <a:xfrm xmlns:a="http://schemas.openxmlformats.org/drawingml/2006/main">
            <a:off x="952500" y="13716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97BD0891-C47A-4E56-86FE-3318802B23DB}"/>
              </a:ext>
            </a:extLst>
          </p:cNvPr>
          <p:cNvSpPr>
            <a:spLocks xmlns:a="http://schemas.openxmlformats.org/drawingml/2006/main" noGrp="1"/>
          </p:cNvSpPr>
          <p:nvPr/>
        </p:nvSpPr>
        <p:spPr>
          <a:xfrm xmlns:a="http://schemas.openxmlformats.org/drawingml/2006/main">
            <a:off x="1571625" y="137160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Requirements</a:t>
            </a:r>
          </a:p>
        </p:txBody>
      </p:sp>
      <p:sp>
        <p:nvSpPr>
          <p:cNvPr id="9" name="">
            <a:extLst xmlns:a="http://schemas.openxmlformats.org/drawingml/2006/main">
              <a:ext uri="{FF2B5EF4-FFF2-40B4-BE49-F238E27FC236}">
                <a16:creationId xmlns:a16="http://schemas.microsoft.com/office/drawing/2014/main" id="{38FFDC38-F7B0-4C77-A60B-AF6A7B15AFE7}"/>
              </a:ext>
            </a:extLst>
          </p:cNvPr>
          <p:cNvSpPr>
            <a:spLocks xmlns:a="http://schemas.openxmlformats.org/drawingml/2006/main" noGrp="1"/>
          </p:cNvSpPr>
          <p:nvPr/>
        </p:nvSpPr>
        <p:spPr>
          <a:xfrm xmlns:a="http://schemas.openxmlformats.org/drawingml/2006/main">
            <a:off x="3790950" y="1371600"/>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Confirm roles, reporting fields, authority and mandated templates.</a:t>
            </a:r>
          </a:p>
        </p:txBody>
      </p:sp>
      <p:sp>
        <p:nvSpPr>
          <p:cNvPr id="10" name="">
            <a:extLst xmlns:a="http://schemas.openxmlformats.org/drawingml/2006/main">
              <a:ext uri="{FF2B5EF4-FFF2-40B4-BE49-F238E27FC236}">
                <a16:creationId xmlns:a16="http://schemas.microsoft.com/office/drawing/2014/main" id="{2386F3DA-E1DB-4AF2-8ADD-6D56FC95C67B}"/>
              </a:ext>
            </a:extLst>
          </p:cNvPr>
          <p:cNvSpPr>
            <a:spLocks xmlns:a="http://schemas.openxmlformats.org/drawingml/2006/main" noGrp="1"/>
          </p:cNvSpPr>
          <p:nvPr/>
        </p:nvSpPr>
        <p:spPr>
          <a:xfrm xmlns:a="http://schemas.openxmlformats.org/drawingml/2006/main">
            <a:off x="1571625" y="2009775"/>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DFE4D44B-939C-48D3-980A-83E1B8E1956A}"/>
              </a:ext>
            </a:extLst>
          </p:cNvPr>
          <p:cNvSpPr>
            <a:spLocks xmlns:a="http://schemas.openxmlformats.org/drawingml/2006/main" noGrp="1"/>
          </p:cNvSpPr>
          <p:nvPr/>
        </p:nvSpPr>
        <p:spPr>
          <a:xfrm xmlns:a="http://schemas.openxmlformats.org/drawingml/2006/main">
            <a:off x="952500" y="223837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67580D61-C30A-4716-86DF-7D8B4A5B00D3}"/>
              </a:ext>
            </a:extLst>
          </p:cNvPr>
          <p:cNvSpPr>
            <a:spLocks xmlns:a="http://schemas.openxmlformats.org/drawingml/2006/main" noGrp="1"/>
          </p:cNvSpPr>
          <p:nvPr/>
        </p:nvSpPr>
        <p:spPr>
          <a:xfrm xmlns:a="http://schemas.openxmlformats.org/drawingml/2006/main">
            <a:off x="1571625" y="2238375"/>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Design</a:t>
            </a:r>
          </a:p>
        </p:txBody>
      </p:sp>
      <p:sp>
        <p:nvSpPr>
          <p:cNvPr id="13" name="">
            <a:extLst xmlns:a="http://schemas.openxmlformats.org/drawingml/2006/main">
              <a:ext uri="{FF2B5EF4-FFF2-40B4-BE49-F238E27FC236}">
                <a16:creationId xmlns:a16="http://schemas.microsoft.com/office/drawing/2014/main" id="{0E1C3C6D-6569-45DB-8C74-C483401B7802}"/>
              </a:ext>
            </a:extLst>
          </p:cNvPr>
          <p:cNvSpPr>
            <a:spLocks xmlns:a="http://schemas.openxmlformats.org/drawingml/2006/main" noGrp="1"/>
          </p:cNvSpPr>
          <p:nvPr/>
        </p:nvSpPr>
        <p:spPr>
          <a:xfrm xmlns:a="http://schemas.openxmlformats.org/drawingml/2006/main">
            <a:off x="3790950" y="2238375"/>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Finalize workflows, data model, access and interface prototypes.</a:t>
            </a:r>
          </a:p>
        </p:txBody>
      </p:sp>
      <p:sp>
        <p:nvSpPr>
          <p:cNvPr id="14" name="">
            <a:extLst xmlns:a="http://schemas.openxmlformats.org/drawingml/2006/main">
              <a:ext uri="{FF2B5EF4-FFF2-40B4-BE49-F238E27FC236}">
                <a16:creationId xmlns:a16="http://schemas.microsoft.com/office/drawing/2014/main" id="{EE4D58DF-7651-433A-8616-AB3A7F437F02}"/>
              </a:ext>
            </a:extLst>
          </p:cNvPr>
          <p:cNvSpPr>
            <a:spLocks xmlns:a="http://schemas.openxmlformats.org/drawingml/2006/main" noGrp="1"/>
          </p:cNvSpPr>
          <p:nvPr/>
        </p:nvSpPr>
        <p:spPr>
          <a:xfrm xmlns:a="http://schemas.openxmlformats.org/drawingml/2006/main">
            <a:off x="1571625" y="2876550"/>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5" name="">
            <a:extLst xmlns:a="http://schemas.openxmlformats.org/drawingml/2006/main">
              <a:ext uri="{FF2B5EF4-FFF2-40B4-BE49-F238E27FC236}">
                <a16:creationId xmlns:a16="http://schemas.microsoft.com/office/drawing/2014/main" id="{99258DD4-33A0-4E78-9825-BDD7F8DBEA94}"/>
              </a:ext>
            </a:extLst>
          </p:cNvPr>
          <p:cNvSpPr>
            <a:spLocks xmlns:a="http://schemas.openxmlformats.org/drawingml/2006/main" noGrp="1"/>
          </p:cNvSpPr>
          <p:nvPr/>
        </p:nvSpPr>
        <p:spPr>
          <a:xfrm xmlns:a="http://schemas.openxmlformats.org/drawingml/2006/main">
            <a:off x="952500" y="31051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03</a:t>
            </a:r>
          </a:p>
        </p:txBody>
      </p:sp>
      <p:sp>
        <p:nvSpPr>
          <p:cNvPr id="16" name="">
            <a:extLst xmlns:a="http://schemas.openxmlformats.org/drawingml/2006/main">
              <a:ext uri="{FF2B5EF4-FFF2-40B4-BE49-F238E27FC236}">
                <a16:creationId xmlns:a16="http://schemas.microsoft.com/office/drawing/2014/main" id="{BED181FC-D30F-45BB-BAC5-DCC7D56C6ECC}"/>
              </a:ext>
            </a:extLst>
          </p:cNvPr>
          <p:cNvSpPr>
            <a:spLocks xmlns:a="http://schemas.openxmlformats.org/drawingml/2006/main" noGrp="1"/>
          </p:cNvSpPr>
          <p:nvPr/>
        </p:nvSpPr>
        <p:spPr>
          <a:xfrm xmlns:a="http://schemas.openxmlformats.org/drawingml/2006/main">
            <a:off x="1571625" y="310515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Build</a:t>
            </a:r>
          </a:p>
        </p:txBody>
      </p:sp>
      <p:sp>
        <p:nvSpPr>
          <p:cNvPr id="17" name="">
            <a:extLst xmlns:a="http://schemas.openxmlformats.org/drawingml/2006/main">
              <a:ext uri="{FF2B5EF4-FFF2-40B4-BE49-F238E27FC236}">
                <a16:creationId xmlns:a16="http://schemas.microsoft.com/office/drawing/2014/main" id="{7BD734C6-7A65-40D2-93F5-EF08C41F9AC8}"/>
              </a:ext>
            </a:extLst>
          </p:cNvPr>
          <p:cNvSpPr>
            <a:spLocks xmlns:a="http://schemas.openxmlformats.org/drawingml/2006/main" noGrp="1"/>
          </p:cNvSpPr>
          <p:nvPr/>
        </p:nvSpPr>
        <p:spPr>
          <a:xfrm xmlns:a="http://schemas.openxmlformats.org/drawingml/2006/main">
            <a:off x="3790950" y="3105150"/>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Implement role-specific modules and integrate shared records.</a:t>
            </a:r>
          </a:p>
        </p:txBody>
      </p:sp>
      <p:sp>
        <p:nvSpPr>
          <p:cNvPr id="18" name="">
            <a:extLst xmlns:a="http://schemas.openxmlformats.org/drawingml/2006/main">
              <a:ext uri="{FF2B5EF4-FFF2-40B4-BE49-F238E27FC236}">
                <a16:creationId xmlns:a16="http://schemas.microsoft.com/office/drawing/2014/main" id="{49B58995-9B9D-4C26-922E-917FF1FC81C9}"/>
              </a:ext>
            </a:extLst>
          </p:cNvPr>
          <p:cNvSpPr>
            <a:spLocks xmlns:a="http://schemas.openxmlformats.org/drawingml/2006/main" noGrp="1"/>
          </p:cNvSpPr>
          <p:nvPr/>
        </p:nvSpPr>
        <p:spPr>
          <a:xfrm xmlns:a="http://schemas.openxmlformats.org/drawingml/2006/main">
            <a:off x="1571625" y="3743325"/>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E0C942CF-9ADF-40B2-9CF6-BA2CFD0FCDEF}"/>
              </a:ext>
            </a:extLst>
          </p:cNvPr>
          <p:cNvSpPr>
            <a:spLocks xmlns:a="http://schemas.openxmlformats.org/drawingml/2006/main" noGrp="1"/>
          </p:cNvSpPr>
          <p:nvPr/>
        </p:nvSpPr>
        <p:spPr>
          <a:xfrm xmlns:a="http://schemas.openxmlformats.org/drawingml/2006/main">
            <a:off x="952500" y="397192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04</a:t>
            </a:r>
          </a:p>
        </p:txBody>
      </p:sp>
      <p:sp>
        <p:nvSpPr>
          <p:cNvPr id="20" name="">
            <a:extLst xmlns:a="http://schemas.openxmlformats.org/drawingml/2006/main">
              <a:ext uri="{FF2B5EF4-FFF2-40B4-BE49-F238E27FC236}">
                <a16:creationId xmlns:a16="http://schemas.microsoft.com/office/drawing/2014/main" id="{3A1F15DA-C5D3-4A86-A601-F7E4E6A9FF33}"/>
              </a:ext>
            </a:extLst>
          </p:cNvPr>
          <p:cNvSpPr>
            <a:spLocks xmlns:a="http://schemas.openxmlformats.org/drawingml/2006/main" noGrp="1"/>
          </p:cNvSpPr>
          <p:nvPr/>
        </p:nvSpPr>
        <p:spPr>
          <a:xfrm xmlns:a="http://schemas.openxmlformats.org/drawingml/2006/main">
            <a:off x="1571625" y="3971925"/>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Alpha</a:t>
            </a:r>
          </a:p>
        </p:txBody>
      </p:sp>
      <p:sp>
        <p:nvSpPr>
          <p:cNvPr id="21" name="">
            <a:extLst xmlns:a="http://schemas.openxmlformats.org/drawingml/2006/main">
              <a:ext uri="{FF2B5EF4-FFF2-40B4-BE49-F238E27FC236}">
                <a16:creationId xmlns:a16="http://schemas.microsoft.com/office/drawing/2014/main" id="{DC557078-9832-4142-878B-C57A0FFBCC97}"/>
              </a:ext>
            </a:extLst>
          </p:cNvPr>
          <p:cNvSpPr>
            <a:spLocks xmlns:a="http://schemas.openxmlformats.org/drawingml/2006/main" noGrp="1"/>
          </p:cNvSpPr>
          <p:nvPr/>
        </p:nvSpPr>
        <p:spPr>
          <a:xfrm xmlns:a="http://schemas.openxmlformats.org/drawingml/2006/main">
            <a:off x="3790950" y="3971925"/>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Run unit, integration, system and security tests.</a:t>
            </a:r>
          </a:p>
        </p:txBody>
      </p:sp>
      <p:sp>
        <p:nvSpPr>
          <p:cNvPr id="22" name="">
            <a:extLst xmlns:a="http://schemas.openxmlformats.org/drawingml/2006/main">
              <a:ext uri="{FF2B5EF4-FFF2-40B4-BE49-F238E27FC236}">
                <a16:creationId xmlns:a16="http://schemas.microsoft.com/office/drawing/2014/main" id="{F9E05D08-5FAF-4596-8FC6-0BDA0C718E9C}"/>
              </a:ext>
            </a:extLst>
          </p:cNvPr>
          <p:cNvSpPr>
            <a:spLocks xmlns:a="http://schemas.openxmlformats.org/drawingml/2006/main" noGrp="1"/>
          </p:cNvSpPr>
          <p:nvPr/>
        </p:nvSpPr>
        <p:spPr>
          <a:xfrm xmlns:a="http://schemas.openxmlformats.org/drawingml/2006/main">
            <a:off x="1571625" y="4610100"/>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98DD9C9D-FBB9-4E5C-A78B-0E4DBF1658CF}"/>
              </a:ext>
            </a:extLst>
          </p:cNvPr>
          <p:cNvSpPr>
            <a:spLocks xmlns:a="http://schemas.openxmlformats.org/drawingml/2006/main" noGrp="1"/>
          </p:cNvSpPr>
          <p:nvPr/>
        </p:nvSpPr>
        <p:spPr>
          <a:xfrm xmlns:a="http://schemas.openxmlformats.org/drawingml/2006/main">
            <a:off x="952500" y="48387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05</a:t>
            </a:r>
          </a:p>
        </p:txBody>
      </p:sp>
      <p:sp>
        <p:nvSpPr>
          <p:cNvPr id="24" name="">
            <a:extLst xmlns:a="http://schemas.openxmlformats.org/drawingml/2006/main">
              <a:ext uri="{FF2B5EF4-FFF2-40B4-BE49-F238E27FC236}">
                <a16:creationId xmlns:a16="http://schemas.microsoft.com/office/drawing/2014/main" id="{1C51BD25-4C7A-4F74-B8F7-FAF09C7D8EC4}"/>
              </a:ext>
            </a:extLst>
          </p:cNvPr>
          <p:cNvSpPr>
            <a:spLocks xmlns:a="http://schemas.openxmlformats.org/drawingml/2006/main" noGrp="1"/>
          </p:cNvSpPr>
          <p:nvPr/>
        </p:nvSpPr>
        <p:spPr>
          <a:xfrm xmlns:a="http://schemas.openxmlformats.org/drawingml/2006/main">
            <a:off x="1571625" y="483870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Beta and refine</a:t>
            </a:r>
          </a:p>
        </p:txBody>
      </p:sp>
      <p:sp>
        <p:nvSpPr>
          <p:cNvPr id="25" name="">
            <a:extLst xmlns:a="http://schemas.openxmlformats.org/drawingml/2006/main">
              <a:ext uri="{FF2B5EF4-FFF2-40B4-BE49-F238E27FC236}">
                <a16:creationId xmlns:a16="http://schemas.microsoft.com/office/drawing/2014/main" id="{4B87554F-606C-4B89-B177-EE0E8E941904}"/>
              </a:ext>
            </a:extLst>
          </p:cNvPr>
          <p:cNvSpPr>
            <a:spLocks xmlns:a="http://schemas.openxmlformats.org/drawingml/2006/main" noGrp="1"/>
          </p:cNvSpPr>
          <p:nvPr/>
        </p:nvSpPr>
        <p:spPr>
          <a:xfrm xmlns:a="http://schemas.openxmlformats.org/drawingml/2006/main">
            <a:off x="3790950" y="4838700"/>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Evaluate acceptance and usability, then address findings.</a:t>
            </a:r>
          </a:p>
        </p:txBody>
      </p:sp>
      <p:sp>
        <p:nvSpPr>
          <p:cNvPr id="26" name="">
            <a:extLst xmlns:a="http://schemas.openxmlformats.org/drawingml/2006/main">
              <a:ext uri="{FF2B5EF4-FFF2-40B4-BE49-F238E27FC236}">
                <a16:creationId xmlns:a16="http://schemas.microsoft.com/office/drawing/2014/main" id="{5CEF0BD8-34D9-428C-8506-B2155F83DCB6}"/>
              </a:ext>
            </a:extLst>
          </p:cNvPr>
          <p:cNvSpPr>
            <a:spLocks xmlns:a="http://schemas.openxmlformats.org/drawingml/2006/main" noGrp="1"/>
          </p:cNvSpPr>
          <p:nvPr/>
        </p:nvSpPr>
        <p:spPr>
          <a:xfrm xmlns:a="http://schemas.openxmlformats.org/drawingml/2006/main">
            <a:off x="952500" y="5724525"/>
            <a:ext cx="10172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0">
                <a:solidFill>
                  <a:srgbClr val="7C898B"/>
                </a:solidFill>
                <a:latin typeface="Source Sans 3"/>
                <a:ea typeface="Source Sans 3"/>
                <a:cs typeface="Source Sans 3"/>
              </a:defRPr>
            </a:pPr>
            <a:r>
              <a:rPr sz="1200" b="0">
                <a:solidFill>
                  <a:srgbClr val="7C898B"/>
                </a:solidFill>
                <a:latin typeface="Source Sans 3"/>
                <a:ea typeface="Source Sans 3"/>
                <a:cs typeface="Source Sans 3"/>
              </a:rPr>
              <a:t>The paper names an iterative method but does not specify sprint duration or release dates.</a:t>
            </a:r>
          </a:p>
        </p:txBody>
      </p:sp>
    </p:spTree>
    <p:extLst>
      <p:ext uri="{BB962C8B-B14F-4D97-AF65-F5344CB8AC3E}">
        <p14:creationId xmlns:p14="http://schemas.microsoft.com/office/powerpoint/2010/main" val="1254634327"/>
      </p:ext>
    </p:extLst>
  </p:cSld>
</p:sld>
</file>

<file path=ppt/slides/slide3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5A5EA4B-D1AB-43A2-A14E-25266BCF33B2}"/>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45482A-62E9-41F3-A17F-F42C0E3544BF}"/>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TECHNICALITIES: TECHNOLOGY STACK</a:t>
            </a:r>
          </a:p>
        </p:txBody>
      </p:sp>
      <p:sp>
        <p:nvSpPr>
          <p:cNvPr id="3" name="">
            <a:extLst xmlns:a="http://schemas.openxmlformats.org/drawingml/2006/main">
              <a:ext uri="{FF2B5EF4-FFF2-40B4-BE49-F238E27FC236}">
                <a16:creationId xmlns:a16="http://schemas.microsoft.com/office/drawing/2014/main" id="{BC50D263-6B78-4450-944A-2794676E70DD}"/>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proposed stack centers on a browser client and PostgreSQL</a:t>
            </a:r>
          </a:p>
        </p:txBody>
      </p:sp>
      <p:sp>
        <p:nvSpPr>
          <p:cNvPr id="4" name="">
            <a:extLst xmlns:a="http://schemas.openxmlformats.org/drawingml/2006/main">
              <a:ext uri="{FF2B5EF4-FFF2-40B4-BE49-F238E27FC236}">
                <a16:creationId xmlns:a16="http://schemas.microsoft.com/office/drawing/2014/main" id="{C6EF8E83-02D4-442F-A7A9-9D1CC087D7D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A67C8B4-0854-4F98-8896-AFA3FE11C21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Scope and Limitations and Technical Requirements</a:t>
            </a:r>
          </a:p>
        </p:txBody>
      </p:sp>
      <p:sp>
        <p:nvSpPr>
          <p:cNvPr id="6" name="">
            <a:extLst xmlns:a="http://schemas.openxmlformats.org/drawingml/2006/main">
              <a:ext uri="{FF2B5EF4-FFF2-40B4-BE49-F238E27FC236}">
                <a16:creationId xmlns:a16="http://schemas.microsoft.com/office/drawing/2014/main" id="{EFA58D69-0228-4D8D-8443-C50A3F893895}"/>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33</a:t>
            </a:r>
          </a:p>
        </p:txBody>
      </p:sp>
      <p:sp>
        <p:nvSpPr>
          <p:cNvPr id="7" name="">
            <a:extLst xmlns:a="http://schemas.openxmlformats.org/drawingml/2006/main">
              <a:ext uri="{FF2B5EF4-FFF2-40B4-BE49-F238E27FC236}">
                <a16:creationId xmlns:a16="http://schemas.microsoft.com/office/drawing/2014/main" id="{D412197B-2C6C-4355-A30B-DC956BF6131F}"/>
              </a:ext>
            </a:extLst>
          </p:cNvPr>
          <p:cNvSpPr>
            <a:spLocks xmlns:a="http://schemas.openxmlformats.org/drawingml/2006/main" noGrp="1"/>
          </p:cNvSpPr>
          <p:nvPr/>
        </p:nvSpPr>
        <p:spPr>
          <a:xfrm xmlns:a="http://schemas.openxmlformats.org/drawingml/2006/main">
            <a:off x="933450" y="13811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Frontend</a:t>
            </a:r>
          </a:p>
        </p:txBody>
      </p:sp>
      <p:sp>
        <p:nvSpPr>
          <p:cNvPr id="8" name="">
            <a:extLst xmlns:a="http://schemas.openxmlformats.org/drawingml/2006/main">
              <a:ext uri="{FF2B5EF4-FFF2-40B4-BE49-F238E27FC236}">
                <a16:creationId xmlns:a16="http://schemas.microsoft.com/office/drawing/2014/main" id="{E7D166C9-F5B3-42A5-9387-6271F0790502}"/>
              </a:ext>
            </a:extLst>
          </p:cNvPr>
          <p:cNvSpPr>
            <a:spLocks xmlns:a="http://schemas.openxmlformats.org/drawingml/2006/main" noGrp="1"/>
          </p:cNvSpPr>
          <p:nvPr/>
        </p:nvSpPr>
        <p:spPr>
          <a:xfrm xmlns:a="http://schemas.openxmlformats.org/drawingml/2006/main">
            <a:off x="3200400" y="1381125"/>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React.js, Next.js, HTML, Tailwind CSS</a:t>
            </a:r>
          </a:p>
        </p:txBody>
      </p:sp>
      <p:sp>
        <p:nvSpPr>
          <p:cNvPr id="9" name="">
            <a:extLst xmlns:a="http://schemas.openxmlformats.org/drawingml/2006/main">
              <a:ext uri="{FF2B5EF4-FFF2-40B4-BE49-F238E27FC236}">
                <a16:creationId xmlns:a16="http://schemas.microsoft.com/office/drawing/2014/main" id="{26568EB0-D551-4A2E-886F-D1C6F41BFB45}"/>
              </a:ext>
            </a:extLst>
          </p:cNvPr>
          <p:cNvSpPr>
            <a:spLocks xmlns:a="http://schemas.openxmlformats.org/drawingml/2006/main" noGrp="1"/>
          </p:cNvSpPr>
          <p:nvPr/>
        </p:nvSpPr>
        <p:spPr>
          <a:xfrm xmlns:a="http://schemas.openxmlformats.org/drawingml/2006/main">
            <a:off x="933450" y="1914525"/>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BE0BEE31-6C4D-47C2-8755-265DA11E1A43}"/>
              </a:ext>
            </a:extLst>
          </p:cNvPr>
          <p:cNvSpPr>
            <a:spLocks xmlns:a="http://schemas.openxmlformats.org/drawingml/2006/main" noGrp="1"/>
          </p:cNvSpPr>
          <p:nvPr/>
        </p:nvSpPr>
        <p:spPr>
          <a:xfrm xmlns:a="http://schemas.openxmlformats.org/drawingml/2006/main">
            <a:off x="933450" y="20574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Backend and API</a:t>
            </a:r>
          </a:p>
        </p:txBody>
      </p:sp>
      <p:sp>
        <p:nvSpPr>
          <p:cNvPr id="11" name="">
            <a:extLst xmlns:a="http://schemas.openxmlformats.org/drawingml/2006/main">
              <a:ext uri="{FF2B5EF4-FFF2-40B4-BE49-F238E27FC236}">
                <a16:creationId xmlns:a16="http://schemas.microsoft.com/office/drawing/2014/main" id="{20F3A79D-FF4E-45B7-89A9-C3C74A337937}"/>
              </a:ext>
            </a:extLst>
          </p:cNvPr>
          <p:cNvSpPr>
            <a:spLocks xmlns:a="http://schemas.openxmlformats.org/drawingml/2006/main" noGrp="1"/>
          </p:cNvSpPr>
          <p:nvPr/>
        </p:nvSpPr>
        <p:spPr>
          <a:xfrm xmlns:a="http://schemas.openxmlformats.org/drawingml/2006/main">
            <a:off x="3200400" y="2057400"/>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Node.js, PostgREST, REST API over HTTPS</a:t>
            </a:r>
          </a:p>
        </p:txBody>
      </p:sp>
      <p:sp>
        <p:nvSpPr>
          <p:cNvPr id="12" name="">
            <a:extLst xmlns:a="http://schemas.openxmlformats.org/drawingml/2006/main">
              <a:ext uri="{FF2B5EF4-FFF2-40B4-BE49-F238E27FC236}">
                <a16:creationId xmlns:a16="http://schemas.microsoft.com/office/drawing/2014/main" id="{10193E92-EED2-4329-8815-6FBDDC7E64DC}"/>
              </a:ext>
            </a:extLst>
          </p:cNvPr>
          <p:cNvSpPr>
            <a:spLocks xmlns:a="http://schemas.openxmlformats.org/drawingml/2006/main" noGrp="1"/>
          </p:cNvSpPr>
          <p:nvPr/>
        </p:nvSpPr>
        <p:spPr>
          <a:xfrm xmlns:a="http://schemas.openxmlformats.org/drawingml/2006/main">
            <a:off x="933450" y="2590800"/>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53D76B32-7A56-428F-89B3-7AB5069EE3B1}"/>
              </a:ext>
            </a:extLst>
          </p:cNvPr>
          <p:cNvSpPr>
            <a:spLocks xmlns:a="http://schemas.openxmlformats.org/drawingml/2006/main" noGrp="1"/>
          </p:cNvSpPr>
          <p:nvPr/>
        </p:nvSpPr>
        <p:spPr>
          <a:xfrm xmlns:a="http://schemas.openxmlformats.org/drawingml/2006/main">
            <a:off x="933450" y="273367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Authentication</a:t>
            </a:r>
          </a:p>
        </p:txBody>
      </p:sp>
      <p:sp>
        <p:nvSpPr>
          <p:cNvPr id="14" name="">
            <a:extLst xmlns:a="http://schemas.openxmlformats.org/drawingml/2006/main">
              <a:ext uri="{FF2B5EF4-FFF2-40B4-BE49-F238E27FC236}">
                <a16:creationId xmlns:a16="http://schemas.microsoft.com/office/drawing/2014/main" id="{B332497C-DDE1-4F43-8A9B-16C5488F3F99}"/>
              </a:ext>
            </a:extLst>
          </p:cNvPr>
          <p:cNvSpPr>
            <a:spLocks xmlns:a="http://schemas.openxmlformats.org/drawingml/2006/main" noGrp="1"/>
          </p:cNvSpPr>
          <p:nvPr/>
        </p:nvSpPr>
        <p:spPr>
          <a:xfrm xmlns:a="http://schemas.openxmlformats.org/drawingml/2006/main">
            <a:off x="3200400" y="2733675"/>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OpenAuth</a:t>
            </a:r>
          </a:p>
        </p:txBody>
      </p:sp>
      <p:sp>
        <p:nvSpPr>
          <p:cNvPr id="15" name="">
            <a:extLst xmlns:a="http://schemas.openxmlformats.org/drawingml/2006/main">
              <a:ext uri="{FF2B5EF4-FFF2-40B4-BE49-F238E27FC236}">
                <a16:creationId xmlns:a16="http://schemas.microsoft.com/office/drawing/2014/main" id="{C60433CF-7637-4700-A793-D59DC407327F}"/>
              </a:ext>
            </a:extLst>
          </p:cNvPr>
          <p:cNvSpPr>
            <a:spLocks xmlns:a="http://schemas.openxmlformats.org/drawingml/2006/main" noGrp="1"/>
          </p:cNvSpPr>
          <p:nvPr/>
        </p:nvSpPr>
        <p:spPr>
          <a:xfrm xmlns:a="http://schemas.openxmlformats.org/drawingml/2006/main">
            <a:off x="933450" y="3267075"/>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15DC4A7F-F5A3-4970-B353-8FC868F8D8EA}"/>
              </a:ext>
            </a:extLst>
          </p:cNvPr>
          <p:cNvSpPr>
            <a:spLocks xmlns:a="http://schemas.openxmlformats.org/drawingml/2006/main" noGrp="1"/>
          </p:cNvSpPr>
          <p:nvPr/>
        </p:nvSpPr>
        <p:spPr>
          <a:xfrm xmlns:a="http://schemas.openxmlformats.org/drawingml/2006/main">
            <a:off x="933450" y="34099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Database</a:t>
            </a:r>
          </a:p>
        </p:txBody>
      </p:sp>
      <p:sp>
        <p:nvSpPr>
          <p:cNvPr id="17" name="">
            <a:extLst xmlns:a="http://schemas.openxmlformats.org/drawingml/2006/main">
              <a:ext uri="{FF2B5EF4-FFF2-40B4-BE49-F238E27FC236}">
                <a16:creationId xmlns:a16="http://schemas.microsoft.com/office/drawing/2014/main" id="{08C14F53-9E3A-4269-AEEE-39058108BE4F}"/>
              </a:ext>
            </a:extLst>
          </p:cNvPr>
          <p:cNvSpPr>
            <a:spLocks xmlns:a="http://schemas.openxmlformats.org/drawingml/2006/main" noGrp="1"/>
          </p:cNvSpPr>
          <p:nvPr/>
        </p:nvSpPr>
        <p:spPr>
          <a:xfrm xmlns:a="http://schemas.openxmlformats.org/drawingml/2006/main">
            <a:off x="3200400" y="3409950"/>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PostgreSQL, centralized storage</a:t>
            </a:r>
          </a:p>
        </p:txBody>
      </p:sp>
      <p:sp>
        <p:nvSpPr>
          <p:cNvPr id="18" name="">
            <a:extLst xmlns:a="http://schemas.openxmlformats.org/drawingml/2006/main">
              <a:ext uri="{FF2B5EF4-FFF2-40B4-BE49-F238E27FC236}">
                <a16:creationId xmlns:a16="http://schemas.microsoft.com/office/drawing/2014/main" id="{7410BB57-822D-48C2-BC02-D088CBC2F0EC}"/>
              </a:ext>
            </a:extLst>
          </p:cNvPr>
          <p:cNvSpPr>
            <a:spLocks xmlns:a="http://schemas.openxmlformats.org/drawingml/2006/main" noGrp="1"/>
          </p:cNvSpPr>
          <p:nvPr/>
        </p:nvSpPr>
        <p:spPr>
          <a:xfrm xmlns:a="http://schemas.openxmlformats.org/drawingml/2006/main">
            <a:off x="933450" y="3943350"/>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5C96A5F9-8094-42A7-9AA3-BB91184D3F0B}"/>
              </a:ext>
            </a:extLst>
          </p:cNvPr>
          <p:cNvSpPr>
            <a:spLocks xmlns:a="http://schemas.openxmlformats.org/drawingml/2006/main" noGrp="1"/>
          </p:cNvSpPr>
          <p:nvPr/>
        </p:nvSpPr>
        <p:spPr>
          <a:xfrm xmlns:a="http://schemas.openxmlformats.org/drawingml/2006/main">
            <a:off x="933450" y="40862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Deployment</a:t>
            </a:r>
          </a:p>
        </p:txBody>
      </p:sp>
      <p:sp>
        <p:nvSpPr>
          <p:cNvPr id="20" name="">
            <a:extLst xmlns:a="http://schemas.openxmlformats.org/drawingml/2006/main">
              <a:ext uri="{FF2B5EF4-FFF2-40B4-BE49-F238E27FC236}">
                <a16:creationId xmlns:a16="http://schemas.microsoft.com/office/drawing/2014/main" id="{7B3B0134-470F-4496-8AA8-FC15EB013E1B}"/>
              </a:ext>
            </a:extLst>
          </p:cNvPr>
          <p:cNvSpPr>
            <a:spLocks xmlns:a="http://schemas.openxmlformats.org/drawingml/2006/main" noGrp="1"/>
          </p:cNvSpPr>
          <p:nvPr/>
        </p:nvSpPr>
        <p:spPr>
          <a:xfrm xmlns:a="http://schemas.openxmlformats.org/drawingml/2006/main">
            <a:off x="3200400" y="4086225"/>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Virtual Private Server with Content Delivery Network</a:t>
            </a:r>
          </a:p>
        </p:txBody>
      </p:sp>
      <p:sp>
        <p:nvSpPr>
          <p:cNvPr id="21" name="">
            <a:extLst xmlns:a="http://schemas.openxmlformats.org/drawingml/2006/main">
              <a:ext uri="{FF2B5EF4-FFF2-40B4-BE49-F238E27FC236}">
                <a16:creationId xmlns:a16="http://schemas.microsoft.com/office/drawing/2014/main" id="{7F72E53F-8FC7-40F9-BC8A-20C4BF3ADBB3}"/>
              </a:ext>
            </a:extLst>
          </p:cNvPr>
          <p:cNvSpPr>
            <a:spLocks xmlns:a="http://schemas.openxmlformats.org/drawingml/2006/main" noGrp="1"/>
          </p:cNvSpPr>
          <p:nvPr/>
        </p:nvSpPr>
        <p:spPr>
          <a:xfrm xmlns:a="http://schemas.openxmlformats.org/drawingml/2006/main">
            <a:off x="933450" y="4619625"/>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0E668093-877A-4908-ABF7-5A9B31ED6B27}"/>
              </a:ext>
            </a:extLst>
          </p:cNvPr>
          <p:cNvSpPr>
            <a:spLocks xmlns:a="http://schemas.openxmlformats.org/drawingml/2006/main" noGrp="1"/>
          </p:cNvSpPr>
          <p:nvPr/>
        </p:nvSpPr>
        <p:spPr>
          <a:xfrm xmlns:a="http://schemas.openxmlformats.org/drawingml/2006/main">
            <a:off x="933450" y="47625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Access</a:t>
            </a:r>
          </a:p>
        </p:txBody>
      </p:sp>
      <p:sp>
        <p:nvSpPr>
          <p:cNvPr id="23" name="">
            <a:extLst xmlns:a="http://schemas.openxmlformats.org/drawingml/2006/main">
              <a:ext uri="{FF2B5EF4-FFF2-40B4-BE49-F238E27FC236}">
                <a16:creationId xmlns:a16="http://schemas.microsoft.com/office/drawing/2014/main" id="{F63CD7D8-01F0-4F0C-9FE1-B33AF64F5C2F}"/>
              </a:ext>
            </a:extLst>
          </p:cNvPr>
          <p:cNvSpPr>
            <a:spLocks xmlns:a="http://schemas.openxmlformats.org/drawingml/2006/main" noGrp="1"/>
          </p:cNvSpPr>
          <p:nvPr/>
        </p:nvSpPr>
        <p:spPr>
          <a:xfrm xmlns:a="http://schemas.openxmlformats.org/drawingml/2006/main">
            <a:off x="3200400" y="4762500"/>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Responsive web browser on desktop, laptop and mobile devices</a:t>
            </a:r>
          </a:p>
        </p:txBody>
      </p:sp>
    </p:spTree>
    <p:extLst>
      <p:ext uri="{BB962C8B-B14F-4D97-AF65-F5344CB8AC3E}">
        <p14:creationId xmlns:p14="http://schemas.microsoft.com/office/powerpoint/2010/main" val="1021183620"/>
      </p:ext>
    </p:extLst>
  </p:cSld>
</p:sld>
</file>

<file path=ppt/slides/slide3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463C8B81-9783-41F0-99CF-A89DB7CC6C9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E93DE0-B959-4EF4-98CE-7FE4FA035745}"/>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TECHNICALITIES: TESTING</a:t>
            </a:r>
          </a:p>
        </p:txBody>
      </p:sp>
      <p:sp>
        <p:nvSpPr>
          <p:cNvPr id="3" name="">
            <a:extLst xmlns:a="http://schemas.openxmlformats.org/drawingml/2006/main">
              <a:ext uri="{FF2B5EF4-FFF2-40B4-BE49-F238E27FC236}">
                <a16:creationId xmlns:a16="http://schemas.microsoft.com/office/drawing/2014/main" id="{C75EC01F-7CD1-463E-A0DD-8B04A6077FC8}"/>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Testing is planned before external deployment</a:t>
            </a:r>
          </a:p>
        </p:txBody>
      </p:sp>
      <p:sp>
        <p:nvSpPr>
          <p:cNvPr id="4" name="">
            <a:extLst xmlns:a="http://schemas.openxmlformats.org/drawingml/2006/main">
              <a:ext uri="{FF2B5EF4-FFF2-40B4-BE49-F238E27FC236}">
                <a16:creationId xmlns:a16="http://schemas.microsoft.com/office/drawing/2014/main" id="{2896B845-D966-49F1-B9AA-DBE96627EB98}"/>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ED9089F9-0036-4A75-887E-D222B677A10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Alpha and Beta Testing, Tables 4–6</a:t>
            </a:r>
          </a:p>
        </p:txBody>
      </p:sp>
      <p:sp>
        <p:nvSpPr>
          <p:cNvPr id="6" name="">
            <a:extLst xmlns:a="http://schemas.openxmlformats.org/drawingml/2006/main">
              <a:ext uri="{FF2B5EF4-FFF2-40B4-BE49-F238E27FC236}">
                <a16:creationId xmlns:a16="http://schemas.microsoft.com/office/drawing/2014/main" id="{2E350F0D-C9FC-407D-A096-A697FDDFDA22}"/>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34</a:t>
            </a:r>
          </a:p>
        </p:txBody>
      </p:sp>
      <p:sp>
        <p:nvSpPr>
          <p:cNvPr id="7" name="">
            <a:extLst xmlns:a="http://schemas.openxmlformats.org/drawingml/2006/main">
              <a:ext uri="{FF2B5EF4-FFF2-40B4-BE49-F238E27FC236}">
                <a16:creationId xmlns:a16="http://schemas.microsoft.com/office/drawing/2014/main" id="{1AFDABF1-9BE3-40A8-A5BD-8D61492A2F86}"/>
              </a:ext>
            </a:extLst>
          </p:cNvPr>
          <p:cNvSpPr>
            <a:spLocks xmlns:a="http://schemas.openxmlformats.org/drawingml/2006/main" noGrp="1"/>
          </p:cNvSpPr>
          <p:nvPr/>
        </p:nvSpPr>
        <p:spPr>
          <a:xfrm xmlns:a="http://schemas.openxmlformats.org/drawingml/2006/main">
            <a:off x="933450" y="14382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ALPHA TESTING</a:t>
            </a:r>
          </a:p>
        </p:txBody>
      </p:sp>
      <p:sp>
        <p:nvSpPr>
          <p:cNvPr id="8" name="">
            <a:extLst xmlns:a="http://schemas.openxmlformats.org/drawingml/2006/main">
              <a:ext uri="{FF2B5EF4-FFF2-40B4-BE49-F238E27FC236}">
                <a16:creationId xmlns:a16="http://schemas.microsoft.com/office/drawing/2014/main" id="{1A81E62F-64BA-4512-943E-A2D873629D77}"/>
              </a:ext>
            </a:extLst>
          </p:cNvPr>
          <p:cNvSpPr>
            <a:spLocks xmlns:a="http://schemas.openxmlformats.org/drawingml/2006/main" noGrp="1"/>
          </p:cNvSpPr>
          <p:nvPr/>
        </p:nvSpPr>
        <p:spPr>
          <a:xfrm xmlns:a="http://schemas.openxmlformats.org/drawingml/2006/main">
            <a:off x="933450" y="186690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9" name="">
            <a:extLst xmlns:a="http://schemas.openxmlformats.org/drawingml/2006/main">
              <a:ext uri="{FF2B5EF4-FFF2-40B4-BE49-F238E27FC236}">
                <a16:creationId xmlns:a16="http://schemas.microsoft.com/office/drawing/2014/main" id="{58BA458E-CF0A-4332-A8BB-F06D35B4429D}"/>
              </a:ext>
            </a:extLst>
          </p:cNvPr>
          <p:cNvSpPr>
            <a:spLocks xmlns:a="http://schemas.openxmlformats.org/drawingml/2006/main" noGrp="1"/>
          </p:cNvSpPr>
          <p:nvPr/>
        </p:nvSpPr>
        <p:spPr>
          <a:xfrm xmlns:a="http://schemas.openxmlformats.org/drawingml/2006/main">
            <a:off x="1390650" y="1866900"/>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Unit and component checks: Jest</a:t>
            </a:r>
          </a:p>
        </p:txBody>
      </p:sp>
      <p:sp>
        <p:nvSpPr>
          <p:cNvPr id="10" name="">
            <a:extLst xmlns:a="http://schemas.openxmlformats.org/drawingml/2006/main">
              <a:ext uri="{FF2B5EF4-FFF2-40B4-BE49-F238E27FC236}">
                <a16:creationId xmlns:a16="http://schemas.microsoft.com/office/drawing/2014/main" id="{3AC46034-EAEC-4BC7-9DB5-AEE7265A53FC}"/>
              </a:ext>
            </a:extLst>
          </p:cNvPr>
          <p:cNvSpPr>
            <a:spLocks xmlns:a="http://schemas.openxmlformats.org/drawingml/2006/main" noGrp="1"/>
          </p:cNvSpPr>
          <p:nvPr/>
        </p:nvSpPr>
        <p:spPr>
          <a:xfrm xmlns:a="http://schemas.openxmlformats.org/drawingml/2006/main">
            <a:off x="1390650" y="2495550"/>
            <a:ext cx="4305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1553185F-09F7-491B-B347-BAF8A1EE261B}"/>
              </a:ext>
            </a:extLst>
          </p:cNvPr>
          <p:cNvSpPr>
            <a:spLocks xmlns:a="http://schemas.openxmlformats.org/drawingml/2006/main" noGrp="1"/>
          </p:cNvSpPr>
          <p:nvPr/>
        </p:nvSpPr>
        <p:spPr>
          <a:xfrm xmlns:a="http://schemas.openxmlformats.org/drawingml/2006/main">
            <a:off x="933450" y="256222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B5A2FE88-1425-4865-88BC-549D105CD05A}"/>
              </a:ext>
            </a:extLst>
          </p:cNvPr>
          <p:cNvSpPr>
            <a:spLocks xmlns:a="http://schemas.openxmlformats.org/drawingml/2006/main" noGrp="1"/>
          </p:cNvSpPr>
          <p:nvPr/>
        </p:nvSpPr>
        <p:spPr>
          <a:xfrm xmlns:a="http://schemas.openxmlformats.org/drawingml/2006/main">
            <a:off x="1390650" y="2562225"/>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Backend API checks: Jest and Supertest</a:t>
            </a:r>
          </a:p>
        </p:txBody>
      </p:sp>
      <p:sp>
        <p:nvSpPr>
          <p:cNvPr id="13" name="">
            <a:extLst xmlns:a="http://schemas.openxmlformats.org/drawingml/2006/main">
              <a:ext uri="{FF2B5EF4-FFF2-40B4-BE49-F238E27FC236}">
                <a16:creationId xmlns:a16="http://schemas.microsoft.com/office/drawing/2014/main" id="{DB187E13-8632-4AD1-B400-5B93A4250CD8}"/>
              </a:ext>
            </a:extLst>
          </p:cNvPr>
          <p:cNvSpPr>
            <a:spLocks xmlns:a="http://schemas.openxmlformats.org/drawingml/2006/main" noGrp="1"/>
          </p:cNvSpPr>
          <p:nvPr/>
        </p:nvSpPr>
        <p:spPr>
          <a:xfrm xmlns:a="http://schemas.openxmlformats.org/drawingml/2006/main">
            <a:off x="1390650" y="3190875"/>
            <a:ext cx="4305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B6787CF4-72D5-4432-B69B-498D89B8C609}"/>
              </a:ext>
            </a:extLst>
          </p:cNvPr>
          <p:cNvSpPr>
            <a:spLocks xmlns:a="http://schemas.openxmlformats.org/drawingml/2006/main" noGrp="1"/>
          </p:cNvSpPr>
          <p:nvPr/>
        </p:nvSpPr>
        <p:spPr>
          <a:xfrm xmlns:a="http://schemas.openxmlformats.org/drawingml/2006/main">
            <a:off x="933450" y="325755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15" name="">
            <a:extLst xmlns:a="http://schemas.openxmlformats.org/drawingml/2006/main">
              <a:ext uri="{FF2B5EF4-FFF2-40B4-BE49-F238E27FC236}">
                <a16:creationId xmlns:a16="http://schemas.microsoft.com/office/drawing/2014/main" id="{4620F10D-ABC2-498B-962D-1AE97DBE88F4}"/>
              </a:ext>
            </a:extLst>
          </p:cNvPr>
          <p:cNvSpPr>
            <a:spLocks xmlns:a="http://schemas.openxmlformats.org/drawingml/2006/main" noGrp="1"/>
          </p:cNvSpPr>
          <p:nvPr/>
        </p:nvSpPr>
        <p:spPr>
          <a:xfrm xmlns:a="http://schemas.openxmlformats.org/drawingml/2006/main">
            <a:off x="1390650" y="3257550"/>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End-to-end responsive checks: Cypress</a:t>
            </a:r>
          </a:p>
        </p:txBody>
      </p:sp>
      <p:sp>
        <p:nvSpPr>
          <p:cNvPr id="16" name="">
            <a:extLst xmlns:a="http://schemas.openxmlformats.org/drawingml/2006/main">
              <a:ext uri="{FF2B5EF4-FFF2-40B4-BE49-F238E27FC236}">
                <a16:creationId xmlns:a16="http://schemas.microsoft.com/office/drawing/2014/main" id="{6887081A-4466-4DE4-ABDF-C6EB0BC6284D}"/>
              </a:ext>
            </a:extLst>
          </p:cNvPr>
          <p:cNvSpPr>
            <a:spLocks xmlns:a="http://schemas.openxmlformats.org/drawingml/2006/main" noGrp="1"/>
          </p:cNvSpPr>
          <p:nvPr/>
        </p:nvSpPr>
        <p:spPr>
          <a:xfrm xmlns:a="http://schemas.openxmlformats.org/drawingml/2006/main">
            <a:off x="1390650" y="3886200"/>
            <a:ext cx="4305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7" name="">
            <a:extLst xmlns:a="http://schemas.openxmlformats.org/drawingml/2006/main">
              <a:ext uri="{FF2B5EF4-FFF2-40B4-BE49-F238E27FC236}">
                <a16:creationId xmlns:a16="http://schemas.microsoft.com/office/drawing/2014/main" id="{4D67D0A7-D84C-45A4-80A9-B1AE79D58EB5}"/>
              </a:ext>
            </a:extLst>
          </p:cNvPr>
          <p:cNvSpPr>
            <a:spLocks xmlns:a="http://schemas.openxmlformats.org/drawingml/2006/main" noGrp="1"/>
          </p:cNvSpPr>
          <p:nvPr/>
        </p:nvSpPr>
        <p:spPr>
          <a:xfrm xmlns:a="http://schemas.openxmlformats.org/drawingml/2006/main">
            <a:off x="933450" y="395287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18" name="">
            <a:extLst xmlns:a="http://schemas.openxmlformats.org/drawingml/2006/main">
              <a:ext uri="{FF2B5EF4-FFF2-40B4-BE49-F238E27FC236}">
                <a16:creationId xmlns:a16="http://schemas.microsoft.com/office/drawing/2014/main" id="{E72F5EB6-A7AD-4C1B-886E-48EA95AC04EC}"/>
              </a:ext>
            </a:extLst>
          </p:cNvPr>
          <p:cNvSpPr>
            <a:spLocks xmlns:a="http://schemas.openxmlformats.org/drawingml/2006/main" noGrp="1"/>
          </p:cNvSpPr>
          <p:nvPr/>
        </p:nvSpPr>
        <p:spPr>
          <a:xfrm xmlns:a="http://schemas.openxmlformats.org/drawingml/2006/main">
            <a:off x="1390650" y="3952875"/>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System integration and security testing</a:t>
            </a:r>
          </a:p>
        </p:txBody>
      </p:sp>
      <p:sp>
        <p:nvSpPr>
          <p:cNvPr id="19" name="">
            <a:extLst xmlns:a="http://schemas.openxmlformats.org/drawingml/2006/main">
              <a:ext uri="{FF2B5EF4-FFF2-40B4-BE49-F238E27FC236}">
                <a16:creationId xmlns:a16="http://schemas.microsoft.com/office/drawing/2014/main" id="{A7FB30F2-28C0-47AA-A1FB-4EA65E7D3856}"/>
              </a:ext>
            </a:extLst>
          </p:cNvPr>
          <p:cNvSpPr>
            <a:spLocks xmlns:a="http://schemas.openxmlformats.org/drawingml/2006/main" noGrp="1"/>
          </p:cNvSpPr>
          <p:nvPr/>
        </p:nvSpPr>
        <p:spPr>
          <a:xfrm xmlns:a="http://schemas.openxmlformats.org/drawingml/2006/main">
            <a:off x="6057900" y="1438275"/>
            <a:ext cx="0" cy="3409950"/>
          </a:xfrm>
          <a:prstGeom xmlns:a="http://schemas.openxmlformats.org/drawingml/2006/main" prst="line">
            <a:avLst/>
          </a:prstGeom>
          <a:noFill xmlns:a="http://schemas.openxmlformats.org/drawingml/2006/main"/>
          <a:ln xmlns:a="http://schemas.openxmlformats.org/drawingml/2006/main" w="14288">
            <a:solidFill>
              <a:srgbClr val="D3DCDA"/>
            </a:solidFill>
          </a:ln>
        </p:spPr>
      </p:sp>
      <p:sp>
        <p:nvSpPr>
          <p:cNvPr id="20" name="">
            <a:extLst xmlns:a="http://schemas.openxmlformats.org/drawingml/2006/main">
              <a:ext uri="{FF2B5EF4-FFF2-40B4-BE49-F238E27FC236}">
                <a16:creationId xmlns:a16="http://schemas.microsoft.com/office/drawing/2014/main" id="{A71F86C2-A237-4DF9-B9D0-FFB0EBE979CC}"/>
              </a:ext>
            </a:extLst>
          </p:cNvPr>
          <p:cNvSpPr>
            <a:spLocks xmlns:a="http://schemas.openxmlformats.org/drawingml/2006/main" noGrp="1"/>
          </p:cNvSpPr>
          <p:nvPr/>
        </p:nvSpPr>
        <p:spPr>
          <a:xfrm xmlns:a="http://schemas.openxmlformats.org/drawingml/2006/main">
            <a:off x="6486525" y="14382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BETA TESTING</a:t>
            </a:r>
          </a:p>
        </p:txBody>
      </p:sp>
      <p:sp>
        <p:nvSpPr>
          <p:cNvPr id="21" name="">
            <a:extLst xmlns:a="http://schemas.openxmlformats.org/drawingml/2006/main">
              <a:ext uri="{FF2B5EF4-FFF2-40B4-BE49-F238E27FC236}">
                <a16:creationId xmlns:a16="http://schemas.microsoft.com/office/drawing/2014/main" id="{3A37AAC6-29E7-4E50-8FB4-51AD60367993}"/>
              </a:ext>
            </a:extLst>
          </p:cNvPr>
          <p:cNvSpPr>
            <a:spLocks xmlns:a="http://schemas.openxmlformats.org/drawingml/2006/main" noGrp="1"/>
          </p:cNvSpPr>
          <p:nvPr/>
        </p:nvSpPr>
        <p:spPr>
          <a:xfrm xmlns:a="http://schemas.openxmlformats.org/drawingml/2006/main">
            <a:off x="6486525" y="186690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22" name="">
            <a:extLst xmlns:a="http://schemas.openxmlformats.org/drawingml/2006/main">
              <a:ext uri="{FF2B5EF4-FFF2-40B4-BE49-F238E27FC236}">
                <a16:creationId xmlns:a16="http://schemas.microsoft.com/office/drawing/2014/main" id="{D6C547BD-3ACA-43B1-A9A9-FE447ADE8951}"/>
              </a:ext>
            </a:extLst>
          </p:cNvPr>
          <p:cNvSpPr>
            <a:spLocks xmlns:a="http://schemas.openxmlformats.org/drawingml/2006/main" noGrp="1"/>
          </p:cNvSpPr>
          <p:nvPr/>
        </p:nvSpPr>
        <p:spPr>
          <a:xfrm xmlns:a="http://schemas.openxmlformats.org/drawingml/2006/main">
            <a:off x="6943725" y="1866900"/>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User acceptance with intended roles</a:t>
            </a:r>
          </a:p>
        </p:txBody>
      </p:sp>
      <p:sp>
        <p:nvSpPr>
          <p:cNvPr id="23" name="">
            <a:extLst xmlns:a="http://schemas.openxmlformats.org/drawingml/2006/main">
              <a:ext uri="{FF2B5EF4-FFF2-40B4-BE49-F238E27FC236}">
                <a16:creationId xmlns:a16="http://schemas.microsoft.com/office/drawing/2014/main" id="{AEE2FCF7-592E-4312-B75F-A822C1979305}"/>
              </a:ext>
            </a:extLst>
          </p:cNvPr>
          <p:cNvSpPr>
            <a:spLocks xmlns:a="http://schemas.openxmlformats.org/drawingml/2006/main" noGrp="1"/>
          </p:cNvSpPr>
          <p:nvPr/>
        </p:nvSpPr>
        <p:spPr>
          <a:xfrm xmlns:a="http://schemas.openxmlformats.org/drawingml/2006/main">
            <a:off x="6943725" y="2495550"/>
            <a:ext cx="42672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4" name="">
            <a:extLst xmlns:a="http://schemas.openxmlformats.org/drawingml/2006/main">
              <a:ext uri="{FF2B5EF4-FFF2-40B4-BE49-F238E27FC236}">
                <a16:creationId xmlns:a16="http://schemas.microsoft.com/office/drawing/2014/main" id="{9E3E3907-4807-482D-9EB3-BF526CE08CC5}"/>
              </a:ext>
            </a:extLst>
          </p:cNvPr>
          <p:cNvSpPr>
            <a:spLocks xmlns:a="http://schemas.openxmlformats.org/drawingml/2006/main" noGrp="1"/>
          </p:cNvSpPr>
          <p:nvPr/>
        </p:nvSpPr>
        <p:spPr>
          <a:xfrm xmlns:a="http://schemas.openxmlformats.org/drawingml/2006/main">
            <a:off x="6486525" y="256222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25" name="">
            <a:extLst xmlns:a="http://schemas.openxmlformats.org/drawingml/2006/main">
              <a:ext uri="{FF2B5EF4-FFF2-40B4-BE49-F238E27FC236}">
                <a16:creationId xmlns:a16="http://schemas.microsoft.com/office/drawing/2014/main" id="{F15CE285-D545-433F-8C71-9A67AD64E4A0}"/>
              </a:ext>
            </a:extLst>
          </p:cNvPr>
          <p:cNvSpPr>
            <a:spLocks xmlns:a="http://schemas.openxmlformats.org/drawingml/2006/main" noGrp="1"/>
          </p:cNvSpPr>
          <p:nvPr/>
        </p:nvSpPr>
        <p:spPr>
          <a:xfrm xmlns:a="http://schemas.openxmlformats.org/drawingml/2006/main">
            <a:off x="6943725" y="2562225"/>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10-item System Usability Scale</a:t>
            </a:r>
          </a:p>
        </p:txBody>
      </p:sp>
      <p:sp>
        <p:nvSpPr>
          <p:cNvPr id="26" name="">
            <a:extLst xmlns:a="http://schemas.openxmlformats.org/drawingml/2006/main">
              <a:ext uri="{FF2B5EF4-FFF2-40B4-BE49-F238E27FC236}">
                <a16:creationId xmlns:a16="http://schemas.microsoft.com/office/drawing/2014/main" id="{FB966455-A75D-4288-AA6B-A933602FB58F}"/>
              </a:ext>
            </a:extLst>
          </p:cNvPr>
          <p:cNvSpPr>
            <a:spLocks xmlns:a="http://schemas.openxmlformats.org/drawingml/2006/main" noGrp="1"/>
          </p:cNvSpPr>
          <p:nvPr/>
        </p:nvSpPr>
        <p:spPr>
          <a:xfrm xmlns:a="http://schemas.openxmlformats.org/drawingml/2006/main">
            <a:off x="6943725" y="3190875"/>
            <a:ext cx="42672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7" name="">
            <a:extLst xmlns:a="http://schemas.openxmlformats.org/drawingml/2006/main">
              <a:ext uri="{FF2B5EF4-FFF2-40B4-BE49-F238E27FC236}">
                <a16:creationId xmlns:a16="http://schemas.microsoft.com/office/drawing/2014/main" id="{5849030F-C607-481B-846A-4D3D52ACB179}"/>
              </a:ext>
            </a:extLst>
          </p:cNvPr>
          <p:cNvSpPr>
            <a:spLocks xmlns:a="http://schemas.openxmlformats.org/drawingml/2006/main" noGrp="1"/>
          </p:cNvSpPr>
          <p:nvPr/>
        </p:nvSpPr>
        <p:spPr>
          <a:xfrm xmlns:a="http://schemas.openxmlformats.org/drawingml/2006/main">
            <a:off x="6486525" y="325755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28" name="">
            <a:extLst xmlns:a="http://schemas.openxmlformats.org/drawingml/2006/main">
              <a:ext uri="{FF2B5EF4-FFF2-40B4-BE49-F238E27FC236}">
                <a16:creationId xmlns:a16="http://schemas.microsoft.com/office/drawing/2014/main" id="{1FF79F1F-C0B4-4555-9E96-EC15D2981B97}"/>
              </a:ext>
            </a:extLst>
          </p:cNvPr>
          <p:cNvSpPr>
            <a:spLocks xmlns:a="http://schemas.openxmlformats.org/drawingml/2006/main" noGrp="1"/>
          </p:cNvSpPr>
          <p:nvPr/>
        </p:nvSpPr>
        <p:spPr>
          <a:xfrm xmlns:a="http://schemas.openxmlformats.org/drawingml/2006/main">
            <a:off x="6943725" y="3257550"/>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Proposed mean score target: 68 or higher</a:t>
            </a:r>
          </a:p>
        </p:txBody>
      </p:sp>
      <p:sp>
        <p:nvSpPr>
          <p:cNvPr id="29" name="">
            <a:extLst xmlns:a="http://schemas.openxmlformats.org/drawingml/2006/main">
              <a:ext uri="{FF2B5EF4-FFF2-40B4-BE49-F238E27FC236}">
                <a16:creationId xmlns:a16="http://schemas.microsoft.com/office/drawing/2014/main" id="{C202D6AD-F124-46BC-81E2-E29A823BA623}"/>
              </a:ext>
            </a:extLst>
          </p:cNvPr>
          <p:cNvSpPr>
            <a:spLocks xmlns:a="http://schemas.openxmlformats.org/drawingml/2006/main" noGrp="1"/>
          </p:cNvSpPr>
          <p:nvPr/>
        </p:nvSpPr>
        <p:spPr>
          <a:xfrm xmlns:a="http://schemas.openxmlformats.org/drawingml/2006/main">
            <a:off x="6943725" y="3886200"/>
            <a:ext cx="42672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0" name="">
            <a:extLst xmlns:a="http://schemas.openxmlformats.org/drawingml/2006/main">
              <a:ext uri="{FF2B5EF4-FFF2-40B4-BE49-F238E27FC236}">
                <a16:creationId xmlns:a16="http://schemas.microsoft.com/office/drawing/2014/main" id="{5866F43F-2CC0-4ABF-92EB-44FCE9647C9D}"/>
              </a:ext>
            </a:extLst>
          </p:cNvPr>
          <p:cNvSpPr>
            <a:spLocks xmlns:a="http://schemas.openxmlformats.org/drawingml/2006/main" noGrp="1"/>
          </p:cNvSpPr>
          <p:nvPr/>
        </p:nvSpPr>
        <p:spPr>
          <a:xfrm xmlns:a="http://schemas.openxmlformats.org/drawingml/2006/main">
            <a:off x="6486525" y="395287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31" name="">
            <a:extLst xmlns:a="http://schemas.openxmlformats.org/drawingml/2006/main">
              <a:ext uri="{FF2B5EF4-FFF2-40B4-BE49-F238E27FC236}">
                <a16:creationId xmlns:a16="http://schemas.microsoft.com/office/drawing/2014/main" id="{8E1EB688-96A7-4322-8658-4A435B91FCAA}"/>
              </a:ext>
            </a:extLst>
          </p:cNvPr>
          <p:cNvSpPr>
            <a:spLocks xmlns:a="http://schemas.openxmlformats.org/drawingml/2006/main" noGrp="1"/>
          </p:cNvSpPr>
          <p:nvPr/>
        </p:nvSpPr>
        <p:spPr>
          <a:xfrm xmlns:a="http://schemas.openxmlformats.org/drawingml/2006/main">
            <a:off x="6943725" y="3952875"/>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Proposed exit: zero unhandled crashes or render failures on tested views</a:t>
            </a:r>
          </a:p>
        </p:txBody>
      </p:sp>
      <p:sp>
        <p:nvSpPr>
          <p:cNvPr id="32" name="">
            <a:extLst xmlns:a="http://schemas.openxmlformats.org/drawingml/2006/main">
              <a:ext uri="{FF2B5EF4-FFF2-40B4-BE49-F238E27FC236}">
                <a16:creationId xmlns:a16="http://schemas.microsoft.com/office/drawing/2014/main" id="{5C4943A7-9376-4D13-9B0F-B7BE29E922CF}"/>
              </a:ext>
            </a:extLst>
          </p:cNvPr>
          <p:cNvSpPr>
            <a:spLocks xmlns:a="http://schemas.openxmlformats.org/drawingml/2006/main" noGrp="1"/>
          </p:cNvSpPr>
          <p:nvPr/>
        </p:nvSpPr>
        <p:spPr>
          <a:xfrm xmlns:a="http://schemas.openxmlformats.org/drawingml/2006/main">
            <a:off x="933450" y="5048250"/>
            <a:ext cx="10267950" cy="609600"/>
          </a:xfrm>
          <a:prstGeom xmlns:a="http://schemas.openxmlformats.org/drawingml/2006/main" prst="rect">
            <a:avLst/>
          </a:prstGeom>
          <a:solidFill xmlns:a="http://schemas.openxmlformats.org/drawingml/2006/main">
            <a:srgbClr val="F3EBDD"/>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69876D1-3858-42D0-850A-4471AAC21D26}"/>
              </a:ext>
            </a:extLst>
          </p:cNvPr>
          <p:cNvSpPr>
            <a:spLocks xmlns:a="http://schemas.openxmlformats.org/drawingml/2006/main" noGrp="1"/>
          </p:cNvSpPr>
          <p:nvPr/>
        </p:nvSpPr>
        <p:spPr>
          <a:xfrm xmlns:a="http://schemas.openxmlformats.org/drawingml/2006/main">
            <a:off x="1152525" y="5162550"/>
            <a:ext cx="981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1">
                <a:solidFill>
                  <a:srgbClr val="252D30"/>
                </a:solidFill>
                <a:latin typeface="Source Sans 3"/>
                <a:ea typeface="Source Sans 3"/>
                <a:cs typeface="Source Sans 3"/>
              </a:defRPr>
            </a:pPr>
            <a:r>
              <a:rPr sz="1425" b="1">
                <a:solidFill>
                  <a:srgbClr val="252D30"/>
                </a:solidFill>
                <a:latin typeface="Source Sans 3"/>
                <a:ea typeface="Source Sans 3"/>
                <a:cs typeface="Source Sans 3"/>
              </a:rPr>
              <a:t>The manuscript gives target criteria. It does not report completed test results.</a:t>
            </a:r>
          </a:p>
        </p:txBody>
      </p:sp>
    </p:spTree>
    <p:extLst>
      <p:ext uri="{BB962C8B-B14F-4D97-AF65-F5344CB8AC3E}">
        <p14:creationId xmlns:p14="http://schemas.microsoft.com/office/powerpoint/2010/main" val="1024295061"/>
      </p:ext>
    </p:extLst>
  </p:cSld>
</p:sld>
</file>

<file path=ppt/slides/slide3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99430C5-C5B8-4B8E-9A35-2B1DC35B5822}"/>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BC5EF8-84C6-412B-8792-93642FB588B2}"/>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TECHNICALITIES: AI USAGE</a:t>
            </a:r>
          </a:p>
        </p:txBody>
      </p:sp>
      <p:sp>
        <p:nvSpPr>
          <p:cNvPr id="3" name="">
            <a:extLst xmlns:a="http://schemas.openxmlformats.org/drawingml/2006/main">
              <a:ext uri="{FF2B5EF4-FFF2-40B4-BE49-F238E27FC236}">
                <a16:creationId xmlns:a16="http://schemas.microsoft.com/office/drawing/2014/main" id="{43CA9CE6-A011-48A6-8162-0CC1D0B1B16D}"/>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AI use across the project lifecycle</a:t>
            </a:r>
          </a:p>
        </p:txBody>
      </p:sp>
      <p:sp>
        <p:nvSpPr>
          <p:cNvPr id="4" name="">
            <a:extLst xmlns:a="http://schemas.openxmlformats.org/drawingml/2006/main">
              <a:ext uri="{FF2B5EF4-FFF2-40B4-BE49-F238E27FC236}">
                <a16:creationId xmlns:a16="http://schemas.microsoft.com/office/drawing/2014/main" id="{D3902AAC-79FA-4783-A990-4389039A0BE5}"/>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DB4FE8B-86FB-4809-AE8C-B97E0F3416BF}"/>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authors' account of project work to date and planned development use</a:t>
            </a:r>
          </a:p>
        </p:txBody>
      </p:sp>
      <p:sp>
        <p:nvSpPr>
          <p:cNvPr id="6" name="">
            <a:extLst xmlns:a="http://schemas.openxmlformats.org/drawingml/2006/main">
              <a:ext uri="{FF2B5EF4-FFF2-40B4-BE49-F238E27FC236}">
                <a16:creationId xmlns:a16="http://schemas.microsoft.com/office/drawing/2014/main" id="{7C6CE796-52DB-406A-A467-70F8276E8D2E}"/>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35</a:t>
            </a:r>
          </a:p>
        </p:txBody>
      </p:sp>
      <p:sp>
        <p:nvSpPr>
          <p:cNvPr id="7" name="">
            <a:extLst xmlns:a="http://schemas.openxmlformats.org/drawingml/2006/main">
              <a:ext uri="{FF2B5EF4-FFF2-40B4-BE49-F238E27FC236}">
                <a16:creationId xmlns:a16="http://schemas.microsoft.com/office/drawing/2014/main" id="{8B609690-CE53-485B-A938-5E8693B87695}"/>
              </a:ext>
            </a:extLst>
          </p:cNvPr>
          <p:cNvSpPr>
            <a:spLocks xmlns:a="http://schemas.openxmlformats.org/drawingml/2006/main" noGrp="1"/>
          </p:cNvSpPr>
          <p:nvPr/>
        </p:nvSpPr>
        <p:spPr>
          <a:xfrm xmlns:a="http://schemas.openxmlformats.org/drawingml/2006/main">
            <a:off x="952500" y="1390650"/>
            <a:ext cx="2343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RESEARCH AND PLANNING</a:t>
            </a:r>
          </a:p>
        </p:txBody>
      </p:sp>
      <p:sp>
        <p:nvSpPr>
          <p:cNvPr id="8" name="">
            <a:extLst xmlns:a="http://schemas.openxmlformats.org/drawingml/2006/main">
              <a:ext uri="{FF2B5EF4-FFF2-40B4-BE49-F238E27FC236}">
                <a16:creationId xmlns:a16="http://schemas.microsoft.com/office/drawing/2014/main" id="{3882952A-C566-41D8-BAC8-94EA315ACDE1}"/>
              </a:ext>
            </a:extLst>
          </p:cNvPr>
          <p:cNvSpPr>
            <a:spLocks xmlns:a="http://schemas.openxmlformats.org/drawingml/2006/main" noGrp="1"/>
          </p:cNvSpPr>
          <p:nvPr/>
        </p:nvSpPr>
        <p:spPr>
          <a:xfrm xmlns:a="http://schemas.openxmlformats.org/drawingml/2006/main">
            <a:off x="3467100" y="1390650"/>
            <a:ext cx="7772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Used so far: organize paper evidence, clarify mandate links and map problems to objectives.</a:t>
            </a:r>
          </a:p>
        </p:txBody>
      </p:sp>
      <p:sp>
        <p:nvSpPr>
          <p:cNvPr id="9" name="">
            <a:extLst xmlns:a="http://schemas.openxmlformats.org/drawingml/2006/main">
              <a:ext uri="{FF2B5EF4-FFF2-40B4-BE49-F238E27FC236}">
                <a16:creationId xmlns:a16="http://schemas.microsoft.com/office/drawing/2014/main" id="{22FDB879-355B-4277-8C7F-31A6C80A5DE5}"/>
              </a:ext>
            </a:extLst>
          </p:cNvPr>
          <p:cNvSpPr>
            <a:spLocks xmlns:a="http://schemas.openxmlformats.org/drawingml/2006/main" noGrp="1"/>
          </p:cNvSpPr>
          <p:nvPr/>
        </p:nvSpPr>
        <p:spPr>
          <a:xfrm xmlns:a="http://schemas.openxmlformats.org/drawingml/2006/main">
            <a:off x="952500" y="2209800"/>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39183F98-DEC1-423F-9DCF-D9F98223183F}"/>
              </a:ext>
            </a:extLst>
          </p:cNvPr>
          <p:cNvSpPr>
            <a:spLocks xmlns:a="http://schemas.openxmlformats.org/drawingml/2006/main" noGrp="1"/>
          </p:cNvSpPr>
          <p:nvPr/>
        </p:nvSpPr>
        <p:spPr>
          <a:xfrm xmlns:a="http://schemas.openxmlformats.org/drawingml/2006/main">
            <a:off x="952500" y="2324100"/>
            <a:ext cx="2343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ANALYSIS AND DESIGN</a:t>
            </a:r>
          </a:p>
        </p:txBody>
      </p:sp>
      <p:sp>
        <p:nvSpPr>
          <p:cNvPr id="11" name="">
            <a:extLst xmlns:a="http://schemas.openxmlformats.org/drawingml/2006/main">
              <a:ext uri="{FF2B5EF4-FFF2-40B4-BE49-F238E27FC236}">
                <a16:creationId xmlns:a16="http://schemas.microsoft.com/office/drawing/2014/main" id="{0B9D1692-71AB-4CDE-9A58-23894830093C}"/>
              </a:ext>
            </a:extLst>
          </p:cNvPr>
          <p:cNvSpPr>
            <a:spLocks xmlns:a="http://schemas.openxmlformats.org/drawingml/2006/main" noGrp="1"/>
          </p:cNvSpPr>
          <p:nvPr/>
        </p:nvSpPr>
        <p:spPr>
          <a:xfrm xmlns:a="http://schemas.openxmlformats.org/drawingml/2006/main">
            <a:off x="3467100" y="2324100"/>
            <a:ext cx="7772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Used so far: draft and revise workflows, DFDs, ERD, RDM, schema and frontend mockups using project evidence and adviser feedback.</a:t>
            </a:r>
          </a:p>
        </p:txBody>
      </p:sp>
      <p:sp>
        <p:nvSpPr>
          <p:cNvPr id="12" name="">
            <a:extLst xmlns:a="http://schemas.openxmlformats.org/drawingml/2006/main">
              <a:ext uri="{FF2B5EF4-FFF2-40B4-BE49-F238E27FC236}">
                <a16:creationId xmlns:a16="http://schemas.microsoft.com/office/drawing/2014/main" id="{9C7563B8-593F-4B48-B05B-DF72F4586094}"/>
              </a:ext>
            </a:extLst>
          </p:cNvPr>
          <p:cNvSpPr>
            <a:spLocks xmlns:a="http://schemas.openxmlformats.org/drawingml/2006/main" noGrp="1"/>
          </p:cNvSpPr>
          <p:nvPr/>
        </p:nvSpPr>
        <p:spPr>
          <a:xfrm xmlns:a="http://schemas.openxmlformats.org/drawingml/2006/main">
            <a:off x="952500" y="3143250"/>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8743D697-0806-437F-B775-25163BEEE7E6}"/>
              </a:ext>
            </a:extLst>
          </p:cNvPr>
          <p:cNvSpPr>
            <a:spLocks xmlns:a="http://schemas.openxmlformats.org/drawingml/2006/main" noGrp="1"/>
          </p:cNvSpPr>
          <p:nvPr/>
        </p:nvSpPr>
        <p:spPr>
          <a:xfrm xmlns:a="http://schemas.openxmlformats.org/drawingml/2006/main">
            <a:off x="952500" y="3257550"/>
            <a:ext cx="2343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DEVELOPMENT</a:t>
            </a:r>
          </a:p>
        </p:txBody>
      </p:sp>
      <p:sp>
        <p:nvSpPr>
          <p:cNvPr id="14" name="">
            <a:extLst xmlns:a="http://schemas.openxmlformats.org/drawingml/2006/main">
              <a:ext uri="{FF2B5EF4-FFF2-40B4-BE49-F238E27FC236}">
                <a16:creationId xmlns:a16="http://schemas.microsoft.com/office/drawing/2014/main" id="{A26E8106-50FF-4F47-863D-889157E76406}"/>
              </a:ext>
            </a:extLst>
          </p:cNvPr>
          <p:cNvSpPr>
            <a:spLocks xmlns:a="http://schemas.openxmlformats.org/drawingml/2006/main" noGrp="1"/>
          </p:cNvSpPr>
          <p:nvPr/>
        </p:nvSpPr>
        <p:spPr>
          <a:xfrm xmlns:a="http://schemas.openxmlformats.org/drawingml/2006/main">
            <a:off x="3467100" y="3257550"/>
            <a:ext cx="7772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Next phase: use AI for architecture discussion, coding assistance, debugging and bounded multi-agent tasks. Developers review and integrate each contribution.</a:t>
            </a:r>
          </a:p>
        </p:txBody>
      </p:sp>
      <p:sp>
        <p:nvSpPr>
          <p:cNvPr id="15" name="">
            <a:extLst xmlns:a="http://schemas.openxmlformats.org/drawingml/2006/main">
              <a:ext uri="{FF2B5EF4-FFF2-40B4-BE49-F238E27FC236}">
                <a16:creationId xmlns:a16="http://schemas.microsoft.com/office/drawing/2014/main" id="{1FE2DB64-52FB-4E82-AED0-B0F63D97FEEA}"/>
              </a:ext>
            </a:extLst>
          </p:cNvPr>
          <p:cNvSpPr>
            <a:spLocks xmlns:a="http://schemas.openxmlformats.org/drawingml/2006/main" noGrp="1"/>
          </p:cNvSpPr>
          <p:nvPr/>
        </p:nvSpPr>
        <p:spPr>
          <a:xfrm xmlns:a="http://schemas.openxmlformats.org/drawingml/2006/main">
            <a:off x="952500" y="4076700"/>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02342FB9-9649-4E10-BAC3-7930AEC94D0B}"/>
              </a:ext>
            </a:extLst>
          </p:cNvPr>
          <p:cNvSpPr>
            <a:spLocks xmlns:a="http://schemas.openxmlformats.org/drawingml/2006/main" noGrp="1"/>
          </p:cNvSpPr>
          <p:nvPr/>
        </p:nvSpPr>
        <p:spPr>
          <a:xfrm xmlns:a="http://schemas.openxmlformats.org/drawingml/2006/main">
            <a:off x="952500" y="4191000"/>
            <a:ext cx="2343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TESTING AND DOCUMENTATION</a:t>
            </a:r>
          </a:p>
        </p:txBody>
      </p:sp>
      <p:sp>
        <p:nvSpPr>
          <p:cNvPr id="17" name="">
            <a:extLst xmlns:a="http://schemas.openxmlformats.org/drawingml/2006/main">
              <a:ext uri="{FF2B5EF4-FFF2-40B4-BE49-F238E27FC236}">
                <a16:creationId xmlns:a16="http://schemas.microsoft.com/office/drawing/2014/main" id="{F98753F9-1BF7-4798-9E92-9972FA6A944B}"/>
              </a:ext>
            </a:extLst>
          </p:cNvPr>
          <p:cNvSpPr>
            <a:spLocks xmlns:a="http://schemas.openxmlformats.org/drawingml/2006/main" noGrp="1"/>
          </p:cNvSpPr>
          <p:nvPr/>
        </p:nvSpPr>
        <p:spPr>
          <a:xfrm xmlns:a="http://schemas.openxmlformats.org/drawingml/2006/main">
            <a:off x="3467100" y="4191000"/>
            <a:ext cx="7772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Across the lifecycle: propose test cases, examine failures and draft technical, academic and presentation material. Actual tests and user evaluation establish results.</a:t>
            </a:r>
          </a:p>
        </p:txBody>
      </p:sp>
      <p:sp>
        <p:nvSpPr>
          <p:cNvPr id="18" name="">
            <a:extLst xmlns:a="http://schemas.openxmlformats.org/drawingml/2006/main">
              <a:ext uri="{FF2B5EF4-FFF2-40B4-BE49-F238E27FC236}">
                <a16:creationId xmlns:a16="http://schemas.microsoft.com/office/drawing/2014/main" id="{888710B1-3F5E-435A-B26A-2448DB89E5F5}"/>
              </a:ext>
            </a:extLst>
          </p:cNvPr>
          <p:cNvSpPr>
            <a:spLocks xmlns:a="http://schemas.openxmlformats.org/drawingml/2006/main" noGrp="1"/>
          </p:cNvSpPr>
          <p:nvPr/>
        </p:nvSpPr>
        <p:spPr>
          <a:xfrm xmlns:a="http://schemas.openxmlformats.org/drawingml/2006/main">
            <a:off x="933450" y="5219700"/>
            <a:ext cx="10267950" cy="60960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F4FA350-5AE3-4CBB-910C-9F69755FACE5}"/>
              </a:ext>
            </a:extLst>
          </p:cNvPr>
          <p:cNvSpPr>
            <a:spLocks xmlns:a="http://schemas.openxmlformats.org/drawingml/2006/main" noGrp="1"/>
          </p:cNvSpPr>
          <p:nvPr/>
        </p:nvSpPr>
        <p:spPr>
          <a:xfrm xmlns:a="http://schemas.openxmlformats.org/drawingml/2006/main">
            <a:off x="1152525" y="530542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4907"/>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AI is a project aid, not a feature of the proposed system. Authors verify sources and results, protect project data, and disclose use under university policy.</a:t>
            </a:r>
          </a:p>
        </p:txBody>
      </p:sp>
    </p:spTree>
    <p:extLst>
      <p:ext uri="{BB962C8B-B14F-4D97-AF65-F5344CB8AC3E}">
        <p14:creationId xmlns:p14="http://schemas.microsoft.com/office/powerpoint/2010/main" val="816466274"/>
      </p:ext>
    </p:extLst>
  </p:cSld>
</p:sld>
</file>

<file path=ppt/slides/slide3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A4DB57A-A3AE-4968-8818-13B13B1DA60F}"/>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9E4D87-4871-48DD-94B2-A9E1C92C9E33}"/>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SIGNIFICANCE OF THE PROJECT</a:t>
            </a:r>
          </a:p>
        </p:txBody>
      </p:sp>
      <p:sp>
        <p:nvSpPr>
          <p:cNvPr id="3" name="">
            <a:extLst xmlns:a="http://schemas.openxmlformats.org/drawingml/2006/main">
              <a:ext uri="{FF2B5EF4-FFF2-40B4-BE49-F238E27FC236}">
                <a16:creationId xmlns:a16="http://schemas.microsoft.com/office/drawing/2014/main" id="{CD2AEF75-C894-4534-90A9-74A8699DED3B}"/>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intended contribution is a traceable reporting process</a:t>
            </a:r>
          </a:p>
        </p:txBody>
      </p:sp>
      <p:sp>
        <p:nvSpPr>
          <p:cNvPr id="4" name="">
            <a:extLst xmlns:a="http://schemas.openxmlformats.org/drawingml/2006/main">
              <a:ext uri="{FF2B5EF4-FFF2-40B4-BE49-F238E27FC236}">
                <a16:creationId xmlns:a16="http://schemas.microsoft.com/office/drawing/2014/main" id="{24397AAE-68AA-4005-BE9B-ACD45919F0F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59126939-8299-4280-9480-81C33E85EE3C}"/>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Significance of the Project</a:t>
            </a:r>
          </a:p>
        </p:txBody>
      </p:sp>
      <p:sp>
        <p:nvSpPr>
          <p:cNvPr id="6" name="">
            <a:extLst xmlns:a="http://schemas.openxmlformats.org/drawingml/2006/main">
              <a:ext uri="{FF2B5EF4-FFF2-40B4-BE49-F238E27FC236}">
                <a16:creationId xmlns:a16="http://schemas.microsoft.com/office/drawing/2014/main" id="{5755D8DF-18BD-43C2-918D-ABB1CEC8FDCA}"/>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36</a:t>
            </a:r>
          </a:p>
        </p:txBody>
      </p:sp>
      <p:sp>
        <p:nvSpPr>
          <p:cNvPr id="7" name="">
            <a:extLst xmlns:a="http://schemas.openxmlformats.org/drawingml/2006/main">
              <a:ext uri="{FF2B5EF4-FFF2-40B4-BE49-F238E27FC236}">
                <a16:creationId xmlns:a16="http://schemas.microsoft.com/office/drawing/2014/main" id="{7DD3E2D3-F237-4AD1-A204-492D29371B9A}"/>
              </a:ext>
            </a:extLst>
          </p:cNvPr>
          <p:cNvSpPr>
            <a:spLocks xmlns:a="http://schemas.openxmlformats.org/drawingml/2006/main" noGrp="1"/>
          </p:cNvSpPr>
          <p:nvPr/>
        </p:nvSpPr>
        <p:spPr>
          <a:xfrm xmlns:a="http://schemas.openxmlformats.org/drawingml/2006/main">
            <a:off x="952500" y="141922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FF02358A-451F-4D64-99B0-682271A33900}"/>
              </a:ext>
            </a:extLst>
          </p:cNvPr>
          <p:cNvSpPr>
            <a:spLocks xmlns:a="http://schemas.openxmlformats.org/drawingml/2006/main" noGrp="1"/>
          </p:cNvSpPr>
          <p:nvPr/>
        </p:nvSpPr>
        <p:spPr>
          <a:xfrm xmlns:a="http://schemas.openxmlformats.org/drawingml/2006/main">
            <a:off x="3648075" y="140970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 clearer path to submit aggregate community information and track its review.</a:t>
            </a:r>
          </a:p>
        </p:txBody>
      </p:sp>
      <p:sp>
        <p:nvSpPr>
          <p:cNvPr id="9" name="">
            <a:extLst xmlns:a="http://schemas.openxmlformats.org/drawingml/2006/main">
              <a:ext uri="{FF2B5EF4-FFF2-40B4-BE49-F238E27FC236}">
                <a16:creationId xmlns:a16="http://schemas.microsoft.com/office/drawing/2014/main" id="{B8565F62-E556-4310-8347-5D6ACE0A20A8}"/>
              </a:ext>
            </a:extLst>
          </p:cNvPr>
          <p:cNvSpPr>
            <a:spLocks xmlns:a="http://schemas.openxmlformats.org/drawingml/2006/main" noGrp="1"/>
          </p:cNvSpPr>
          <p:nvPr/>
        </p:nvSpPr>
        <p:spPr>
          <a:xfrm xmlns:a="http://schemas.openxmlformats.org/drawingml/2006/main">
            <a:off x="952500" y="2133600"/>
            <a:ext cx="102393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65FAE049-6FD7-4F89-B0AB-B3781844D5BF}"/>
              </a:ext>
            </a:extLst>
          </p:cNvPr>
          <p:cNvSpPr>
            <a:spLocks xmlns:a="http://schemas.openxmlformats.org/drawingml/2006/main" noGrp="1"/>
          </p:cNvSpPr>
          <p:nvPr/>
        </p:nvSpPr>
        <p:spPr>
          <a:xfrm xmlns:a="http://schemas.openxmlformats.org/drawingml/2006/main">
            <a:off x="952500" y="239077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BARANGAY</a:t>
            </a:r>
          </a:p>
        </p:txBody>
      </p:sp>
      <p:sp>
        <p:nvSpPr>
          <p:cNvPr id="11" name="">
            <a:extLst xmlns:a="http://schemas.openxmlformats.org/drawingml/2006/main">
              <a:ext uri="{FF2B5EF4-FFF2-40B4-BE49-F238E27FC236}">
                <a16:creationId xmlns:a16="http://schemas.microsoft.com/office/drawing/2014/main" id="{A87CAD46-2032-45B5-A48E-D3CB81FD0116}"/>
              </a:ext>
            </a:extLst>
          </p:cNvPr>
          <p:cNvSpPr>
            <a:spLocks xmlns:a="http://schemas.openxmlformats.org/drawingml/2006/main" noGrp="1"/>
          </p:cNvSpPr>
          <p:nvPr/>
        </p:nvSpPr>
        <p:spPr>
          <a:xfrm xmlns:a="http://schemas.openxmlformats.org/drawingml/2006/main">
            <a:off x="3648075" y="238125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 place to review source records and consolidate eligible Purok information.</a:t>
            </a:r>
          </a:p>
        </p:txBody>
      </p:sp>
      <p:sp>
        <p:nvSpPr>
          <p:cNvPr id="12" name="">
            <a:extLst xmlns:a="http://schemas.openxmlformats.org/drawingml/2006/main">
              <a:ext uri="{FF2B5EF4-FFF2-40B4-BE49-F238E27FC236}">
                <a16:creationId xmlns:a16="http://schemas.microsoft.com/office/drawing/2014/main" id="{D5F7858B-8064-444B-8197-6EDF4E4C84AE}"/>
              </a:ext>
            </a:extLst>
          </p:cNvPr>
          <p:cNvSpPr>
            <a:spLocks xmlns:a="http://schemas.openxmlformats.org/drawingml/2006/main" noGrp="1"/>
          </p:cNvSpPr>
          <p:nvPr/>
        </p:nvSpPr>
        <p:spPr>
          <a:xfrm xmlns:a="http://schemas.openxmlformats.org/drawingml/2006/main">
            <a:off x="952500" y="3105150"/>
            <a:ext cx="102393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E992A475-0425-479F-BA36-C44DD84F5754}"/>
              </a:ext>
            </a:extLst>
          </p:cNvPr>
          <p:cNvSpPr>
            <a:spLocks xmlns:a="http://schemas.openxmlformats.org/drawingml/2006/main" noGrp="1"/>
          </p:cNvSpPr>
          <p:nvPr/>
        </p:nvSpPr>
        <p:spPr>
          <a:xfrm xmlns:a="http://schemas.openxmlformats.org/drawingml/2006/main">
            <a:off x="952500" y="336232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DRRM ORGANIZATION</a:t>
            </a:r>
          </a:p>
        </p:txBody>
      </p:sp>
      <p:sp>
        <p:nvSpPr>
          <p:cNvPr id="14" name="">
            <a:extLst xmlns:a="http://schemas.openxmlformats.org/drawingml/2006/main">
              <a:ext uri="{FF2B5EF4-FFF2-40B4-BE49-F238E27FC236}">
                <a16:creationId xmlns:a16="http://schemas.microsoft.com/office/drawing/2014/main" id="{EF7C2751-DE81-47A2-A7E1-52D8EA769FFE}"/>
              </a:ext>
            </a:extLst>
          </p:cNvPr>
          <p:cNvSpPr>
            <a:spLocks xmlns:a="http://schemas.openxmlformats.org/drawingml/2006/main" noGrp="1"/>
          </p:cNvSpPr>
          <p:nvPr/>
        </p:nvSpPr>
        <p:spPr>
          <a:xfrm xmlns:a="http://schemas.openxmlformats.org/drawingml/2006/main">
            <a:off x="3648075" y="335280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 structured source set for verification, operational monitoring and SitRep preparation.</a:t>
            </a:r>
          </a:p>
        </p:txBody>
      </p:sp>
      <p:sp>
        <p:nvSpPr>
          <p:cNvPr id="15" name="">
            <a:extLst xmlns:a="http://schemas.openxmlformats.org/drawingml/2006/main">
              <a:ext uri="{FF2B5EF4-FFF2-40B4-BE49-F238E27FC236}">
                <a16:creationId xmlns:a16="http://schemas.microsoft.com/office/drawing/2014/main" id="{5E2D3D00-AB0E-4559-BC65-D8DB7FBE289D}"/>
              </a:ext>
            </a:extLst>
          </p:cNvPr>
          <p:cNvSpPr>
            <a:spLocks xmlns:a="http://schemas.openxmlformats.org/drawingml/2006/main" noGrp="1"/>
          </p:cNvSpPr>
          <p:nvPr/>
        </p:nvSpPr>
        <p:spPr>
          <a:xfrm xmlns:a="http://schemas.openxmlformats.org/drawingml/2006/main">
            <a:off x="952500" y="4076700"/>
            <a:ext cx="102393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DB666173-91FE-4027-9E9C-9D68FE6FD0C8}"/>
              </a:ext>
            </a:extLst>
          </p:cNvPr>
          <p:cNvSpPr>
            <a:spLocks xmlns:a="http://schemas.openxmlformats.org/drawingml/2006/main" noGrp="1"/>
          </p:cNvSpPr>
          <p:nvPr/>
        </p:nvSpPr>
        <p:spPr>
          <a:xfrm xmlns:a="http://schemas.openxmlformats.org/drawingml/2006/main">
            <a:off x="952500" y="433387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RESEARCH</a:t>
            </a:r>
          </a:p>
        </p:txBody>
      </p:sp>
      <p:sp>
        <p:nvSpPr>
          <p:cNvPr id="17" name="">
            <a:extLst xmlns:a="http://schemas.openxmlformats.org/drawingml/2006/main">
              <a:ext uri="{FF2B5EF4-FFF2-40B4-BE49-F238E27FC236}">
                <a16:creationId xmlns:a16="http://schemas.microsoft.com/office/drawing/2014/main" id="{379055F8-6F46-4D1E-AC6D-33C9EF62DE14}"/>
              </a:ext>
            </a:extLst>
          </p:cNvPr>
          <p:cNvSpPr>
            <a:spLocks xmlns:a="http://schemas.openxmlformats.org/drawingml/2006/main" noGrp="1"/>
          </p:cNvSpPr>
          <p:nvPr/>
        </p:nvSpPr>
        <p:spPr>
          <a:xfrm xmlns:a="http://schemas.openxmlformats.org/drawingml/2006/main">
            <a:off x="3648075" y="432435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Versioned records may support later study of local DRRM information practices.</a:t>
            </a:r>
          </a:p>
        </p:txBody>
      </p:sp>
      <p:sp>
        <p:nvSpPr>
          <p:cNvPr id="18" name="">
            <a:extLst xmlns:a="http://schemas.openxmlformats.org/drawingml/2006/main">
              <a:ext uri="{FF2B5EF4-FFF2-40B4-BE49-F238E27FC236}">
                <a16:creationId xmlns:a16="http://schemas.microsoft.com/office/drawing/2014/main" id="{97AB3C77-CCFA-41F0-9AF0-88C6CBA29FB2}"/>
              </a:ext>
            </a:extLst>
          </p:cNvPr>
          <p:cNvSpPr>
            <a:spLocks xmlns:a="http://schemas.openxmlformats.org/drawingml/2006/main" noGrp="1"/>
          </p:cNvSpPr>
          <p:nvPr/>
        </p:nvSpPr>
        <p:spPr>
          <a:xfrm xmlns:a="http://schemas.openxmlformats.org/drawingml/2006/main">
            <a:off x="952500" y="5524500"/>
            <a:ext cx="1014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A9782A"/>
                </a:solidFill>
                <a:latin typeface="Source Sans 3"/>
                <a:ea typeface="Source Sans 3"/>
                <a:cs typeface="Source Sans 3"/>
              </a:defRPr>
            </a:pPr>
            <a:r>
              <a:rPr sz="1350" b="1">
                <a:solidFill>
                  <a:srgbClr val="A9782A"/>
                </a:solidFill>
                <a:latin typeface="Source Sans 3"/>
                <a:ea typeface="Source Sans 3"/>
                <a:cs typeface="Source Sans 3"/>
              </a:rPr>
              <a:t>These benefits remain to be evaluated with intended users.</a:t>
            </a:r>
          </a:p>
        </p:txBody>
      </p:sp>
    </p:spTree>
    <p:extLst>
      <p:ext uri="{BB962C8B-B14F-4D97-AF65-F5344CB8AC3E}">
        <p14:creationId xmlns:p14="http://schemas.microsoft.com/office/powerpoint/2010/main" val="82586898"/>
      </p:ext>
    </p:extLst>
  </p:cSld>
</p:sld>
</file>

<file path=ppt/slides/slide3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0A9B7D1-56CF-4124-B5A5-B988E3CD5A81}"/>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5190D82-4215-4DA1-A49F-7CC7A9D7DFFB}"/>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SUMMARY</a:t>
            </a:r>
          </a:p>
        </p:txBody>
      </p:sp>
      <p:sp>
        <p:nvSpPr>
          <p:cNvPr id="3" name="">
            <a:extLst xmlns:a="http://schemas.openxmlformats.org/drawingml/2006/main">
              <a:ext uri="{FF2B5EF4-FFF2-40B4-BE49-F238E27FC236}">
                <a16:creationId xmlns:a16="http://schemas.microsoft.com/office/drawing/2014/main" id="{372D9D58-841C-4DF1-95EF-74F08EB11041}"/>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proposal joins grassroots reports to controlled SitRep preparation</a:t>
            </a:r>
          </a:p>
        </p:txBody>
      </p:sp>
      <p:sp>
        <p:nvSpPr>
          <p:cNvPr id="4" name="">
            <a:extLst xmlns:a="http://schemas.openxmlformats.org/drawingml/2006/main">
              <a:ext uri="{FF2B5EF4-FFF2-40B4-BE49-F238E27FC236}">
                <a16:creationId xmlns:a16="http://schemas.microsoft.com/office/drawing/2014/main" id="{5F1EA64F-1877-4E59-B074-E4D6C20AFCA9}"/>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7F8A090B-952B-4BA0-A105-8A8BFF970206}"/>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synthesis of the revised paper, Chapters 1–3</a:t>
            </a:r>
          </a:p>
        </p:txBody>
      </p:sp>
      <p:sp>
        <p:nvSpPr>
          <p:cNvPr id="6" name="">
            <a:extLst xmlns:a="http://schemas.openxmlformats.org/drawingml/2006/main">
              <a:ext uri="{FF2B5EF4-FFF2-40B4-BE49-F238E27FC236}">
                <a16:creationId xmlns:a16="http://schemas.microsoft.com/office/drawing/2014/main" id="{6EBD1EDD-1AD1-4829-8764-AE6A6A12CD10}"/>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37</a:t>
            </a:r>
          </a:p>
        </p:txBody>
      </p:sp>
      <p:sp>
        <p:nvSpPr>
          <p:cNvPr id="7" name="">
            <a:extLst xmlns:a="http://schemas.openxmlformats.org/drawingml/2006/main">
              <a:ext uri="{FF2B5EF4-FFF2-40B4-BE49-F238E27FC236}">
                <a16:creationId xmlns:a16="http://schemas.microsoft.com/office/drawing/2014/main" id="{A5F13B25-A3F0-4FEA-8022-A7402CCAEEB1}"/>
              </a:ext>
            </a:extLst>
          </p:cNvPr>
          <p:cNvSpPr>
            <a:spLocks xmlns:a="http://schemas.openxmlformats.org/drawingml/2006/main" noGrp="1"/>
          </p:cNvSpPr>
          <p:nvPr/>
        </p:nvSpPr>
        <p:spPr>
          <a:xfrm xmlns:a="http://schemas.openxmlformats.org/drawingml/2006/main">
            <a:off x="1162050" y="161925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2025" b="1">
                <a:solidFill>
                  <a:srgbClr val="252D30"/>
                </a:solidFill>
                <a:latin typeface="Lexend"/>
                <a:ea typeface="Lexend"/>
                <a:cs typeface="Lexend"/>
              </a:defRPr>
            </a:pPr>
            <a:r>
              <a:rPr sz="2025" b="1">
                <a:solidFill>
                  <a:srgbClr val="252D30"/>
                </a:solidFill>
                <a:latin typeface="Lexend"/>
                <a:ea typeface="Lexend"/>
                <a:cs typeface="Lexend"/>
              </a:rPr>
              <a:t>Purok submits an initial aggregate record.</a:t>
            </a:r>
          </a:p>
        </p:txBody>
      </p:sp>
      <p:sp>
        <p:nvSpPr>
          <p:cNvPr id="8" name="">
            <a:extLst xmlns:a="http://schemas.openxmlformats.org/drawingml/2006/main">
              <a:ext uri="{FF2B5EF4-FFF2-40B4-BE49-F238E27FC236}">
                <a16:creationId xmlns:a16="http://schemas.microsoft.com/office/drawing/2014/main" id="{384F55E2-55AC-4330-B881-971AF7AE1318}"/>
              </a:ext>
            </a:extLst>
          </p:cNvPr>
          <p:cNvSpPr>
            <a:spLocks xmlns:a="http://schemas.openxmlformats.org/drawingml/2006/main" noGrp="1"/>
          </p:cNvSpPr>
          <p:nvPr/>
        </p:nvSpPr>
        <p:spPr>
          <a:xfrm xmlns:a="http://schemas.openxmlformats.org/drawingml/2006/main">
            <a:off x="1162050" y="2486025"/>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2025" b="1">
                <a:solidFill>
                  <a:srgbClr val="252D30"/>
                </a:solidFill>
                <a:latin typeface="Lexend"/>
                <a:ea typeface="Lexend"/>
                <a:cs typeface="Lexend"/>
              </a:defRPr>
            </a:pPr>
            <a:r>
              <a:rPr sz="2025" b="1">
                <a:solidFill>
                  <a:srgbClr val="252D30"/>
                </a:solidFill>
                <a:latin typeface="Lexend"/>
                <a:ea typeface="Lexend"/>
                <a:cs typeface="Lexend"/>
              </a:rPr>
              <a:t>Barangay reviews and consolidates verified information.</a:t>
            </a:r>
          </a:p>
        </p:txBody>
      </p:sp>
      <p:sp>
        <p:nvSpPr>
          <p:cNvPr id="9" name="">
            <a:extLst xmlns:a="http://schemas.openxmlformats.org/drawingml/2006/main">
              <a:ext uri="{FF2B5EF4-FFF2-40B4-BE49-F238E27FC236}">
                <a16:creationId xmlns:a16="http://schemas.microsoft.com/office/drawing/2014/main" id="{BA42578F-EECF-4BC9-9B55-BABA8BA2A4FA}"/>
              </a:ext>
            </a:extLst>
          </p:cNvPr>
          <p:cNvSpPr>
            <a:spLocks xmlns:a="http://schemas.openxmlformats.org/drawingml/2006/main" noGrp="1"/>
          </p:cNvSpPr>
          <p:nvPr/>
        </p:nvSpPr>
        <p:spPr>
          <a:xfrm xmlns:a="http://schemas.openxmlformats.org/drawingml/2006/main">
            <a:off x="1162050" y="3352800"/>
            <a:ext cx="9858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2025" b="1">
                <a:solidFill>
                  <a:srgbClr val="252D30"/>
                </a:solidFill>
                <a:latin typeface="Lexend"/>
                <a:ea typeface="Lexend"/>
                <a:cs typeface="Lexend"/>
              </a:defRPr>
            </a:pPr>
            <a:r>
              <a:rPr sz="2025" b="1">
                <a:solidFill>
                  <a:srgbClr val="252D30"/>
                </a:solidFill>
                <a:latin typeface="Lexend"/>
                <a:ea typeface="Lexend"/>
                <a:cs typeface="Lexend"/>
              </a:rPr>
              <a:t>DRRM personnel prepare and route a source-linked SitRep for authorized approval.</a:t>
            </a:r>
          </a:p>
        </p:txBody>
      </p:sp>
      <p:sp>
        <p:nvSpPr>
          <p:cNvPr id="10" name="">
            <a:extLst xmlns:a="http://schemas.openxmlformats.org/drawingml/2006/main">
              <a:ext uri="{FF2B5EF4-FFF2-40B4-BE49-F238E27FC236}">
                <a16:creationId xmlns:a16="http://schemas.microsoft.com/office/drawing/2014/main" id="{EF5AF550-975A-44DE-A96A-62B92D6E50D5}"/>
              </a:ext>
            </a:extLst>
          </p:cNvPr>
          <p:cNvSpPr>
            <a:spLocks xmlns:a="http://schemas.openxmlformats.org/drawingml/2006/main" noGrp="1"/>
          </p:cNvSpPr>
          <p:nvPr/>
        </p:nvSpPr>
        <p:spPr>
          <a:xfrm xmlns:a="http://schemas.openxmlformats.org/drawingml/2006/main">
            <a:off x="2619375" y="4286250"/>
            <a:ext cx="6943725"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1" name="">
            <a:extLst xmlns:a="http://schemas.openxmlformats.org/drawingml/2006/main">
              <a:ext uri="{FF2B5EF4-FFF2-40B4-BE49-F238E27FC236}">
                <a16:creationId xmlns:a16="http://schemas.microsoft.com/office/drawing/2014/main" id="{02D61338-2730-40CB-90EB-B063AA3AA222}"/>
              </a:ext>
            </a:extLst>
          </p:cNvPr>
          <p:cNvSpPr>
            <a:spLocks xmlns:a="http://schemas.openxmlformats.org/drawingml/2006/main" noGrp="1"/>
          </p:cNvSpPr>
          <p:nvPr/>
        </p:nvSpPr>
        <p:spPr>
          <a:xfrm xmlns:a="http://schemas.openxmlformats.org/drawingml/2006/main">
            <a:off x="1504950" y="4686300"/>
            <a:ext cx="9182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650" b="0">
                <a:solidFill>
                  <a:srgbClr val="59676A"/>
                </a:solidFill>
                <a:latin typeface="Source Sans 3"/>
                <a:ea typeface="Source Sans 3"/>
                <a:cs typeface="Source Sans 3"/>
              </a:defRPr>
            </a:pPr>
            <a:r>
              <a:rPr sz="1650" b="0">
                <a:solidFill>
                  <a:srgbClr val="59676A"/>
                </a:solidFill>
                <a:latin typeface="Source Sans 3"/>
                <a:ea typeface="Source Sans 3"/>
                <a:cs typeface="Source Sans 3"/>
              </a:rPr>
              <a:t>The system supports the process. Public officials retain the decisions.</a:t>
            </a:r>
          </a:p>
        </p:txBody>
      </p:sp>
    </p:spTree>
    <p:extLst>
      <p:ext uri="{BB962C8B-B14F-4D97-AF65-F5344CB8AC3E}">
        <p14:creationId xmlns:p14="http://schemas.microsoft.com/office/powerpoint/2010/main" val="1462936262"/>
      </p:ext>
    </p:extLst>
  </p:cSld>
</p:sld>
</file>

<file path=ppt/slides/slide3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7A6D18B-273E-4F24-A15A-7D6D8AE89FAD}"/>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E6C21C-936D-4A0C-9BB7-9416CDEEA8B1}"/>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REFERENCES</a:t>
            </a:r>
          </a:p>
        </p:txBody>
      </p:sp>
      <p:sp>
        <p:nvSpPr>
          <p:cNvPr id="3" name="">
            <a:extLst xmlns:a="http://schemas.openxmlformats.org/drawingml/2006/main">
              <a:ext uri="{FF2B5EF4-FFF2-40B4-BE49-F238E27FC236}">
                <a16:creationId xmlns:a16="http://schemas.microsoft.com/office/drawing/2014/main" id="{E7A579AB-F762-4B04-9994-76D821B3E049}"/>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Selected authorities and studies cited in the revised paper</a:t>
            </a:r>
          </a:p>
        </p:txBody>
      </p:sp>
      <p:sp>
        <p:nvSpPr>
          <p:cNvPr id="4" name="">
            <a:extLst xmlns:a="http://schemas.openxmlformats.org/drawingml/2006/main">
              <a:ext uri="{FF2B5EF4-FFF2-40B4-BE49-F238E27FC236}">
                <a16:creationId xmlns:a16="http://schemas.microsoft.com/office/drawing/2014/main" id="{AEF61669-82A9-4B9E-993C-F3A5E521D14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55C33AD-2991-4400-9D46-C0387D8CC59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Full bibliographic details are in the revised manuscript's References section</a:t>
            </a:r>
          </a:p>
        </p:txBody>
      </p:sp>
      <p:sp>
        <p:nvSpPr>
          <p:cNvPr id="6" name="">
            <a:extLst xmlns:a="http://schemas.openxmlformats.org/drawingml/2006/main">
              <a:ext uri="{FF2B5EF4-FFF2-40B4-BE49-F238E27FC236}">
                <a16:creationId xmlns:a16="http://schemas.microsoft.com/office/drawing/2014/main" id="{E27BCDDE-6F14-4762-A28F-C867B4F92146}"/>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38</a:t>
            </a:r>
          </a:p>
        </p:txBody>
      </p:sp>
      <p:sp>
        <p:nvSpPr>
          <p:cNvPr id="7" name="">
            <a:extLst xmlns:a="http://schemas.openxmlformats.org/drawingml/2006/main">
              <a:ext uri="{FF2B5EF4-FFF2-40B4-BE49-F238E27FC236}">
                <a16:creationId xmlns:a16="http://schemas.microsoft.com/office/drawing/2014/main" id="{B3998D5B-B984-4252-A27C-C1B0AF30BE63}"/>
              </a:ext>
            </a:extLst>
          </p:cNvPr>
          <p:cNvSpPr>
            <a:spLocks xmlns:a="http://schemas.openxmlformats.org/drawingml/2006/main" noGrp="1"/>
          </p:cNvSpPr>
          <p:nvPr/>
        </p:nvSpPr>
        <p:spPr>
          <a:xfrm xmlns:a="http://schemas.openxmlformats.org/drawingml/2006/main">
            <a:off x="933450" y="136207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F771F355-DB8A-4EF2-9CD0-7B44618324E3}"/>
              </a:ext>
            </a:extLst>
          </p:cNvPr>
          <p:cNvSpPr>
            <a:spLocks xmlns:a="http://schemas.openxmlformats.org/drawingml/2006/main" noGrp="1"/>
          </p:cNvSpPr>
          <p:nvPr/>
        </p:nvSpPr>
        <p:spPr>
          <a:xfrm xmlns:a="http://schemas.openxmlformats.org/drawingml/2006/main">
            <a:off x="1390650" y="136207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Republic Act No. 10121 (2010), Philippine Disaster Risk Reduction and Management Act, Section 12.</a:t>
            </a:r>
          </a:p>
        </p:txBody>
      </p:sp>
      <p:sp>
        <p:nvSpPr>
          <p:cNvPr id="9" name="">
            <a:extLst xmlns:a="http://schemas.openxmlformats.org/drawingml/2006/main">
              <a:ext uri="{FF2B5EF4-FFF2-40B4-BE49-F238E27FC236}">
                <a16:creationId xmlns:a16="http://schemas.microsoft.com/office/drawing/2014/main" id="{6800B4D8-E789-492D-A46B-140D675592C7}"/>
              </a:ext>
            </a:extLst>
          </p:cNvPr>
          <p:cNvSpPr>
            <a:spLocks xmlns:a="http://schemas.openxmlformats.org/drawingml/2006/main" noGrp="1"/>
          </p:cNvSpPr>
          <p:nvPr/>
        </p:nvSpPr>
        <p:spPr>
          <a:xfrm xmlns:a="http://schemas.openxmlformats.org/drawingml/2006/main">
            <a:off x="1390650" y="1914525"/>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877F297E-DAC8-494B-9453-200DD0A07E90}"/>
              </a:ext>
            </a:extLst>
          </p:cNvPr>
          <p:cNvSpPr>
            <a:spLocks xmlns:a="http://schemas.openxmlformats.org/drawingml/2006/main" noGrp="1"/>
          </p:cNvSpPr>
          <p:nvPr/>
        </p:nvSpPr>
        <p:spPr>
          <a:xfrm xmlns:a="http://schemas.openxmlformats.org/drawingml/2006/main">
            <a:off x="933450" y="1981200"/>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A9CD924B-04FB-4670-AC65-D192A00A365B}"/>
              </a:ext>
            </a:extLst>
          </p:cNvPr>
          <p:cNvSpPr>
            <a:spLocks xmlns:a="http://schemas.openxmlformats.org/drawingml/2006/main" noGrp="1"/>
          </p:cNvSpPr>
          <p:nvPr/>
        </p:nvSpPr>
        <p:spPr>
          <a:xfrm xmlns:a="http://schemas.openxmlformats.org/drawingml/2006/main">
            <a:off x="1390650" y="198120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NDRRMC. (2024). NDRRM Operations Center Standard Operating Procedures and Guidelines.</a:t>
            </a:r>
          </a:p>
        </p:txBody>
      </p:sp>
      <p:sp>
        <p:nvSpPr>
          <p:cNvPr id="12" name="">
            <a:extLst xmlns:a="http://schemas.openxmlformats.org/drawingml/2006/main">
              <a:ext uri="{FF2B5EF4-FFF2-40B4-BE49-F238E27FC236}">
                <a16:creationId xmlns:a16="http://schemas.microsoft.com/office/drawing/2014/main" id="{67078094-BC4F-4DD2-85AF-352DA915D639}"/>
              </a:ext>
            </a:extLst>
          </p:cNvPr>
          <p:cNvSpPr>
            <a:spLocks xmlns:a="http://schemas.openxmlformats.org/drawingml/2006/main" noGrp="1"/>
          </p:cNvSpPr>
          <p:nvPr/>
        </p:nvSpPr>
        <p:spPr>
          <a:xfrm xmlns:a="http://schemas.openxmlformats.org/drawingml/2006/main">
            <a:off x="1390650" y="25336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8F417B0D-56BA-4F59-A6B6-4C3FCF03FC09}"/>
              </a:ext>
            </a:extLst>
          </p:cNvPr>
          <p:cNvSpPr>
            <a:spLocks xmlns:a="http://schemas.openxmlformats.org/drawingml/2006/main" noGrp="1"/>
          </p:cNvSpPr>
          <p:nvPr/>
        </p:nvSpPr>
        <p:spPr>
          <a:xfrm xmlns:a="http://schemas.openxmlformats.org/drawingml/2006/main">
            <a:off x="933450" y="260032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E0B2DE05-8531-4AC8-B5A4-4CCB800B8C62}"/>
              </a:ext>
            </a:extLst>
          </p:cNvPr>
          <p:cNvSpPr>
            <a:spLocks xmlns:a="http://schemas.openxmlformats.org/drawingml/2006/main" noGrp="1"/>
          </p:cNvSpPr>
          <p:nvPr/>
        </p:nvSpPr>
        <p:spPr>
          <a:xfrm xmlns:a="http://schemas.openxmlformats.org/drawingml/2006/main">
            <a:off x="1390650" y="260032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Republic Act No. 10173 (2012), Data Privacy Act, and its Implementing Rules and Regulations.</a:t>
            </a:r>
          </a:p>
        </p:txBody>
      </p:sp>
      <p:sp>
        <p:nvSpPr>
          <p:cNvPr id="15" name="">
            <a:extLst xmlns:a="http://schemas.openxmlformats.org/drawingml/2006/main">
              <a:ext uri="{FF2B5EF4-FFF2-40B4-BE49-F238E27FC236}">
                <a16:creationId xmlns:a16="http://schemas.microsoft.com/office/drawing/2014/main" id="{0F79FF8C-0367-433F-BC13-EEA8FD49375C}"/>
              </a:ext>
            </a:extLst>
          </p:cNvPr>
          <p:cNvSpPr>
            <a:spLocks xmlns:a="http://schemas.openxmlformats.org/drawingml/2006/main" noGrp="1"/>
          </p:cNvSpPr>
          <p:nvPr/>
        </p:nvSpPr>
        <p:spPr>
          <a:xfrm xmlns:a="http://schemas.openxmlformats.org/drawingml/2006/main">
            <a:off x="1390650" y="3152775"/>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0789E6F8-FC11-49F1-AE1B-481B22FC3635}"/>
              </a:ext>
            </a:extLst>
          </p:cNvPr>
          <p:cNvSpPr>
            <a:spLocks xmlns:a="http://schemas.openxmlformats.org/drawingml/2006/main" noGrp="1"/>
          </p:cNvSpPr>
          <p:nvPr/>
        </p:nvSpPr>
        <p:spPr>
          <a:xfrm xmlns:a="http://schemas.openxmlformats.org/drawingml/2006/main">
            <a:off x="933450" y="3219450"/>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DB24CD52-EDF0-4854-AB39-FDAC684AB6D2}"/>
              </a:ext>
            </a:extLst>
          </p:cNvPr>
          <p:cNvSpPr>
            <a:spLocks xmlns:a="http://schemas.openxmlformats.org/drawingml/2006/main" noGrp="1"/>
          </p:cNvSpPr>
          <p:nvPr/>
        </p:nvSpPr>
        <p:spPr>
          <a:xfrm xmlns:a="http://schemas.openxmlformats.org/drawingml/2006/main">
            <a:off x="1390650" y="321945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Republic Act No. 9470 (2007), National Archives of the Philippines Act; Republic Act No. 12254 (2025), E-Governance Act.</a:t>
            </a:r>
          </a:p>
        </p:txBody>
      </p:sp>
      <p:sp>
        <p:nvSpPr>
          <p:cNvPr id="18" name="">
            <a:extLst xmlns:a="http://schemas.openxmlformats.org/drawingml/2006/main">
              <a:ext uri="{FF2B5EF4-FFF2-40B4-BE49-F238E27FC236}">
                <a16:creationId xmlns:a16="http://schemas.microsoft.com/office/drawing/2014/main" id="{A8119FBE-26B9-47F8-A0AC-E19194B0AB38}"/>
              </a:ext>
            </a:extLst>
          </p:cNvPr>
          <p:cNvSpPr>
            <a:spLocks xmlns:a="http://schemas.openxmlformats.org/drawingml/2006/main" noGrp="1"/>
          </p:cNvSpPr>
          <p:nvPr/>
        </p:nvSpPr>
        <p:spPr>
          <a:xfrm xmlns:a="http://schemas.openxmlformats.org/drawingml/2006/main">
            <a:off x="1390650" y="377190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AC460459-F458-4B05-9174-82D97E9A5687}"/>
              </a:ext>
            </a:extLst>
          </p:cNvPr>
          <p:cNvSpPr>
            <a:spLocks xmlns:a="http://schemas.openxmlformats.org/drawingml/2006/main" noGrp="1"/>
          </p:cNvSpPr>
          <p:nvPr/>
        </p:nvSpPr>
        <p:spPr>
          <a:xfrm xmlns:a="http://schemas.openxmlformats.org/drawingml/2006/main">
            <a:off x="933450" y="383857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15CC27EB-4DE6-49D2-8303-A2D6101D9478}"/>
              </a:ext>
            </a:extLst>
          </p:cNvPr>
          <p:cNvSpPr>
            <a:spLocks xmlns:a="http://schemas.openxmlformats.org/drawingml/2006/main" noGrp="1"/>
          </p:cNvSpPr>
          <p:nvPr/>
        </p:nvSpPr>
        <p:spPr>
          <a:xfrm xmlns:a="http://schemas.openxmlformats.org/drawingml/2006/main">
            <a:off x="1390650" y="383857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De Los Santos et al. (2020), Bandilyo App; Philippine Disaster Response Management Bureau (2024), AGAPP.</a:t>
            </a:r>
          </a:p>
        </p:txBody>
      </p:sp>
      <p:sp>
        <p:nvSpPr>
          <p:cNvPr id="21" name="">
            <a:extLst xmlns:a="http://schemas.openxmlformats.org/drawingml/2006/main">
              <a:ext uri="{FF2B5EF4-FFF2-40B4-BE49-F238E27FC236}">
                <a16:creationId xmlns:a16="http://schemas.microsoft.com/office/drawing/2014/main" id="{D6F879A9-E0F6-47A6-8CFB-196929B5922A}"/>
              </a:ext>
            </a:extLst>
          </p:cNvPr>
          <p:cNvSpPr>
            <a:spLocks xmlns:a="http://schemas.openxmlformats.org/drawingml/2006/main" noGrp="1"/>
          </p:cNvSpPr>
          <p:nvPr/>
        </p:nvSpPr>
        <p:spPr>
          <a:xfrm xmlns:a="http://schemas.openxmlformats.org/drawingml/2006/main">
            <a:off x="1390650" y="4391025"/>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87F099E1-5FBE-4D16-9F47-5CAE4F603462}"/>
              </a:ext>
            </a:extLst>
          </p:cNvPr>
          <p:cNvSpPr>
            <a:spLocks xmlns:a="http://schemas.openxmlformats.org/drawingml/2006/main" noGrp="1"/>
          </p:cNvSpPr>
          <p:nvPr/>
        </p:nvSpPr>
        <p:spPr>
          <a:xfrm xmlns:a="http://schemas.openxmlformats.org/drawingml/2006/main">
            <a:off x="933450" y="4457700"/>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F222D615-4CDE-48A7-AAA4-BD0EE3198720}"/>
              </a:ext>
            </a:extLst>
          </p:cNvPr>
          <p:cNvSpPr>
            <a:spLocks xmlns:a="http://schemas.openxmlformats.org/drawingml/2006/main" noGrp="1"/>
          </p:cNvSpPr>
          <p:nvPr/>
        </p:nvSpPr>
        <p:spPr>
          <a:xfrm xmlns:a="http://schemas.openxmlformats.org/drawingml/2006/main">
            <a:off x="1390650" y="445770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Montefalcon et al. (2021), IRespondPH; Calanog et al. (2024), Mamamayan.</a:t>
            </a:r>
          </a:p>
        </p:txBody>
      </p:sp>
      <p:sp>
        <p:nvSpPr>
          <p:cNvPr id="24" name="">
            <a:extLst xmlns:a="http://schemas.openxmlformats.org/drawingml/2006/main">
              <a:ext uri="{FF2B5EF4-FFF2-40B4-BE49-F238E27FC236}">
                <a16:creationId xmlns:a16="http://schemas.microsoft.com/office/drawing/2014/main" id="{E2DCFA66-3009-4C37-BE7F-83A01B96E080}"/>
              </a:ext>
            </a:extLst>
          </p:cNvPr>
          <p:cNvSpPr>
            <a:spLocks xmlns:a="http://schemas.openxmlformats.org/drawingml/2006/main" noGrp="1"/>
          </p:cNvSpPr>
          <p:nvPr/>
        </p:nvSpPr>
        <p:spPr>
          <a:xfrm xmlns:a="http://schemas.openxmlformats.org/drawingml/2006/main">
            <a:off x="1390650" y="50101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5" name="">
            <a:extLst xmlns:a="http://schemas.openxmlformats.org/drawingml/2006/main">
              <a:ext uri="{FF2B5EF4-FFF2-40B4-BE49-F238E27FC236}">
                <a16:creationId xmlns:a16="http://schemas.microsoft.com/office/drawing/2014/main" id="{B46AFE68-EE15-4B3C-82A3-69A64F66EF2C}"/>
              </a:ext>
            </a:extLst>
          </p:cNvPr>
          <p:cNvSpPr>
            <a:spLocks xmlns:a="http://schemas.openxmlformats.org/drawingml/2006/main" noGrp="1"/>
          </p:cNvSpPr>
          <p:nvPr/>
        </p:nvSpPr>
        <p:spPr>
          <a:xfrm xmlns:a="http://schemas.openxmlformats.org/drawingml/2006/main">
            <a:off x="933450" y="507682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07</a:t>
            </a:r>
          </a:p>
        </p:txBody>
      </p:sp>
      <p:sp>
        <p:nvSpPr>
          <p:cNvPr id="26" name="">
            <a:extLst xmlns:a="http://schemas.openxmlformats.org/drawingml/2006/main">
              <a:ext uri="{FF2B5EF4-FFF2-40B4-BE49-F238E27FC236}">
                <a16:creationId xmlns:a16="http://schemas.microsoft.com/office/drawing/2014/main" id="{8522E3B8-7C4D-4406-A46D-CAF60F47EC7D}"/>
              </a:ext>
            </a:extLst>
          </p:cNvPr>
          <p:cNvSpPr>
            <a:spLocks xmlns:a="http://schemas.openxmlformats.org/drawingml/2006/main" noGrp="1"/>
          </p:cNvSpPr>
          <p:nvPr/>
        </p:nvSpPr>
        <p:spPr>
          <a:xfrm xmlns:a="http://schemas.openxmlformats.org/drawingml/2006/main">
            <a:off x="1390650" y="507682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A. Kanti, second ZCDRRMO interview, 26 March 2026, as reported in the revised manuscript.</a:t>
            </a:r>
          </a:p>
        </p:txBody>
      </p:sp>
    </p:spTree>
    <p:extLst>
      <p:ext uri="{BB962C8B-B14F-4D97-AF65-F5344CB8AC3E}">
        <p14:creationId xmlns:p14="http://schemas.microsoft.com/office/powerpoint/2010/main" val="1651722082"/>
      </p:ext>
    </p:extLst>
  </p:cSld>
</p:sld>
</file>

<file path=ppt/slides/slide39.xml><?xml version="1.0" encoding="utf-8"?>
<p:sld xmlns:p="http://schemas.openxmlformats.org/presentationml/2006/main">
  <p:cSld>
    <p:bg>
      <p:bgPr>
        <a:solidFill xmlns:a="http://schemas.openxmlformats.org/drawingml/2006/main">
          <a:srgbClr val="2029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B2CA3A-26A9-46A7-B851-9944006DF41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7161EE-3EC9-4AA1-952C-2CF17B3BEB0D}"/>
              </a:ext>
            </a:extLst>
          </p:cNvPr>
          <p:cNvSpPr>
            <a:spLocks xmlns:a="http://schemas.openxmlformats.org/drawingml/2006/main" noGrp="1"/>
          </p:cNvSpPr>
          <p:nvPr/>
        </p:nvSpPr>
        <p:spPr>
          <a:xfrm xmlns:a="http://schemas.openxmlformats.org/drawingml/2006/main">
            <a:off x="819150" y="86677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9BC6C1"/>
                </a:solidFill>
                <a:latin typeface="Lexend"/>
                <a:ea typeface="Lexend"/>
                <a:cs typeface="Lexend"/>
              </a:defRPr>
            </a:pPr>
            <a:r>
              <a:rPr sz="1200" b="1">
                <a:solidFill>
                  <a:srgbClr val="9BC6C1"/>
                </a:solidFill>
                <a:latin typeface="Lexend"/>
                <a:ea typeface="Lexend"/>
                <a:cs typeface="Lexend"/>
              </a:rPr>
              <a:t>DISCUSSION</a:t>
            </a:r>
          </a:p>
        </p:txBody>
      </p:sp>
      <p:sp>
        <p:nvSpPr>
          <p:cNvPr id="3" name="">
            <a:extLst xmlns:a="http://schemas.openxmlformats.org/drawingml/2006/main">
              <a:ext uri="{FF2B5EF4-FFF2-40B4-BE49-F238E27FC236}">
                <a16:creationId xmlns:a16="http://schemas.microsoft.com/office/drawing/2014/main" id="{9F19992E-49FB-47C7-88F3-3F937EE859BB}"/>
              </a:ext>
            </a:extLst>
          </p:cNvPr>
          <p:cNvSpPr>
            <a:spLocks xmlns:a="http://schemas.openxmlformats.org/drawingml/2006/main" noGrp="1"/>
          </p:cNvSpPr>
          <p:nvPr/>
        </p:nvSpPr>
        <p:spPr>
          <a:xfrm xmlns:a="http://schemas.openxmlformats.org/drawingml/2006/main">
            <a:off x="819150" y="164782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4050" b="1">
                <a:solidFill>
                  <a:srgbClr val="FFFFFF"/>
                </a:solidFill>
                <a:latin typeface="Lexend"/>
                <a:ea typeface="Lexend"/>
                <a:cs typeface="Lexend"/>
              </a:defRPr>
            </a:pPr>
            <a:r>
              <a:rPr sz="4050" b="1">
                <a:solidFill>
                  <a:srgbClr val="FFFFFF"/>
                </a:solidFill>
                <a:latin typeface="Lexend"/>
                <a:ea typeface="Lexend"/>
                <a:cs typeface="Lexend"/>
              </a:rPr>
              <a:t>Questions</a:t>
            </a:r>
          </a:p>
        </p:txBody>
      </p:sp>
      <p:sp>
        <p:nvSpPr>
          <p:cNvPr id="4" name="">
            <a:extLst xmlns:a="http://schemas.openxmlformats.org/drawingml/2006/main">
              <a:ext uri="{FF2B5EF4-FFF2-40B4-BE49-F238E27FC236}">
                <a16:creationId xmlns:a16="http://schemas.microsoft.com/office/drawing/2014/main" id="{CBF630BF-F1E4-4913-A33A-13540081EE1A}"/>
              </a:ext>
            </a:extLst>
          </p:cNvPr>
          <p:cNvSpPr>
            <a:spLocks xmlns:a="http://schemas.openxmlformats.org/drawingml/2006/main" noGrp="1"/>
          </p:cNvSpPr>
          <p:nvPr/>
        </p:nvSpPr>
        <p:spPr>
          <a:xfrm xmlns:a="http://schemas.openxmlformats.org/drawingml/2006/main">
            <a:off x="819150" y="2686050"/>
            <a:ext cx="9572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0">
                <a:solidFill>
                  <a:srgbClr val="E0E7E5"/>
                </a:solidFill>
                <a:latin typeface="Source Sans 3"/>
                <a:ea typeface="Source Sans 3"/>
                <a:cs typeface="Source Sans 3"/>
              </a:defRPr>
            </a:pPr>
            <a:r>
              <a:rPr sz="1725" b="0">
                <a:solidFill>
                  <a:srgbClr val="E0E7E5"/>
                </a:solidFill>
                <a:latin typeface="Source Sans 3"/>
                <a:ea typeface="Source Sans 3"/>
                <a:cs typeface="Source Sans 3"/>
              </a:rPr>
              <a:t>Integrated Disaster Incident Record Management and Automated Situation Report Generation System</a:t>
            </a:r>
          </a:p>
        </p:txBody>
      </p:sp>
      <p:sp>
        <p:nvSpPr>
          <p:cNvPr id="5" name="">
            <a:extLst xmlns:a="http://schemas.openxmlformats.org/drawingml/2006/main">
              <a:ext uri="{FF2B5EF4-FFF2-40B4-BE49-F238E27FC236}">
                <a16:creationId xmlns:a16="http://schemas.microsoft.com/office/drawing/2014/main" id="{A7C18757-0A2D-41BE-AEEE-3DF2F815AA2A}"/>
              </a:ext>
            </a:extLst>
          </p:cNvPr>
          <p:cNvSpPr>
            <a:spLocks xmlns:a="http://schemas.openxmlformats.org/drawingml/2006/main" noGrp="1"/>
          </p:cNvSpPr>
          <p:nvPr/>
        </p:nvSpPr>
        <p:spPr>
          <a:xfrm xmlns:a="http://schemas.openxmlformats.org/drawingml/2006/main">
            <a:off x="819150" y="3990975"/>
            <a:ext cx="8801100" cy="0"/>
          </a:xfrm>
          <a:prstGeom xmlns:a="http://schemas.openxmlformats.org/drawingml/2006/main" prst="line">
            <a:avLst/>
          </a:prstGeom>
          <a:noFill xmlns:a="http://schemas.openxmlformats.org/drawingml/2006/main"/>
          <a:ln xmlns:a="http://schemas.openxmlformats.org/drawingml/2006/main" w="9525">
            <a:solidFill>
              <a:srgbClr val="586164"/>
            </a:solidFill>
          </a:ln>
        </p:spPr>
      </p:sp>
      <p:sp>
        <p:nvSpPr>
          <p:cNvPr id="6" name="">
            <a:extLst xmlns:a="http://schemas.openxmlformats.org/drawingml/2006/main">
              <a:ext uri="{FF2B5EF4-FFF2-40B4-BE49-F238E27FC236}">
                <a16:creationId xmlns:a16="http://schemas.microsoft.com/office/drawing/2014/main" id="{5156C3C5-65A9-4874-85C0-60222F14C761}"/>
              </a:ext>
            </a:extLst>
          </p:cNvPr>
          <p:cNvSpPr>
            <a:spLocks xmlns:a="http://schemas.openxmlformats.org/drawingml/2006/main" noGrp="1"/>
          </p:cNvSpPr>
          <p:nvPr/>
        </p:nvSpPr>
        <p:spPr>
          <a:xfrm xmlns:a="http://schemas.openxmlformats.org/drawingml/2006/main">
            <a:off x="819150" y="4305300"/>
            <a:ext cx="895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E0E7E5"/>
                </a:solidFill>
                <a:latin typeface="Source Sans 3"/>
                <a:ea typeface="Source Sans 3"/>
                <a:cs typeface="Source Sans 3"/>
              </a:defRPr>
            </a:pPr>
            <a:r>
              <a:rPr sz="1425" b="0">
                <a:solidFill>
                  <a:srgbClr val="E0E7E5"/>
                </a:solidFill>
                <a:latin typeface="Source Sans 3"/>
                <a:ea typeface="Source Sans 3"/>
                <a:cs typeface="Source Sans 3"/>
              </a:rPr>
              <a:t>Katrina Mae D.G. Perez and RJ P. Somosa</a:t>
            </a:r>
          </a:p>
        </p:txBody>
      </p:sp>
      <p:sp>
        <p:nvSpPr>
          <p:cNvPr id="7" name="">
            <a:extLst xmlns:a="http://schemas.openxmlformats.org/drawingml/2006/main">
              <a:ext uri="{FF2B5EF4-FFF2-40B4-BE49-F238E27FC236}">
                <a16:creationId xmlns:a16="http://schemas.microsoft.com/office/drawing/2014/main" id="{39CBCF20-D384-4AF7-8B6A-8F311CA725F0}"/>
              </a:ext>
            </a:extLst>
          </p:cNvPr>
          <p:cNvSpPr>
            <a:spLocks xmlns:a="http://schemas.openxmlformats.org/drawingml/2006/main" noGrp="1"/>
          </p:cNvSpPr>
          <p:nvPr/>
        </p:nvSpPr>
        <p:spPr>
          <a:xfrm xmlns:a="http://schemas.openxmlformats.org/drawingml/2006/main">
            <a:off x="819150" y="47148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0">
                <a:solidFill>
                  <a:srgbClr val="ABB7B8"/>
                </a:solidFill>
                <a:latin typeface="Source Sans 3"/>
                <a:ea typeface="Source Sans 3"/>
                <a:cs typeface="Source Sans 3"/>
              </a:defRPr>
            </a:pPr>
            <a:r>
              <a:rPr sz="1275" b="0">
                <a:solidFill>
                  <a:srgbClr val="ABB7B8"/>
                </a:solidFill>
                <a:latin typeface="Source Sans 3"/>
                <a:ea typeface="Source Sans 3"/>
                <a:cs typeface="Source Sans 3"/>
              </a:rPr>
              <a:t>Capstone project proposal, September 2026</a:t>
            </a:r>
          </a:p>
        </p:txBody>
      </p:sp>
    </p:spTree>
    <p:extLst>
      <p:ext uri="{BB962C8B-B14F-4D97-AF65-F5344CB8AC3E}">
        <p14:creationId xmlns:p14="http://schemas.microsoft.com/office/powerpoint/2010/main" val="455191900"/>
      </p:ext>
    </p:extLst>
  </p:cSld>
</p:sld>
</file>

<file path=ppt/slides/slide4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004E7E-987E-4029-A649-2EC900B23441}"/>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FFA512-F5AE-4F3F-B2CF-CD7C2F81987F}"/>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SOURCE DIAGRAM</a:t>
            </a:r>
          </a:p>
        </p:txBody>
      </p:sp>
      <p:sp>
        <p:nvSpPr>
          <p:cNvPr id="3" name="">
            <a:extLst xmlns:a="http://schemas.openxmlformats.org/drawingml/2006/main">
              <a:ext uri="{FF2B5EF4-FFF2-40B4-BE49-F238E27FC236}">
                <a16:creationId xmlns:a16="http://schemas.microsoft.com/office/drawing/2014/main" id="{CCF89784-9F9A-459C-935E-09336E510606}"/>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2: Proposed System Flowchart</a:t>
            </a:r>
          </a:p>
        </p:txBody>
      </p:sp>
      <p:sp>
        <p:nvSpPr>
          <p:cNvPr id="4" name="">
            <a:extLst xmlns:a="http://schemas.openxmlformats.org/drawingml/2006/main">
              <a:ext uri="{FF2B5EF4-FFF2-40B4-BE49-F238E27FC236}">
                <a16:creationId xmlns:a16="http://schemas.microsoft.com/office/drawing/2014/main" id="{91E07535-D8FA-427C-9A5E-FD705CAB119F}"/>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74CA0979-EFB5-44B1-8C8C-7AA75AD7C6CE}"/>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a:t>
            </a:r>
          </a:p>
        </p:txBody>
      </p:sp>
      <p:sp>
        <p:nvSpPr>
          <p:cNvPr id="6" name="">
            <a:extLst xmlns:a="http://schemas.openxmlformats.org/drawingml/2006/main">
              <a:ext uri="{FF2B5EF4-FFF2-40B4-BE49-F238E27FC236}">
                <a16:creationId xmlns:a16="http://schemas.microsoft.com/office/drawing/2014/main" id="{7088F7AD-D269-4719-A755-093CC7B28D09}"/>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40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2ac19a68ae44680"/>
          <a:stretch xmlns:a="http://schemas.openxmlformats.org/drawingml/2006/main"/>
        </p:blipFill>
        <p:spPr>
          <a:xfrm xmlns:a="http://schemas.openxmlformats.org/drawingml/2006/main">
            <a:off x="1991888" y="1266825"/>
            <a:ext cx="8208224" cy="4629150"/>
          </a:xfrm>
          <a:prstGeom xmlns:a="http://schemas.openxmlformats.org/drawingml/2006/main" prst="rect">
            <a:avLst/>
          </a:prstGeom>
        </p:spPr>
      </p:pic>
    </p:spTree>
    <p:extLst>
      <p:ext uri="{BB962C8B-B14F-4D97-AF65-F5344CB8AC3E}">
        <p14:creationId xmlns:p14="http://schemas.microsoft.com/office/powerpoint/2010/main" val="1709151288"/>
      </p:ext>
    </p:extLst>
  </p:cSld>
</p:sld>
</file>

<file path=ppt/slides/slide4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C704021-4A08-454A-BFEE-975D94CE8CD3}"/>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3260EE-0B4D-4225-88F0-0AE29CB2BD39}"/>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SOURCE DIAGRAM</a:t>
            </a:r>
          </a:p>
        </p:txBody>
      </p:sp>
      <p:sp>
        <p:nvSpPr>
          <p:cNvPr id="3" name="">
            <a:extLst xmlns:a="http://schemas.openxmlformats.org/drawingml/2006/main">
              <a:ext uri="{FF2B5EF4-FFF2-40B4-BE49-F238E27FC236}">
                <a16:creationId xmlns:a16="http://schemas.microsoft.com/office/drawing/2014/main" id="{65D5277F-6204-4071-8BF0-7E9F7DC150E6}"/>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27: Level 0 Data Flow Diagram</a:t>
            </a:r>
          </a:p>
        </p:txBody>
      </p:sp>
      <p:sp>
        <p:nvSpPr>
          <p:cNvPr id="4" name="">
            <a:extLst xmlns:a="http://schemas.openxmlformats.org/drawingml/2006/main">
              <a:ext uri="{FF2B5EF4-FFF2-40B4-BE49-F238E27FC236}">
                <a16:creationId xmlns:a16="http://schemas.microsoft.com/office/drawing/2014/main" id="{16DDC897-5A20-4ED3-8983-6CA7F52D88E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60E6AB39-EED7-4714-A970-D0931B045379}"/>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27</a:t>
            </a:r>
          </a:p>
        </p:txBody>
      </p:sp>
      <p:sp>
        <p:nvSpPr>
          <p:cNvPr id="6" name="">
            <a:extLst xmlns:a="http://schemas.openxmlformats.org/drawingml/2006/main">
              <a:ext uri="{FF2B5EF4-FFF2-40B4-BE49-F238E27FC236}">
                <a16:creationId xmlns:a16="http://schemas.microsoft.com/office/drawing/2014/main" id="{9DC1657F-34FA-4CA0-B5B4-ACF087DE2551}"/>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41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82513233d184e11"/>
          <a:stretch xmlns:a="http://schemas.openxmlformats.org/drawingml/2006/main"/>
        </p:blipFill>
        <p:spPr>
          <a:xfrm xmlns:a="http://schemas.openxmlformats.org/drawingml/2006/main">
            <a:off x="2582101" y="1266825"/>
            <a:ext cx="7027798" cy="4629150"/>
          </a:xfrm>
          <a:prstGeom xmlns:a="http://schemas.openxmlformats.org/drawingml/2006/main" prst="rect">
            <a:avLst/>
          </a:prstGeom>
        </p:spPr>
      </p:pic>
    </p:spTree>
    <p:extLst>
      <p:ext uri="{BB962C8B-B14F-4D97-AF65-F5344CB8AC3E}">
        <p14:creationId xmlns:p14="http://schemas.microsoft.com/office/powerpoint/2010/main" val="1031390342"/>
      </p:ext>
    </p:extLst>
  </p:cSld>
</p:sld>
</file>

<file path=ppt/slides/slide4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E10232-9CD7-489A-AF24-A19E69894E4E}"/>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381E44-96F3-4110-926E-A0FE8F2F7F0D}"/>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SOURCE DIAGRAM</a:t>
            </a:r>
          </a:p>
        </p:txBody>
      </p:sp>
      <p:sp>
        <p:nvSpPr>
          <p:cNvPr id="3" name="">
            <a:extLst xmlns:a="http://schemas.openxmlformats.org/drawingml/2006/main">
              <a:ext uri="{FF2B5EF4-FFF2-40B4-BE49-F238E27FC236}">
                <a16:creationId xmlns:a16="http://schemas.microsoft.com/office/drawing/2014/main" id="{BFAE9657-FB61-41A2-85EC-13C4F7B6E3A2}"/>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40: Entity Relationship Diagram</a:t>
            </a:r>
          </a:p>
        </p:txBody>
      </p:sp>
      <p:sp>
        <p:nvSpPr>
          <p:cNvPr id="4" name="">
            <a:extLst xmlns:a="http://schemas.openxmlformats.org/drawingml/2006/main">
              <a:ext uri="{FF2B5EF4-FFF2-40B4-BE49-F238E27FC236}">
                <a16:creationId xmlns:a16="http://schemas.microsoft.com/office/drawing/2014/main" id="{6A898E2B-D5D3-4664-9B73-546F3DF9757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83E35738-E7E1-4240-B99F-3E409EC6A9BD}"/>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40</a:t>
            </a:r>
          </a:p>
        </p:txBody>
      </p:sp>
      <p:sp>
        <p:nvSpPr>
          <p:cNvPr id="6" name="">
            <a:extLst xmlns:a="http://schemas.openxmlformats.org/drawingml/2006/main">
              <a:ext uri="{FF2B5EF4-FFF2-40B4-BE49-F238E27FC236}">
                <a16:creationId xmlns:a16="http://schemas.microsoft.com/office/drawing/2014/main" id="{BBAB9910-89A0-4551-A27F-E4AB637355AA}"/>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42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7b8288e45a14e5d"/>
          <a:stretch xmlns:a="http://schemas.openxmlformats.org/drawingml/2006/main"/>
        </p:blipFill>
        <p:spPr>
          <a:xfrm xmlns:a="http://schemas.openxmlformats.org/drawingml/2006/main">
            <a:off x="2216909" y="1266825"/>
            <a:ext cx="7758183" cy="4629150"/>
          </a:xfrm>
          <a:prstGeom xmlns:a="http://schemas.openxmlformats.org/drawingml/2006/main" prst="rect">
            <a:avLst/>
          </a:prstGeom>
        </p:spPr>
      </p:pic>
    </p:spTree>
    <p:extLst>
      <p:ext uri="{BB962C8B-B14F-4D97-AF65-F5344CB8AC3E}">
        <p14:creationId xmlns:p14="http://schemas.microsoft.com/office/powerpoint/2010/main" val="965598401"/>
      </p:ext>
    </p:extLst>
  </p:cSld>
</p:sld>
</file>

<file path=ppt/slides/slide4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093414-FA77-4EF1-95D3-5481B47C3F1B}"/>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8D8C7C-95E7-4677-BF7C-FA20965FFA77}"/>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SOURCE DIAGRAM</a:t>
            </a:r>
          </a:p>
        </p:txBody>
      </p:sp>
      <p:sp>
        <p:nvSpPr>
          <p:cNvPr id="3" name="">
            <a:extLst xmlns:a="http://schemas.openxmlformats.org/drawingml/2006/main">
              <a:ext uri="{FF2B5EF4-FFF2-40B4-BE49-F238E27FC236}">
                <a16:creationId xmlns:a16="http://schemas.microsoft.com/office/drawing/2014/main" id="{6AC834A2-22B9-48BF-892F-B066FDF49A1A}"/>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41: Relational Data Model</a:t>
            </a:r>
          </a:p>
        </p:txBody>
      </p:sp>
      <p:sp>
        <p:nvSpPr>
          <p:cNvPr id="4" name="">
            <a:extLst xmlns:a="http://schemas.openxmlformats.org/drawingml/2006/main">
              <a:ext uri="{FF2B5EF4-FFF2-40B4-BE49-F238E27FC236}">
                <a16:creationId xmlns:a16="http://schemas.microsoft.com/office/drawing/2014/main" id="{FACF9C8F-F77D-4F36-A6B8-2E433E204C1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168476B-ABC8-4868-8F9B-E82D840099BD}"/>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41</a:t>
            </a:r>
          </a:p>
        </p:txBody>
      </p:sp>
      <p:sp>
        <p:nvSpPr>
          <p:cNvPr id="6" name="">
            <a:extLst xmlns:a="http://schemas.openxmlformats.org/drawingml/2006/main">
              <a:ext uri="{FF2B5EF4-FFF2-40B4-BE49-F238E27FC236}">
                <a16:creationId xmlns:a16="http://schemas.microsoft.com/office/drawing/2014/main" id="{EDD17294-5FCD-43AE-883C-A699A7662A42}"/>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43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7fc6c580e0043db"/>
          <a:stretch xmlns:a="http://schemas.openxmlformats.org/drawingml/2006/main"/>
        </p:blipFill>
        <p:spPr>
          <a:xfrm xmlns:a="http://schemas.openxmlformats.org/drawingml/2006/main">
            <a:off x="3398078" y="1266825"/>
            <a:ext cx="5395845" cy="4629150"/>
          </a:xfrm>
          <a:prstGeom xmlns:a="http://schemas.openxmlformats.org/drawingml/2006/main" prst="rect">
            <a:avLst/>
          </a:prstGeom>
        </p:spPr>
      </p:pic>
    </p:spTree>
    <p:extLst>
      <p:ext uri="{BB962C8B-B14F-4D97-AF65-F5344CB8AC3E}">
        <p14:creationId xmlns:p14="http://schemas.microsoft.com/office/powerpoint/2010/main" val="6185900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2026-09-25T18:02:58.6360000Z</dcterms:created>
  <dcterms:modified xsi:type="dcterms:W3CDTF">2026-09-25T18:02:58.6360000Z</dcterms:modified>
</coreProperties>
</file>