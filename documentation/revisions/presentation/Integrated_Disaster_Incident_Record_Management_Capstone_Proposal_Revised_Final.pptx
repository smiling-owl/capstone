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4ebdd4421aa492d" /><Relationship Type="http://schemas.openxmlformats.org/officeDocument/2006/relationships/extended-properties" Target="/docProps/app.xml" Id="Ra440d652550b4a35" /><Relationship Type="http://schemas.openxmlformats.org/officeDocument/2006/relationships/officeDocument" Target="/ppt/presentation.xml" Id="R62668a42f7e549bb" /></Relationships>
</file>

<file path=ppt/presentation.xml><?xml version="1.0" encoding="utf-8"?>
<p:presentation xmlns:p="http://schemas.openxmlformats.org/presentationml/2006/main">
  <p:sldMasterIdLst>
    <p:sldMasterId xmlns:r="http://schemas.openxmlformats.org/officeDocument/2006/relationships" id="2147483648" r:id="R1e3a21116c9c454e"/>
  </p:sldMasterIdLst>
  <p:notesMasterIdLst>
    <p:notesMasterId xmlns:r="http://schemas.openxmlformats.org/officeDocument/2006/relationships" r:id="R04a627b740854d5d"/>
  </p:notesMasterIdLst>
  <p:sldIdLst>
    <p:sldId xmlns:r="http://schemas.openxmlformats.org/officeDocument/2006/relationships" id="256" r:id="R7981207c854749b7"/>
    <p:sldId xmlns:r="http://schemas.openxmlformats.org/officeDocument/2006/relationships" id="257" r:id="R2c73556ace68416a"/>
    <p:sldId xmlns:r="http://schemas.openxmlformats.org/officeDocument/2006/relationships" id="258" r:id="Re240f9aa62604bda"/>
    <p:sldId xmlns:r="http://schemas.openxmlformats.org/officeDocument/2006/relationships" id="259" r:id="R8541d91d0ad84575"/>
    <p:sldId xmlns:r="http://schemas.openxmlformats.org/officeDocument/2006/relationships" id="260" r:id="R22b564229fc84b22"/>
    <p:sldId xmlns:r="http://schemas.openxmlformats.org/officeDocument/2006/relationships" id="261" r:id="R4f14f4e5c4fd485b"/>
    <p:sldId xmlns:r="http://schemas.openxmlformats.org/officeDocument/2006/relationships" id="262" r:id="R9a17f8072969448a"/>
    <p:sldId xmlns:r="http://schemas.openxmlformats.org/officeDocument/2006/relationships" id="263" r:id="R3d84c19999f34b08"/>
    <p:sldId xmlns:r="http://schemas.openxmlformats.org/officeDocument/2006/relationships" id="264" r:id="R6933fb8cbfdd4584"/>
    <p:sldId xmlns:r="http://schemas.openxmlformats.org/officeDocument/2006/relationships" id="265" r:id="Ra5abf6522bc144ed"/>
    <p:sldId xmlns:r="http://schemas.openxmlformats.org/officeDocument/2006/relationships" id="266" r:id="Rd07828837f614be2"/>
    <p:sldId xmlns:r="http://schemas.openxmlformats.org/officeDocument/2006/relationships" id="267" r:id="Rc1b28ccf55434e5e"/>
    <p:sldId xmlns:r="http://schemas.openxmlformats.org/officeDocument/2006/relationships" id="268" r:id="Ref1dbe24af2942d0"/>
    <p:sldId xmlns:r="http://schemas.openxmlformats.org/officeDocument/2006/relationships" id="269" r:id="Rd786eac8da00479c"/>
    <p:sldId xmlns:r="http://schemas.openxmlformats.org/officeDocument/2006/relationships" id="270" r:id="Rd66485fbd73b49b2"/>
    <p:sldId xmlns:r="http://schemas.openxmlformats.org/officeDocument/2006/relationships" id="271" r:id="R9d7538184ae44beb"/>
    <p:sldId xmlns:r="http://schemas.openxmlformats.org/officeDocument/2006/relationships" id="272" r:id="Ra7f78715bbc5418f"/>
    <p:sldId xmlns:r="http://schemas.openxmlformats.org/officeDocument/2006/relationships" id="273" r:id="R0767acdac272467a"/>
    <p:sldId xmlns:r="http://schemas.openxmlformats.org/officeDocument/2006/relationships" id="274" r:id="R99fc3857a30e4e6a"/>
    <p:sldId xmlns:r="http://schemas.openxmlformats.org/officeDocument/2006/relationships" id="275" r:id="R667187d1c5b646dc"/>
    <p:sldId xmlns:r="http://schemas.openxmlformats.org/officeDocument/2006/relationships" id="276" r:id="R03a572b73ebd451d"/>
    <p:sldId xmlns:r="http://schemas.openxmlformats.org/officeDocument/2006/relationships" id="277" r:id="R0764e3c22523437f"/>
    <p:sldId xmlns:r="http://schemas.openxmlformats.org/officeDocument/2006/relationships" id="278" r:id="Rf760ac17507a475f"/>
    <p:sldId xmlns:r="http://schemas.openxmlformats.org/officeDocument/2006/relationships" id="279" r:id="Rbdc85af60ff74cbf"/>
    <p:sldId xmlns:r="http://schemas.openxmlformats.org/officeDocument/2006/relationships" id="280" r:id="R42b129847e934a93"/>
    <p:sldId xmlns:r="http://schemas.openxmlformats.org/officeDocument/2006/relationships" id="281" r:id="R092c913784cf454b"/>
    <p:sldId xmlns:r="http://schemas.openxmlformats.org/officeDocument/2006/relationships" id="282" r:id="Ra22ae1431dad4a87"/>
    <p:sldId xmlns:r="http://schemas.openxmlformats.org/officeDocument/2006/relationships" id="283" r:id="R0614ca89be814422"/>
    <p:sldId xmlns:r="http://schemas.openxmlformats.org/officeDocument/2006/relationships" id="284" r:id="R3739cde7a4354b3b"/>
    <p:sldId xmlns:r="http://schemas.openxmlformats.org/officeDocument/2006/relationships" id="285" r:id="R149bf98748c041f8"/>
    <p:sldId xmlns:r="http://schemas.openxmlformats.org/officeDocument/2006/relationships" id="286" r:id="Rac99c29298e5450e"/>
    <p:sldId xmlns:r="http://schemas.openxmlformats.org/officeDocument/2006/relationships" id="287" r:id="R91a88622df6340cd"/>
    <p:sldId xmlns:r="http://schemas.openxmlformats.org/officeDocument/2006/relationships" id="288" r:id="Rd01830b58dd84087"/>
    <p:sldId xmlns:r="http://schemas.openxmlformats.org/officeDocument/2006/relationships" id="289" r:id="R46f4f1b863a345e6"/>
    <p:sldId xmlns:r="http://schemas.openxmlformats.org/officeDocument/2006/relationships" id="290" r:id="R950b3b5d93584e1d"/>
    <p:sldId xmlns:r="http://schemas.openxmlformats.org/officeDocument/2006/relationships" id="291" r:id="R6fcb33d7ab1e403b"/>
    <p:sldId xmlns:r="http://schemas.openxmlformats.org/officeDocument/2006/relationships" id="292" r:id="R0d173d3950df4522"/>
    <p:sldId xmlns:r="http://schemas.openxmlformats.org/officeDocument/2006/relationships" id="293" r:id="R1e168341c4b74672"/>
    <p:sldId xmlns:r="http://schemas.openxmlformats.org/officeDocument/2006/relationships" id="294" r:id="R5b16363db8c047e8"/>
    <p:sldId xmlns:r="http://schemas.openxmlformats.org/officeDocument/2006/relationships" id="295" r:id="R0e6e8c42049b455a"/>
    <p:sldId xmlns:r="http://schemas.openxmlformats.org/officeDocument/2006/relationships" id="296" r:id="R82393111a255412f"/>
    <p:sldId xmlns:r="http://schemas.openxmlformats.org/officeDocument/2006/relationships" id="297" r:id="R3feef8b2115a49f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23cc82d46304317" /><Relationship Type="http://schemas.openxmlformats.org/officeDocument/2006/relationships/slideMaster" Target="/ppt/slideMasters/slideMaster1.xml" Id="R1e3a21116c9c454e" /><Relationship Type="http://schemas.openxmlformats.org/officeDocument/2006/relationships/notesMaster" Target="/ppt/notesMasters/notesMaster1.xml" Id="R04a627b740854d5d" /><Relationship Type="http://schemas.openxmlformats.org/officeDocument/2006/relationships/presProps" Target="/ppt/presProps.xml" Id="R224c5a03295f4191" /><Relationship Type="http://schemas.openxmlformats.org/officeDocument/2006/relationships/tableStyles" Target="/ppt/tableStyles.xml" Id="R40897fa745c84ff6" /><Relationship Type="http://schemas.openxmlformats.org/officeDocument/2006/relationships/slide" Target="/ppt/slides/slide1.xml" Id="R7981207c854749b7" /><Relationship Type="http://schemas.openxmlformats.org/officeDocument/2006/relationships/slide" Target="/ppt/slides/slide2.xml" Id="R2c73556ace68416a" /><Relationship Type="http://schemas.openxmlformats.org/officeDocument/2006/relationships/slide" Target="/ppt/slides/slide3.xml" Id="Re240f9aa62604bda" /><Relationship Type="http://schemas.openxmlformats.org/officeDocument/2006/relationships/slide" Target="/ppt/slides/slide4.xml" Id="R8541d91d0ad84575" /><Relationship Type="http://schemas.openxmlformats.org/officeDocument/2006/relationships/slide" Target="/ppt/slides/slide5.xml" Id="R22b564229fc84b22" /><Relationship Type="http://schemas.openxmlformats.org/officeDocument/2006/relationships/slide" Target="/ppt/slides/slide6.xml" Id="R4f14f4e5c4fd485b" /><Relationship Type="http://schemas.openxmlformats.org/officeDocument/2006/relationships/slide" Target="/ppt/slides/slide7.xml" Id="R9a17f8072969448a" /><Relationship Type="http://schemas.openxmlformats.org/officeDocument/2006/relationships/slide" Target="/ppt/slides/slide8.xml" Id="R3d84c19999f34b08" /><Relationship Type="http://schemas.openxmlformats.org/officeDocument/2006/relationships/slide" Target="/ppt/slides/slide9.xml" Id="R6933fb8cbfdd4584" /><Relationship Type="http://schemas.openxmlformats.org/officeDocument/2006/relationships/slide" Target="/ppt/slides/slide10.xml" Id="Ra5abf6522bc144ed" /><Relationship Type="http://schemas.openxmlformats.org/officeDocument/2006/relationships/slide" Target="/ppt/slides/slide11.xml" Id="Rd07828837f614be2" /><Relationship Type="http://schemas.openxmlformats.org/officeDocument/2006/relationships/slide" Target="/ppt/slides/slide12.xml" Id="Rc1b28ccf55434e5e" /><Relationship Type="http://schemas.openxmlformats.org/officeDocument/2006/relationships/slide" Target="/ppt/slides/slide13.xml" Id="Ref1dbe24af2942d0" /><Relationship Type="http://schemas.openxmlformats.org/officeDocument/2006/relationships/slide" Target="/ppt/slides/slide14.xml" Id="Rd786eac8da00479c" /><Relationship Type="http://schemas.openxmlformats.org/officeDocument/2006/relationships/slide" Target="/ppt/slides/slide15.xml" Id="Rd66485fbd73b49b2" /><Relationship Type="http://schemas.openxmlformats.org/officeDocument/2006/relationships/slide" Target="/ppt/slides/slide16.xml" Id="R9d7538184ae44beb" /><Relationship Type="http://schemas.openxmlformats.org/officeDocument/2006/relationships/slide" Target="/ppt/slides/slide17.xml" Id="Ra7f78715bbc5418f" /><Relationship Type="http://schemas.openxmlformats.org/officeDocument/2006/relationships/slide" Target="/ppt/slides/slide18.xml" Id="R0767acdac272467a" /><Relationship Type="http://schemas.openxmlformats.org/officeDocument/2006/relationships/slide" Target="/ppt/slides/slide19.xml" Id="R99fc3857a30e4e6a" /><Relationship Type="http://schemas.openxmlformats.org/officeDocument/2006/relationships/slide" Target="/ppt/slides/slide20.xml" Id="R667187d1c5b646dc" /><Relationship Type="http://schemas.openxmlformats.org/officeDocument/2006/relationships/slide" Target="/ppt/slides/slide21.xml" Id="R03a572b73ebd451d" /><Relationship Type="http://schemas.openxmlformats.org/officeDocument/2006/relationships/slide" Target="/ppt/slides/slide22.xml" Id="R0764e3c22523437f" /><Relationship Type="http://schemas.openxmlformats.org/officeDocument/2006/relationships/slide" Target="/ppt/slides/slide23.xml" Id="Rf760ac17507a475f" /><Relationship Type="http://schemas.openxmlformats.org/officeDocument/2006/relationships/slide" Target="/ppt/slides/slide24.xml" Id="Rbdc85af60ff74cbf" /><Relationship Type="http://schemas.openxmlformats.org/officeDocument/2006/relationships/slide" Target="/ppt/slides/slide25.xml" Id="R42b129847e934a93" /><Relationship Type="http://schemas.openxmlformats.org/officeDocument/2006/relationships/slide" Target="/ppt/slides/slide26.xml" Id="R092c913784cf454b" /><Relationship Type="http://schemas.openxmlformats.org/officeDocument/2006/relationships/slide" Target="/ppt/slides/slide27.xml" Id="Ra22ae1431dad4a87" /><Relationship Type="http://schemas.openxmlformats.org/officeDocument/2006/relationships/slide" Target="/ppt/slides/slide28.xml" Id="R0614ca89be814422" /><Relationship Type="http://schemas.openxmlformats.org/officeDocument/2006/relationships/slide" Target="/ppt/slides/slide29.xml" Id="R3739cde7a4354b3b" /><Relationship Type="http://schemas.openxmlformats.org/officeDocument/2006/relationships/slide" Target="/ppt/slides/slide30.xml" Id="R149bf98748c041f8" /><Relationship Type="http://schemas.openxmlformats.org/officeDocument/2006/relationships/slide" Target="/ppt/slides/slide31.xml" Id="Rac99c29298e5450e" /><Relationship Type="http://schemas.openxmlformats.org/officeDocument/2006/relationships/slide" Target="/ppt/slides/slide32.xml" Id="R91a88622df6340cd" /><Relationship Type="http://schemas.openxmlformats.org/officeDocument/2006/relationships/slide" Target="/ppt/slides/slide33.xml" Id="Rd01830b58dd84087" /><Relationship Type="http://schemas.openxmlformats.org/officeDocument/2006/relationships/slide" Target="/ppt/slides/slide34.xml" Id="R46f4f1b863a345e6" /><Relationship Type="http://schemas.openxmlformats.org/officeDocument/2006/relationships/slide" Target="/ppt/slides/slide35.xml" Id="R950b3b5d93584e1d" /><Relationship Type="http://schemas.openxmlformats.org/officeDocument/2006/relationships/slide" Target="/ppt/slides/slide36.xml" Id="R6fcb33d7ab1e403b" /><Relationship Type="http://schemas.openxmlformats.org/officeDocument/2006/relationships/slide" Target="/ppt/slides/slide37.xml" Id="R0d173d3950df4522" /><Relationship Type="http://schemas.openxmlformats.org/officeDocument/2006/relationships/slide" Target="/ppt/slides/slide38.xml" Id="R1e168341c4b74672" /><Relationship Type="http://schemas.openxmlformats.org/officeDocument/2006/relationships/slide" Target="/ppt/slides/slide39.xml" Id="R5b16363db8c047e8" /><Relationship Type="http://schemas.openxmlformats.org/officeDocument/2006/relationships/slide" Target="/ppt/slides/slide40.xml" Id="R0e6e8c42049b455a" /><Relationship Type="http://schemas.openxmlformats.org/officeDocument/2006/relationships/slide" Target="/ppt/slides/slide41.xml" Id="R82393111a255412f" /><Relationship Type="http://schemas.openxmlformats.org/officeDocument/2006/relationships/slide" Target="/ppt/slides/slide42.xml" Id="R3feef8b2115a49f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16a767baaac478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ceaab3291a14582" /><Relationship Type="http://schemas.openxmlformats.org/officeDocument/2006/relationships/notesMaster" Target="/ppt/notesMasters/notesMaster1.xml" Id="R3b04805d7f2b4911" /></Relationships>
</file>

<file path=ppt/notesSlides/_rels/notesSlide2.xml.rels>&#65279;<?xml version="1.0" encoding="utf-8"?><Relationships xmlns="http://schemas.openxmlformats.org/package/2006/relationships"><Relationship Type="http://schemas.openxmlformats.org/officeDocument/2006/relationships/slide" Target="/ppt/slides/slide2.xml" Id="Rffd8b29463ff4d0d" /><Relationship Type="http://schemas.openxmlformats.org/officeDocument/2006/relationships/notesMaster" Target="/ppt/notesMasters/notesMaster1.xml" Id="R593e81f5e6ec44b4" /></Relationships>
</file>

<file path=ppt/notesSlides/_rels/notesSlide3.xml.rels>&#65279;<?xml version="1.0" encoding="utf-8"?><Relationships xmlns="http://schemas.openxmlformats.org/package/2006/relationships"><Relationship Type="http://schemas.openxmlformats.org/officeDocument/2006/relationships/slide" Target="/ppt/slides/slide3.xml" Id="R575750daebd341d3" /><Relationship Type="http://schemas.openxmlformats.org/officeDocument/2006/relationships/notesMaster" Target="/ppt/notesMasters/notesMaster1.xml" Id="Rfe3ae9f83cbd40d1" /></Relationships>
</file>

<file path=ppt/notesSlides/_rels/notesSlide4.xml.rels>&#65279;<?xml version="1.0" encoding="utf-8"?><Relationships xmlns="http://schemas.openxmlformats.org/package/2006/relationships"><Relationship Type="http://schemas.openxmlformats.org/officeDocument/2006/relationships/slide" Target="/ppt/slides/slide4.xml" Id="R10c1b16012e14102" /><Relationship Type="http://schemas.openxmlformats.org/officeDocument/2006/relationships/notesMaster" Target="/ppt/notesMasters/notesMaster1.xml" Id="R905d242f6c25464b" /></Relationships>
</file>

<file path=ppt/notesSlides/_rels/notesSlide5.xml.rels>&#65279;<?xml version="1.0" encoding="utf-8"?><Relationships xmlns="http://schemas.openxmlformats.org/package/2006/relationships"><Relationship Type="http://schemas.openxmlformats.org/officeDocument/2006/relationships/slide" Target="/ppt/slides/slide5.xml" Id="R5a163559e4214789" /><Relationship Type="http://schemas.openxmlformats.org/officeDocument/2006/relationships/notesMaster" Target="/ppt/notesMasters/notesMaster1.xml" Id="Rebc327ec19be4a2e" /></Relationships>
</file>

<file path=ppt/notesSlides/_rels/notesSlide6.xml.rels>&#65279;<?xml version="1.0" encoding="utf-8"?><Relationships xmlns="http://schemas.openxmlformats.org/package/2006/relationships"><Relationship Type="http://schemas.openxmlformats.org/officeDocument/2006/relationships/slide" Target="/ppt/slides/slide6.xml" Id="Rf6f4d35e21fd4429" /><Relationship Type="http://schemas.openxmlformats.org/officeDocument/2006/relationships/notesMaster" Target="/ppt/notesMasters/notesMaster1.xml" Id="Rb9f638da3d764692" /></Relationships>
</file>

<file path=ppt/notesSlides/_rels/notesSlide7.xml.rels>&#65279;<?xml version="1.0" encoding="utf-8"?><Relationships xmlns="http://schemas.openxmlformats.org/package/2006/relationships"><Relationship Type="http://schemas.openxmlformats.org/officeDocument/2006/relationships/slide" Target="/ppt/slides/slide7.xml" Id="R868088e9d88b43e7" /><Relationship Type="http://schemas.openxmlformats.org/officeDocument/2006/relationships/notesMaster" Target="/ppt/notesMasters/notesMaster1.xml" Id="R6065b541ab394bf0" /></Relationships>
</file>

<file path=ppt/notesSlides/_rels/notesSlide8.xml.rels>&#65279;<?xml version="1.0" encoding="utf-8"?><Relationships xmlns="http://schemas.openxmlformats.org/package/2006/relationships"><Relationship Type="http://schemas.openxmlformats.org/officeDocument/2006/relationships/slide" Target="/ppt/slides/slide8.xml" Id="Rf698526e6f3e4058" /><Relationship Type="http://schemas.openxmlformats.org/officeDocument/2006/relationships/notesMaster" Target="/ppt/notesMasters/notesMaster1.xml" Id="Rdfd026f76c574570" /></Relationships>
</file>

<file path=ppt/notesSlides/_rels/notesSlide9.xml.rels>&#65279;<?xml version="1.0" encoding="utf-8"?><Relationships xmlns="http://schemas.openxmlformats.org/package/2006/relationships"><Relationship Type="http://schemas.openxmlformats.org/officeDocument/2006/relationships/slide" Target="/ppt/slides/slide9.xml" Id="R1d37092ca7a9422f" /><Relationship Type="http://schemas.openxmlformats.org/officeDocument/2006/relationships/notesMaster" Target="/ppt/notesMasters/notesMaster1.xml" Id="R078c3c39087c4ba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a6a952447b84d10" /><Relationship Type="http://schemas.openxmlformats.org/officeDocument/2006/relationships/notesMaster" Target="/ppt/notesMasters/notesMaster1.xml" Id="R6b44107b624b4e5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f790f0fdd804fe0" /><Relationship Type="http://schemas.openxmlformats.org/officeDocument/2006/relationships/notesMaster" Target="/ppt/notesMasters/notesMaster1.xml" Id="R449666fb0e1f402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e6092802d474439" /><Relationship Type="http://schemas.openxmlformats.org/officeDocument/2006/relationships/notesMaster" Target="/ppt/notesMasters/notesMaster1.xml" Id="R318cef7f4a21449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3c6dcc8568945cc" /><Relationship Type="http://schemas.openxmlformats.org/officeDocument/2006/relationships/notesMaster" Target="/ppt/notesMasters/notesMaster1.xml" Id="Rf268dd7be510433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ed5b53c63e84d82" /><Relationship Type="http://schemas.openxmlformats.org/officeDocument/2006/relationships/notesMaster" Target="/ppt/notesMasters/notesMaster1.xml" Id="R1c0204cc1c9a4a9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3b18ab76f2d4402" /><Relationship Type="http://schemas.openxmlformats.org/officeDocument/2006/relationships/notesMaster" Target="/ppt/notesMasters/notesMaster1.xml" Id="R7d86ead819714af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a4c42592840464c" /><Relationship Type="http://schemas.openxmlformats.org/officeDocument/2006/relationships/notesMaster" Target="/ppt/notesMasters/notesMaster1.xml" Id="Rf74659e144894a1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3fe127a04794d29" /><Relationship Type="http://schemas.openxmlformats.org/officeDocument/2006/relationships/notesMaster" Target="/ppt/notesMasters/notesMaster1.xml" Id="Rbe29464efaca40a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1c49b3acb8f4075" /><Relationship Type="http://schemas.openxmlformats.org/officeDocument/2006/relationships/notesMaster" Target="/ppt/notesMasters/notesMaster1.xml" Id="R12c516fedfa44c0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edc0b561d2e4d6e" /><Relationship Type="http://schemas.openxmlformats.org/officeDocument/2006/relationships/notesMaster" Target="/ppt/notesMasters/notesMaster1.xml" Id="Rd26801a1cfa04c2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7d7a916dbd44a60" /><Relationship Type="http://schemas.openxmlformats.org/officeDocument/2006/relationships/notesMaster" Target="/ppt/notesMasters/notesMaster1.xml" Id="R8aad837744e248e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8850a77fdd742b9" /><Relationship Type="http://schemas.openxmlformats.org/officeDocument/2006/relationships/notesMaster" Target="/ppt/notesMasters/notesMaster1.xml" Id="R5c2fddc25aa5453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d7de15c39ef4510" /><Relationship Type="http://schemas.openxmlformats.org/officeDocument/2006/relationships/notesMaster" Target="/ppt/notesMasters/notesMaster1.xml" Id="R1d9b4c6c6cec43d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8013734bbfb4dc3" /><Relationship Type="http://schemas.openxmlformats.org/officeDocument/2006/relationships/notesMaster" Target="/ppt/notesMasters/notesMaster1.xml" Id="R6f6ccf3bb6114b5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d4ea16c735f48fe" /><Relationship Type="http://schemas.openxmlformats.org/officeDocument/2006/relationships/notesMaster" Target="/ppt/notesMasters/notesMaster1.xml" Id="R7eeaa619cc124068"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336add8159544384" /><Relationship Type="http://schemas.openxmlformats.org/officeDocument/2006/relationships/notesMaster" Target="/ppt/notesMasters/notesMaster1.xml" Id="R2fc850e951e24c4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ced46507d7b842bd" /><Relationship Type="http://schemas.openxmlformats.org/officeDocument/2006/relationships/notesMaster" Target="/ppt/notesMasters/notesMaster1.xml" Id="R0893ea0675bf4618"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152e2b647099470f" /><Relationship Type="http://schemas.openxmlformats.org/officeDocument/2006/relationships/notesMaster" Target="/ppt/notesMasters/notesMaster1.xml" Id="R96d0bfaccff4477f"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bae1991a2f3144af" /><Relationship Type="http://schemas.openxmlformats.org/officeDocument/2006/relationships/notesMaster" Target="/ppt/notesMasters/notesMaster1.xml" Id="R0b2618a77b224901"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a3f2a4cbc47f4e52" /><Relationship Type="http://schemas.openxmlformats.org/officeDocument/2006/relationships/notesMaster" Target="/ppt/notesMasters/notesMaster1.xml" Id="Rf91d02fb2f344e62"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e0ebdb7917cd4d97" /><Relationship Type="http://schemas.openxmlformats.org/officeDocument/2006/relationships/notesMaster" Target="/ppt/notesMasters/notesMaster1.xml" Id="Rd177ac038dd34300"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bd2ef1c7806e4620" /><Relationship Type="http://schemas.openxmlformats.org/officeDocument/2006/relationships/notesMaster" Target="/ppt/notesMasters/notesMaster1.xml" Id="Rc591c9987a3f47d0"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bb4c43f7a9e94cc9" /><Relationship Type="http://schemas.openxmlformats.org/officeDocument/2006/relationships/notesMaster" Target="/ppt/notesMasters/notesMaster1.xml" Id="Rcfea22f657ab4e22"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1205055da0c645ed" /><Relationship Type="http://schemas.openxmlformats.org/officeDocument/2006/relationships/notesMaster" Target="/ppt/notesMasters/notesMaster1.xml" Id="R2dd5f137a90248db"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1533395ad27d4751" /><Relationship Type="http://schemas.openxmlformats.org/officeDocument/2006/relationships/notesMaster" Target="/ppt/notesMasters/notesMaster1.xml" Id="R3cbfad2874224dd3"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000e8e4526074322" /><Relationship Type="http://schemas.openxmlformats.org/officeDocument/2006/relationships/notesMaster" Target="/ppt/notesMasters/notesMaster1.xml" Id="R3dee520b62384f41"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2da13dd38656469a" /><Relationship Type="http://schemas.openxmlformats.org/officeDocument/2006/relationships/notesMaster" Target="/ppt/notesMasters/notesMaster1.xml" Id="R78e7826b25b6419b"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db61d910c5844ee0" /><Relationship Type="http://schemas.openxmlformats.org/officeDocument/2006/relationships/notesMaster" Target="/ppt/notesMasters/notesMaster1.xml" Id="R3f7423142ae14f1d"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89a045899dac4238" /><Relationship Type="http://schemas.openxmlformats.org/officeDocument/2006/relationships/notesMaster" Target="/ppt/notesMasters/notesMaster1.xml" Id="Rab7aa63113a84810"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58908d3701644dd1" /><Relationship Type="http://schemas.openxmlformats.org/officeDocument/2006/relationships/notesMaster" Target="/ppt/notesMasters/notesMaster1.xml" Id="Rcff982ae49004057"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f513d1c1dab34af9" /><Relationship Type="http://schemas.openxmlformats.org/officeDocument/2006/relationships/notesMaster" Target="/ppt/notesMasters/notesMaster1.xml" Id="R9099ead4f8154a3f"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a32113febe1e4bd9" /><Relationship Type="http://schemas.openxmlformats.org/officeDocument/2006/relationships/notesMaster" Target="/ppt/notesMasters/notesMaster1.xml" Id="R65426e7fb6a34e4b"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e4fe90b6961f4837" /><Relationship Type="http://schemas.openxmlformats.org/officeDocument/2006/relationships/notesMaster" Target="/ppt/notesMasters/notesMaster1.xml" Id="R7da3f53f4361410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Cover details follow the title page of Perez and Somosa's revised capstone proposal. The work is presented as a proposal. Describe all system capabilities, testing and benefits in future or intended terms unless later implementation evidence is available.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route begins with the legal and operational context, then moves through the problem, system design, module behavior, data models, user flows, development plan, and expected significance.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 10121 Section 12 establishes Local Disaster Risk Reduction and Management Offices and Barangay Disaster Risk Reduction and Management Committees. Within their jurisdictions, the paper identifies duties to consolidate local DRRM information, maintain maps and databases, monitor hazards and vulnerabilities, disseminate information, coordinate DRRM activities, and operate local centers. The law establishes responsibilities. It does not prescribe this particular web platform or transfer statutory authority to a technical operator.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manuscript describes Initial, Progress, Terminal and Final reporting under the 2024 NDRRM Operations Center Standard Operating Procedures and Guidelines. Initial information may be incomplete. Progress reports update the situation and actions. Terminal and Final reports close response and preserve final impacts and outcomes. The paper identifies prevailing situation, preparedness measures, response actions, consolidated effects, issues and concerns, and recommendations as core SitRep content. Document control, source references, approval and annexes support traceability and should follow the applicable official template. Do not claim that RA 10121 mandates this exact eight-part software form.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manuscript's current-process diagram shows Purok personnel gathering event location, time and hazard details, then communicating initial information to the Barangay through existing channels. Barangay personnel check the incident area and prepare an initial account. The ZCDRRMO Operations Department may request a response or further clarification, and staff may collect information in the field. Personnel then manually consolidate messages, documents, drives and spreadsheets before preparing and submitting the City SitRep. The slide summarizes the stated process and does not imply that every incident follows an identical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implications synthesize the interview account and workflow described in the paper. The paper does not quantify delay or error rates. Keep the discussion qualitative unless the research team has additional measurements.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alternatives are not dismissed. Calls, radio, telephone and paper remain necessary contingency channels during outages. Their limitation is that they do not by themselves provide the proposed shared status, version, source and review history. Shared documents and spreadsheets are flexible but do not automatically establish a controlled reporting hierarchy or a verified SitRep source set. A standalone reporting form improves capture but may not support profile aggregation, tiered human verification, historical catalogs and template-based SitRep preparation as one workflow. The proposed platform also has limitations, notably its dependence on internet access and a centralized database.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source paper identifies four related but distinct issues. Communication delays occur through indirect reporting and follow-up. Manual record management requires consolidation and re-summarization. Limited data sharing makes it harder for operational knowledge to reach report preparers. Inefficient verification leads to clarification calls and possible field checks. These findings come from the qualitative account reported in the manuscript, not from a measured system-wide time study.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 10121 Section 12 establishes local information, monitoring, dissemination and coordination functions. The NDRRMOC SOPG describes progressive reports and validation before official dissemination. The current workflow relies on separate channels and manual consolidation, according to the interview account. The design response is a role-governed record with source attribution, visible status, human verification and version history. The proposal supports these duties. It does not make the software a legal mandate and does not let automated checks decide whether reported facts are true.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proposed system is a centralized, responsive web platform configured for participating DRRM organizations. It uses separate Purok, Barangay and DRRM Administrator roles. It supports community profile capture, incident reporting, verification at each level, report history and SitRep preparation. Purok records are aggregate community counts rather than named household case files. The adopting public organization retains authority over jurisdictions, users, verification, approvals, disclosure and official submissions.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general objective in the paper is to design, develop and evaluate a centralized, role-based online system that streamlines grassroots disaster reporting and automates NDRRMC SitRep consolidation for LGUs. Specific objectives cover the 17 named modules. Their criteria include required-field storage, correct account routing, version retrieval, verification decisions, role-based access and report completeness. The numerical targets in the objectives are proposed test criteria. They are not achieved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readable overview summarizes the manuscript's Figure 2. Users sign in with issued credentials. Higher-level authorized personnel create accounts, so the flow does not include public self-registration. Purok users submit profiles and initial reports. Barangay personnel verify Purok submissions and consolidate accepted reports. DRRM Administrators verify Barangay submissions and route the resulting SitRep draft through authorized human review and approval. A return decision sends the record back for correction. The full system flowchart is included in the appendix as Figure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system contains 17 distinct modules, six at Purok level, six at Barangay level and five system-level functions. The levels are intentionally segregated because Purok profile data informs Barangay profiling and because account management and verification responsibilities differ by level. The overview groups modules for readability while retaining their exact names.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comparisons summarize the related work as described in the revised paper. They are not an independent, exhaustive audit of every current feature in each system. The paper identifies Bandilyo with mobile or SMS incident reporting and geolocation, AGAPP with near-real-time disaster reporting and review, IRespondPH with citizen reporting and LGU validation, and Mamamayan with community-to-dispatcher emergency reporting. SitRepO's proposed distinction is the jurisdictional Purok, Barangay and DRRM workflow with verification, history and structured SitRep preparation.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traceability matrix synthesizes the manuscript's four problem themes, objective responses and responsible modules. It is a design mapping, not an evaluation result. Role-specific reporting, profile and incident verification, histories, SitRep preparation and dashboard functions are kept distinct so data ownership and review responsibility remain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paper distinguishes Purok, Barangay and Administrator roles. The proposed interface is browser-based. Purok use is mobile-first. Barangay and DRRM administration must also support desktop work such as verification, consolidated reporting and SitRep preparation. The paper does not provide user age, formal education, disability or digital-literacy data, so the presentation does not invent these characteristics. The manuscript's Table 2 access wording should be aligned with the role-specific dashboard description before defense.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system is a responsive browser-based service, originally studied with the ZCDRRMO and described as configurable for participating organizations. It covers reporting for response and recovery, including Initial, Progress, Terminal and Final SitReps. It does not cover pre-disaster preparedness reporting, continuous risk monitoring, a native mobile application, offline synchronization or SMS fallback. Access depends on internet connectivity and the centralized VPS-hosted database. Radio, phone and paper procedures must remain available for outages. Before defense, reconcile the multi-organization statement in paragraph 323 with the exclusive-ZCDRRMO wording in paragraph 333. Figure 25 also depicts mobile applications and offline relay while the text excludes them. The access matrix should be aligned with paragraph 330's role-specific dashboard scope. The objectives repeat Barangay Incident Report History at paragraphs 314 and 315.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architecture slide follows the system description in the revised paper rather than the earlier Figure 25 graphic, which appears to include offline and native-app components not supported by the scope statement. The described stack uses React.js and Next.js, HTML and Tailwind CSS at the browser interface, Node.js and PostgREST for application and API functions, OpenAuth for authentication, HTTPS for network transmission, PostgreSQL for centralized persistence, and a VPS with CDN for deployment. The centralized database and internet dependency are limitations, not guarantees of high availability.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Purok User Management</a:t>
            </a:r>
          </a:p>
          <a:p xmlns:a="http://schemas.openxmlformats.org/drawingml/2006/main">
            <a:r>
              <a:t>HOW: Authorized Barangay personnel create a Purok account, assign its Barangay and issue credentials.</a:t>
            </a:r>
          </a:p>
          <a:p xmlns:a="http://schemas.openxmlformats.org/drawingml/2006/main">
            <a:r>
              <a:t>WHY: Correct jurisdiction routes submissions to the responsible reviewer.</a:t>
            </a:r>
          </a:p>
          <a:p xmlns:a="http://schemas.openxmlformats.org/drawingml/2006/main">
            <a:r>
              <a:t/>
            </a:r>
          </a:p>
          <a:p xmlns:a="http://schemas.openxmlformats.org/drawingml/2006/main">
            <a:r>
              <a:t>Purok Profile Creation</a:t>
            </a:r>
          </a:p>
          <a:p xmlns:a="http://schemas.openxmlformats.org/drawingml/2006/main">
            <a:r>
              <a:t>HOW: Record Purok identity and monthly aggregate population, housing, vulnerability and hazard exposure values.</a:t>
            </a:r>
          </a:p>
          <a:p xmlns:a="http://schemas.openxmlformats.org/drawingml/2006/main">
            <a:r>
              <a:t>WHY: Establishes the baseline for exposure analysis and Barangay consolidation. No named household records are required.</a:t>
            </a:r>
          </a:p>
          <a:p xmlns:a="http://schemas.openxmlformats.org/drawingml/2006/main">
            <a:r>
              <a:t/>
            </a:r>
          </a:p>
          <a:p xmlns:a="http://schemas.openxmlformats.org/drawingml/2006/main">
            <a:r>
              <a:t>Purok Profile Verification</a:t>
            </a:r>
          </a:p>
          <a:p xmlns:a="http://schemas.openxmlformats.org/drawingml/2006/main">
            <a:r>
              <a:t>HOW: A Barangay reviewer compares the submitted profile with reference information and approves or returns it with a reason.</a:t>
            </a:r>
          </a:p>
          <a:p xmlns:a="http://schemas.openxmlformats.org/drawingml/2006/main">
            <a:r>
              <a:t>WHY: Keeps unverified baseline data from being treated as confirmed.</a:t>
            </a:r>
          </a:p>
          <a:p xmlns:a="http://schemas.openxmlformats.org/drawingml/2006/main">
            <a:r>
              <a:t/>
            </a:r>
          </a:p>
          <a:p xmlns:a="http://schemas.openxmlformats.org/drawingml/2006/main">
            <a:r>
              <a:t>These module descriptions summarize the revised paper's functional requirements. Verification decisions remain with authorized people. The specified system checks concern structure, range, consistency and possible duplicates, not factual truth.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Purok Incident Reporting</a:t>
            </a:r>
          </a:p>
          <a:p xmlns:a="http://schemas.openxmlformats.org/drawingml/2006/main">
            <a:r>
              <a:t>HOW: Submit hazard, location, observed date and time, initial situation and affected or exposure-unit totals. Keep later changes as versions.</a:t>
            </a:r>
          </a:p>
          <a:p xmlns:a="http://schemas.openxmlformats.org/drawingml/2006/main">
            <a:r>
              <a:t>WHY: Captures a useful first report without making Purok complete the full SitRep assessment.</a:t>
            </a:r>
          </a:p>
          <a:p xmlns:a="http://schemas.openxmlformats.org/drawingml/2006/main">
            <a:r>
              <a:t/>
            </a:r>
          </a:p>
          <a:p xmlns:a="http://schemas.openxmlformats.org/drawingml/2006/main">
            <a:r>
              <a:t>Purok Incident Report Verification</a:t>
            </a:r>
          </a:p>
          <a:p xmlns:a="http://schemas.openxmlformats.org/drawingml/2006/main">
            <a:r>
              <a:t>HOW: Barangay reviewers compare sources and versions, flag possible duplicates or conflicts, then validate, partially validate, return or reject with a reason.</a:t>
            </a:r>
          </a:p>
          <a:p xmlns:a="http://schemas.openxmlformats.org/drawingml/2006/main">
            <a:r>
              <a:t>WHY: Makes review and correction accountable. Automated checks do not decide factual accuracy.</a:t>
            </a:r>
          </a:p>
          <a:p xmlns:a="http://schemas.openxmlformats.org/drawingml/2006/main">
            <a:r>
              <a:t/>
            </a:r>
          </a:p>
          <a:p xmlns:a="http://schemas.openxmlformats.org/drawingml/2006/main">
            <a:r>
              <a:t>Purok Incident Report History</a:t>
            </a:r>
          </a:p>
          <a:p xmlns:a="http://schemas.openxmlformats.org/drawingml/2006/main">
            <a:r>
              <a:t>HOW: Retrieve current and prior versions of Purok incident reports with their status.</a:t>
            </a:r>
          </a:p>
          <a:p xmlns:a="http://schemas.openxmlformats.org/drawingml/2006/main">
            <a:r>
              <a:t>WHY: Shows what changed as the event developed and preserves the originating record.</a:t>
            </a:r>
          </a:p>
          <a:p xmlns:a="http://schemas.openxmlformats.org/drawingml/2006/main">
            <a:r>
              <a:t/>
            </a:r>
          </a:p>
          <a:p xmlns:a="http://schemas.openxmlformats.org/drawingml/2006/main">
            <a:r>
              <a:t>These module descriptions summarize the revised paper's functional requirements. Verification decisions remain with authorized people. The specified system checks concern structure, range, consistency and possible duplicates, not factual truth.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Barangay User Management</a:t>
            </a:r>
          </a:p>
          <a:p xmlns:a="http://schemas.openxmlformats.org/drawingml/2006/main">
            <a:r>
              <a:t>HOW: Authorized DRRM Administrators create Barangay accounts and issue system-generated credentials.</a:t>
            </a:r>
          </a:p>
          <a:p xmlns:a="http://schemas.openxmlformats.org/drawingml/2006/main">
            <a:r>
              <a:t>WHY: Keeps account creation under the level responsible for citywide user administration.</a:t>
            </a:r>
          </a:p>
          <a:p xmlns:a="http://schemas.openxmlformats.org/drawingml/2006/main">
            <a:r>
              <a:t/>
            </a:r>
          </a:p>
          <a:p xmlns:a="http://schemas.openxmlformats.org/drawingml/2006/main">
            <a:r>
              <a:t>Barangay Profile Creation</a:t>
            </a:r>
          </a:p>
          <a:p xmlns:a="http://schemas.openxmlformats.org/drawingml/2006/main">
            <a:r>
              <a:t>HOW: Consolidate verified Purok profile records into the Barangay profile.</a:t>
            </a:r>
          </a:p>
          <a:p xmlns:a="http://schemas.openxmlformats.org/drawingml/2006/main">
            <a:r>
              <a:t>WHY: Builds the higher-level baseline from its constituent Purok data instead of re-entering it.</a:t>
            </a:r>
          </a:p>
          <a:p xmlns:a="http://schemas.openxmlformats.org/drawingml/2006/main">
            <a:r>
              <a:t/>
            </a:r>
          </a:p>
          <a:p xmlns:a="http://schemas.openxmlformats.org/drawingml/2006/main">
            <a:r>
              <a:t>Barangay Profile Verification</a:t>
            </a:r>
          </a:p>
          <a:p xmlns:a="http://schemas.openxmlformats.org/drawingml/2006/main">
            <a:r>
              <a:t>HOW: An authorized DRRM reviewer checks the consolidated profile against references and records the decision.</a:t>
            </a:r>
          </a:p>
          <a:p xmlns:a="http://schemas.openxmlformats.org/drawingml/2006/main">
            <a:r>
              <a:t>WHY: Adds a higher-level review before the Barangay profile is treated as verified.</a:t>
            </a:r>
          </a:p>
          <a:p xmlns:a="http://schemas.openxmlformats.org/drawingml/2006/main">
            <a:r>
              <a:t/>
            </a:r>
          </a:p>
          <a:p xmlns:a="http://schemas.openxmlformats.org/drawingml/2006/main">
            <a:r>
              <a:t>These module descriptions summarize the revised paper's functional requirements. Verification decisions remain with authorized people. The specified system checks concern structure, range, consistency and possible duplicates, not factual truth.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Barangay Incident Reporting</a:t>
            </a:r>
          </a:p>
          <a:p xmlns:a="http://schemas.openxmlformats.org/drawingml/2006/main">
            <a:r>
              <a:t>HOW: Consolidate eligible verified Purok reports, add Barangay-level assessment, and return unverified source reports for correction.</a:t>
            </a:r>
          </a:p>
          <a:p xmlns:a="http://schemas.openxmlformats.org/drawingml/2006/main">
            <a:r>
              <a:t>WHY: Produces a multi-Purok incident account with more aggregated effects.</a:t>
            </a:r>
          </a:p>
          <a:p xmlns:a="http://schemas.openxmlformats.org/drawingml/2006/main">
            <a:r>
              <a:t/>
            </a:r>
          </a:p>
          <a:p xmlns:a="http://schemas.openxmlformats.org/drawingml/2006/main">
            <a:r>
              <a:t>Barangay Incident Report Verification</a:t>
            </a:r>
          </a:p>
          <a:p xmlns:a="http://schemas.openxmlformats.org/drawingml/2006/main">
            <a:r>
              <a:t>HOW: DRRM reviewers check new or modified submissions, compare sources, flag conflicts, and verify, partially verify, return or reject with a reason.</a:t>
            </a:r>
          </a:p>
          <a:p xmlns:a="http://schemas.openxmlformats.org/drawingml/2006/main">
            <a:r>
              <a:t>WHY: Only reviewed Barangay reports are eligible for SitRep consolidation.</a:t>
            </a:r>
          </a:p>
          <a:p xmlns:a="http://schemas.openxmlformats.org/drawingml/2006/main">
            <a:r>
              <a:t/>
            </a:r>
          </a:p>
          <a:p xmlns:a="http://schemas.openxmlformats.org/drawingml/2006/main">
            <a:r>
              <a:t>Barangay Incident Report History</a:t>
            </a:r>
          </a:p>
          <a:p xmlns:a="http://schemas.openxmlformats.org/drawingml/2006/main">
            <a:r>
              <a:t>HOW: Retrieve current and earlier versions of consolidated Barangay reports.</a:t>
            </a:r>
          </a:p>
          <a:p xmlns:a="http://schemas.openxmlformats.org/drawingml/2006/main">
            <a:r>
              <a:t>WHY: Supports review, correction and tracing of SitRep source data over time.</a:t>
            </a:r>
          </a:p>
          <a:p xmlns:a="http://schemas.openxmlformats.org/drawingml/2006/main">
            <a:r>
              <a:t/>
            </a:r>
          </a:p>
          <a:p xmlns:a="http://schemas.openxmlformats.org/drawingml/2006/main">
            <a:r>
              <a:t>These module descriptions summarize the revised paper's functional requirements. Verification decisions remain with authorized people. The specified system checks concern structure, range, consistency and possible duplicates, not factual truth.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System User Management</a:t>
            </a:r>
          </a:p>
          <a:p xmlns:a="http://schemas.openxmlformats.org/drawingml/2006/main">
            <a:r>
              <a:t>HOW: DRRM Administrators view, edit, activate or suspend accounts across all three levels.</a:t>
            </a:r>
          </a:p>
          <a:p xmlns:a="http://schemas.openxmlformats.org/drawingml/2006/main">
            <a:r>
              <a:t>WHY: Controls access while preserving authorship and approval history when an account changes.</a:t>
            </a:r>
          </a:p>
          <a:p xmlns:a="http://schemas.openxmlformats.org/drawingml/2006/main">
            <a:r>
              <a:t/>
            </a:r>
          </a:p>
          <a:p xmlns:a="http://schemas.openxmlformats.org/drawingml/2006/main">
            <a:r>
              <a:t>Hazard Creation</a:t>
            </a:r>
          </a:p>
          <a:p xmlns:a="http://schemas.openxmlformats.org/drawingml/2006/main">
            <a:r>
              <a:t>HOW: Authorized users record hazard details and classify entries against the participating organization's CDRA types, adding a type when needed.</a:t>
            </a:r>
          </a:p>
          <a:p xmlns:a="http://schemas.openxmlformats.org/drawingml/2006/main">
            <a:r>
              <a:t>WHY: Keeps hazard terminology consistent with local assessment practice. The system records the chosen type and does not independently classify events.</a:t>
            </a:r>
          </a:p>
          <a:p xmlns:a="http://schemas.openxmlformats.org/drawingml/2006/main">
            <a:r>
              <a:t/>
            </a:r>
          </a:p>
          <a:p xmlns:a="http://schemas.openxmlformats.org/drawingml/2006/main">
            <a:r>
              <a:t>These module descriptions summarize the revised paper's functional requirements. Verification decisions remain with authorized people. The specified system checks concern structure, range, consistency and possible duplicates, not factual truth.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Situation Report Generation</a:t>
            </a:r>
          </a:p>
          <a:p xmlns:a="http://schemas.openxmlformats.org/drawingml/2006/main">
            <a:r>
              <a:t>HOW: Select an incident and cutoff, retrieve verified Barangay reports, build an editable template-based draft, then route it for authorized review, approval and export.</a:t>
            </a:r>
          </a:p>
          <a:p xmlns:a="http://schemas.openxmlformats.org/drawingml/2006/main">
            <a:r>
              <a:t>WHY: Reduces repeated summarization while retaining source attribution and human authority.</a:t>
            </a:r>
          </a:p>
          <a:p xmlns:a="http://schemas.openxmlformats.org/drawingml/2006/main">
            <a:r>
              <a:t/>
            </a:r>
          </a:p>
          <a:p xmlns:a="http://schemas.openxmlformats.org/drawingml/2006/main">
            <a:r>
              <a:t>Situation Report Historical Catalog</a:t>
            </a:r>
          </a:p>
          <a:p xmlns:a="http://schemas.openxmlformats.org/drawingml/2006/main">
            <a:r>
              <a:t>HOW: Search, filter, compare, export, correct or supersede reports while retaining prior approved versions and record controls.</a:t>
            </a:r>
          </a:p>
          <a:p xmlns:a="http://schemas.openxmlformats.org/drawingml/2006/main">
            <a:r>
              <a:t>WHY: Preserves continuity and supports audit, retention and later retrieval.</a:t>
            </a:r>
          </a:p>
          <a:p xmlns:a="http://schemas.openxmlformats.org/drawingml/2006/main">
            <a:r>
              <a:t/>
            </a:r>
          </a:p>
          <a:p xmlns:a="http://schemas.openxmlformats.org/drawingml/2006/main">
            <a:r>
              <a:t>System Dashboard</a:t>
            </a:r>
          </a:p>
          <a:p xmlns:a="http://schemas.openxmlformats.org/drawingml/2006/main">
            <a:r>
              <a:t>HOW: Show role-specific incident, population, report-status, verification, SitRep-coverage and processing summaries, with filters and last-update time.</a:t>
            </a:r>
          </a:p>
          <a:p xmlns:a="http://schemas.openxmlformats.org/drawingml/2006/main">
            <a:r>
              <a:t>WHY: Gives each level relevant operational visibility and distinguishes provisional from verified data.</a:t>
            </a:r>
          </a:p>
          <a:p xmlns:a="http://schemas.openxmlformats.org/drawingml/2006/main">
            <a:r>
              <a:t/>
            </a:r>
          </a:p>
          <a:p xmlns:a="http://schemas.openxmlformats.org/drawingml/2006/main">
            <a:r>
              <a:t>These module descriptions summarize the revised paper's functional requirements. Verification decisions remain with authorized people. The specified system checks concern structure, range, consistency and possible duplicates, not factual truth.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Level 0 DFD names the Purok User, Barangay User and DRRM Administrator as external entities. Its numbered processes separate account management, profiling, verification, incident reporting, hazard creation, report history, login, SitRep generation and system administration. The data stores shown are Accounts DB, Purok Profile DB, Barangay Profile DB, Hazards DB, Purok Incident DB, Barangay Incident DB and Situation Report DB. Data move upward only after the applicable verification step. Status and correction information return to the originating level. The original full diagram follows in the appendix.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40 organizes the data concepts that support the modules. Account is the common account entity with Purok, Barangay and DRRM account subtypes. Separate profile entities retain baseline data and supporting housing and hazard-exposure details. Hazard records and characteristics support CDRA-aligned configuration. Incident reports preserve versions and related population, casualty and damage records. Situation Reports relate to their report versions and structured effect, action and recommendation records. Follow the adviser-guided ERD notation: underline primary identifiers and express relationships with connectors. The ERD does not need to list foreign-key fields as attributes. The full Figure 40 appears in the appendix.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Relational Data Model translates the conceptual entities and relationships into tables and relational keys. The paper's Figure 41 shows the table-level structure and connections. The ERD and RDM serve different purposes: the ERD explains entities and relationships for the academic model, while the RDM prepares the implementable relational organization. Foreign-key attributes and key constraints belong in the schema or RDM representation as required by the chosen notation, even when the academic ERD omits FK attributes. The full Figure 41 appears in the appendix.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Sign in with credentials issued by an authorized higher-level user</a:t>
            </a:r>
          </a:p>
          <a:p xmlns:a="http://schemas.openxmlformats.org/drawingml/2006/main">
            <a:r>
              <a:t>2. Review the current verified monthly profile</a:t>
            </a:r>
          </a:p>
          <a:p xmlns:a="http://schemas.openxmlformats.org/drawingml/2006/main">
            <a:r>
              <a:t>3. Enter aggregate population, housing, vulnerability and hazard-exposure values</a:t>
            </a:r>
          </a:p>
          <a:p xmlns:a="http://schemas.openxmlformats.org/drawingml/2006/main">
            <a:r>
              <a:t>4. Submit the profile to Barangay review and correct it if returned</a:t>
            </a:r>
          </a:p>
          <a:p xmlns:a="http://schemas.openxmlformats.org/drawingml/2006/main">
            <a:r>
              <a:t>5. For an incident, submit hazard, location, date and time, initial situation and affected or exposure counts</a:t>
            </a:r>
          </a:p>
          <a:p xmlns:a="http://schemas.openxmlformats.org/drawingml/2006/main">
            <a:r>
              <a:t>6. Update the report as information changes and review status and prior versions</a:t>
            </a:r>
          </a:p>
          <a:p xmlns:a="http://schemas.openxmlformats.org/drawingml/2006/main">
            <a:r>
              <a:t/>
            </a:r>
          </a:p>
          <a:p xmlns:a="http://schemas.openxmlformats.org/drawingml/2006/main">
            <a:r>
              <a:t>Purok input is deliberately an initial, aggregate report. It does not require named household records or a complete city-level damage assessment.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Sign in and open the Purok profile and incident review queues</a:t>
            </a:r>
          </a:p>
          <a:p xmlns:a="http://schemas.openxmlformats.org/drawingml/2006/main">
            <a:r>
              <a:t>2. Compare submitted information with available references</a:t>
            </a:r>
          </a:p>
          <a:p xmlns:a="http://schemas.openxmlformats.org/drawingml/2006/main">
            <a:r>
              <a:t>3. Verify or return Purok profile and incident records with a recorded reason</a:t>
            </a:r>
          </a:p>
          <a:p xmlns:a="http://schemas.openxmlformats.org/drawingml/2006/main">
            <a:r>
              <a:t>4. Build the Barangay profile from verified Purok profile data</a:t>
            </a:r>
          </a:p>
          <a:p xmlns:a="http://schemas.openxmlformats.org/drawingml/2006/main">
            <a:r>
              <a:t>5. Consolidate verified Purok incident reports and add Barangay-level affected-population, casualty and damage assessment</a:t>
            </a:r>
          </a:p>
          <a:p xmlns:a="http://schemas.openxmlformats.org/drawingml/2006/main">
            <a:r>
              <a:t>6. Submit the Barangay report to DRRM and consult status and report history</a:t>
            </a:r>
          </a:p>
          <a:p xmlns:a="http://schemas.openxmlformats.org/drawingml/2006/main">
            <a:r>
              <a:t/>
            </a:r>
          </a:p>
          <a:p xmlns:a="http://schemas.openxmlformats.org/drawingml/2006/main">
            <a:r>
              <a:t>Barangay reporting increases aggregation and assessment detail. The system should keep the Purok source and the Barangay contribution distinguishable to reduce double counting and preserve provenance.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Sign in to the administrative workspace</a:t>
            </a:r>
          </a:p>
          <a:p xmlns:a="http://schemas.openxmlformats.org/drawingml/2006/main">
            <a:r>
              <a:t>2. Create or maintain Purok, Barangay and administrator accounts</a:t>
            </a:r>
          </a:p>
          <a:p xmlns:a="http://schemas.openxmlformats.org/drawingml/2006/main">
            <a:r>
              <a:t>3. Configure hazard types according to the participating organization's CDRA</a:t>
            </a:r>
          </a:p>
          <a:p xmlns:a="http://schemas.openxmlformats.org/drawingml/2006/main">
            <a:r>
              <a:t>4. Review Barangay profiles and incident reports, then verify or return with a reason</a:t>
            </a:r>
          </a:p>
          <a:p xmlns:a="http://schemas.openxmlformats.org/drawingml/2006/main">
            <a:r>
              <a:t>5. Select an incident and reporting cutoff to retrieve eligible verified Barangay reports</a:t>
            </a:r>
          </a:p>
          <a:p xmlns:a="http://schemas.openxmlformats.org/drawingml/2006/main">
            <a:r>
              <a:t>6. Prepare and edit the SitRep draft, route it for authorized review and approval, then export</a:t>
            </a:r>
          </a:p>
          <a:p xmlns:a="http://schemas.openxmlformats.org/drawingml/2006/main">
            <a:r>
              <a:t>7. Use the dashboard and historical catalog to monitor status and retrieve prior versions</a:t>
            </a:r>
          </a:p>
          <a:p xmlns:a="http://schemas.openxmlformats.org/drawingml/2006/main">
            <a:r>
              <a:t/>
            </a:r>
          </a:p>
          <a:p xmlns:a="http://schemas.openxmlformats.org/drawingml/2006/main">
            <a:r>
              <a:t>The user-flow description does not assume that the same administrator must prepare and approve a SitRep. The paper assigns both actions to authorized personnel and the implementing organization should define its separation of duties.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manuscript identifies an Agile software development lifecycle. This slide summarizes the proposed sequence without inventing sprint lengths, dates or completed milestones. Requirements and mandate review inform design. Implementation proceeds by modules and integration. Alpha testing covers unit, integration, system and security work. Beta testing evaluates acceptance and usability with intended users. Feedback informs revisions. State clearly that development and testing remain planned activities until evidence shows they have occurred.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revised paper names React.js and Next.js, HTML and Tailwind CSS for the front end; Node.js and PostgREST for the backend and REST API; PostgreSQL for persistence; OpenAuth for authentication; and a VPS with CDN for deployment and static asset delivery. It describes access through supported desktop and mobile browsers. It does not specify exact framework versions in the cited scope paragraph. Avoid promising offline synchronization, native push notifications, distributed database availability or AI behavior that the paper does not specify.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Alpha testing includes unit, integration, system and security testing. The paper names Jest for frontend unit and component tests, Jest with Supertest for backend unit and API tests, and Cypress for browser end-to-end tests across desktop and mobile viewports. Beta testing includes user acceptance, usability and a 10-item System Usability Scale questionnaire. The paper proposes mean SUS of at least 68 and zero unhandled crash or render failures across tested browser views as exit criteria. These are planned targets, not achieved measurements.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revised paper does not specify AI or machine-learning functions in the proposed product. Its validation checks concern syntax, domain, range, consistency and possible duplicates. Human reviewers retain responsibility for factual accuracy and report approval. If AI tools assisted drafting, coding or presentation preparation, disclose the actual use according to the university's policy. Do not claim the system uses AI for hazard classification, casualty estimation, report generation or decision-making unless the approved paper and implementation explicitly add and evaluate those functions.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paper describes intended value for Purok personnel through structured mobile-accessible initial reporting, Barangay personnel through consolidated local information, participating DRRM organizations through a more visible verification and SitRep preparation workflow, and future researchers through structured historical data. These are expected contributions, not measured outcomes. The system does not guarantee faster response, more accurate relief allocation or improved disaster outcomes without evaluation and operational adoption.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core proposition is a shared, role-based record from Purok observations through Barangay consolidation to authorized DRRM SitRep preparation. The design separates modules by jurisdiction, preserves source and report history, and treats verification as a human responsibility. The main dependencies are consistent mandated fields, clear local authority, careful access control, reliable connectivity and successful evaluation with intended users.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slide lists selected sources that anchor the presentation. The complete bibliographic information remains in the revised paper. Verify each reference entry and citation style against the university's required format before defense.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Invite questions. If asked about AI, offline operation, multi-organization scope, evaluation outcomes or official report approval, answer only from the revised paper and identify unresolved manuscript decisions clearly.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full proposed-system flowchart reproduced from Figure 2 of the revised manuscript. The original figure is preserved without redrawing. Use PowerPoint zoom or consult the source manuscript for detailed labels. The readable overview and explanation appear in the main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full Level 0 Data Flow Diagram reproduced from Figure 27 of the revised manuscript. The original figure is preserved without redrawing. Use PowerPoint zoom or consult the source manuscript for detailed labels. The readable overview and explanation appear in the main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full ERD reproduced from Figure 40 of the revised manuscript. The original figure is preserved without redrawing. Use PowerPoint zoom or consult the source manuscript for detailed labels. The readable overview and explanation appear in the main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full RDM reproduced from Figure 41 of the revised manuscript. The original figure is preserved without redrawing. Use PowerPoint zoom or consult the source manuscript for detailed labels. The readable overview and explanation appear in the main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4f41ef0720c4ad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ddad4f91ac04bf9" /><Relationship Type="http://schemas.openxmlformats.org/officeDocument/2006/relationships/slideLayout" Target="/ppt/slideLayouts/slideLayout1.xml" Id="R732db7a6147647f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32db7a6147647f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bb3039920774c74" /><Relationship Type="http://schemas.openxmlformats.org/officeDocument/2006/relationships/notesSlide" Target="/ppt/notesSlides/notesSlide1.xml" Id="Rf5e4c00306824e7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659067527ea4723" /><Relationship Type="http://schemas.openxmlformats.org/officeDocument/2006/relationships/notesSlide" Target="/ppt/notesSlides/notesSlide2.xml" Id="Rc5f43eb42ff2486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9abd73bb52c4920" /><Relationship Type="http://schemas.openxmlformats.org/officeDocument/2006/relationships/notesSlide" Target="/ppt/notesSlides/notesSlide3.xml" Id="R2160c8d2f8d94bf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600ed45fa204f4a" /><Relationship Type="http://schemas.openxmlformats.org/officeDocument/2006/relationships/notesSlide" Target="/ppt/notesSlides/notesSlide4.xml" Id="R4e4c8c7b2f794fe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bb51479be4a49c4" /><Relationship Type="http://schemas.openxmlformats.org/officeDocument/2006/relationships/notesSlide" Target="/ppt/notesSlides/notesSlide5.xml" Id="R2abfade5a57f476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50e577bb1d64460" /><Relationship Type="http://schemas.openxmlformats.org/officeDocument/2006/relationships/notesSlide" Target="/ppt/notesSlides/notesSlide6.xml" Id="R17549587c3ae4d4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984db140fd445dc" /><Relationship Type="http://schemas.openxmlformats.org/officeDocument/2006/relationships/notesSlide" Target="/ppt/notesSlides/notesSlide7.xml" Id="R334447302c8e4d4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1feadf9e5ae4af6" /><Relationship Type="http://schemas.openxmlformats.org/officeDocument/2006/relationships/notesSlide" Target="/ppt/notesSlides/notesSlide8.xml" Id="Rd55baf71f6cc46b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f977cb5891f4386" /><Relationship Type="http://schemas.openxmlformats.org/officeDocument/2006/relationships/notesSlide" Target="/ppt/notesSlides/notesSlide9.xml" Id="R2c51507ce51541f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bc6e9a7f4d44b87" /><Relationship Type="http://schemas.openxmlformats.org/officeDocument/2006/relationships/notesSlide" Target="/ppt/notesSlides/notesSlide10.xml" Id="R0dc7f6486e624ae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de2ab2cc93d484a" /><Relationship Type="http://schemas.openxmlformats.org/officeDocument/2006/relationships/notesSlide" Target="/ppt/notesSlides/notesSlide11.xml" Id="R5eacfded940143d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e88e5ade50a4640" /><Relationship Type="http://schemas.openxmlformats.org/officeDocument/2006/relationships/notesSlide" Target="/ppt/notesSlides/notesSlide12.xml" Id="Rde75715a19494ca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22086a9771b48c8" /><Relationship Type="http://schemas.openxmlformats.org/officeDocument/2006/relationships/notesSlide" Target="/ppt/notesSlides/notesSlide13.xml" Id="Rc47d15c1e63547e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e75d65a8d914e28" /><Relationship Type="http://schemas.openxmlformats.org/officeDocument/2006/relationships/notesSlide" Target="/ppt/notesSlides/notesSlide14.xml" Id="R9ffbc2a9ad984a3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72f849f38684299" /><Relationship Type="http://schemas.openxmlformats.org/officeDocument/2006/relationships/notesSlide" Target="/ppt/notesSlides/notesSlide15.xml" Id="R67029f54dcc24b2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d548168c9d74fba" /><Relationship Type="http://schemas.openxmlformats.org/officeDocument/2006/relationships/notesSlide" Target="/ppt/notesSlides/notesSlide16.xml" Id="R4f61daa92abf4f8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b716cf8f9d0f43b3" /><Relationship Type="http://schemas.openxmlformats.org/officeDocument/2006/relationships/notesSlide" Target="/ppt/notesSlides/notesSlide17.xml" Id="Radda96e9607a465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95e37aa700a74ad6" /><Relationship Type="http://schemas.openxmlformats.org/officeDocument/2006/relationships/notesSlide" Target="/ppt/notesSlides/notesSlide18.xml" Id="Rcfa03bac74b043b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2437718f7edc420f" /><Relationship Type="http://schemas.openxmlformats.org/officeDocument/2006/relationships/notesSlide" Target="/ppt/notesSlides/notesSlide19.xml" Id="R13e9e34e45b1451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3844736ed647414b" /><Relationship Type="http://schemas.openxmlformats.org/officeDocument/2006/relationships/notesSlide" Target="/ppt/notesSlides/notesSlide20.xml" Id="R0cc548e34688411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bf0aad20a0484f87" /><Relationship Type="http://schemas.openxmlformats.org/officeDocument/2006/relationships/notesSlide" Target="/ppt/notesSlides/notesSlide21.xml" Id="Rde7a0d33fd084a0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16857129a32548d4" /><Relationship Type="http://schemas.openxmlformats.org/officeDocument/2006/relationships/notesSlide" Target="/ppt/notesSlides/notesSlide22.xml" Id="Rdb0ada6278234e3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14bbb7141bff44b2" /><Relationship Type="http://schemas.openxmlformats.org/officeDocument/2006/relationships/notesSlide" Target="/ppt/notesSlides/notesSlide23.xml" Id="R613070b34e7341f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a1a1f569fef34d70" /><Relationship Type="http://schemas.openxmlformats.org/officeDocument/2006/relationships/notesSlide" Target="/ppt/notesSlides/notesSlide24.xml" Id="R0685dfb52c8c462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f839abfbdcbc4155" /><Relationship Type="http://schemas.openxmlformats.org/officeDocument/2006/relationships/notesSlide" Target="/ppt/notesSlides/notesSlide25.xml" Id="Raf6243efdf1b4e9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6ab0376fed9e4d27" /><Relationship Type="http://schemas.openxmlformats.org/officeDocument/2006/relationships/notesSlide" Target="/ppt/notesSlides/notesSlide26.xml" Id="R41260d76537848bc"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483159bf8d8a4ee1" /><Relationship Type="http://schemas.openxmlformats.org/officeDocument/2006/relationships/notesSlide" Target="/ppt/notesSlides/notesSlide27.xml" Id="Ra29ba6eecbd04354"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10e3d4ca87614828" /><Relationship Type="http://schemas.openxmlformats.org/officeDocument/2006/relationships/notesSlide" Target="/ppt/notesSlides/notesSlide28.xml" Id="Rf6eebc6c8181450b"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a316d697785b4172" /><Relationship Type="http://schemas.openxmlformats.org/officeDocument/2006/relationships/notesSlide" Target="/ppt/notesSlides/notesSlide29.xml" Id="R1345c667c415456a"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e9cc3b4f904e4cc0" /><Relationship Type="http://schemas.openxmlformats.org/officeDocument/2006/relationships/notesSlide" Target="/ppt/notesSlides/notesSlide30.xml" Id="R7a44aa7e30e044f5"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f823ec408ae34394" /><Relationship Type="http://schemas.openxmlformats.org/officeDocument/2006/relationships/notesSlide" Target="/ppt/notesSlides/notesSlide31.xml" Id="R2089ce281b8e4149"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0067528b1c92460a" /><Relationship Type="http://schemas.openxmlformats.org/officeDocument/2006/relationships/notesSlide" Target="/ppt/notesSlides/notesSlide32.xml" Id="R765d0ab9e392407c"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57143ece1c284a8a" /><Relationship Type="http://schemas.openxmlformats.org/officeDocument/2006/relationships/notesSlide" Target="/ppt/notesSlides/notesSlide33.xml" Id="Rac948336e46f4c5a"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d2462c1125284759" /><Relationship Type="http://schemas.openxmlformats.org/officeDocument/2006/relationships/notesSlide" Target="/ppt/notesSlides/notesSlide34.xml" Id="R5e16312f87454223"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71d346a9b2804606" /><Relationship Type="http://schemas.openxmlformats.org/officeDocument/2006/relationships/notesSlide" Target="/ppt/notesSlides/notesSlide35.xml" Id="R2f98ce14bda04493"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ea18b36fb6e2419b" /><Relationship Type="http://schemas.openxmlformats.org/officeDocument/2006/relationships/notesSlide" Target="/ppt/notesSlides/notesSlide36.xml" Id="R3b504d63cd284d3f"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c51b6406404d46ef" /><Relationship Type="http://schemas.openxmlformats.org/officeDocument/2006/relationships/notesSlide" Target="/ppt/notesSlides/notesSlide37.xml" Id="Rffde634a9e414084"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ac85fbe3235d4a80" /><Relationship Type="http://schemas.openxmlformats.org/officeDocument/2006/relationships/notesSlide" Target="/ppt/notesSlides/notesSlide38.xml" Id="R102f3ca722934d57"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67430324fa074f05" /><Relationship Type="http://schemas.openxmlformats.org/officeDocument/2006/relationships/image" Target="/ppt/media/image.png" Id="Rdc53781e20044d9d" /><Relationship Type="http://schemas.openxmlformats.org/officeDocument/2006/relationships/notesSlide" Target="/ppt/notesSlides/notesSlide39.xml" Id="Rb48364e8cccd4945"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fbeb4eef4d1f4532" /><Relationship Type="http://schemas.openxmlformats.org/officeDocument/2006/relationships/image" Target="/ppt/media/image2.png" Id="Rbc5a84b031e24e9e" /><Relationship Type="http://schemas.openxmlformats.org/officeDocument/2006/relationships/notesSlide" Target="/ppt/notesSlides/notesSlide40.xml" Id="Rdec84c3b12594225"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3f372a0959cf4f40" /><Relationship Type="http://schemas.openxmlformats.org/officeDocument/2006/relationships/image" Target="/ppt/media/image3.png" Id="Rdfa810ef09ac422d" /><Relationship Type="http://schemas.openxmlformats.org/officeDocument/2006/relationships/notesSlide" Target="/ppt/notesSlides/notesSlide41.xml" Id="R1543b246b975473c"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6084591f84fa45b3" /><Relationship Type="http://schemas.openxmlformats.org/officeDocument/2006/relationships/image" Target="/ppt/media/image4.png" Id="Rf4dbd45e79b64e55" /><Relationship Type="http://schemas.openxmlformats.org/officeDocument/2006/relationships/notesSlide" Target="/ppt/notesSlides/notesSlide42.xml" Id="Rb32e19ee64024568" /></Relationships>
</file>

<file path=ppt/slides/slide1.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D979FEF-DAC4-4A46-9077-D330BE48EBC6}"/>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52090AF-90E8-4AFC-A3E0-B2CE60CE8133}"/>
              </a:ext>
            </a:extLst>
          </p:cNvPr>
          <p:cNvSpPr>
            <a:spLocks xmlns:a="http://schemas.openxmlformats.org/drawingml/2006/main" noGrp="1"/>
          </p:cNvSpPr>
          <p:nvPr/>
        </p:nvSpPr>
        <p:spPr>
          <a:xfrm xmlns:a="http://schemas.openxmlformats.org/drawingml/2006/main">
            <a:off x="781050" y="685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CAPSTONE PROJECT PROPOSAL</a:t>
            </a:r>
          </a:p>
        </p:txBody>
      </p:sp>
      <p:sp>
        <p:nvSpPr>
          <p:cNvPr id="3" name="">
            <a:extLst xmlns:a="http://schemas.openxmlformats.org/drawingml/2006/main">
              <a:ext uri="{FF2B5EF4-FFF2-40B4-BE49-F238E27FC236}">
                <a16:creationId xmlns:a16="http://schemas.microsoft.com/office/drawing/2014/main" id="{B38E4EB0-3AC9-4B50-8598-E2D494EB39B3}"/>
              </a:ext>
            </a:extLst>
          </p:cNvPr>
          <p:cNvSpPr>
            <a:spLocks xmlns:a="http://schemas.openxmlformats.org/drawingml/2006/main" noGrp="1"/>
          </p:cNvSpPr>
          <p:nvPr/>
        </p:nvSpPr>
        <p:spPr>
          <a:xfrm xmlns:a="http://schemas.openxmlformats.org/drawingml/2006/main">
            <a:off x="781050" y="1209675"/>
            <a:ext cx="105727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3075" b="1">
                <a:solidFill>
                  <a:srgbClr val="252D30"/>
                </a:solidFill>
                <a:latin typeface="Lexend"/>
                <a:ea typeface="Lexend"/>
                <a:cs typeface="Lexend"/>
              </a:defRPr>
            </a:pPr>
            <a:r>
              <a:rPr sz="3075" b="1">
                <a:solidFill>
                  <a:srgbClr val="252D30"/>
                </a:solidFill>
                <a:latin typeface="Lexend"/>
                <a:ea typeface="Lexend"/>
                <a:cs typeface="Lexend"/>
              </a:rPr>
              <a:t>INTEGRATED DISASTER INCIDENT</a:t>
            </a:r>
          </a:p>
          <a:p xmlns:a="http://schemas.openxmlformats.org/drawingml/2006/main">
            <a:pPr algn="l">
              <a:defRPr sz="3075" b="1">
                <a:solidFill>
                  <a:srgbClr val="252D30"/>
                </a:solidFill>
                <a:latin typeface="Lexend"/>
                <a:ea typeface="Lexend"/>
                <a:cs typeface="Lexend"/>
              </a:defRPr>
            </a:pPr>
            <a:r>
              <a:rPr sz="3075" b="1">
                <a:solidFill>
                  <a:srgbClr val="252D30"/>
                </a:solidFill>
                <a:latin typeface="Lexend"/>
                <a:ea typeface="Lexend"/>
                <a:cs typeface="Lexend"/>
              </a:rPr>
              <a:t>RECORD MANAGEMENT AND</a:t>
            </a:r>
          </a:p>
          <a:p xmlns:a="http://schemas.openxmlformats.org/drawingml/2006/main">
            <a:pPr algn="l">
              <a:defRPr sz="3075" b="1">
                <a:solidFill>
                  <a:srgbClr val="252D30"/>
                </a:solidFill>
                <a:latin typeface="Lexend"/>
                <a:ea typeface="Lexend"/>
                <a:cs typeface="Lexend"/>
              </a:defRPr>
            </a:pPr>
            <a:r>
              <a:rPr sz="3075" b="1">
                <a:solidFill>
                  <a:srgbClr val="252D30"/>
                </a:solidFill>
                <a:latin typeface="Lexend"/>
                <a:ea typeface="Lexend"/>
                <a:cs typeface="Lexend"/>
              </a:rPr>
              <a:t>AUTOMATED SITUATION REPORT</a:t>
            </a:r>
          </a:p>
          <a:p xmlns:a="http://schemas.openxmlformats.org/drawingml/2006/main">
            <a:pPr algn="l">
              <a:defRPr sz="3075" b="1">
                <a:solidFill>
                  <a:srgbClr val="252D30"/>
                </a:solidFill>
                <a:latin typeface="Lexend"/>
                <a:ea typeface="Lexend"/>
                <a:cs typeface="Lexend"/>
              </a:defRPr>
            </a:pPr>
            <a:r>
              <a:rPr sz="3075" b="1">
                <a:solidFill>
                  <a:srgbClr val="252D30"/>
                </a:solidFill>
                <a:latin typeface="Lexend"/>
                <a:ea typeface="Lexend"/>
                <a:cs typeface="Lexend"/>
              </a:rPr>
              <a:t>GENERATION SYSTEM</a:t>
            </a:r>
          </a:p>
        </p:txBody>
      </p:sp>
      <p:sp>
        <p:nvSpPr>
          <p:cNvPr id="4" name="">
            <a:extLst xmlns:a="http://schemas.openxmlformats.org/drawingml/2006/main">
              <a:ext uri="{FF2B5EF4-FFF2-40B4-BE49-F238E27FC236}">
                <a16:creationId xmlns:a16="http://schemas.microsoft.com/office/drawing/2014/main" id="{ADF04581-5BBF-449F-AEBB-FE9921B27044}"/>
              </a:ext>
            </a:extLst>
          </p:cNvPr>
          <p:cNvSpPr>
            <a:spLocks xmlns:a="http://schemas.openxmlformats.org/drawingml/2006/main" noGrp="1"/>
          </p:cNvSpPr>
          <p:nvPr/>
        </p:nvSpPr>
        <p:spPr>
          <a:xfrm xmlns:a="http://schemas.openxmlformats.org/drawingml/2006/main">
            <a:off x="781050" y="4019550"/>
            <a:ext cx="105346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F105B82D-922C-46C3-8CC5-5FA7F8FDF108}"/>
              </a:ext>
            </a:extLst>
          </p:cNvPr>
          <p:cNvSpPr>
            <a:spLocks xmlns:a="http://schemas.openxmlformats.org/drawingml/2006/main" noGrp="1"/>
          </p:cNvSpPr>
          <p:nvPr/>
        </p:nvSpPr>
        <p:spPr>
          <a:xfrm xmlns:a="http://schemas.openxmlformats.org/drawingml/2006/main">
            <a:off x="781050" y="4257675"/>
            <a:ext cx="1019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575" b="1">
                <a:solidFill>
                  <a:srgbClr val="252D30"/>
                </a:solidFill>
                <a:latin typeface="Source Sans 3"/>
                <a:ea typeface="Source Sans 3"/>
                <a:cs typeface="Source Sans 3"/>
              </a:defRPr>
            </a:pPr>
            <a:r>
              <a:rPr sz="1575" b="1">
                <a:solidFill>
                  <a:srgbClr val="252D30"/>
                </a:solidFill>
                <a:latin typeface="Source Sans 3"/>
                <a:ea typeface="Source Sans 3"/>
                <a:cs typeface="Source Sans 3"/>
              </a:rPr>
              <a:t>Katrina Mae D.G. Perez and RJ P. Somosa</a:t>
            </a:r>
          </a:p>
        </p:txBody>
      </p:sp>
      <p:sp>
        <p:nvSpPr>
          <p:cNvPr id="6" name="">
            <a:extLst xmlns:a="http://schemas.openxmlformats.org/drawingml/2006/main">
              <a:ext uri="{FF2B5EF4-FFF2-40B4-BE49-F238E27FC236}">
                <a16:creationId xmlns:a16="http://schemas.microsoft.com/office/drawing/2014/main" id="{684B46DB-44ED-4FE5-8660-F7C7DD9F4DE0}"/>
              </a:ext>
            </a:extLst>
          </p:cNvPr>
          <p:cNvSpPr>
            <a:spLocks xmlns:a="http://schemas.openxmlformats.org/drawingml/2006/main" noGrp="1"/>
          </p:cNvSpPr>
          <p:nvPr/>
        </p:nvSpPr>
        <p:spPr>
          <a:xfrm xmlns:a="http://schemas.openxmlformats.org/drawingml/2006/main">
            <a:off x="781050" y="4648200"/>
            <a:ext cx="7429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0">
                <a:solidFill>
                  <a:srgbClr val="59676A"/>
                </a:solidFill>
                <a:latin typeface="Source Sans 3"/>
                <a:ea typeface="Source Sans 3"/>
                <a:cs typeface="Source Sans 3"/>
              </a:defRPr>
            </a:pPr>
            <a:r>
              <a:rPr sz="1350" b="0">
                <a:solidFill>
                  <a:srgbClr val="59676A"/>
                </a:solidFill>
                <a:latin typeface="Source Sans 3"/>
                <a:ea typeface="Source Sans 3"/>
                <a:cs typeface="Source Sans 3"/>
              </a:rPr>
              <a:t>Computer Science Department</a:t>
            </a:r>
          </a:p>
          <a:p xmlns:a="http://schemas.openxmlformats.org/drawingml/2006/main">
            <a:pPr algn="l">
              <a:defRPr sz="1350" b="0">
                <a:solidFill>
                  <a:srgbClr val="59676A"/>
                </a:solidFill>
                <a:latin typeface="Source Sans 3"/>
                <a:ea typeface="Source Sans 3"/>
                <a:cs typeface="Source Sans 3"/>
              </a:defRPr>
            </a:pPr>
            <a:r>
              <a:rPr sz="1350" b="0">
                <a:solidFill>
                  <a:srgbClr val="59676A"/>
                </a:solidFill>
                <a:latin typeface="Source Sans 3"/>
                <a:ea typeface="Source Sans 3"/>
                <a:cs typeface="Source Sans 3"/>
              </a:rPr>
              <a:t>Bachelor of Science in Information Technology</a:t>
            </a:r>
          </a:p>
        </p:txBody>
      </p:sp>
      <p:sp>
        <p:nvSpPr>
          <p:cNvPr id="7" name="">
            <a:extLst xmlns:a="http://schemas.openxmlformats.org/drawingml/2006/main">
              <a:ext uri="{FF2B5EF4-FFF2-40B4-BE49-F238E27FC236}">
                <a16:creationId xmlns:a16="http://schemas.microsoft.com/office/drawing/2014/main" id="{1D55D8D8-BB30-47FF-957B-D21874675BEA}"/>
              </a:ext>
            </a:extLst>
          </p:cNvPr>
          <p:cNvSpPr>
            <a:spLocks xmlns:a="http://schemas.openxmlformats.org/drawingml/2006/main" noGrp="1"/>
          </p:cNvSpPr>
          <p:nvPr/>
        </p:nvSpPr>
        <p:spPr>
          <a:xfrm xmlns:a="http://schemas.openxmlformats.org/drawingml/2006/main">
            <a:off x="781050" y="5305425"/>
            <a:ext cx="5238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59676A"/>
                </a:solidFill>
                <a:latin typeface="Source Sans 3"/>
                <a:ea typeface="Source Sans 3"/>
                <a:cs typeface="Source Sans 3"/>
              </a:defRPr>
            </a:pPr>
            <a:r>
              <a:rPr sz="1275" b="0">
                <a:solidFill>
                  <a:srgbClr val="59676A"/>
                </a:solidFill>
                <a:latin typeface="Source Sans 3"/>
                <a:ea typeface="Source Sans 3"/>
                <a:cs typeface="Source Sans 3"/>
              </a:rPr>
              <a:t>Adviser: Precious T. Opinion</a:t>
            </a:r>
          </a:p>
          <a:p xmlns:a="http://schemas.openxmlformats.org/drawingml/2006/main">
            <a:pPr algn="l">
              <a:defRPr sz="1275" b="0">
                <a:solidFill>
                  <a:srgbClr val="59676A"/>
                </a:solidFill>
                <a:latin typeface="Source Sans 3"/>
                <a:ea typeface="Source Sans 3"/>
                <a:cs typeface="Source Sans 3"/>
              </a:defRPr>
            </a:pPr>
            <a:r>
              <a:rPr sz="1275" b="0">
                <a:solidFill>
                  <a:srgbClr val="59676A"/>
                </a:solidFill>
                <a:latin typeface="Source Sans 3"/>
                <a:ea typeface="Source Sans 3"/>
                <a:cs typeface="Source Sans 3"/>
              </a:rPr>
              <a:t>September 9, 2026</a:t>
            </a:r>
          </a:p>
        </p:txBody>
      </p:sp>
      <p:sp>
        <p:nvSpPr>
          <p:cNvPr id="8" name="">
            <a:extLst xmlns:a="http://schemas.openxmlformats.org/drawingml/2006/main">
              <a:ext uri="{FF2B5EF4-FFF2-40B4-BE49-F238E27FC236}">
                <a16:creationId xmlns:a16="http://schemas.microsoft.com/office/drawing/2014/main" id="{FD36B78C-F742-4A92-BEFA-708003D91EFB}"/>
              </a:ext>
            </a:extLst>
          </p:cNvPr>
          <p:cNvSpPr>
            <a:spLocks xmlns:a="http://schemas.openxmlformats.org/drawingml/2006/main" noGrp="1"/>
          </p:cNvSpPr>
          <p:nvPr/>
        </p:nvSpPr>
        <p:spPr>
          <a:xfrm xmlns:a="http://schemas.openxmlformats.org/drawingml/2006/main">
            <a:off x="781050" y="6238875"/>
            <a:ext cx="304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0">
                <a:solidFill>
                  <a:srgbClr val="7C898B"/>
                </a:solidFill>
                <a:latin typeface="Source Sans 3"/>
                <a:ea typeface="Source Sans 3"/>
                <a:cs typeface="Source Sans 3"/>
              </a:defRPr>
            </a:pPr>
            <a:r>
              <a:rPr sz="1125" b="0">
                <a:solidFill>
                  <a:srgbClr val="7C898B"/>
                </a:solidFill>
                <a:latin typeface="Source Sans 3"/>
                <a:ea typeface="Source Sans 3"/>
                <a:cs typeface="Source Sans 3"/>
              </a:rPr>
              <a:t>Zamboanga City</a:t>
            </a:r>
          </a:p>
        </p:txBody>
      </p:sp>
    </p:spTree>
    <p:extLst>
      <p:ext uri="{BB962C8B-B14F-4D97-AF65-F5344CB8AC3E}">
        <p14:creationId xmlns:p14="http://schemas.microsoft.com/office/powerpoint/2010/main" val="1484281503"/>
      </p:ext>
    </p:extLst>
  </p:cSld>
</p:sld>
</file>

<file path=ppt/slides/slide2.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85" name="">
            <a:extLst xmlns:a="http://schemas.openxmlformats.org/drawingml/2006/main">
              <a:ext uri="{FF2B5EF4-FFF2-40B4-BE49-F238E27FC236}">
                <a16:creationId xmlns:a16="http://schemas.microsoft.com/office/drawing/2014/main" id="{626462BA-9066-4375-A372-A5AD97AF105B}"/>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A057BF3-4841-40B0-B80F-5C4FC523CFA0}"/>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PRESENTATION FLOW</a:t>
            </a:r>
          </a:p>
        </p:txBody>
      </p:sp>
      <p:sp>
        <p:nvSpPr>
          <p:cNvPr id="3" name="">
            <a:extLst xmlns:a="http://schemas.openxmlformats.org/drawingml/2006/main">
              <a:ext uri="{FF2B5EF4-FFF2-40B4-BE49-F238E27FC236}">
                <a16:creationId xmlns:a16="http://schemas.microsoft.com/office/drawing/2014/main" id="{E77CC92A-215E-44D0-98CD-8875230EBA10}"/>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Presentation Flow</a:t>
            </a:r>
          </a:p>
        </p:txBody>
      </p:sp>
      <p:sp>
        <p:nvSpPr>
          <p:cNvPr id="4" name="">
            <a:extLst xmlns:a="http://schemas.openxmlformats.org/drawingml/2006/main">
              <a:ext uri="{FF2B5EF4-FFF2-40B4-BE49-F238E27FC236}">
                <a16:creationId xmlns:a16="http://schemas.microsoft.com/office/drawing/2014/main" id="{90CB9AFC-9820-4257-9E7E-90E570D170BC}"/>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E447E941-E80C-4CCD-AC84-20970E531358}"/>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Outline follows the requested order and the revised manuscript</a:t>
            </a:r>
          </a:p>
        </p:txBody>
      </p:sp>
      <p:sp>
        <p:nvSpPr>
          <p:cNvPr id="6" name="">
            <a:extLst xmlns:a="http://schemas.openxmlformats.org/drawingml/2006/main">
              <a:ext uri="{FF2B5EF4-FFF2-40B4-BE49-F238E27FC236}">
                <a16:creationId xmlns:a16="http://schemas.microsoft.com/office/drawing/2014/main" id="{BB03E9D3-1C13-410E-8958-8EE71DDB9F2E}"/>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02</a:t>
            </a:r>
          </a:p>
        </p:txBody>
      </p:sp>
      <p:sp>
        <p:nvSpPr>
          <p:cNvPr id="7" name="">
            <a:extLst xmlns:a="http://schemas.openxmlformats.org/drawingml/2006/main">
              <a:ext uri="{FF2B5EF4-FFF2-40B4-BE49-F238E27FC236}">
                <a16:creationId xmlns:a16="http://schemas.microsoft.com/office/drawing/2014/main" id="{0A86329E-F10A-466D-A639-FB26CCAE6EF1}"/>
              </a:ext>
            </a:extLst>
          </p:cNvPr>
          <p:cNvSpPr>
            <a:spLocks xmlns:a="http://schemas.openxmlformats.org/drawingml/2006/main" noGrp="1"/>
          </p:cNvSpPr>
          <p:nvPr/>
        </p:nvSpPr>
        <p:spPr>
          <a:xfrm xmlns:a="http://schemas.openxmlformats.org/drawingml/2006/main">
            <a:off x="876300" y="1409700"/>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01</a:t>
            </a:r>
          </a:p>
        </p:txBody>
      </p:sp>
      <p:sp>
        <p:nvSpPr>
          <p:cNvPr id="8" name="">
            <a:extLst xmlns:a="http://schemas.openxmlformats.org/drawingml/2006/main">
              <a:ext uri="{FF2B5EF4-FFF2-40B4-BE49-F238E27FC236}">
                <a16:creationId xmlns:a16="http://schemas.microsoft.com/office/drawing/2014/main" id="{951A7AF7-F747-4E95-89BE-9D03AB70F3A2}"/>
              </a:ext>
            </a:extLst>
          </p:cNvPr>
          <p:cNvSpPr>
            <a:spLocks xmlns:a="http://schemas.openxmlformats.org/drawingml/2006/main" noGrp="1"/>
          </p:cNvSpPr>
          <p:nvPr/>
        </p:nvSpPr>
        <p:spPr>
          <a:xfrm xmlns:a="http://schemas.openxmlformats.org/drawingml/2006/main">
            <a:off x="1333500" y="1409700"/>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RA 10121: the mandate</a:t>
            </a:r>
          </a:p>
        </p:txBody>
      </p:sp>
      <p:sp>
        <p:nvSpPr>
          <p:cNvPr id="9" name="">
            <a:extLst xmlns:a="http://schemas.openxmlformats.org/drawingml/2006/main">
              <a:ext uri="{FF2B5EF4-FFF2-40B4-BE49-F238E27FC236}">
                <a16:creationId xmlns:a16="http://schemas.microsoft.com/office/drawing/2014/main" id="{84C2AC32-719D-4BFB-B057-F101F9761D22}"/>
              </a:ext>
            </a:extLst>
          </p:cNvPr>
          <p:cNvSpPr>
            <a:spLocks xmlns:a="http://schemas.openxmlformats.org/drawingml/2006/main" noGrp="1"/>
          </p:cNvSpPr>
          <p:nvPr/>
        </p:nvSpPr>
        <p:spPr>
          <a:xfrm xmlns:a="http://schemas.openxmlformats.org/drawingml/2006/main">
            <a:off x="1333500" y="1828800"/>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0" name="">
            <a:extLst xmlns:a="http://schemas.openxmlformats.org/drawingml/2006/main">
              <a:ext uri="{FF2B5EF4-FFF2-40B4-BE49-F238E27FC236}">
                <a16:creationId xmlns:a16="http://schemas.microsoft.com/office/drawing/2014/main" id="{80ACF2AE-3D97-404B-BD3F-5EDF403430AF}"/>
              </a:ext>
            </a:extLst>
          </p:cNvPr>
          <p:cNvSpPr>
            <a:spLocks xmlns:a="http://schemas.openxmlformats.org/drawingml/2006/main" noGrp="1"/>
          </p:cNvSpPr>
          <p:nvPr/>
        </p:nvSpPr>
        <p:spPr>
          <a:xfrm xmlns:a="http://schemas.openxmlformats.org/drawingml/2006/main">
            <a:off x="876300" y="1895475"/>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02</a:t>
            </a:r>
          </a:p>
        </p:txBody>
      </p:sp>
      <p:sp>
        <p:nvSpPr>
          <p:cNvPr id="11" name="">
            <a:extLst xmlns:a="http://schemas.openxmlformats.org/drawingml/2006/main">
              <a:ext uri="{FF2B5EF4-FFF2-40B4-BE49-F238E27FC236}">
                <a16:creationId xmlns:a16="http://schemas.microsoft.com/office/drawing/2014/main" id="{49268A9F-7872-43C1-A3F5-7C928AC01726}"/>
              </a:ext>
            </a:extLst>
          </p:cNvPr>
          <p:cNvSpPr>
            <a:spLocks xmlns:a="http://schemas.openxmlformats.org/drawingml/2006/main" noGrp="1"/>
          </p:cNvSpPr>
          <p:nvPr/>
        </p:nvSpPr>
        <p:spPr>
          <a:xfrm xmlns:a="http://schemas.openxmlformats.org/drawingml/2006/main">
            <a:off x="1333500" y="1895475"/>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Situation Report</a:t>
            </a:r>
          </a:p>
        </p:txBody>
      </p:sp>
      <p:sp>
        <p:nvSpPr>
          <p:cNvPr id="12" name="">
            <a:extLst xmlns:a="http://schemas.openxmlformats.org/drawingml/2006/main">
              <a:ext uri="{FF2B5EF4-FFF2-40B4-BE49-F238E27FC236}">
                <a16:creationId xmlns:a16="http://schemas.microsoft.com/office/drawing/2014/main" id="{FA976F93-44DE-4E1F-B1E5-8562B8097425}"/>
              </a:ext>
            </a:extLst>
          </p:cNvPr>
          <p:cNvSpPr>
            <a:spLocks xmlns:a="http://schemas.openxmlformats.org/drawingml/2006/main" noGrp="1"/>
          </p:cNvSpPr>
          <p:nvPr/>
        </p:nvSpPr>
        <p:spPr>
          <a:xfrm xmlns:a="http://schemas.openxmlformats.org/drawingml/2006/main">
            <a:off x="1333500" y="2314575"/>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3" name="">
            <a:extLst xmlns:a="http://schemas.openxmlformats.org/drawingml/2006/main">
              <a:ext uri="{FF2B5EF4-FFF2-40B4-BE49-F238E27FC236}">
                <a16:creationId xmlns:a16="http://schemas.microsoft.com/office/drawing/2014/main" id="{7F2D763B-E207-4EC9-9988-488C4ADAEB1E}"/>
              </a:ext>
            </a:extLst>
          </p:cNvPr>
          <p:cNvSpPr>
            <a:spLocks xmlns:a="http://schemas.openxmlformats.org/drawingml/2006/main" noGrp="1"/>
          </p:cNvSpPr>
          <p:nvPr/>
        </p:nvSpPr>
        <p:spPr>
          <a:xfrm xmlns:a="http://schemas.openxmlformats.org/drawingml/2006/main">
            <a:off x="876300" y="2381250"/>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03</a:t>
            </a:r>
          </a:p>
        </p:txBody>
      </p:sp>
      <p:sp>
        <p:nvSpPr>
          <p:cNvPr id="14" name="">
            <a:extLst xmlns:a="http://schemas.openxmlformats.org/drawingml/2006/main">
              <a:ext uri="{FF2B5EF4-FFF2-40B4-BE49-F238E27FC236}">
                <a16:creationId xmlns:a16="http://schemas.microsoft.com/office/drawing/2014/main" id="{2FE331FA-FCF1-4873-B5ED-1A3C48830F56}"/>
              </a:ext>
            </a:extLst>
          </p:cNvPr>
          <p:cNvSpPr>
            <a:spLocks xmlns:a="http://schemas.openxmlformats.org/drawingml/2006/main" noGrp="1"/>
          </p:cNvSpPr>
          <p:nvPr/>
        </p:nvSpPr>
        <p:spPr>
          <a:xfrm xmlns:a="http://schemas.openxmlformats.org/drawingml/2006/main">
            <a:off x="1333500" y="2381250"/>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Current workflow</a:t>
            </a:r>
          </a:p>
        </p:txBody>
      </p:sp>
      <p:sp>
        <p:nvSpPr>
          <p:cNvPr id="15" name="">
            <a:extLst xmlns:a="http://schemas.openxmlformats.org/drawingml/2006/main">
              <a:ext uri="{FF2B5EF4-FFF2-40B4-BE49-F238E27FC236}">
                <a16:creationId xmlns:a16="http://schemas.microsoft.com/office/drawing/2014/main" id="{ADEC9085-F5EC-4D3D-829A-0BD5F5EA6085}"/>
              </a:ext>
            </a:extLst>
          </p:cNvPr>
          <p:cNvSpPr>
            <a:spLocks xmlns:a="http://schemas.openxmlformats.org/drawingml/2006/main" noGrp="1"/>
          </p:cNvSpPr>
          <p:nvPr/>
        </p:nvSpPr>
        <p:spPr>
          <a:xfrm xmlns:a="http://schemas.openxmlformats.org/drawingml/2006/main">
            <a:off x="1333500" y="2800350"/>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6" name="">
            <a:extLst xmlns:a="http://schemas.openxmlformats.org/drawingml/2006/main">
              <a:ext uri="{FF2B5EF4-FFF2-40B4-BE49-F238E27FC236}">
                <a16:creationId xmlns:a16="http://schemas.microsoft.com/office/drawing/2014/main" id="{D3E87DB0-F904-4048-80E6-28E58EF38F1A}"/>
              </a:ext>
            </a:extLst>
          </p:cNvPr>
          <p:cNvSpPr>
            <a:spLocks xmlns:a="http://schemas.openxmlformats.org/drawingml/2006/main" noGrp="1"/>
          </p:cNvSpPr>
          <p:nvPr/>
        </p:nvSpPr>
        <p:spPr>
          <a:xfrm xmlns:a="http://schemas.openxmlformats.org/drawingml/2006/main">
            <a:off x="876300" y="2867025"/>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04</a:t>
            </a:r>
          </a:p>
        </p:txBody>
      </p:sp>
      <p:sp>
        <p:nvSpPr>
          <p:cNvPr id="17" name="">
            <a:extLst xmlns:a="http://schemas.openxmlformats.org/drawingml/2006/main">
              <a:ext uri="{FF2B5EF4-FFF2-40B4-BE49-F238E27FC236}">
                <a16:creationId xmlns:a16="http://schemas.microsoft.com/office/drawing/2014/main" id="{34497240-3FB2-4941-BDA0-DD175AA63842}"/>
              </a:ext>
            </a:extLst>
          </p:cNvPr>
          <p:cNvSpPr>
            <a:spLocks xmlns:a="http://schemas.openxmlformats.org/drawingml/2006/main" noGrp="1"/>
          </p:cNvSpPr>
          <p:nvPr/>
        </p:nvSpPr>
        <p:spPr>
          <a:xfrm xmlns:a="http://schemas.openxmlformats.org/drawingml/2006/main">
            <a:off x="1333500" y="2867025"/>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Implications of the current workflow</a:t>
            </a:r>
          </a:p>
        </p:txBody>
      </p:sp>
      <p:sp>
        <p:nvSpPr>
          <p:cNvPr id="18" name="">
            <a:extLst xmlns:a="http://schemas.openxmlformats.org/drawingml/2006/main">
              <a:ext uri="{FF2B5EF4-FFF2-40B4-BE49-F238E27FC236}">
                <a16:creationId xmlns:a16="http://schemas.microsoft.com/office/drawing/2014/main" id="{5476DD2E-3EB9-4921-B4AC-C0B0CDCC7A23}"/>
              </a:ext>
            </a:extLst>
          </p:cNvPr>
          <p:cNvSpPr>
            <a:spLocks xmlns:a="http://schemas.openxmlformats.org/drawingml/2006/main" noGrp="1"/>
          </p:cNvSpPr>
          <p:nvPr/>
        </p:nvSpPr>
        <p:spPr>
          <a:xfrm xmlns:a="http://schemas.openxmlformats.org/drawingml/2006/main">
            <a:off x="1333500" y="3286125"/>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9" name="">
            <a:extLst xmlns:a="http://schemas.openxmlformats.org/drawingml/2006/main">
              <a:ext uri="{FF2B5EF4-FFF2-40B4-BE49-F238E27FC236}">
                <a16:creationId xmlns:a16="http://schemas.microsoft.com/office/drawing/2014/main" id="{073B6D59-C237-4B2E-B5F2-317EF628F3B9}"/>
              </a:ext>
            </a:extLst>
          </p:cNvPr>
          <p:cNvSpPr>
            <a:spLocks xmlns:a="http://schemas.openxmlformats.org/drawingml/2006/main" noGrp="1"/>
          </p:cNvSpPr>
          <p:nvPr/>
        </p:nvSpPr>
        <p:spPr>
          <a:xfrm xmlns:a="http://schemas.openxmlformats.org/drawingml/2006/main">
            <a:off x="876300" y="3352800"/>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05</a:t>
            </a:r>
          </a:p>
        </p:txBody>
      </p:sp>
      <p:sp>
        <p:nvSpPr>
          <p:cNvPr id="20" name="">
            <a:extLst xmlns:a="http://schemas.openxmlformats.org/drawingml/2006/main">
              <a:ext uri="{FF2B5EF4-FFF2-40B4-BE49-F238E27FC236}">
                <a16:creationId xmlns:a16="http://schemas.microsoft.com/office/drawing/2014/main" id="{D7D92E52-F768-463E-A7BC-C8473E2FE5DB}"/>
              </a:ext>
            </a:extLst>
          </p:cNvPr>
          <p:cNvSpPr>
            <a:spLocks xmlns:a="http://schemas.openxmlformats.org/drawingml/2006/main" noGrp="1"/>
          </p:cNvSpPr>
          <p:nvPr/>
        </p:nvSpPr>
        <p:spPr>
          <a:xfrm xmlns:a="http://schemas.openxmlformats.org/drawingml/2006/main">
            <a:off x="1333500" y="3352800"/>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99962"/>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Possible solutions and why they are insufficient alone</a:t>
            </a:r>
          </a:p>
        </p:txBody>
      </p:sp>
      <p:sp>
        <p:nvSpPr>
          <p:cNvPr id="21" name="">
            <a:extLst xmlns:a="http://schemas.openxmlformats.org/drawingml/2006/main">
              <a:ext uri="{FF2B5EF4-FFF2-40B4-BE49-F238E27FC236}">
                <a16:creationId xmlns:a16="http://schemas.microsoft.com/office/drawing/2014/main" id="{EFD4C999-9C2D-4092-87FA-1EDBF22B8CC4}"/>
              </a:ext>
            </a:extLst>
          </p:cNvPr>
          <p:cNvSpPr>
            <a:spLocks xmlns:a="http://schemas.openxmlformats.org/drawingml/2006/main" noGrp="1"/>
          </p:cNvSpPr>
          <p:nvPr/>
        </p:nvSpPr>
        <p:spPr>
          <a:xfrm xmlns:a="http://schemas.openxmlformats.org/drawingml/2006/main">
            <a:off x="1333500" y="3771900"/>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2" name="">
            <a:extLst xmlns:a="http://schemas.openxmlformats.org/drawingml/2006/main">
              <a:ext uri="{FF2B5EF4-FFF2-40B4-BE49-F238E27FC236}">
                <a16:creationId xmlns:a16="http://schemas.microsoft.com/office/drawing/2014/main" id="{7C485727-B404-4FE1-B990-7514E5B0FF50}"/>
              </a:ext>
            </a:extLst>
          </p:cNvPr>
          <p:cNvSpPr>
            <a:spLocks xmlns:a="http://schemas.openxmlformats.org/drawingml/2006/main" noGrp="1"/>
          </p:cNvSpPr>
          <p:nvPr/>
        </p:nvSpPr>
        <p:spPr>
          <a:xfrm xmlns:a="http://schemas.openxmlformats.org/drawingml/2006/main">
            <a:off x="876300" y="3838575"/>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06</a:t>
            </a:r>
          </a:p>
        </p:txBody>
      </p:sp>
      <p:sp>
        <p:nvSpPr>
          <p:cNvPr id="23" name="">
            <a:extLst xmlns:a="http://schemas.openxmlformats.org/drawingml/2006/main">
              <a:ext uri="{FF2B5EF4-FFF2-40B4-BE49-F238E27FC236}">
                <a16:creationId xmlns:a16="http://schemas.microsoft.com/office/drawing/2014/main" id="{310C53A8-6233-43A4-A23A-5C9BCFAF1941}"/>
              </a:ext>
            </a:extLst>
          </p:cNvPr>
          <p:cNvSpPr>
            <a:spLocks xmlns:a="http://schemas.openxmlformats.org/drawingml/2006/main" noGrp="1"/>
          </p:cNvSpPr>
          <p:nvPr/>
        </p:nvSpPr>
        <p:spPr>
          <a:xfrm xmlns:a="http://schemas.openxmlformats.org/drawingml/2006/main">
            <a:off x="1333500" y="3838575"/>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Problem statement</a:t>
            </a:r>
          </a:p>
        </p:txBody>
      </p:sp>
      <p:sp>
        <p:nvSpPr>
          <p:cNvPr id="24" name="">
            <a:extLst xmlns:a="http://schemas.openxmlformats.org/drawingml/2006/main">
              <a:ext uri="{FF2B5EF4-FFF2-40B4-BE49-F238E27FC236}">
                <a16:creationId xmlns:a16="http://schemas.microsoft.com/office/drawing/2014/main" id="{9B544302-4557-43C5-A2FB-FD4732CE3CD7}"/>
              </a:ext>
            </a:extLst>
          </p:cNvPr>
          <p:cNvSpPr>
            <a:spLocks xmlns:a="http://schemas.openxmlformats.org/drawingml/2006/main" noGrp="1"/>
          </p:cNvSpPr>
          <p:nvPr/>
        </p:nvSpPr>
        <p:spPr>
          <a:xfrm xmlns:a="http://schemas.openxmlformats.org/drawingml/2006/main">
            <a:off x="1333500" y="4257675"/>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5" name="">
            <a:extLst xmlns:a="http://schemas.openxmlformats.org/drawingml/2006/main">
              <a:ext uri="{FF2B5EF4-FFF2-40B4-BE49-F238E27FC236}">
                <a16:creationId xmlns:a16="http://schemas.microsoft.com/office/drawing/2014/main" id="{9619480E-957A-447F-9951-783C206A03EA}"/>
              </a:ext>
            </a:extLst>
          </p:cNvPr>
          <p:cNvSpPr>
            <a:spLocks xmlns:a="http://schemas.openxmlformats.org/drawingml/2006/main" noGrp="1"/>
          </p:cNvSpPr>
          <p:nvPr/>
        </p:nvSpPr>
        <p:spPr>
          <a:xfrm xmlns:a="http://schemas.openxmlformats.org/drawingml/2006/main">
            <a:off x="876300" y="4324350"/>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07</a:t>
            </a:r>
          </a:p>
        </p:txBody>
      </p:sp>
      <p:sp>
        <p:nvSpPr>
          <p:cNvPr id="26" name="">
            <a:extLst xmlns:a="http://schemas.openxmlformats.org/drawingml/2006/main">
              <a:ext uri="{FF2B5EF4-FFF2-40B4-BE49-F238E27FC236}">
                <a16:creationId xmlns:a16="http://schemas.microsoft.com/office/drawing/2014/main" id="{1F49124C-0DAA-4416-AC2D-92BCAA80DDEF}"/>
              </a:ext>
            </a:extLst>
          </p:cNvPr>
          <p:cNvSpPr>
            <a:spLocks xmlns:a="http://schemas.openxmlformats.org/drawingml/2006/main" noGrp="1"/>
          </p:cNvSpPr>
          <p:nvPr/>
        </p:nvSpPr>
        <p:spPr>
          <a:xfrm xmlns:a="http://schemas.openxmlformats.org/drawingml/2006/main">
            <a:off x="1333500" y="4324350"/>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Workflow gaps and mandated practice</a:t>
            </a:r>
          </a:p>
        </p:txBody>
      </p:sp>
      <p:sp>
        <p:nvSpPr>
          <p:cNvPr id="27" name="">
            <a:extLst xmlns:a="http://schemas.openxmlformats.org/drawingml/2006/main">
              <a:ext uri="{FF2B5EF4-FFF2-40B4-BE49-F238E27FC236}">
                <a16:creationId xmlns:a16="http://schemas.microsoft.com/office/drawing/2014/main" id="{FEA16D2D-1BAE-41AF-B9CA-7143F04407F6}"/>
              </a:ext>
            </a:extLst>
          </p:cNvPr>
          <p:cNvSpPr>
            <a:spLocks xmlns:a="http://schemas.openxmlformats.org/drawingml/2006/main" noGrp="1"/>
          </p:cNvSpPr>
          <p:nvPr/>
        </p:nvSpPr>
        <p:spPr>
          <a:xfrm xmlns:a="http://schemas.openxmlformats.org/drawingml/2006/main">
            <a:off x="1333500" y="4743450"/>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8" name="">
            <a:extLst xmlns:a="http://schemas.openxmlformats.org/drawingml/2006/main">
              <a:ext uri="{FF2B5EF4-FFF2-40B4-BE49-F238E27FC236}">
                <a16:creationId xmlns:a16="http://schemas.microsoft.com/office/drawing/2014/main" id="{E8397FE2-9CB9-4D86-9026-5589BA53B2FF}"/>
              </a:ext>
            </a:extLst>
          </p:cNvPr>
          <p:cNvSpPr>
            <a:spLocks xmlns:a="http://schemas.openxmlformats.org/drawingml/2006/main" noGrp="1"/>
          </p:cNvSpPr>
          <p:nvPr/>
        </p:nvSpPr>
        <p:spPr>
          <a:xfrm xmlns:a="http://schemas.openxmlformats.org/drawingml/2006/main">
            <a:off x="876300" y="4810125"/>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08</a:t>
            </a:r>
          </a:p>
        </p:txBody>
      </p:sp>
      <p:sp>
        <p:nvSpPr>
          <p:cNvPr id="29" name="">
            <a:extLst xmlns:a="http://schemas.openxmlformats.org/drawingml/2006/main">
              <a:ext uri="{FF2B5EF4-FFF2-40B4-BE49-F238E27FC236}">
                <a16:creationId xmlns:a16="http://schemas.microsoft.com/office/drawing/2014/main" id="{AFE2BE1B-F82F-4B69-99A9-CD68F2F9C8ED}"/>
              </a:ext>
            </a:extLst>
          </p:cNvPr>
          <p:cNvSpPr>
            <a:spLocks xmlns:a="http://schemas.openxmlformats.org/drawingml/2006/main" noGrp="1"/>
          </p:cNvSpPr>
          <p:nvPr/>
        </p:nvSpPr>
        <p:spPr>
          <a:xfrm xmlns:a="http://schemas.openxmlformats.org/drawingml/2006/main">
            <a:off x="1333500" y="4810125"/>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Proposed system</a:t>
            </a:r>
          </a:p>
        </p:txBody>
      </p:sp>
      <p:sp>
        <p:nvSpPr>
          <p:cNvPr id="30" name="">
            <a:extLst xmlns:a="http://schemas.openxmlformats.org/drawingml/2006/main">
              <a:ext uri="{FF2B5EF4-FFF2-40B4-BE49-F238E27FC236}">
                <a16:creationId xmlns:a16="http://schemas.microsoft.com/office/drawing/2014/main" id="{4782A1BD-4EB2-4303-9896-A83B14634EB8}"/>
              </a:ext>
            </a:extLst>
          </p:cNvPr>
          <p:cNvSpPr>
            <a:spLocks xmlns:a="http://schemas.openxmlformats.org/drawingml/2006/main" noGrp="1"/>
          </p:cNvSpPr>
          <p:nvPr/>
        </p:nvSpPr>
        <p:spPr>
          <a:xfrm xmlns:a="http://schemas.openxmlformats.org/drawingml/2006/main">
            <a:off x="1333500" y="5229225"/>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31" name="">
            <a:extLst xmlns:a="http://schemas.openxmlformats.org/drawingml/2006/main">
              <a:ext uri="{FF2B5EF4-FFF2-40B4-BE49-F238E27FC236}">
                <a16:creationId xmlns:a16="http://schemas.microsoft.com/office/drawing/2014/main" id="{DF2A9185-0F1B-4A4F-89DF-412ADB5A2F2A}"/>
              </a:ext>
            </a:extLst>
          </p:cNvPr>
          <p:cNvSpPr>
            <a:spLocks xmlns:a="http://schemas.openxmlformats.org/drawingml/2006/main" noGrp="1"/>
          </p:cNvSpPr>
          <p:nvPr/>
        </p:nvSpPr>
        <p:spPr>
          <a:xfrm xmlns:a="http://schemas.openxmlformats.org/drawingml/2006/main">
            <a:off x="876300" y="5295900"/>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09</a:t>
            </a:r>
          </a:p>
        </p:txBody>
      </p:sp>
      <p:sp>
        <p:nvSpPr>
          <p:cNvPr id="32" name="">
            <a:extLst xmlns:a="http://schemas.openxmlformats.org/drawingml/2006/main">
              <a:ext uri="{FF2B5EF4-FFF2-40B4-BE49-F238E27FC236}">
                <a16:creationId xmlns:a16="http://schemas.microsoft.com/office/drawing/2014/main" id="{D9F9E0BD-BFFF-4302-B176-1D110A827DC0}"/>
              </a:ext>
            </a:extLst>
          </p:cNvPr>
          <p:cNvSpPr>
            <a:spLocks xmlns:a="http://schemas.openxmlformats.org/drawingml/2006/main" noGrp="1"/>
          </p:cNvSpPr>
          <p:nvPr/>
        </p:nvSpPr>
        <p:spPr>
          <a:xfrm xmlns:a="http://schemas.openxmlformats.org/drawingml/2006/main">
            <a:off x="1333500" y="5295900"/>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Proposed system objectives</a:t>
            </a:r>
          </a:p>
        </p:txBody>
      </p:sp>
      <p:sp>
        <p:nvSpPr>
          <p:cNvPr id="33" name="">
            <a:extLst xmlns:a="http://schemas.openxmlformats.org/drawingml/2006/main">
              <a:ext uri="{FF2B5EF4-FFF2-40B4-BE49-F238E27FC236}">
                <a16:creationId xmlns:a16="http://schemas.microsoft.com/office/drawing/2014/main" id="{3ABD6A27-082E-45D6-9294-818AEA9DA5FE}"/>
              </a:ext>
            </a:extLst>
          </p:cNvPr>
          <p:cNvSpPr>
            <a:spLocks xmlns:a="http://schemas.openxmlformats.org/drawingml/2006/main" noGrp="1"/>
          </p:cNvSpPr>
          <p:nvPr/>
        </p:nvSpPr>
        <p:spPr>
          <a:xfrm xmlns:a="http://schemas.openxmlformats.org/drawingml/2006/main">
            <a:off x="4438650" y="1409700"/>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10</a:t>
            </a:r>
          </a:p>
        </p:txBody>
      </p:sp>
      <p:sp>
        <p:nvSpPr>
          <p:cNvPr id="34" name="">
            <a:extLst xmlns:a="http://schemas.openxmlformats.org/drawingml/2006/main">
              <a:ext uri="{FF2B5EF4-FFF2-40B4-BE49-F238E27FC236}">
                <a16:creationId xmlns:a16="http://schemas.microsoft.com/office/drawing/2014/main" id="{FE808742-466B-4F21-B9D2-E11808CFD557}"/>
              </a:ext>
            </a:extLst>
          </p:cNvPr>
          <p:cNvSpPr>
            <a:spLocks xmlns:a="http://schemas.openxmlformats.org/drawingml/2006/main" noGrp="1"/>
          </p:cNvSpPr>
          <p:nvPr/>
        </p:nvSpPr>
        <p:spPr>
          <a:xfrm xmlns:a="http://schemas.openxmlformats.org/drawingml/2006/main">
            <a:off x="4895850" y="1409700"/>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Proposed system flowchart</a:t>
            </a:r>
          </a:p>
        </p:txBody>
      </p:sp>
      <p:sp>
        <p:nvSpPr>
          <p:cNvPr id="35" name="">
            <a:extLst xmlns:a="http://schemas.openxmlformats.org/drawingml/2006/main">
              <a:ext uri="{FF2B5EF4-FFF2-40B4-BE49-F238E27FC236}">
                <a16:creationId xmlns:a16="http://schemas.microsoft.com/office/drawing/2014/main" id="{C8646CFE-4035-41B3-B10C-880C2723D4E4}"/>
              </a:ext>
            </a:extLst>
          </p:cNvPr>
          <p:cNvSpPr>
            <a:spLocks xmlns:a="http://schemas.openxmlformats.org/drawingml/2006/main" noGrp="1"/>
          </p:cNvSpPr>
          <p:nvPr/>
        </p:nvSpPr>
        <p:spPr>
          <a:xfrm xmlns:a="http://schemas.openxmlformats.org/drawingml/2006/main">
            <a:off x="4895850" y="1828800"/>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36" name="">
            <a:extLst xmlns:a="http://schemas.openxmlformats.org/drawingml/2006/main">
              <a:ext uri="{FF2B5EF4-FFF2-40B4-BE49-F238E27FC236}">
                <a16:creationId xmlns:a16="http://schemas.microsoft.com/office/drawing/2014/main" id="{9BA5A8BF-B83D-4BC2-BCF4-6993907730C3}"/>
              </a:ext>
            </a:extLst>
          </p:cNvPr>
          <p:cNvSpPr>
            <a:spLocks xmlns:a="http://schemas.openxmlformats.org/drawingml/2006/main" noGrp="1"/>
          </p:cNvSpPr>
          <p:nvPr/>
        </p:nvSpPr>
        <p:spPr>
          <a:xfrm xmlns:a="http://schemas.openxmlformats.org/drawingml/2006/main">
            <a:off x="4438650" y="1895475"/>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11</a:t>
            </a:r>
          </a:p>
        </p:txBody>
      </p:sp>
      <p:sp>
        <p:nvSpPr>
          <p:cNvPr id="37" name="">
            <a:extLst xmlns:a="http://schemas.openxmlformats.org/drawingml/2006/main">
              <a:ext uri="{FF2B5EF4-FFF2-40B4-BE49-F238E27FC236}">
                <a16:creationId xmlns:a16="http://schemas.microsoft.com/office/drawing/2014/main" id="{E641573F-A5B4-40F3-A802-2D7054CFE00D}"/>
              </a:ext>
            </a:extLst>
          </p:cNvPr>
          <p:cNvSpPr>
            <a:spLocks xmlns:a="http://schemas.openxmlformats.org/drawingml/2006/main" noGrp="1"/>
          </p:cNvSpPr>
          <p:nvPr/>
        </p:nvSpPr>
        <p:spPr>
          <a:xfrm xmlns:a="http://schemas.openxmlformats.org/drawingml/2006/main">
            <a:off x="4895850" y="1895475"/>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Proposed system modules overview</a:t>
            </a:r>
          </a:p>
        </p:txBody>
      </p:sp>
      <p:sp>
        <p:nvSpPr>
          <p:cNvPr id="38" name="">
            <a:extLst xmlns:a="http://schemas.openxmlformats.org/drawingml/2006/main">
              <a:ext uri="{FF2B5EF4-FFF2-40B4-BE49-F238E27FC236}">
                <a16:creationId xmlns:a16="http://schemas.microsoft.com/office/drawing/2014/main" id="{6CDD3419-D575-48D1-8650-99FD501CDF43}"/>
              </a:ext>
            </a:extLst>
          </p:cNvPr>
          <p:cNvSpPr>
            <a:spLocks xmlns:a="http://schemas.openxmlformats.org/drawingml/2006/main" noGrp="1"/>
          </p:cNvSpPr>
          <p:nvPr/>
        </p:nvSpPr>
        <p:spPr>
          <a:xfrm xmlns:a="http://schemas.openxmlformats.org/drawingml/2006/main">
            <a:off x="4895850" y="2314575"/>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39" name="">
            <a:extLst xmlns:a="http://schemas.openxmlformats.org/drawingml/2006/main">
              <a:ext uri="{FF2B5EF4-FFF2-40B4-BE49-F238E27FC236}">
                <a16:creationId xmlns:a16="http://schemas.microsoft.com/office/drawing/2014/main" id="{7386D661-476A-4203-944E-90D0FB746611}"/>
              </a:ext>
            </a:extLst>
          </p:cNvPr>
          <p:cNvSpPr>
            <a:spLocks xmlns:a="http://schemas.openxmlformats.org/drawingml/2006/main" noGrp="1"/>
          </p:cNvSpPr>
          <p:nvPr/>
        </p:nvSpPr>
        <p:spPr>
          <a:xfrm xmlns:a="http://schemas.openxmlformats.org/drawingml/2006/main">
            <a:off x="4438650" y="2381250"/>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12</a:t>
            </a:r>
          </a:p>
        </p:txBody>
      </p:sp>
      <p:sp>
        <p:nvSpPr>
          <p:cNvPr id="40" name="">
            <a:extLst xmlns:a="http://schemas.openxmlformats.org/drawingml/2006/main">
              <a:ext uri="{FF2B5EF4-FFF2-40B4-BE49-F238E27FC236}">
                <a16:creationId xmlns:a16="http://schemas.microsoft.com/office/drawing/2014/main" id="{A685EE3C-0668-4FFA-9BFD-E2E3DCE79526}"/>
              </a:ext>
            </a:extLst>
          </p:cNvPr>
          <p:cNvSpPr>
            <a:spLocks xmlns:a="http://schemas.openxmlformats.org/drawingml/2006/main" noGrp="1"/>
          </p:cNvSpPr>
          <p:nvPr/>
        </p:nvSpPr>
        <p:spPr>
          <a:xfrm xmlns:a="http://schemas.openxmlformats.org/drawingml/2006/main">
            <a:off x="4895850" y="2381250"/>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Existing systems</a:t>
            </a:r>
          </a:p>
        </p:txBody>
      </p:sp>
      <p:sp>
        <p:nvSpPr>
          <p:cNvPr id="41" name="">
            <a:extLst xmlns:a="http://schemas.openxmlformats.org/drawingml/2006/main">
              <a:ext uri="{FF2B5EF4-FFF2-40B4-BE49-F238E27FC236}">
                <a16:creationId xmlns:a16="http://schemas.microsoft.com/office/drawing/2014/main" id="{60BE6634-A8BE-44AC-BD0F-9FE72C3302CD}"/>
              </a:ext>
            </a:extLst>
          </p:cNvPr>
          <p:cNvSpPr>
            <a:spLocks xmlns:a="http://schemas.openxmlformats.org/drawingml/2006/main" noGrp="1"/>
          </p:cNvSpPr>
          <p:nvPr/>
        </p:nvSpPr>
        <p:spPr>
          <a:xfrm xmlns:a="http://schemas.openxmlformats.org/drawingml/2006/main">
            <a:off x="4895850" y="2800350"/>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42" name="">
            <a:extLst xmlns:a="http://schemas.openxmlformats.org/drawingml/2006/main">
              <a:ext uri="{FF2B5EF4-FFF2-40B4-BE49-F238E27FC236}">
                <a16:creationId xmlns:a16="http://schemas.microsoft.com/office/drawing/2014/main" id="{67FFA90E-F69E-442B-A352-FC560DF2D99F}"/>
              </a:ext>
            </a:extLst>
          </p:cNvPr>
          <p:cNvSpPr>
            <a:spLocks xmlns:a="http://schemas.openxmlformats.org/drawingml/2006/main" noGrp="1"/>
          </p:cNvSpPr>
          <p:nvPr/>
        </p:nvSpPr>
        <p:spPr>
          <a:xfrm xmlns:a="http://schemas.openxmlformats.org/drawingml/2006/main">
            <a:off x="4438650" y="2867025"/>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13</a:t>
            </a:r>
          </a:p>
        </p:txBody>
      </p:sp>
      <p:sp>
        <p:nvSpPr>
          <p:cNvPr id="43" name="">
            <a:extLst xmlns:a="http://schemas.openxmlformats.org/drawingml/2006/main">
              <a:ext uri="{FF2B5EF4-FFF2-40B4-BE49-F238E27FC236}">
                <a16:creationId xmlns:a16="http://schemas.microsoft.com/office/drawing/2014/main" id="{6FF41FE0-792C-40E6-805C-73CA7A831095}"/>
              </a:ext>
            </a:extLst>
          </p:cNvPr>
          <p:cNvSpPr>
            <a:spLocks xmlns:a="http://schemas.openxmlformats.org/drawingml/2006/main" noGrp="1"/>
          </p:cNvSpPr>
          <p:nvPr/>
        </p:nvSpPr>
        <p:spPr>
          <a:xfrm xmlns:a="http://schemas.openxmlformats.org/drawingml/2006/main">
            <a:off x="4895850" y="2867025"/>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Problem, objectives, and modules</a:t>
            </a:r>
          </a:p>
        </p:txBody>
      </p:sp>
      <p:sp>
        <p:nvSpPr>
          <p:cNvPr id="44" name="">
            <a:extLst xmlns:a="http://schemas.openxmlformats.org/drawingml/2006/main">
              <a:ext uri="{FF2B5EF4-FFF2-40B4-BE49-F238E27FC236}">
                <a16:creationId xmlns:a16="http://schemas.microsoft.com/office/drawing/2014/main" id="{9B40E137-0F03-47CA-B433-9206B8C9BF6E}"/>
              </a:ext>
            </a:extLst>
          </p:cNvPr>
          <p:cNvSpPr>
            <a:spLocks xmlns:a="http://schemas.openxmlformats.org/drawingml/2006/main" noGrp="1"/>
          </p:cNvSpPr>
          <p:nvPr/>
        </p:nvSpPr>
        <p:spPr>
          <a:xfrm xmlns:a="http://schemas.openxmlformats.org/drawingml/2006/main">
            <a:off x="4895850" y="3286125"/>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45" name="">
            <a:extLst xmlns:a="http://schemas.openxmlformats.org/drawingml/2006/main">
              <a:ext uri="{FF2B5EF4-FFF2-40B4-BE49-F238E27FC236}">
                <a16:creationId xmlns:a16="http://schemas.microsoft.com/office/drawing/2014/main" id="{0BB604D1-5E8B-4AFF-994C-D4233D889849}"/>
              </a:ext>
            </a:extLst>
          </p:cNvPr>
          <p:cNvSpPr>
            <a:spLocks xmlns:a="http://schemas.openxmlformats.org/drawingml/2006/main" noGrp="1"/>
          </p:cNvSpPr>
          <p:nvPr/>
        </p:nvSpPr>
        <p:spPr>
          <a:xfrm xmlns:a="http://schemas.openxmlformats.org/drawingml/2006/main">
            <a:off x="4438650" y="3352800"/>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14</a:t>
            </a:r>
          </a:p>
        </p:txBody>
      </p:sp>
      <p:sp>
        <p:nvSpPr>
          <p:cNvPr id="46" name="">
            <a:extLst xmlns:a="http://schemas.openxmlformats.org/drawingml/2006/main">
              <a:ext uri="{FF2B5EF4-FFF2-40B4-BE49-F238E27FC236}">
                <a16:creationId xmlns:a16="http://schemas.microsoft.com/office/drawing/2014/main" id="{40F9E58A-7196-49D0-8047-D4070BC72003}"/>
              </a:ext>
            </a:extLst>
          </p:cNvPr>
          <p:cNvSpPr>
            <a:spLocks xmlns:a="http://schemas.openxmlformats.org/drawingml/2006/main" noGrp="1"/>
          </p:cNvSpPr>
          <p:nvPr/>
        </p:nvSpPr>
        <p:spPr>
          <a:xfrm xmlns:a="http://schemas.openxmlformats.org/drawingml/2006/main">
            <a:off x="4895850" y="3352800"/>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Users and characteristics</a:t>
            </a:r>
          </a:p>
        </p:txBody>
      </p:sp>
      <p:sp>
        <p:nvSpPr>
          <p:cNvPr id="47" name="">
            <a:extLst xmlns:a="http://schemas.openxmlformats.org/drawingml/2006/main">
              <a:ext uri="{FF2B5EF4-FFF2-40B4-BE49-F238E27FC236}">
                <a16:creationId xmlns:a16="http://schemas.microsoft.com/office/drawing/2014/main" id="{F164A203-00DB-479B-9669-99A35CB102C1}"/>
              </a:ext>
            </a:extLst>
          </p:cNvPr>
          <p:cNvSpPr>
            <a:spLocks xmlns:a="http://schemas.openxmlformats.org/drawingml/2006/main" noGrp="1"/>
          </p:cNvSpPr>
          <p:nvPr/>
        </p:nvSpPr>
        <p:spPr>
          <a:xfrm xmlns:a="http://schemas.openxmlformats.org/drawingml/2006/main">
            <a:off x="4895850" y="3771900"/>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48" name="">
            <a:extLst xmlns:a="http://schemas.openxmlformats.org/drawingml/2006/main">
              <a:ext uri="{FF2B5EF4-FFF2-40B4-BE49-F238E27FC236}">
                <a16:creationId xmlns:a16="http://schemas.microsoft.com/office/drawing/2014/main" id="{A1314D17-EC16-4CC6-9D85-DA00F80A3C3D}"/>
              </a:ext>
            </a:extLst>
          </p:cNvPr>
          <p:cNvSpPr>
            <a:spLocks xmlns:a="http://schemas.openxmlformats.org/drawingml/2006/main" noGrp="1"/>
          </p:cNvSpPr>
          <p:nvPr/>
        </p:nvSpPr>
        <p:spPr>
          <a:xfrm xmlns:a="http://schemas.openxmlformats.org/drawingml/2006/main">
            <a:off x="4438650" y="3838575"/>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15</a:t>
            </a:r>
          </a:p>
        </p:txBody>
      </p:sp>
      <p:sp>
        <p:nvSpPr>
          <p:cNvPr id="49" name="">
            <a:extLst xmlns:a="http://schemas.openxmlformats.org/drawingml/2006/main">
              <a:ext uri="{FF2B5EF4-FFF2-40B4-BE49-F238E27FC236}">
                <a16:creationId xmlns:a16="http://schemas.microsoft.com/office/drawing/2014/main" id="{F2D6E94C-A00D-43CA-A436-B752B9C95A46}"/>
              </a:ext>
            </a:extLst>
          </p:cNvPr>
          <p:cNvSpPr>
            <a:spLocks xmlns:a="http://schemas.openxmlformats.org/drawingml/2006/main" noGrp="1"/>
          </p:cNvSpPr>
          <p:nvPr/>
        </p:nvSpPr>
        <p:spPr>
          <a:xfrm xmlns:a="http://schemas.openxmlformats.org/drawingml/2006/main">
            <a:off x="4895850" y="3838575"/>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Scope and limitations</a:t>
            </a:r>
          </a:p>
        </p:txBody>
      </p:sp>
      <p:sp>
        <p:nvSpPr>
          <p:cNvPr id="50" name="">
            <a:extLst xmlns:a="http://schemas.openxmlformats.org/drawingml/2006/main">
              <a:ext uri="{FF2B5EF4-FFF2-40B4-BE49-F238E27FC236}">
                <a16:creationId xmlns:a16="http://schemas.microsoft.com/office/drawing/2014/main" id="{D8E5C148-2906-47E1-95D4-AA3014E2D86E}"/>
              </a:ext>
            </a:extLst>
          </p:cNvPr>
          <p:cNvSpPr>
            <a:spLocks xmlns:a="http://schemas.openxmlformats.org/drawingml/2006/main" noGrp="1"/>
          </p:cNvSpPr>
          <p:nvPr/>
        </p:nvSpPr>
        <p:spPr>
          <a:xfrm xmlns:a="http://schemas.openxmlformats.org/drawingml/2006/main">
            <a:off x="4895850" y="4257675"/>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1" name="">
            <a:extLst xmlns:a="http://schemas.openxmlformats.org/drawingml/2006/main">
              <a:ext uri="{FF2B5EF4-FFF2-40B4-BE49-F238E27FC236}">
                <a16:creationId xmlns:a16="http://schemas.microsoft.com/office/drawing/2014/main" id="{2C364287-316F-4569-87B8-24DCC75F0452}"/>
              </a:ext>
            </a:extLst>
          </p:cNvPr>
          <p:cNvSpPr>
            <a:spLocks xmlns:a="http://schemas.openxmlformats.org/drawingml/2006/main" noGrp="1"/>
          </p:cNvSpPr>
          <p:nvPr/>
        </p:nvSpPr>
        <p:spPr>
          <a:xfrm xmlns:a="http://schemas.openxmlformats.org/drawingml/2006/main">
            <a:off x="4438650" y="4324350"/>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16</a:t>
            </a:r>
          </a:p>
        </p:txBody>
      </p:sp>
      <p:sp>
        <p:nvSpPr>
          <p:cNvPr id="52" name="">
            <a:extLst xmlns:a="http://schemas.openxmlformats.org/drawingml/2006/main">
              <a:ext uri="{FF2B5EF4-FFF2-40B4-BE49-F238E27FC236}">
                <a16:creationId xmlns:a16="http://schemas.microsoft.com/office/drawing/2014/main" id="{8322C20B-A63A-44B4-B084-7E09A230347C}"/>
              </a:ext>
            </a:extLst>
          </p:cNvPr>
          <p:cNvSpPr>
            <a:spLocks xmlns:a="http://schemas.openxmlformats.org/drawingml/2006/main" noGrp="1"/>
          </p:cNvSpPr>
          <p:nvPr/>
        </p:nvSpPr>
        <p:spPr>
          <a:xfrm xmlns:a="http://schemas.openxmlformats.org/drawingml/2006/main">
            <a:off x="4895850" y="4324350"/>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Architectural design</a:t>
            </a:r>
          </a:p>
        </p:txBody>
      </p:sp>
      <p:sp>
        <p:nvSpPr>
          <p:cNvPr id="53" name="">
            <a:extLst xmlns:a="http://schemas.openxmlformats.org/drawingml/2006/main">
              <a:ext uri="{FF2B5EF4-FFF2-40B4-BE49-F238E27FC236}">
                <a16:creationId xmlns:a16="http://schemas.microsoft.com/office/drawing/2014/main" id="{5E9F660D-850A-44CC-B22E-7BE49E79810C}"/>
              </a:ext>
            </a:extLst>
          </p:cNvPr>
          <p:cNvSpPr>
            <a:spLocks xmlns:a="http://schemas.openxmlformats.org/drawingml/2006/main" noGrp="1"/>
          </p:cNvSpPr>
          <p:nvPr/>
        </p:nvSpPr>
        <p:spPr>
          <a:xfrm xmlns:a="http://schemas.openxmlformats.org/drawingml/2006/main">
            <a:off x="4895850" y="4743450"/>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4" name="">
            <a:extLst xmlns:a="http://schemas.openxmlformats.org/drawingml/2006/main">
              <a:ext uri="{FF2B5EF4-FFF2-40B4-BE49-F238E27FC236}">
                <a16:creationId xmlns:a16="http://schemas.microsoft.com/office/drawing/2014/main" id="{748C0A7F-B7BF-4B40-9BB5-A802C0F54011}"/>
              </a:ext>
            </a:extLst>
          </p:cNvPr>
          <p:cNvSpPr>
            <a:spLocks xmlns:a="http://schemas.openxmlformats.org/drawingml/2006/main" noGrp="1"/>
          </p:cNvSpPr>
          <p:nvPr/>
        </p:nvSpPr>
        <p:spPr>
          <a:xfrm xmlns:a="http://schemas.openxmlformats.org/drawingml/2006/main">
            <a:off x="4438650" y="4810125"/>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17</a:t>
            </a:r>
          </a:p>
        </p:txBody>
      </p:sp>
      <p:sp>
        <p:nvSpPr>
          <p:cNvPr id="55" name="">
            <a:extLst xmlns:a="http://schemas.openxmlformats.org/drawingml/2006/main">
              <a:ext uri="{FF2B5EF4-FFF2-40B4-BE49-F238E27FC236}">
                <a16:creationId xmlns:a16="http://schemas.microsoft.com/office/drawing/2014/main" id="{7796557B-8C67-4263-AEF8-F098DCCFEF37}"/>
              </a:ext>
            </a:extLst>
          </p:cNvPr>
          <p:cNvSpPr>
            <a:spLocks xmlns:a="http://schemas.openxmlformats.org/drawingml/2006/main" noGrp="1"/>
          </p:cNvSpPr>
          <p:nvPr/>
        </p:nvSpPr>
        <p:spPr>
          <a:xfrm xmlns:a="http://schemas.openxmlformats.org/drawingml/2006/main">
            <a:off x="4895850" y="4810125"/>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Detailed modules: how and why</a:t>
            </a:r>
          </a:p>
        </p:txBody>
      </p:sp>
      <p:sp>
        <p:nvSpPr>
          <p:cNvPr id="56" name="">
            <a:extLst xmlns:a="http://schemas.openxmlformats.org/drawingml/2006/main">
              <a:ext uri="{FF2B5EF4-FFF2-40B4-BE49-F238E27FC236}">
                <a16:creationId xmlns:a16="http://schemas.microsoft.com/office/drawing/2014/main" id="{C37BBDA6-56CA-4EE3-8EB7-E0542C101CB2}"/>
              </a:ext>
            </a:extLst>
          </p:cNvPr>
          <p:cNvSpPr>
            <a:spLocks xmlns:a="http://schemas.openxmlformats.org/drawingml/2006/main" noGrp="1"/>
          </p:cNvSpPr>
          <p:nvPr/>
        </p:nvSpPr>
        <p:spPr>
          <a:xfrm xmlns:a="http://schemas.openxmlformats.org/drawingml/2006/main">
            <a:off x="4895850" y="5229225"/>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7" name="">
            <a:extLst xmlns:a="http://schemas.openxmlformats.org/drawingml/2006/main">
              <a:ext uri="{FF2B5EF4-FFF2-40B4-BE49-F238E27FC236}">
                <a16:creationId xmlns:a16="http://schemas.microsoft.com/office/drawing/2014/main" id="{E7F51451-AB04-4396-B89A-EFD00882F478}"/>
              </a:ext>
            </a:extLst>
          </p:cNvPr>
          <p:cNvSpPr>
            <a:spLocks xmlns:a="http://schemas.openxmlformats.org/drawingml/2006/main" noGrp="1"/>
          </p:cNvSpPr>
          <p:nvPr/>
        </p:nvSpPr>
        <p:spPr>
          <a:xfrm xmlns:a="http://schemas.openxmlformats.org/drawingml/2006/main">
            <a:off x="4438650" y="5295900"/>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18</a:t>
            </a:r>
          </a:p>
        </p:txBody>
      </p:sp>
      <p:sp>
        <p:nvSpPr>
          <p:cNvPr id="58" name="">
            <a:extLst xmlns:a="http://schemas.openxmlformats.org/drawingml/2006/main">
              <a:ext uri="{FF2B5EF4-FFF2-40B4-BE49-F238E27FC236}">
                <a16:creationId xmlns:a16="http://schemas.microsoft.com/office/drawing/2014/main" id="{B986E1BA-73AC-408E-A192-9F8631D3C26C}"/>
              </a:ext>
            </a:extLst>
          </p:cNvPr>
          <p:cNvSpPr>
            <a:spLocks xmlns:a="http://schemas.openxmlformats.org/drawingml/2006/main" noGrp="1"/>
          </p:cNvSpPr>
          <p:nvPr/>
        </p:nvSpPr>
        <p:spPr>
          <a:xfrm xmlns:a="http://schemas.openxmlformats.org/drawingml/2006/main">
            <a:off x="4895850" y="5295900"/>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Data Flow Diagram</a:t>
            </a:r>
          </a:p>
        </p:txBody>
      </p:sp>
      <p:sp>
        <p:nvSpPr>
          <p:cNvPr id="59" name="">
            <a:extLst xmlns:a="http://schemas.openxmlformats.org/drawingml/2006/main">
              <a:ext uri="{FF2B5EF4-FFF2-40B4-BE49-F238E27FC236}">
                <a16:creationId xmlns:a16="http://schemas.microsoft.com/office/drawing/2014/main" id="{ACB17F56-2E75-43CE-939C-C58B6B4D0EFD}"/>
              </a:ext>
            </a:extLst>
          </p:cNvPr>
          <p:cNvSpPr>
            <a:spLocks xmlns:a="http://schemas.openxmlformats.org/drawingml/2006/main" noGrp="1"/>
          </p:cNvSpPr>
          <p:nvPr/>
        </p:nvSpPr>
        <p:spPr>
          <a:xfrm xmlns:a="http://schemas.openxmlformats.org/drawingml/2006/main">
            <a:off x="8001000" y="1409700"/>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19</a:t>
            </a:r>
          </a:p>
        </p:txBody>
      </p:sp>
      <p:sp>
        <p:nvSpPr>
          <p:cNvPr id="60" name="">
            <a:extLst xmlns:a="http://schemas.openxmlformats.org/drawingml/2006/main">
              <a:ext uri="{FF2B5EF4-FFF2-40B4-BE49-F238E27FC236}">
                <a16:creationId xmlns:a16="http://schemas.microsoft.com/office/drawing/2014/main" id="{C66E07D3-9D99-4748-82A5-CBA8E6AEE340}"/>
              </a:ext>
            </a:extLst>
          </p:cNvPr>
          <p:cNvSpPr>
            <a:spLocks xmlns:a="http://schemas.openxmlformats.org/drawingml/2006/main" noGrp="1"/>
          </p:cNvSpPr>
          <p:nvPr/>
        </p:nvSpPr>
        <p:spPr>
          <a:xfrm xmlns:a="http://schemas.openxmlformats.org/drawingml/2006/main">
            <a:off x="8458200" y="1409700"/>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Entity Relationship Diagram</a:t>
            </a:r>
          </a:p>
        </p:txBody>
      </p:sp>
      <p:sp>
        <p:nvSpPr>
          <p:cNvPr id="61" name="">
            <a:extLst xmlns:a="http://schemas.openxmlformats.org/drawingml/2006/main">
              <a:ext uri="{FF2B5EF4-FFF2-40B4-BE49-F238E27FC236}">
                <a16:creationId xmlns:a16="http://schemas.microsoft.com/office/drawing/2014/main" id="{5CDD97AE-DE95-481E-A8C5-028EEBC57BF6}"/>
              </a:ext>
            </a:extLst>
          </p:cNvPr>
          <p:cNvSpPr>
            <a:spLocks xmlns:a="http://schemas.openxmlformats.org/drawingml/2006/main" noGrp="1"/>
          </p:cNvSpPr>
          <p:nvPr/>
        </p:nvSpPr>
        <p:spPr>
          <a:xfrm xmlns:a="http://schemas.openxmlformats.org/drawingml/2006/main">
            <a:off x="8458200" y="1828800"/>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62" name="">
            <a:extLst xmlns:a="http://schemas.openxmlformats.org/drawingml/2006/main">
              <a:ext uri="{FF2B5EF4-FFF2-40B4-BE49-F238E27FC236}">
                <a16:creationId xmlns:a16="http://schemas.microsoft.com/office/drawing/2014/main" id="{7DF933AC-E63B-48FC-B181-9337391251B5}"/>
              </a:ext>
            </a:extLst>
          </p:cNvPr>
          <p:cNvSpPr>
            <a:spLocks xmlns:a="http://schemas.openxmlformats.org/drawingml/2006/main" noGrp="1"/>
          </p:cNvSpPr>
          <p:nvPr/>
        </p:nvSpPr>
        <p:spPr>
          <a:xfrm xmlns:a="http://schemas.openxmlformats.org/drawingml/2006/main">
            <a:off x="8001000" y="1895475"/>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20</a:t>
            </a:r>
          </a:p>
        </p:txBody>
      </p:sp>
      <p:sp>
        <p:nvSpPr>
          <p:cNvPr id="63" name="">
            <a:extLst xmlns:a="http://schemas.openxmlformats.org/drawingml/2006/main">
              <a:ext uri="{FF2B5EF4-FFF2-40B4-BE49-F238E27FC236}">
                <a16:creationId xmlns:a16="http://schemas.microsoft.com/office/drawing/2014/main" id="{8C582557-91D1-4D3C-964A-2659B7D68478}"/>
              </a:ext>
            </a:extLst>
          </p:cNvPr>
          <p:cNvSpPr>
            <a:spLocks xmlns:a="http://schemas.openxmlformats.org/drawingml/2006/main" noGrp="1"/>
          </p:cNvSpPr>
          <p:nvPr/>
        </p:nvSpPr>
        <p:spPr>
          <a:xfrm xmlns:a="http://schemas.openxmlformats.org/drawingml/2006/main">
            <a:off x="8458200" y="1895475"/>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Relational Data Model</a:t>
            </a:r>
          </a:p>
        </p:txBody>
      </p:sp>
      <p:sp>
        <p:nvSpPr>
          <p:cNvPr id="64" name="">
            <a:extLst xmlns:a="http://schemas.openxmlformats.org/drawingml/2006/main">
              <a:ext uri="{FF2B5EF4-FFF2-40B4-BE49-F238E27FC236}">
                <a16:creationId xmlns:a16="http://schemas.microsoft.com/office/drawing/2014/main" id="{F89B3FC5-8F6D-4170-A593-913D02F7A781}"/>
              </a:ext>
            </a:extLst>
          </p:cNvPr>
          <p:cNvSpPr>
            <a:spLocks xmlns:a="http://schemas.openxmlformats.org/drawingml/2006/main" noGrp="1"/>
          </p:cNvSpPr>
          <p:nvPr/>
        </p:nvSpPr>
        <p:spPr>
          <a:xfrm xmlns:a="http://schemas.openxmlformats.org/drawingml/2006/main">
            <a:off x="8458200" y="2314575"/>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65" name="">
            <a:extLst xmlns:a="http://schemas.openxmlformats.org/drawingml/2006/main">
              <a:ext uri="{FF2B5EF4-FFF2-40B4-BE49-F238E27FC236}">
                <a16:creationId xmlns:a16="http://schemas.microsoft.com/office/drawing/2014/main" id="{A51FEAE3-D88E-43A3-AD7E-013FD7109132}"/>
              </a:ext>
            </a:extLst>
          </p:cNvPr>
          <p:cNvSpPr>
            <a:spLocks xmlns:a="http://schemas.openxmlformats.org/drawingml/2006/main" noGrp="1"/>
          </p:cNvSpPr>
          <p:nvPr/>
        </p:nvSpPr>
        <p:spPr>
          <a:xfrm xmlns:a="http://schemas.openxmlformats.org/drawingml/2006/main">
            <a:off x="8001000" y="2381250"/>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21</a:t>
            </a:r>
          </a:p>
        </p:txBody>
      </p:sp>
      <p:sp>
        <p:nvSpPr>
          <p:cNvPr id="66" name="">
            <a:extLst xmlns:a="http://schemas.openxmlformats.org/drawingml/2006/main">
              <a:ext uri="{FF2B5EF4-FFF2-40B4-BE49-F238E27FC236}">
                <a16:creationId xmlns:a16="http://schemas.microsoft.com/office/drawing/2014/main" id="{92B3546F-2774-4D95-80BE-D877AFC2580B}"/>
              </a:ext>
            </a:extLst>
          </p:cNvPr>
          <p:cNvSpPr>
            <a:spLocks xmlns:a="http://schemas.openxmlformats.org/drawingml/2006/main" noGrp="1"/>
          </p:cNvSpPr>
          <p:nvPr/>
        </p:nvSpPr>
        <p:spPr>
          <a:xfrm xmlns:a="http://schemas.openxmlformats.org/drawingml/2006/main">
            <a:off x="8458200" y="2381250"/>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Purok user flow</a:t>
            </a:r>
          </a:p>
        </p:txBody>
      </p:sp>
      <p:sp>
        <p:nvSpPr>
          <p:cNvPr id="67" name="">
            <a:extLst xmlns:a="http://schemas.openxmlformats.org/drawingml/2006/main">
              <a:ext uri="{FF2B5EF4-FFF2-40B4-BE49-F238E27FC236}">
                <a16:creationId xmlns:a16="http://schemas.microsoft.com/office/drawing/2014/main" id="{76BAFA39-8E68-45DD-8A5A-2484FC272274}"/>
              </a:ext>
            </a:extLst>
          </p:cNvPr>
          <p:cNvSpPr>
            <a:spLocks xmlns:a="http://schemas.openxmlformats.org/drawingml/2006/main" noGrp="1"/>
          </p:cNvSpPr>
          <p:nvPr/>
        </p:nvSpPr>
        <p:spPr>
          <a:xfrm xmlns:a="http://schemas.openxmlformats.org/drawingml/2006/main">
            <a:off x="8458200" y="2800350"/>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68" name="">
            <a:extLst xmlns:a="http://schemas.openxmlformats.org/drawingml/2006/main">
              <a:ext uri="{FF2B5EF4-FFF2-40B4-BE49-F238E27FC236}">
                <a16:creationId xmlns:a16="http://schemas.microsoft.com/office/drawing/2014/main" id="{97A661D1-3689-4B1A-8E40-8321C7791871}"/>
              </a:ext>
            </a:extLst>
          </p:cNvPr>
          <p:cNvSpPr>
            <a:spLocks xmlns:a="http://schemas.openxmlformats.org/drawingml/2006/main" noGrp="1"/>
          </p:cNvSpPr>
          <p:nvPr/>
        </p:nvSpPr>
        <p:spPr>
          <a:xfrm xmlns:a="http://schemas.openxmlformats.org/drawingml/2006/main">
            <a:off x="8001000" y="2867025"/>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22</a:t>
            </a:r>
          </a:p>
        </p:txBody>
      </p:sp>
      <p:sp>
        <p:nvSpPr>
          <p:cNvPr id="69" name="">
            <a:extLst xmlns:a="http://schemas.openxmlformats.org/drawingml/2006/main">
              <a:ext uri="{FF2B5EF4-FFF2-40B4-BE49-F238E27FC236}">
                <a16:creationId xmlns:a16="http://schemas.microsoft.com/office/drawing/2014/main" id="{36060C69-F5A4-44D8-8818-AF8041D84E86}"/>
              </a:ext>
            </a:extLst>
          </p:cNvPr>
          <p:cNvSpPr>
            <a:spLocks xmlns:a="http://schemas.openxmlformats.org/drawingml/2006/main" noGrp="1"/>
          </p:cNvSpPr>
          <p:nvPr/>
        </p:nvSpPr>
        <p:spPr>
          <a:xfrm xmlns:a="http://schemas.openxmlformats.org/drawingml/2006/main">
            <a:off x="8458200" y="2867025"/>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Barangay user flow</a:t>
            </a:r>
          </a:p>
        </p:txBody>
      </p:sp>
      <p:sp>
        <p:nvSpPr>
          <p:cNvPr id="70" name="">
            <a:extLst xmlns:a="http://schemas.openxmlformats.org/drawingml/2006/main">
              <a:ext uri="{FF2B5EF4-FFF2-40B4-BE49-F238E27FC236}">
                <a16:creationId xmlns:a16="http://schemas.microsoft.com/office/drawing/2014/main" id="{C68CA316-5E41-468E-A578-ED65A40CABE2}"/>
              </a:ext>
            </a:extLst>
          </p:cNvPr>
          <p:cNvSpPr>
            <a:spLocks xmlns:a="http://schemas.openxmlformats.org/drawingml/2006/main" noGrp="1"/>
          </p:cNvSpPr>
          <p:nvPr/>
        </p:nvSpPr>
        <p:spPr>
          <a:xfrm xmlns:a="http://schemas.openxmlformats.org/drawingml/2006/main">
            <a:off x="8458200" y="3286125"/>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71" name="">
            <a:extLst xmlns:a="http://schemas.openxmlformats.org/drawingml/2006/main">
              <a:ext uri="{FF2B5EF4-FFF2-40B4-BE49-F238E27FC236}">
                <a16:creationId xmlns:a16="http://schemas.microsoft.com/office/drawing/2014/main" id="{A474B871-5853-4516-B65D-CB0D733878A1}"/>
              </a:ext>
            </a:extLst>
          </p:cNvPr>
          <p:cNvSpPr>
            <a:spLocks xmlns:a="http://schemas.openxmlformats.org/drawingml/2006/main" noGrp="1"/>
          </p:cNvSpPr>
          <p:nvPr/>
        </p:nvSpPr>
        <p:spPr>
          <a:xfrm xmlns:a="http://schemas.openxmlformats.org/drawingml/2006/main">
            <a:off x="8001000" y="3352800"/>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23</a:t>
            </a:r>
          </a:p>
        </p:txBody>
      </p:sp>
      <p:sp>
        <p:nvSpPr>
          <p:cNvPr id="72" name="">
            <a:extLst xmlns:a="http://schemas.openxmlformats.org/drawingml/2006/main">
              <a:ext uri="{FF2B5EF4-FFF2-40B4-BE49-F238E27FC236}">
                <a16:creationId xmlns:a16="http://schemas.microsoft.com/office/drawing/2014/main" id="{3CBC58C8-AE82-4046-9EBC-8A4F9C320F41}"/>
              </a:ext>
            </a:extLst>
          </p:cNvPr>
          <p:cNvSpPr>
            <a:spLocks xmlns:a="http://schemas.openxmlformats.org/drawingml/2006/main" noGrp="1"/>
          </p:cNvSpPr>
          <p:nvPr/>
        </p:nvSpPr>
        <p:spPr>
          <a:xfrm xmlns:a="http://schemas.openxmlformats.org/drawingml/2006/main">
            <a:off x="8458200" y="3352800"/>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DRRM Administrator user flow</a:t>
            </a:r>
          </a:p>
        </p:txBody>
      </p:sp>
      <p:sp>
        <p:nvSpPr>
          <p:cNvPr id="73" name="">
            <a:extLst xmlns:a="http://schemas.openxmlformats.org/drawingml/2006/main">
              <a:ext uri="{FF2B5EF4-FFF2-40B4-BE49-F238E27FC236}">
                <a16:creationId xmlns:a16="http://schemas.microsoft.com/office/drawing/2014/main" id="{D277A36D-8F5F-4BB8-9DF1-99B62F24D259}"/>
              </a:ext>
            </a:extLst>
          </p:cNvPr>
          <p:cNvSpPr>
            <a:spLocks xmlns:a="http://schemas.openxmlformats.org/drawingml/2006/main" noGrp="1"/>
          </p:cNvSpPr>
          <p:nvPr/>
        </p:nvSpPr>
        <p:spPr>
          <a:xfrm xmlns:a="http://schemas.openxmlformats.org/drawingml/2006/main">
            <a:off x="8458200" y="3771900"/>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74" name="">
            <a:extLst xmlns:a="http://schemas.openxmlformats.org/drawingml/2006/main">
              <a:ext uri="{FF2B5EF4-FFF2-40B4-BE49-F238E27FC236}">
                <a16:creationId xmlns:a16="http://schemas.microsoft.com/office/drawing/2014/main" id="{054F0EDA-3595-4718-B492-B94C93CA2EF2}"/>
              </a:ext>
            </a:extLst>
          </p:cNvPr>
          <p:cNvSpPr>
            <a:spLocks xmlns:a="http://schemas.openxmlformats.org/drawingml/2006/main" noGrp="1"/>
          </p:cNvSpPr>
          <p:nvPr/>
        </p:nvSpPr>
        <p:spPr>
          <a:xfrm xmlns:a="http://schemas.openxmlformats.org/drawingml/2006/main">
            <a:off x="8001000" y="3838575"/>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24</a:t>
            </a:r>
          </a:p>
        </p:txBody>
      </p:sp>
      <p:sp>
        <p:nvSpPr>
          <p:cNvPr id="75" name="">
            <a:extLst xmlns:a="http://schemas.openxmlformats.org/drawingml/2006/main">
              <a:ext uri="{FF2B5EF4-FFF2-40B4-BE49-F238E27FC236}">
                <a16:creationId xmlns:a16="http://schemas.microsoft.com/office/drawing/2014/main" id="{0745C511-B5C9-43CE-917E-D0FAF74E61A3}"/>
              </a:ext>
            </a:extLst>
          </p:cNvPr>
          <p:cNvSpPr>
            <a:spLocks xmlns:a="http://schemas.openxmlformats.org/drawingml/2006/main" noGrp="1"/>
          </p:cNvSpPr>
          <p:nvPr/>
        </p:nvSpPr>
        <p:spPr>
          <a:xfrm xmlns:a="http://schemas.openxmlformats.org/drawingml/2006/main">
            <a:off x="8458200" y="3838575"/>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Development plan</a:t>
            </a:r>
          </a:p>
        </p:txBody>
      </p:sp>
      <p:sp>
        <p:nvSpPr>
          <p:cNvPr id="76" name="">
            <a:extLst xmlns:a="http://schemas.openxmlformats.org/drawingml/2006/main">
              <a:ext uri="{FF2B5EF4-FFF2-40B4-BE49-F238E27FC236}">
                <a16:creationId xmlns:a16="http://schemas.microsoft.com/office/drawing/2014/main" id="{DC064A59-B7CA-4B05-8907-0406880A8E75}"/>
              </a:ext>
            </a:extLst>
          </p:cNvPr>
          <p:cNvSpPr>
            <a:spLocks xmlns:a="http://schemas.openxmlformats.org/drawingml/2006/main" noGrp="1"/>
          </p:cNvSpPr>
          <p:nvPr/>
        </p:nvSpPr>
        <p:spPr>
          <a:xfrm xmlns:a="http://schemas.openxmlformats.org/drawingml/2006/main">
            <a:off x="8458200" y="4257675"/>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77" name="">
            <a:extLst xmlns:a="http://schemas.openxmlformats.org/drawingml/2006/main">
              <a:ext uri="{FF2B5EF4-FFF2-40B4-BE49-F238E27FC236}">
                <a16:creationId xmlns:a16="http://schemas.microsoft.com/office/drawing/2014/main" id="{7DF2E70A-59C4-484E-9849-85445ED4FA01}"/>
              </a:ext>
            </a:extLst>
          </p:cNvPr>
          <p:cNvSpPr>
            <a:spLocks xmlns:a="http://schemas.openxmlformats.org/drawingml/2006/main" noGrp="1"/>
          </p:cNvSpPr>
          <p:nvPr/>
        </p:nvSpPr>
        <p:spPr>
          <a:xfrm xmlns:a="http://schemas.openxmlformats.org/drawingml/2006/main">
            <a:off x="8001000" y="4324350"/>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25</a:t>
            </a:r>
          </a:p>
        </p:txBody>
      </p:sp>
      <p:sp>
        <p:nvSpPr>
          <p:cNvPr id="78" name="">
            <a:extLst xmlns:a="http://schemas.openxmlformats.org/drawingml/2006/main">
              <a:ext uri="{FF2B5EF4-FFF2-40B4-BE49-F238E27FC236}">
                <a16:creationId xmlns:a16="http://schemas.microsoft.com/office/drawing/2014/main" id="{59C3BAB7-2557-41EE-84A2-E00CC1D337EB}"/>
              </a:ext>
            </a:extLst>
          </p:cNvPr>
          <p:cNvSpPr>
            <a:spLocks xmlns:a="http://schemas.openxmlformats.org/drawingml/2006/main" noGrp="1"/>
          </p:cNvSpPr>
          <p:nvPr/>
        </p:nvSpPr>
        <p:spPr>
          <a:xfrm xmlns:a="http://schemas.openxmlformats.org/drawingml/2006/main">
            <a:off x="8458200" y="4324350"/>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Technicalities: stack, testing, and AI use</a:t>
            </a:r>
          </a:p>
        </p:txBody>
      </p:sp>
      <p:sp>
        <p:nvSpPr>
          <p:cNvPr id="79" name="">
            <a:extLst xmlns:a="http://schemas.openxmlformats.org/drawingml/2006/main">
              <a:ext uri="{FF2B5EF4-FFF2-40B4-BE49-F238E27FC236}">
                <a16:creationId xmlns:a16="http://schemas.microsoft.com/office/drawing/2014/main" id="{C503DE13-EF98-4993-8131-84B820EC59D5}"/>
              </a:ext>
            </a:extLst>
          </p:cNvPr>
          <p:cNvSpPr>
            <a:spLocks xmlns:a="http://schemas.openxmlformats.org/drawingml/2006/main" noGrp="1"/>
          </p:cNvSpPr>
          <p:nvPr/>
        </p:nvSpPr>
        <p:spPr>
          <a:xfrm xmlns:a="http://schemas.openxmlformats.org/drawingml/2006/main">
            <a:off x="8458200" y="4743450"/>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80" name="">
            <a:extLst xmlns:a="http://schemas.openxmlformats.org/drawingml/2006/main">
              <a:ext uri="{FF2B5EF4-FFF2-40B4-BE49-F238E27FC236}">
                <a16:creationId xmlns:a16="http://schemas.microsoft.com/office/drawing/2014/main" id="{5A9730D8-0587-495B-8D98-EBB052C4C520}"/>
              </a:ext>
            </a:extLst>
          </p:cNvPr>
          <p:cNvSpPr>
            <a:spLocks xmlns:a="http://schemas.openxmlformats.org/drawingml/2006/main" noGrp="1"/>
          </p:cNvSpPr>
          <p:nvPr/>
        </p:nvSpPr>
        <p:spPr>
          <a:xfrm xmlns:a="http://schemas.openxmlformats.org/drawingml/2006/main">
            <a:off x="8001000" y="4810125"/>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26</a:t>
            </a:r>
          </a:p>
        </p:txBody>
      </p:sp>
      <p:sp>
        <p:nvSpPr>
          <p:cNvPr id="81" name="">
            <a:extLst xmlns:a="http://schemas.openxmlformats.org/drawingml/2006/main">
              <a:ext uri="{FF2B5EF4-FFF2-40B4-BE49-F238E27FC236}">
                <a16:creationId xmlns:a16="http://schemas.microsoft.com/office/drawing/2014/main" id="{6503140F-8263-424A-978D-829ACF592241}"/>
              </a:ext>
            </a:extLst>
          </p:cNvPr>
          <p:cNvSpPr>
            <a:spLocks xmlns:a="http://schemas.openxmlformats.org/drawingml/2006/main" noGrp="1"/>
          </p:cNvSpPr>
          <p:nvPr/>
        </p:nvSpPr>
        <p:spPr>
          <a:xfrm xmlns:a="http://schemas.openxmlformats.org/drawingml/2006/main">
            <a:off x="8458200" y="4810125"/>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Significance of the project</a:t>
            </a:r>
          </a:p>
        </p:txBody>
      </p:sp>
      <p:sp>
        <p:nvSpPr>
          <p:cNvPr id="82" name="">
            <a:extLst xmlns:a="http://schemas.openxmlformats.org/drawingml/2006/main">
              <a:ext uri="{FF2B5EF4-FFF2-40B4-BE49-F238E27FC236}">
                <a16:creationId xmlns:a16="http://schemas.microsoft.com/office/drawing/2014/main" id="{A4998DB6-85A8-4835-9126-533638A73207}"/>
              </a:ext>
            </a:extLst>
          </p:cNvPr>
          <p:cNvSpPr>
            <a:spLocks xmlns:a="http://schemas.openxmlformats.org/drawingml/2006/main" noGrp="1"/>
          </p:cNvSpPr>
          <p:nvPr/>
        </p:nvSpPr>
        <p:spPr>
          <a:xfrm xmlns:a="http://schemas.openxmlformats.org/drawingml/2006/main">
            <a:off x="8458200" y="5229225"/>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83" name="">
            <a:extLst xmlns:a="http://schemas.openxmlformats.org/drawingml/2006/main">
              <a:ext uri="{FF2B5EF4-FFF2-40B4-BE49-F238E27FC236}">
                <a16:creationId xmlns:a16="http://schemas.microsoft.com/office/drawing/2014/main" id="{9E0BF7EE-C606-45F6-BF78-08A50FF1CA23}"/>
              </a:ext>
            </a:extLst>
          </p:cNvPr>
          <p:cNvSpPr>
            <a:spLocks xmlns:a="http://schemas.openxmlformats.org/drawingml/2006/main" noGrp="1"/>
          </p:cNvSpPr>
          <p:nvPr/>
        </p:nvSpPr>
        <p:spPr>
          <a:xfrm xmlns:a="http://schemas.openxmlformats.org/drawingml/2006/main">
            <a:off x="8001000" y="5295900"/>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27</a:t>
            </a:r>
          </a:p>
        </p:txBody>
      </p:sp>
      <p:sp>
        <p:nvSpPr>
          <p:cNvPr id="84" name="">
            <a:extLst xmlns:a="http://schemas.openxmlformats.org/drawingml/2006/main">
              <a:ext uri="{FF2B5EF4-FFF2-40B4-BE49-F238E27FC236}">
                <a16:creationId xmlns:a16="http://schemas.microsoft.com/office/drawing/2014/main" id="{56C6CBE8-14D6-4CAA-85BD-17D19AE8B490}"/>
              </a:ext>
            </a:extLst>
          </p:cNvPr>
          <p:cNvSpPr>
            <a:spLocks xmlns:a="http://schemas.openxmlformats.org/drawingml/2006/main" noGrp="1"/>
          </p:cNvSpPr>
          <p:nvPr/>
        </p:nvSpPr>
        <p:spPr>
          <a:xfrm xmlns:a="http://schemas.openxmlformats.org/drawingml/2006/main">
            <a:off x="8458200" y="5295900"/>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Summary</a:t>
            </a:r>
          </a:p>
        </p:txBody>
      </p:sp>
    </p:spTree>
    <p:extLst>
      <p:ext uri="{BB962C8B-B14F-4D97-AF65-F5344CB8AC3E}">
        <p14:creationId xmlns:p14="http://schemas.microsoft.com/office/powerpoint/2010/main" val="887171543"/>
      </p:ext>
    </p:extLst>
  </p:cSld>
</p:sld>
</file>

<file path=ppt/slides/slide3.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CC320667-9965-4A9C-8AA5-45C05DA9C50C}"/>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CAE1B94-3708-4C21-9B88-63CC4B21FF15}"/>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RA 10121: THE MANDATE</a:t>
            </a:r>
          </a:p>
        </p:txBody>
      </p:sp>
      <p:sp>
        <p:nvSpPr>
          <p:cNvPr id="3" name="">
            <a:extLst xmlns:a="http://schemas.openxmlformats.org/drawingml/2006/main">
              <a:ext uri="{FF2B5EF4-FFF2-40B4-BE49-F238E27FC236}">
                <a16:creationId xmlns:a16="http://schemas.microsoft.com/office/drawing/2014/main" id="{C9F3EEA8-6C50-4392-9F48-CC3A519BA0A1}"/>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Local DRRM offices have information and coordination duties</a:t>
            </a:r>
          </a:p>
        </p:txBody>
      </p:sp>
      <p:sp>
        <p:nvSpPr>
          <p:cNvPr id="4" name="">
            <a:extLst xmlns:a="http://schemas.openxmlformats.org/drawingml/2006/main">
              <a:ext uri="{FF2B5EF4-FFF2-40B4-BE49-F238E27FC236}">
                <a16:creationId xmlns:a16="http://schemas.microsoft.com/office/drawing/2014/main" id="{0B52B04B-40B6-4345-B53A-02FDD0E4E353}"/>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2FFB0D62-7D9A-4306-83CE-968F79FF7F3D}"/>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Sources: revised paper, Chapter 1; Republic Act No. 10121, Section 12</a:t>
            </a:r>
          </a:p>
        </p:txBody>
      </p:sp>
      <p:sp>
        <p:nvSpPr>
          <p:cNvPr id="6" name="">
            <a:extLst xmlns:a="http://schemas.openxmlformats.org/drawingml/2006/main">
              <a:ext uri="{FF2B5EF4-FFF2-40B4-BE49-F238E27FC236}">
                <a16:creationId xmlns:a16="http://schemas.microsoft.com/office/drawing/2014/main" id="{3E58FE30-6F52-4B25-B496-4800E12CC9A6}"/>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03</a:t>
            </a:r>
          </a:p>
        </p:txBody>
      </p:sp>
      <p:sp>
        <p:nvSpPr>
          <p:cNvPr id="7" name="">
            <a:extLst xmlns:a="http://schemas.openxmlformats.org/drawingml/2006/main">
              <a:ext uri="{FF2B5EF4-FFF2-40B4-BE49-F238E27FC236}">
                <a16:creationId xmlns:a16="http://schemas.microsoft.com/office/drawing/2014/main" id="{2889DAAF-C164-4AA6-A18B-EF6EEE323611}"/>
              </a:ext>
            </a:extLst>
          </p:cNvPr>
          <p:cNvSpPr>
            <a:spLocks xmlns:a="http://schemas.openxmlformats.org/drawingml/2006/main" noGrp="1"/>
          </p:cNvSpPr>
          <p:nvPr/>
        </p:nvSpPr>
        <p:spPr>
          <a:xfrm xmlns:a="http://schemas.openxmlformats.org/drawingml/2006/main">
            <a:off x="933450" y="1466850"/>
            <a:ext cx="2333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Consolidate</a:t>
            </a:r>
          </a:p>
        </p:txBody>
      </p:sp>
      <p:sp>
        <p:nvSpPr>
          <p:cNvPr id="8" name="">
            <a:extLst xmlns:a="http://schemas.openxmlformats.org/drawingml/2006/main">
              <a:ext uri="{FF2B5EF4-FFF2-40B4-BE49-F238E27FC236}">
                <a16:creationId xmlns:a16="http://schemas.microsoft.com/office/drawing/2014/main" id="{1D05F878-D079-4194-95A9-5D78989E72AE}"/>
              </a:ext>
            </a:extLst>
          </p:cNvPr>
          <p:cNvSpPr>
            <a:spLocks xmlns:a="http://schemas.openxmlformats.org/drawingml/2006/main" noGrp="1"/>
          </p:cNvSpPr>
          <p:nvPr/>
        </p:nvSpPr>
        <p:spPr>
          <a:xfrm xmlns:a="http://schemas.openxmlformats.org/drawingml/2006/main">
            <a:off x="3438525" y="1466850"/>
            <a:ext cx="77819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650" b="0">
                <a:solidFill>
                  <a:srgbClr val="252D30"/>
                </a:solidFill>
                <a:latin typeface="Source Sans 3"/>
                <a:ea typeface="Source Sans 3"/>
                <a:cs typeface="Source Sans 3"/>
              </a:defRPr>
            </a:pPr>
            <a:r>
              <a:rPr sz="1650" b="0">
                <a:solidFill>
                  <a:srgbClr val="252D30"/>
                </a:solidFill>
                <a:latin typeface="Source Sans 3"/>
                <a:ea typeface="Source Sans 3"/>
                <a:cs typeface="Source Sans 3"/>
              </a:rPr>
              <a:t>local disaster risk information</a:t>
            </a:r>
          </a:p>
        </p:txBody>
      </p:sp>
      <p:sp>
        <p:nvSpPr>
          <p:cNvPr id="9" name="">
            <a:extLst xmlns:a="http://schemas.openxmlformats.org/drawingml/2006/main">
              <a:ext uri="{FF2B5EF4-FFF2-40B4-BE49-F238E27FC236}">
                <a16:creationId xmlns:a16="http://schemas.microsoft.com/office/drawing/2014/main" id="{11AB6DE8-237A-4A78-8D2B-8D489FC1C0CF}"/>
              </a:ext>
            </a:extLst>
          </p:cNvPr>
          <p:cNvSpPr>
            <a:spLocks xmlns:a="http://schemas.openxmlformats.org/drawingml/2006/main" noGrp="1"/>
          </p:cNvSpPr>
          <p:nvPr/>
        </p:nvSpPr>
        <p:spPr>
          <a:xfrm xmlns:a="http://schemas.openxmlformats.org/drawingml/2006/main">
            <a:off x="933450" y="2333625"/>
            <a:ext cx="2333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Maintain</a:t>
            </a:r>
          </a:p>
        </p:txBody>
      </p:sp>
      <p:sp>
        <p:nvSpPr>
          <p:cNvPr id="10" name="">
            <a:extLst xmlns:a="http://schemas.openxmlformats.org/drawingml/2006/main">
              <a:ext uri="{FF2B5EF4-FFF2-40B4-BE49-F238E27FC236}">
                <a16:creationId xmlns:a16="http://schemas.microsoft.com/office/drawing/2014/main" id="{C3C21EE2-B345-41EF-BA4C-79DAD41AE237}"/>
              </a:ext>
            </a:extLst>
          </p:cNvPr>
          <p:cNvSpPr>
            <a:spLocks xmlns:a="http://schemas.openxmlformats.org/drawingml/2006/main" noGrp="1"/>
          </p:cNvSpPr>
          <p:nvPr/>
        </p:nvSpPr>
        <p:spPr>
          <a:xfrm xmlns:a="http://schemas.openxmlformats.org/drawingml/2006/main">
            <a:off x="3438525" y="2333625"/>
            <a:ext cx="77819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650" b="0">
                <a:solidFill>
                  <a:srgbClr val="252D30"/>
                </a:solidFill>
                <a:latin typeface="Source Sans 3"/>
                <a:ea typeface="Source Sans 3"/>
                <a:cs typeface="Source Sans 3"/>
              </a:defRPr>
            </a:pPr>
            <a:r>
              <a:rPr sz="1650" b="0">
                <a:solidFill>
                  <a:srgbClr val="252D30"/>
                </a:solidFill>
                <a:latin typeface="Source Sans 3"/>
                <a:ea typeface="Source Sans 3"/>
                <a:cs typeface="Source Sans 3"/>
              </a:rPr>
              <a:t>risk maps and databases of resources and critical infrastructure</a:t>
            </a:r>
          </a:p>
        </p:txBody>
      </p:sp>
      <p:sp>
        <p:nvSpPr>
          <p:cNvPr id="11" name="">
            <a:extLst xmlns:a="http://schemas.openxmlformats.org/drawingml/2006/main">
              <a:ext uri="{FF2B5EF4-FFF2-40B4-BE49-F238E27FC236}">
                <a16:creationId xmlns:a16="http://schemas.microsoft.com/office/drawing/2014/main" id="{21C73135-01D6-4A72-ACB3-813F95944B8D}"/>
              </a:ext>
            </a:extLst>
          </p:cNvPr>
          <p:cNvSpPr>
            <a:spLocks xmlns:a="http://schemas.openxmlformats.org/drawingml/2006/main" noGrp="1"/>
          </p:cNvSpPr>
          <p:nvPr/>
        </p:nvSpPr>
        <p:spPr>
          <a:xfrm xmlns:a="http://schemas.openxmlformats.org/drawingml/2006/main">
            <a:off x="933450" y="3200400"/>
            <a:ext cx="2333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Monitor</a:t>
            </a:r>
          </a:p>
        </p:txBody>
      </p:sp>
      <p:sp>
        <p:nvSpPr>
          <p:cNvPr id="12" name="">
            <a:extLst xmlns:a="http://schemas.openxmlformats.org/drawingml/2006/main">
              <a:ext uri="{FF2B5EF4-FFF2-40B4-BE49-F238E27FC236}">
                <a16:creationId xmlns:a16="http://schemas.microsoft.com/office/drawing/2014/main" id="{9EC50684-9C07-4C8D-9B33-8E1F7CA87FC1}"/>
              </a:ext>
            </a:extLst>
          </p:cNvPr>
          <p:cNvSpPr>
            <a:spLocks xmlns:a="http://schemas.openxmlformats.org/drawingml/2006/main" noGrp="1"/>
          </p:cNvSpPr>
          <p:nvPr/>
        </p:nvSpPr>
        <p:spPr>
          <a:xfrm xmlns:a="http://schemas.openxmlformats.org/drawingml/2006/main">
            <a:off x="3438525" y="3200400"/>
            <a:ext cx="77819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650" b="0">
                <a:solidFill>
                  <a:srgbClr val="252D30"/>
                </a:solidFill>
                <a:latin typeface="Source Sans 3"/>
                <a:ea typeface="Source Sans 3"/>
                <a:cs typeface="Source Sans 3"/>
              </a:defRPr>
            </a:pPr>
            <a:r>
              <a:rPr sz="1650" b="0">
                <a:solidFill>
                  <a:srgbClr val="252D30"/>
                </a:solidFill>
                <a:latin typeface="Source Sans 3"/>
                <a:ea typeface="Source Sans 3"/>
                <a:cs typeface="Source Sans 3"/>
              </a:rPr>
              <a:t>hazards, vulnerabilities and local conditions</a:t>
            </a:r>
          </a:p>
        </p:txBody>
      </p:sp>
      <p:sp>
        <p:nvSpPr>
          <p:cNvPr id="13" name="">
            <a:extLst xmlns:a="http://schemas.openxmlformats.org/drawingml/2006/main">
              <a:ext uri="{FF2B5EF4-FFF2-40B4-BE49-F238E27FC236}">
                <a16:creationId xmlns:a16="http://schemas.microsoft.com/office/drawing/2014/main" id="{097DB3AD-AAC5-4840-B785-1456F92DF0F4}"/>
              </a:ext>
            </a:extLst>
          </p:cNvPr>
          <p:cNvSpPr>
            <a:spLocks xmlns:a="http://schemas.openxmlformats.org/drawingml/2006/main" noGrp="1"/>
          </p:cNvSpPr>
          <p:nvPr/>
        </p:nvSpPr>
        <p:spPr>
          <a:xfrm xmlns:a="http://schemas.openxmlformats.org/drawingml/2006/main">
            <a:off x="933450" y="4067175"/>
            <a:ext cx="2333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Disseminate and coordinate</a:t>
            </a:r>
          </a:p>
        </p:txBody>
      </p:sp>
      <p:sp>
        <p:nvSpPr>
          <p:cNvPr id="14" name="">
            <a:extLst xmlns:a="http://schemas.openxmlformats.org/drawingml/2006/main">
              <a:ext uri="{FF2B5EF4-FFF2-40B4-BE49-F238E27FC236}">
                <a16:creationId xmlns:a16="http://schemas.microsoft.com/office/drawing/2014/main" id="{FDBA6D46-214A-4F49-A166-E5DA605E9A5F}"/>
              </a:ext>
            </a:extLst>
          </p:cNvPr>
          <p:cNvSpPr>
            <a:spLocks xmlns:a="http://schemas.openxmlformats.org/drawingml/2006/main" noGrp="1"/>
          </p:cNvSpPr>
          <p:nvPr/>
        </p:nvSpPr>
        <p:spPr>
          <a:xfrm xmlns:a="http://schemas.openxmlformats.org/drawingml/2006/main">
            <a:off x="3438525" y="4067175"/>
            <a:ext cx="77819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650" b="0">
                <a:solidFill>
                  <a:srgbClr val="252D30"/>
                </a:solidFill>
                <a:latin typeface="Source Sans 3"/>
                <a:ea typeface="Source Sans 3"/>
                <a:cs typeface="Source Sans 3"/>
              </a:defRPr>
            </a:pPr>
            <a:r>
              <a:rPr sz="1650" b="0">
                <a:solidFill>
                  <a:srgbClr val="252D30"/>
                </a:solidFill>
                <a:latin typeface="Source Sans 3"/>
                <a:ea typeface="Source Sans 3"/>
                <a:cs typeface="Source Sans 3"/>
              </a:rPr>
              <a:t>information and DRRM activities across local institutions</a:t>
            </a:r>
          </a:p>
        </p:txBody>
      </p:sp>
      <p:sp>
        <p:nvSpPr>
          <p:cNvPr id="15" name="">
            <a:extLst xmlns:a="http://schemas.openxmlformats.org/drawingml/2006/main">
              <a:ext uri="{FF2B5EF4-FFF2-40B4-BE49-F238E27FC236}">
                <a16:creationId xmlns:a16="http://schemas.microsoft.com/office/drawing/2014/main" id="{BB4A883C-677B-4D78-94F8-C6698386A5EB}"/>
              </a:ext>
            </a:extLst>
          </p:cNvPr>
          <p:cNvSpPr>
            <a:spLocks xmlns:a="http://schemas.openxmlformats.org/drawingml/2006/main" noGrp="1"/>
          </p:cNvSpPr>
          <p:nvPr/>
        </p:nvSpPr>
        <p:spPr>
          <a:xfrm xmlns:a="http://schemas.openxmlformats.org/drawingml/2006/main">
            <a:off x="933450" y="5153025"/>
            <a:ext cx="10287000" cy="609600"/>
          </a:xfrm>
          <a:prstGeom xmlns:a="http://schemas.openxmlformats.org/drawingml/2006/main" prst="rect">
            <a:avLst/>
          </a:prstGeom>
          <a:solidFill xmlns:a="http://schemas.openxmlformats.org/drawingml/2006/main">
            <a:srgbClr val="E4EFEC"/>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290EE954-B51F-4B12-BFD7-0BE4A31CF5ED}"/>
              </a:ext>
            </a:extLst>
          </p:cNvPr>
          <p:cNvSpPr>
            <a:spLocks xmlns:a="http://schemas.openxmlformats.org/drawingml/2006/main" noGrp="1"/>
          </p:cNvSpPr>
          <p:nvPr/>
        </p:nvSpPr>
        <p:spPr>
          <a:xfrm xmlns:a="http://schemas.openxmlformats.org/drawingml/2006/main">
            <a:off x="1162050" y="5248275"/>
            <a:ext cx="9810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93471"/>
          </a:bodyPr>
          <a:lstStyle xmlns:a="http://schemas.openxmlformats.org/drawingml/2006/main"/>
          <a:p xmlns:a="http://schemas.openxmlformats.org/drawingml/2006/main">
            <a:pPr algn="l">
              <a:defRPr sz="1425" b="1">
                <a:solidFill>
                  <a:srgbClr val="276E6B"/>
                </a:solidFill>
                <a:latin typeface="Source Sans 3"/>
                <a:ea typeface="Source Sans 3"/>
                <a:cs typeface="Source Sans 3"/>
              </a:defRPr>
            </a:pPr>
            <a:r>
              <a:rPr sz="1425" b="1">
                <a:solidFill>
                  <a:srgbClr val="276E6B"/>
                </a:solidFill>
                <a:latin typeface="Source Sans 3"/>
                <a:ea typeface="Source Sans 3"/>
                <a:cs typeface="Source Sans 3"/>
              </a:rPr>
              <a:t>The system is proposed as an information-management aid. Public agencies retain verification, approval, disclosure, and response authority.</a:t>
            </a:r>
          </a:p>
        </p:txBody>
      </p:sp>
    </p:spTree>
    <p:extLst>
      <p:ext uri="{BB962C8B-B14F-4D97-AF65-F5344CB8AC3E}">
        <p14:creationId xmlns:p14="http://schemas.microsoft.com/office/powerpoint/2010/main" val="2102490146"/>
      </p:ext>
    </p:extLst>
  </p:cSld>
</p:sld>
</file>

<file path=ppt/slides/slide4.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4674C368-2996-4012-AE3D-4D9ABADF51A4}"/>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CC88376-D609-4E71-A092-007FB5256989}"/>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SITUATION REPORT</a:t>
            </a:r>
          </a:p>
        </p:txBody>
      </p:sp>
      <p:sp>
        <p:nvSpPr>
          <p:cNvPr id="3" name="">
            <a:extLst xmlns:a="http://schemas.openxmlformats.org/drawingml/2006/main">
              <a:ext uri="{FF2B5EF4-FFF2-40B4-BE49-F238E27FC236}">
                <a16:creationId xmlns:a16="http://schemas.microsoft.com/office/drawing/2014/main" id="{87B5B576-399E-47D3-AC70-1B0F8A2C1672}"/>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A SitRep changes as verified information develops</a:t>
            </a:r>
          </a:p>
        </p:txBody>
      </p:sp>
      <p:sp>
        <p:nvSpPr>
          <p:cNvPr id="4" name="">
            <a:extLst xmlns:a="http://schemas.openxmlformats.org/drawingml/2006/main">
              <a:ext uri="{FF2B5EF4-FFF2-40B4-BE49-F238E27FC236}">
                <a16:creationId xmlns:a16="http://schemas.microsoft.com/office/drawing/2014/main" id="{E6F71342-2857-48C8-B266-30DE40B547E7}"/>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CBE9B27D-C423-4086-9460-18D0F6836738}"/>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Sources: revised paper, Chapter 1; NDRRMC NDRRMOC SOPG (2024)</a:t>
            </a:r>
          </a:p>
        </p:txBody>
      </p:sp>
      <p:sp>
        <p:nvSpPr>
          <p:cNvPr id="6" name="">
            <a:extLst xmlns:a="http://schemas.openxmlformats.org/drawingml/2006/main">
              <a:ext uri="{FF2B5EF4-FFF2-40B4-BE49-F238E27FC236}">
                <a16:creationId xmlns:a16="http://schemas.microsoft.com/office/drawing/2014/main" id="{3AE9D021-DF2A-4300-A55B-199FE3E56F64}"/>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04</a:t>
            </a:r>
          </a:p>
        </p:txBody>
      </p:sp>
      <p:sp>
        <p:nvSpPr>
          <p:cNvPr id="7" name="">
            <a:extLst xmlns:a="http://schemas.openxmlformats.org/drawingml/2006/main">
              <a:ext uri="{FF2B5EF4-FFF2-40B4-BE49-F238E27FC236}">
                <a16:creationId xmlns:a16="http://schemas.microsoft.com/office/drawing/2014/main" id="{85916365-ED21-4C33-AC2F-BDE1A1CD3910}"/>
              </a:ext>
            </a:extLst>
          </p:cNvPr>
          <p:cNvSpPr>
            <a:spLocks xmlns:a="http://schemas.openxmlformats.org/drawingml/2006/main" noGrp="1"/>
          </p:cNvSpPr>
          <p:nvPr/>
        </p:nvSpPr>
        <p:spPr>
          <a:xfrm xmlns:a="http://schemas.openxmlformats.org/drawingml/2006/main">
            <a:off x="933450" y="1381125"/>
            <a:ext cx="4000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01</a:t>
            </a:r>
          </a:p>
        </p:txBody>
      </p:sp>
      <p:sp>
        <p:nvSpPr>
          <p:cNvPr id="8" name="">
            <a:extLst xmlns:a="http://schemas.openxmlformats.org/drawingml/2006/main">
              <a:ext uri="{FF2B5EF4-FFF2-40B4-BE49-F238E27FC236}">
                <a16:creationId xmlns:a16="http://schemas.microsoft.com/office/drawing/2014/main" id="{3EDD330A-3E7E-47C3-9425-A421E99368E8}"/>
              </a:ext>
            </a:extLst>
          </p:cNvPr>
          <p:cNvSpPr>
            <a:spLocks xmlns:a="http://schemas.openxmlformats.org/drawingml/2006/main" noGrp="1"/>
          </p:cNvSpPr>
          <p:nvPr/>
        </p:nvSpPr>
        <p:spPr>
          <a:xfrm xmlns:a="http://schemas.openxmlformats.org/drawingml/2006/main">
            <a:off x="1390650" y="1381125"/>
            <a:ext cx="9829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Document control and identification</a:t>
            </a:r>
          </a:p>
        </p:txBody>
      </p:sp>
      <p:sp>
        <p:nvSpPr>
          <p:cNvPr id="9" name="">
            <a:extLst xmlns:a="http://schemas.openxmlformats.org/drawingml/2006/main">
              <a:ext uri="{FF2B5EF4-FFF2-40B4-BE49-F238E27FC236}">
                <a16:creationId xmlns:a16="http://schemas.microsoft.com/office/drawing/2014/main" id="{47DA31C9-6E6C-467D-903F-36143230111C}"/>
              </a:ext>
            </a:extLst>
          </p:cNvPr>
          <p:cNvSpPr>
            <a:spLocks xmlns:a="http://schemas.openxmlformats.org/drawingml/2006/main" noGrp="1"/>
          </p:cNvSpPr>
          <p:nvPr/>
        </p:nvSpPr>
        <p:spPr>
          <a:xfrm xmlns:a="http://schemas.openxmlformats.org/drawingml/2006/main">
            <a:off x="1390650" y="1809750"/>
            <a:ext cx="98298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0" name="">
            <a:extLst xmlns:a="http://schemas.openxmlformats.org/drawingml/2006/main">
              <a:ext uri="{FF2B5EF4-FFF2-40B4-BE49-F238E27FC236}">
                <a16:creationId xmlns:a16="http://schemas.microsoft.com/office/drawing/2014/main" id="{39BD6CC7-FC7F-48E3-A6AD-A2871CD3ECF7}"/>
              </a:ext>
            </a:extLst>
          </p:cNvPr>
          <p:cNvSpPr>
            <a:spLocks xmlns:a="http://schemas.openxmlformats.org/drawingml/2006/main" noGrp="1"/>
          </p:cNvSpPr>
          <p:nvPr/>
        </p:nvSpPr>
        <p:spPr>
          <a:xfrm xmlns:a="http://schemas.openxmlformats.org/drawingml/2006/main">
            <a:off x="933450" y="1876425"/>
            <a:ext cx="4000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02</a:t>
            </a:r>
          </a:p>
        </p:txBody>
      </p:sp>
      <p:sp>
        <p:nvSpPr>
          <p:cNvPr id="11" name="">
            <a:extLst xmlns:a="http://schemas.openxmlformats.org/drawingml/2006/main">
              <a:ext uri="{FF2B5EF4-FFF2-40B4-BE49-F238E27FC236}">
                <a16:creationId xmlns:a16="http://schemas.microsoft.com/office/drawing/2014/main" id="{A66B19C4-E8BE-4115-8BA8-1731E7F91F29}"/>
              </a:ext>
            </a:extLst>
          </p:cNvPr>
          <p:cNvSpPr>
            <a:spLocks xmlns:a="http://schemas.openxmlformats.org/drawingml/2006/main" noGrp="1"/>
          </p:cNvSpPr>
          <p:nvPr/>
        </p:nvSpPr>
        <p:spPr>
          <a:xfrm xmlns:a="http://schemas.openxmlformats.org/drawingml/2006/main">
            <a:off x="1390650" y="1876425"/>
            <a:ext cx="9829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Situation overview</a:t>
            </a:r>
          </a:p>
        </p:txBody>
      </p:sp>
      <p:sp>
        <p:nvSpPr>
          <p:cNvPr id="12" name="">
            <a:extLst xmlns:a="http://schemas.openxmlformats.org/drawingml/2006/main">
              <a:ext uri="{FF2B5EF4-FFF2-40B4-BE49-F238E27FC236}">
                <a16:creationId xmlns:a16="http://schemas.microsoft.com/office/drawing/2014/main" id="{589A5E7E-9672-448D-9CE8-AE0AB70C1319}"/>
              </a:ext>
            </a:extLst>
          </p:cNvPr>
          <p:cNvSpPr>
            <a:spLocks xmlns:a="http://schemas.openxmlformats.org/drawingml/2006/main" noGrp="1"/>
          </p:cNvSpPr>
          <p:nvPr/>
        </p:nvSpPr>
        <p:spPr>
          <a:xfrm xmlns:a="http://schemas.openxmlformats.org/drawingml/2006/main">
            <a:off x="1390650" y="2305050"/>
            <a:ext cx="98298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3" name="">
            <a:extLst xmlns:a="http://schemas.openxmlformats.org/drawingml/2006/main">
              <a:ext uri="{FF2B5EF4-FFF2-40B4-BE49-F238E27FC236}">
                <a16:creationId xmlns:a16="http://schemas.microsoft.com/office/drawing/2014/main" id="{867D7D5B-8010-4906-A460-26630CC0AA19}"/>
              </a:ext>
            </a:extLst>
          </p:cNvPr>
          <p:cNvSpPr>
            <a:spLocks xmlns:a="http://schemas.openxmlformats.org/drawingml/2006/main" noGrp="1"/>
          </p:cNvSpPr>
          <p:nvPr/>
        </p:nvSpPr>
        <p:spPr>
          <a:xfrm xmlns:a="http://schemas.openxmlformats.org/drawingml/2006/main">
            <a:off x="933450" y="2371725"/>
            <a:ext cx="4000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03</a:t>
            </a:r>
          </a:p>
        </p:txBody>
      </p:sp>
      <p:sp>
        <p:nvSpPr>
          <p:cNvPr id="14" name="">
            <a:extLst xmlns:a="http://schemas.openxmlformats.org/drawingml/2006/main">
              <a:ext uri="{FF2B5EF4-FFF2-40B4-BE49-F238E27FC236}">
                <a16:creationId xmlns:a16="http://schemas.microsoft.com/office/drawing/2014/main" id="{E433679F-FB6C-4343-949E-4BE1354E6760}"/>
              </a:ext>
            </a:extLst>
          </p:cNvPr>
          <p:cNvSpPr>
            <a:spLocks xmlns:a="http://schemas.openxmlformats.org/drawingml/2006/main" noGrp="1"/>
          </p:cNvSpPr>
          <p:nvPr/>
        </p:nvSpPr>
        <p:spPr>
          <a:xfrm xmlns:a="http://schemas.openxmlformats.org/drawingml/2006/main">
            <a:off x="1390650" y="2371725"/>
            <a:ext cx="9829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Preparedness measures</a:t>
            </a:r>
          </a:p>
        </p:txBody>
      </p:sp>
      <p:sp>
        <p:nvSpPr>
          <p:cNvPr id="15" name="">
            <a:extLst xmlns:a="http://schemas.openxmlformats.org/drawingml/2006/main">
              <a:ext uri="{FF2B5EF4-FFF2-40B4-BE49-F238E27FC236}">
                <a16:creationId xmlns:a16="http://schemas.microsoft.com/office/drawing/2014/main" id="{F1138052-F5B1-404C-A80D-4ABFA8FD269A}"/>
              </a:ext>
            </a:extLst>
          </p:cNvPr>
          <p:cNvSpPr>
            <a:spLocks xmlns:a="http://schemas.openxmlformats.org/drawingml/2006/main" noGrp="1"/>
          </p:cNvSpPr>
          <p:nvPr/>
        </p:nvSpPr>
        <p:spPr>
          <a:xfrm xmlns:a="http://schemas.openxmlformats.org/drawingml/2006/main">
            <a:off x="1390650" y="2800350"/>
            <a:ext cx="98298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6" name="">
            <a:extLst xmlns:a="http://schemas.openxmlformats.org/drawingml/2006/main">
              <a:ext uri="{FF2B5EF4-FFF2-40B4-BE49-F238E27FC236}">
                <a16:creationId xmlns:a16="http://schemas.microsoft.com/office/drawing/2014/main" id="{0BDBC6AD-5426-42EA-8B4A-66DDC531B737}"/>
              </a:ext>
            </a:extLst>
          </p:cNvPr>
          <p:cNvSpPr>
            <a:spLocks xmlns:a="http://schemas.openxmlformats.org/drawingml/2006/main" noGrp="1"/>
          </p:cNvSpPr>
          <p:nvPr/>
        </p:nvSpPr>
        <p:spPr>
          <a:xfrm xmlns:a="http://schemas.openxmlformats.org/drawingml/2006/main">
            <a:off x="933450" y="2867025"/>
            <a:ext cx="4000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04</a:t>
            </a:r>
          </a:p>
        </p:txBody>
      </p:sp>
      <p:sp>
        <p:nvSpPr>
          <p:cNvPr id="17" name="">
            <a:extLst xmlns:a="http://schemas.openxmlformats.org/drawingml/2006/main">
              <a:ext uri="{FF2B5EF4-FFF2-40B4-BE49-F238E27FC236}">
                <a16:creationId xmlns:a16="http://schemas.microsoft.com/office/drawing/2014/main" id="{36472A1F-3B08-4DFB-82E3-12CE8B459AA1}"/>
              </a:ext>
            </a:extLst>
          </p:cNvPr>
          <p:cNvSpPr>
            <a:spLocks xmlns:a="http://schemas.openxmlformats.org/drawingml/2006/main" noGrp="1"/>
          </p:cNvSpPr>
          <p:nvPr/>
        </p:nvSpPr>
        <p:spPr>
          <a:xfrm xmlns:a="http://schemas.openxmlformats.org/drawingml/2006/main">
            <a:off x="1390650" y="2867025"/>
            <a:ext cx="9829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Consolidated effects</a:t>
            </a:r>
          </a:p>
        </p:txBody>
      </p:sp>
      <p:sp>
        <p:nvSpPr>
          <p:cNvPr id="18" name="">
            <a:extLst xmlns:a="http://schemas.openxmlformats.org/drawingml/2006/main">
              <a:ext uri="{FF2B5EF4-FFF2-40B4-BE49-F238E27FC236}">
                <a16:creationId xmlns:a16="http://schemas.microsoft.com/office/drawing/2014/main" id="{389A6391-5998-4845-971D-40199FDC10FD}"/>
              </a:ext>
            </a:extLst>
          </p:cNvPr>
          <p:cNvSpPr>
            <a:spLocks xmlns:a="http://schemas.openxmlformats.org/drawingml/2006/main" noGrp="1"/>
          </p:cNvSpPr>
          <p:nvPr/>
        </p:nvSpPr>
        <p:spPr>
          <a:xfrm xmlns:a="http://schemas.openxmlformats.org/drawingml/2006/main">
            <a:off x="1390650" y="3295650"/>
            <a:ext cx="98298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9" name="">
            <a:extLst xmlns:a="http://schemas.openxmlformats.org/drawingml/2006/main">
              <a:ext uri="{FF2B5EF4-FFF2-40B4-BE49-F238E27FC236}">
                <a16:creationId xmlns:a16="http://schemas.microsoft.com/office/drawing/2014/main" id="{DF6175A3-B771-46B3-B076-BB5E8D5D581D}"/>
              </a:ext>
            </a:extLst>
          </p:cNvPr>
          <p:cNvSpPr>
            <a:spLocks xmlns:a="http://schemas.openxmlformats.org/drawingml/2006/main" noGrp="1"/>
          </p:cNvSpPr>
          <p:nvPr/>
        </p:nvSpPr>
        <p:spPr>
          <a:xfrm xmlns:a="http://schemas.openxmlformats.org/drawingml/2006/main">
            <a:off x="933450" y="3362325"/>
            <a:ext cx="4000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05</a:t>
            </a:r>
          </a:p>
        </p:txBody>
      </p:sp>
      <p:sp>
        <p:nvSpPr>
          <p:cNvPr id="20" name="">
            <a:extLst xmlns:a="http://schemas.openxmlformats.org/drawingml/2006/main">
              <a:ext uri="{FF2B5EF4-FFF2-40B4-BE49-F238E27FC236}">
                <a16:creationId xmlns:a16="http://schemas.microsoft.com/office/drawing/2014/main" id="{44A3C82C-8145-4688-BC00-4ACCB81BFE02}"/>
              </a:ext>
            </a:extLst>
          </p:cNvPr>
          <p:cNvSpPr>
            <a:spLocks xmlns:a="http://schemas.openxmlformats.org/drawingml/2006/main" noGrp="1"/>
          </p:cNvSpPr>
          <p:nvPr/>
        </p:nvSpPr>
        <p:spPr>
          <a:xfrm xmlns:a="http://schemas.openxmlformats.org/drawingml/2006/main">
            <a:off x="1390650" y="3362325"/>
            <a:ext cx="9829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Response actions</a:t>
            </a:r>
          </a:p>
        </p:txBody>
      </p:sp>
      <p:sp>
        <p:nvSpPr>
          <p:cNvPr id="21" name="">
            <a:extLst xmlns:a="http://schemas.openxmlformats.org/drawingml/2006/main">
              <a:ext uri="{FF2B5EF4-FFF2-40B4-BE49-F238E27FC236}">
                <a16:creationId xmlns:a16="http://schemas.microsoft.com/office/drawing/2014/main" id="{C24CB0AE-5E9B-46F4-8A59-F1977F16DDAB}"/>
              </a:ext>
            </a:extLst>
          </p:cNvPr>
          <p:cNvSpPr>
            <a:spLocks xmlns:a="http://schemas.openxmlformats.org/drawingml/2006/main" noGrp="1"/>
          </p:cNvSpPr>
          <p:nvPr/>
        </p:nvSpPr>
        <p:spPr>
          <a:xfrm xmlns:a="http://schemas.openxmlformats.org/drawingml/2006/main">
            <a:off x="1390650" y="3790950"/>
            <a:ext cx="98298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2" name="">
            <a:extLst xmlns:a="http://schemas.openxmlformats.org/drawingml/2006/main">
              <a:ext uri="{FF2B5EF4-FFF2-40B4-BE49-F238E27FC236}">
                <a16:creationId xmlns:a16="http://schemas.microsoft.com/office/drawing/2014/main" id="{23B9A7CE-E613-4C64-BE93-E9C0847C4FC7}"/>
              </a:ext>
            </a:extLst>
          </p:cNvPr>
          <p:cNvSpPr>
            <a:spLocks xmlns:a="http://schemas.openxmlformats.org/drawingml/2006/main" noGrp="1"/>
          </p:cNvSpPr>
          <p:nvPr/>
        </p:nvSpPr>
        <p:spPr>
          <a:xfrm xmlns:a="http://schemas.openxmlformats.org/drawingml/2006/main">
            <a:off x="933450" y="3857625"/>
            <a:ext cx="4000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06</a:t>
            </a:r>
          </a:p>
        </p:txBody>
      </p:sp>
      <p:sp>
        <p:nvSpPr>
          <p:cNvPr id="23" name="">
            <a:extLst xmlns:a="http://schemas.openxmlformats.org/drawingml/2006/main">
              <a:ext uri="{FF2B5EF4-FFF2-40B4-BE49-F238E27FC236}">
                <a16:creationId xmlns:a16="http://schemas.microsoft.com/office/drawing/2014/main" id="{A0ADEBDD-AC14-45C9-9A3B-534EF002305C}"/>
              </a:ext>
            </a:extLst>
          </p:cNvPr>
          <p:cNvSpPr>
            <a:spLocks xmlns:a="http://schemas.openxmlformats.org/drawingml/2006/main" noGrp="1"/>
          </p:cNvSpPr>
          <p:nvPr/>
        </p:nvSpPr>
        <p:spPr>
          <a:xfrm xmlns:a="http://schemas.openxmlformats.org/drawingml/2006/main">
            <a:off x="1390650" y="3857625"/>
            <a:ext cx="9829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Issues and concerns</a:t>
            </a:r>
          </a:p>
        </p:txBody>
      </p:sp>
      <p:sp>
        <p:nvSpPr>
          <p:cNvPr id="24" name="">
            <a:extLst xmlns:a="http://schemas.openxmlformats.org/drawingml/2006/main">
              <a:ext uri="{FF2B5EF4-FFF2-40B4-BE49-F238E27FC236}">
                <a16:creationId xmlns:a16="http://schemas.microsoft.com/office/drawing/2014/main" id="{DD3F058F-6163-4864-9F9B-C1DCCD5D63CF}"/>
              </a:ext>
            </a:extLst>
          </p:cNvPr>
          <p:cNvSpPr>
            <a:spLocks xmlns:a="http://schemas.openxmlformats.org/drawingml/2006/main" noGrp="1"/>
          </p:cNvSpPr>
          <p:nvPr/>
        </p:nvSpPr>
        <p:spPr>
          <a:xfrm xmlns:a="http://schemas.openxmlformats.org/drawingml/2006/main">
            <a:off x="1390650" y="4286250"/>
            <a:ext cx="98298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5" name="">
            <a:extLst xmlns:a="http://schemas.openxmlformats.org/drawingml/2006/main">
              <a:ext uri="{FF2B5EF4-FFF2-40B4-BE49-F238E27FC236}">
                <a16:creationId xmlns:a16="http://schemas.microsoft.com/office/drawing/2014/main" id="{A9580A20-6990-4CF1-A359-F7F995339713}"/>
              </a:ext>
            </a:extLst>
          </p:cNvPr>
          <p:cNvSpPr>
            <a:spLocks xmlns:a="http://schemas.openxmlformats.org/drawingml/2006/main" noGrp="1"/>
          </p:cNvSpPr>
          <p:nvPr/>
        </p:nvSpPr>
        <p:spPr>
          <a:xfrm xmlns:a="http://schemas.openxmlformats.org/drawingml/2006/main">
            <a:off x="933450" y="4352925"/>
            <a:ext cx="4000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07</a:t>
            </a:r>
          </a:p>
        </p:txBody>
      </p:sp>
      <p:sp>
        <p:nvSpPr>
          <p:cNvPr id="26" name="">
            <a:extLst xmlns:a="http://schemas.openxmlformats.org/drawingml/2006/main">
              <a:ext uri="{FF2B5EF4-FFF2-40B4-BE49-F238E27FC236}">
                <a16:creationId xmlns:a16="http://schemas.microsoft.com/office/drawing/2014/main" id="{BA23E4AF-9F63-47E4-85C3-E739E15F5EFD}"/>
              </a:ext>
            </a:extLst>
          </p:cNvPr>
          <p:cNvSpPr>
            <a:spLocks xmlns:a="http://schemas.openxmlformats.org/drawingml/2006/main" noGrp="1"/>
          </p:cNvSpPr>
          <p:nvPr/>
        </p:nvSpPr>
        <p:spPr>
          <a:xfrm xmlns:a="http://schemas.openxmlformats.org/drawingml/2006/main">
            <a:off x="1390650" y="4352925"/>
            <a:ext cx="9829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Recommendations</a:t>
            </a:r>
          </a:p>
        </p:txBody>
      </p:sp>
      <p:sp>
        <p:nvSpPr>
          <p:cNvPr id="27" name="">
            <a:extLst xmlns:a="http://schemas.openxmlformats.org/drawingml/2006/main">
              <a:ext uri="{FF2B5EF4-FFF2-40B4-BE49-F238E27FC236}">
                <a16:creationId xmlns:a16="http://schemas.microsoft.com/office/drawing/2014/main" id="{8AA4B591-DE1D-41BF-A0AF-51C983A69C55}"/>
              </a:ext>
            </a:extLst>
          </p:cNvPr>
          <p:cNvSpPr>
            <a:spLocks xmlns:a="http://schemas.openxmlformats.org/drawingml/2006/main" noGrp="1"/>
          </p:cNvSpPr>
          <p:nvPr/>
        </p:nvSpPr>
        <p:spPr>
          <a:xfrm xmlns:a="http://schemas.openxmlformats.org/drawingml/2006/main">
            <a:off x="1390650" y="4781550"/>
            <a:ext cx="98298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8" name="">
            <a:extLst xmlns:a="http://schemas.openxmlformats.org/drawingml/2006/main">
              <a:ext uri="{FF2B5EF4-FFF2-40B4-BE49-F238E27FC236}">
                <a16:creationId xmlns:a16="http://schemas.microsoft.com/office/drawing/2014/main" id="{27ABEF86-CADA-48AA-B203-79A40DA00CF2}"/>
              </a:ext>
            </a:extLst>
          </p:cNvPr>
          <p:cNvSpPr>
            <a:spLocks xmlns:a="http://schemas.openxmlformats.org/drawingml/2006/main" noGrp="1"/>
          </p:cNvSpPr>
          <p:nvPr/>
        </p:nvSpPr>
        <p:spPr>
          <a:xfrm xmlns:a="http://schemas.openxmlformats.org/drawingml/2006/main">
            <a:off x="933450" y="4848225"/>
            <a:ext cx="4000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08</a:t>
            </a:r>
          </a:p>
        </p:txBody>
      </p:sp>
      <p:sp>
        <p:nvSpPr>
          <p:cNvPr id="29" name="">
            <a:extLst xmlns:a="http://schemas.openxmlformats.org/drawingml/2006/main">
              <a:ext uri="{FF2B5EF4-FFF2-40B4-BE49-F238E27FC236}">
                <a16:creationId xmlns:a16="http://schemas.microsoft.com/office/drawing/2014/main" id="{05D6E8C2-5654-441B-9808-D3758E95DD38}"/>
              </a:ext>
            </a:extLst>
          </p:cNvPr>
          <p:cNvSpPr>
            <a:spLocks xmlns:a="http://schemas.openxmlformats.org/drawingml/2006/main" noGrp="1"/>
          </p:cNvSpPr>
          <p:nvPr/>
        </p:nvSpPr>
        <p:spPr>
          <a:xfrm xmlns:a="http://schemas.openxmlformats.org/drawingml/2006/main">
            <a:off x="1390650" y="4848225"/>
            <a:ext cx="9829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Sources, approval and annexes as applicable</a:t>
            </a:r>
          </a:p>
        </p:txBody>
      </p:sp>
      <p:sp>
        <p:nvSpPr>
          <p:cNvPr id="30" name="">
            <a:extLst xmlns:a="http://schemas.openxmlformats.org/drawingml/2006/main">
              <a:ext uri="{FF2B5EF4-FFF2-40B4-BE49-F238E27FC236}">
                <a16:creationId xmlns:a16="http://schemas.microsoft.com/office/drawing/2014/main" id="{EA449117-566D-4952-989E-9EF94DD25E44}"/>
              </a:ext>
            </a:extLst>
          </p:cNvPr>
          <p:cNvSpPr>
            <a:spLocks xmlns:a="http://schemas.openxmlformats.org/drawingml/2006/main" noGrp="1"/>
          </p:cNvSpPr>
          <p:nvPr/>
        </p:nvSpPr>
        <p:spPr>
          <a:xfrm xmlns:a="http://schemas.openxmlformats.org/drawingml/2006/main">
            <a:off x="933450" y="5467350"/>
            <a:ext cx="1733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Reporting stages</a:t>
            </a:r>
          </a:p>
        </p:txBody>
      </p:sp>
      <p:sp>
        <p:nvSpPr>
          <p:cNvPr id="31" name="">
            <a:extLst xmlns:a="http://schemas.openxmlformats.org/drawingml/2006/main">
              <a:ext uri="{FF2B5EF4-FFF2-40B4-BE49-F238E27FC236}">
                <a16:creationId xmlns:a16="http://schemas.microsoft.com/office/drawing/2014/main" id="{4FE9991A-7411-4A7F-B4A2-40A04D65D009}"/>
              </a:ext>
            </a:extLst>
          </p:cNvPr>
          <p:cNvSpPr>
            <a:spLocks xmlns:a="http://schemas.openxmlformats.org/drawingml/2006/main" noGrp="1"/>
          </p:cNvSpPr>
          <p:nvPr/>
        </p:nvSpPr>
        <p:spPr>
          <a:xfrm xmlns:a="http://schemas.openxmlformats.org/drawingml/2006/main">
            <a:off x="2743200" y="5429250"/>
            <a:ext cx="8477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575" b="1">
                <a:solidFill>
                  <a:srgbClr val="252D30"/>
                </a:solidFill>
                <a:latin typeface="Source Sans 3"/>
                <a:ea typeface="Source Sans 3"/>
                <a:cs typeface="Source Sans 3"/>
              </a:defRPr>
            </a:pPr>
            <a:r>
              <a:rPr sz="1575" b="1">
                <a:solidFill>
                  <a:srgbClr val="252D30"/>
                </a:solidFill>
                <a:latin typeface="Source Sans 3"/>
                <a:ea typeface="Source Sans 3"/>
                <a:cs typeface="Source Sans 3"/>
              </a:rPr>
              <a:t>Initial, progress, terminal, and final reports</a:t>
            </a:r>
          </a:p>
        </p:txBody>
      </p:sp>
    </p:spTree>
    <p:extLst>
      <p:ext uri="{BB962C8B-B14F-4D97-AF65-F5344CB8AC3E}">
        <p14:creationId xmlns:p14="http://schemas.microsoft.com/office/powerpoint/2010/main" val="1830563400"/>
      </p:ext>
    </p:extLst>
  </p:cSld>
</p:sld>
</file>

<file path=ppt/slides/slide5.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FBA68AA-9D16-4A67-9D28-DC60D43D3853}"/>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37D7880-B8CB-46DB-9027-7F801D1F3415}"/>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CURRENT WORKFLOW</a:t>
            </a:r>
          </a:p>
        </p:txBody>
      </p:sp>
      <p:sp>
        <p:nvSpPr>
          <p:cNvPr id="3" name="">
            <a:extLst xmlns:a="http://schemas.openxmlformats.org/drawingml/2006/main">
              <a:ext uri="{FF2B5EF4-FFF2-40B4-BE49-F238E27FC236}">
                <a16:creationId xmlns:a16="http://schemas.microsoft.com/office/drawing/2014/main" id="{732DF249-62B9-4EA9-8E3F-7B6813562D90}"/>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The current reporting path uses several hand-offs</a:t>
            </a:r>
          </a:p>
        </p:txBody>
      </p:sp>
      <p:sp>
        <p:nvSpPr>
          <p:cNvPr id="4" name="">
            <a:extLst xmlns:a="http://schemas.openxmlformats.org/drawingml/2006/main">
              <a:ext uri="{FF2B5EF4-FFF2-40B4-BE49-F238E27FC236}">
                <a16:creationId xmlns:a16="http://schemas.microsoft.com/office/drawing/2014/main" id="{ACF1CBD3-4AFC-48E5-8D9C-7B77BA097E42}"/>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C2686128-2361-4564-9EC9-ED8FCE361A59}"/>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Figure 1 and Chapter 1 workflow description</a:t>
            </a:r>
          </a:p>
        </p:txBody>
      </p:sp>
      <p:sp>
        <p:nvSpPr>
          <p:cNvPr id="6" name="">
            <a:extLst xmlns:a="http://schemas.openxmlformats.org/drawingml/2006/main">
              <a:ext uri="{FF2B5EF4-FFF2-40B4-BE49-F238E27FC236}">
                <a16:creationId xmlns:a16="http://schemas.microsoft.com/office/drawing/2014/main" id="{223D5204-ADC2-4B6A-B6DF-DDCB83B2210A}"/>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05</a:t>
            </a:r>
          </a:p>
        </p:txBody>
      </p:sp>
      <p:sp>
        <p:nvSpPr>
          <p:cNvPr id="7" name="">
            <a:extLst xmlns:a="http://schemas.openxmlformats.org/drawingml/2006/main">
              <a:ext uri="{FF2B5EF4-FFF2-40B4-BE49-F238E27FC236}">
                <a16:creationId xmlns:a16="http://schemas.microsoft.com/office/drawing/2014/main" id="{14B82C2A-28EA-4919-BABA-66BE940CD0AE}"/>
              </a:ext>
            </a:extLst>
          </p:cNvPr>
          <p:cNvSpPr>
            <a:spLocks xmlns:a="http://schemas.openxmlformats.org/drawingml/2006/main" noGrp="1"/>
          </p:cNvSpPr>
          <p:nvPr/>
        </p:nvSpPr>
        <p:spPr>
          <a:xfrm xmlns:a="http://schemas.openxmlformats.org/drawingml/2006/main">
            <a:off x="876300" y="1905000"/>
            <a:ext cx="2571750" cy="13335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14288">
            <a:solidFill>
              <a:srgbClr val="D3DCDA"/>
            </a:solidFill>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575" b="1">
                <a:solidFill>
                  <a:srgbClr val="252D30"/>
                </a:solidFill>
                <a:latin typeface="Source Sans 3"/>
                <a:ea typeface="Source Sans 3"/>
                <a:cs typeface="Source Sans 3"/>
              </a:defRPr>
            </a:pPr>
            <a:r>
              <a:rPr sz="1575" b="1">
                <a:solidFill>
                  <a:srgbClr val="252D30"/>
                </a:solidFill>
                <a:latin typeface="Source Sans 3"/>
                <a:ea typeface="Source Sans 3"/>
                <a:cs typeface="Source Sans 3"/>
              </a:rPr>
              <a:t>PUROK</a:t>
            </a:r>
          </a:p>
          <a:p xmlns:a="http://schemas.openxmlformats.org/drawingml/2006/main">
            <a:pPr algn="ctr">
              <a:defRPr sz="1575" b="1">
                <a:solidFill>
                  <a:srgbClr val="252D30"/>
                </a:solidFill>
                <a:latin typeface="Source Sans 3"/>
                <a:ea typeface="Source Sans 3"/>
                <a:cs typeface="Source Sans 3"/>
              </a:defRPr>
            </a:pPr>
            <a:r>
              <a:rPr sz="1575" b="1">
                <a:solidFill>
                  <a:srgbClr val="252D30"/>
                </a:solidFill>
                <a:latin typeface="Source Sans 3"/>
                <a:ea typeface="Source Sans 3"/>
                <a:cs typeface="Source Sans 3"/>
              </a:rPr>
              <a:t>Observe and record</a:t>
            </a:r>
          </a:p>
          <a:p xmlns:a="http://schemas.openxmlformats.org/drawingml/2006/main">
            <a:pPr algn="ctr">
              <a:defRPr sz="1575" b="1">
                <a:solidFill>
                  <a:srgbClr val="252D30"/>
                </a:solidFill>
                <a:latin typeface="Source Sans 3"/>
                <a:ea typeface="Source Sans 3"/>
                <a:cs typeface="Source Sans 3"/>
              </a:defRPr>
            </a:pPr>
            <a:r>
              <a:rPr sz="1575" b="1">
                <a:solidFill>
                  <a:srgbClr val="252D30"/>
                </a:solidFill>
                <a:latin typeface="Source Sans 3"/>
                <a:ea typeface="Source Sans 3"/>
                <a:cs typeface="Source Sans 3"/>
              </a:rPr>
              <a:t>location, time, hazard,</a:t>
            </a:r>
          </a:p>
          <a:p xmlns:a="http://schemas.openxmlformats.org/drawingml/2006/main">
            <a:pPr algn="ctr">
              <a:defRPr sz="1575" b="1">
                <a:solidFill>
                  <a:srgbClr val="252D30"/>
                </a:solidFill>
                <a:latin typeface="Source Sans 3"/>
                <a:ea typeface="Source Sans 3"/>
                <a:cs typeface="Source Sans 3"/>
              </a:defRPr>
            </a:pPr>
            <a:r>
              <a:rPr sz="1575" b="1">
                <a:solidFill>
                  <a:srgbClr val="252D30"/>
                </a:solidFill>
                <a:latin typeface="Source Sans 3"/>
                <a:ea typeface="Source Sans 3"/>
                <a:cs typeface="Source Sans 3"/>
              </a:rPr>
              <a:t>initial exposure</a:t>
            </a:r>
          </a:p>
        </p:txBody>
      </p:sp>
      <p:sp>
        <p:nvSpPr>
          <p:cNvPr id="8" name="">
            <a:extLst xmlns:a="http://schemas.openxmlformats.org/drawingml/2006/main">
              <a:ext uri="{FF2B5EF4-FFF2-40B4-BE49-F238E27FC236}">
                <a16:creationId xmlns:a16="http://schemas.microsoft.com/office/drawing/2014/main" id="{28DC4355-03AB-46DE-86F1-8F1792357841}"/>
              </a:ext>
            </a:extLst>
          </p:cNvPr>
          <p:cNvSpPr>
            <a:spLocks xmlns:a="http://schemas.openxmlformats.org/drawingml/2006/main" noGrp="1"/>
          </p:cNvSpPr>
          <p:nvPr/>
        </p:nvSpPr>
        <p:spPr>
          <a:xfrm xmlns:a="http://schemas.openxmlformats.org/drawingml/2006/main">
            <a:off x="4810125" y="1905000"/>
            <a:ext cx="2571750" cy="13335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14288">
            <a:solidFill>
              <a:srgbClr val="D3DCDA"/>
            </a:solidFill>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575" b="1">
                <a:solidFill>
                  <a:srgbClr val="252D30"/>
                </a:solidFill>
                <a:latin typeface="Source Sans 3"/>
                <a:ea typeface="Source Sans 3"/>
                <a:cs typeface="Source Sans 3"/>
              </a:defRPr>
            </a:pPr>
            <a:r>
              <a:rPr sz="1575" b="1">
                <a:solidFill>
                  <a:srgbClr val="252D30"/>
                </a:solidFill>
                <a:latin typeface="Source Sans 3"/>
                <a:ea typeface="Source Sans 3"/>
                <a:cs typeface="Source Sans 3"/>
              </a:rPr>
              <a:t>BARANGAY</a:t>
            </a:r>
          </a:p>
          <a:p xmlns:a="http://schemas.openxmlformats.org/drawingml/2006/main">
            <a:pPr algn="ctr">
              <a:defRPr sz="1575" b="1">
                <a:solidFill>
                  <a:srgbClr val="252D30"/>
                </a:solidFill>
                <a:latin typeface="Source Sans 3"/>
                <a:ea typeface="Source Sans 3"/>
                <a:cs typeface="Source Sans 3"/>
              </a:defRPr>
            </a:pPr>
            <a:r>
              <a:rPr sz="1575" b="1">
                <a:solidFill>
                  <a:srgbClr val="252D30"/>
                </a:solidFill>
                <a:latin typeface="Source Sans 3"/>
                <a:ea typeface="Source Sans 3"/>
                <a:cs typeface="Source Sans 3"/>
              </a:rPr>
              <a:t>Receive notice, check</a:t>
            </a:r>
          </a:p>
          <a:p xmlns:a="http://schemas.openxmlformats.org/drawingml/2006/main">
            <a:pPr algn="ctr">
              <a:defRPr sz="1575" b="1">
                <a:solidFill>
                  <a:srgbClr val="252D30"/>
                </a:solidFill>
                <a:latin typeface="Source Sans 3"/>
                <a:ea typeface="Source Sans 3"/>
                <a:cs typeface="Source Sans 3"/>
              </a:defRPr>
            </a:pPr>
            <a:r>
              <a:rPr sz="1575" b="1">
                <a:solidFill>
                  <a:srgbClr val="252D30"/>
                </a:solidFill>
                <a:latin typeface="Source Sans 3"/>
                <a:ea typeface="Source Sans 3"/>
                <a:cs typeface="Source Sans 3"/>
              </a:rPr>
              <a:t>incident area, prepare</a:t>
            </a:r>
          </a:p>
          <a:p xmlns:a="http://schemas.openxmlformats.org/drawingml/2006/main">
            <a:pPr algn="ctr">
              <a:defRPr sz="1575" b="1">
                <a:solidFill>
                  <a:srgbClr val="252D30"/>
                </a:solidFill>
                <a:latin typeface="Source Sans 3"/>
                <a:ea typeface="Source Sans 3"/>
                <a:cs typeface="Source Sans 3"/>
              </a:defRPr>
            </a:pPr>
            <a:r>
              <a:rPr sz="1575" b="1">
                <a:solidFill>
                  <a:srgbClr val="252D30"/>
                </a:solidFill>
                <a:latin typeface="Source Sans 3"/>
                <a:ea typeface="Source Sans 3"/>
                <a:cs typeface="Source Sans 3"/>
              </a:rPr>
              <a:t>initial information</a:t>
            </a:r>
          </a:p>
        </p:txBody>
      </p:sp>
      <p:sp>
        <p:nvSpPr>
          <p:cNvPr id="9" name="">
            <a:extLst xmlns:a="http://schemas.openxmlformats.org/drawingml/2006/main">
              <a:ext uri="{FF2B5EF4-FFF2-40B4-BE49-F238E27FC236}">
                <a16:creationId xmlns:a16="http://schemas.microsoft.com/office/drawing/2014/main" id="{659F237B-DB2A-42D8-91F3-3196E43F4DB7}"/>
              </a:ext>
            </a:extLst>
          </p:cNvPr>
          <p:cNvSpPr>
            <a:spLocks xmlns:a="http://schemas.openxmlformats.org/drawingml/2006/main" noGrp="1"/>
          </p:cNvSpPr>
          <p:nvPr/>
        </p:nvSpPr>
        <p:spPr>
          <a:xfrm xmlns:a="http://schemas.openxmlformats.org/drawingml/2006/main">
            <a:off x="8743950" y="1905000"/>
            <a:ext cx="2571750" cy="13335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14288">
            <a:solidFill>
              <a:srgbClr val="D3DCDA"/>
            </a:solidFill>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575" b="1">
                <a:solidFill>
                  <a:srgbClr val="252D30"/>
                </a:solidFill>
                <a:latin typeface="Source Sans 3"/>
                <a:ea typeface="Source Sans 3"/>
                <a:cs typeface="Source Sans 3"/>
              </a:defRPr>
            </a:pPr>
            <a:r>
              <a:rPr sz="1575" b="1">
                <a:solidFill>
                  <a:srgbClr val="252D30"/>
                </a:solidFill>
                <a:latin typeface="Source Sans 3"/>
                <a:ea typeface="Source Sans 3"/>
                <a:cs typeface="Source Sans 3"/>
              </a:rPr>
              <a:t>ZCDRRMO OPERATIONS</a:t>
            </a:r>
          </a:p>
          <a:p xmlns:a="http://schemas.openxmlformats.org/drawingml/2006/main">
            <a:pPr algn="ctr">
              <a:defRPr sz="1575" b="1">
                <a:solidFill>
                  <a:srgbClr val="252D30"/>
                </a:solidFill>
                <a:latin typeface="Source Sans 3"/>
                <a:ea typeface="Source Sans 3"/>
                <a:cs typeface="Source Sans 3"/>
              </a:defRPr>
            </a:pPr>
            <a:r>
              <a:rPr sz="1575" b="1">
                <a:solidFill>
                  <a:srgbClr val="252D30"/>
                </a:solidFill>
                <a:latin typeface="Source Sans 3"/>
                <a:ea typeface="Source Sans 3"/>
                <a:cs typeface="Source Sans 3"/>
              </a:rPr>
              <a:t>Request clarification or</a:t>
            </a:r>
          </a:p>
          <a:p xmlns:a="http://schemas.openxmlformats.org/drawingml/2006/main">
            <a:pPr algn="ctr">
              <a:defRPr sz="1575" b="1">
                <a:solidFill>
                  <a:srgbClr val="252D30"/>
                </a:solidFill>
                <a:latin typeface="Source Sans 3"/>
                <a:ea typeface="Source Sans 3"/>
                <a:cs typeface="Source Sans 3"/>
              </a:defRPr>
            </a:pPr>
            <a:r>
              <a:rPr sz="1575" b="1">
                <a:solidFill>
                  <a:srgbClr val="252D30"/>
                </a:solidFill>
                <a:latin typeface="Source Sans 3"/>
                <a:ea typeface="Source Sans 3"/>
                <a:cs typeface="Source Sans 3"/>
              </a:rPr>
              <a:t>field checks, consolidate</a:t>
            </a:r>
          </a:p>
          <a:p xmlns:a="http://schemas.openxmlformats.org/drawingml/2006/main">
            <a:pPr algn="ctr">
              <a:defRPr sz="1575" b="1">
                <a:solidFill>
                  <a:srgbClr val="252D30"/>
                </a:solidFill>
                <a:latin typeface="Source Sans 3"/>
                <a:ea typeface="Source Sans 3"/>
                <a:cs typeface="Source Sans 3"/>
              </a:defRPr>
            </a:pPr>
            <a:r>
              <a:rPr sz="1575" b="1">
                <a:solidFill>
                  <a:srgbClr val="252D30"/>
                </a:solidFill>
                <a:latin typeface="Source Sans 3"/>
                <a:ea typeface="Source Sans 3"/>
                <a:cs typeface="Source Sans 3"/>
              </a:rPr>
              <a:t>separate records</a:t>
            </a:r>
          </a:p>
        </p:txBody>
      </p:sp>
      <p:cxnSp>
        <p:nvCxnSpPr>
          <p:cNvPr id="28" name=""/>
          <p:cNvCxnSpPr>
            <a:stCxn xmlns:a="http://schemas.openxmlformats.org/drawingml/2006/main" id="7" idx="3"/>
            <a:endCxn xmlns:a="http://schemas.openxmlformats.org/drawingml/2006/main" id="8" idx="1"/>
          </p:cNvCxnSpPr>
          <p:nvPr/>
        </p:nvCxnSpPr>
        <p:spPr>
          <a:xfrm xmlns:a="http://schemas.openxmlformats.org/drawingml/2006/main">
            <a:off x="3448050" y="2571750"/>
            <a:ext cx="1362075" cy="0"/>
          </a:xfrm>
          <a:prstGeom xmlns:a="http://schemas.openxmlformats.org/drawingml/2006/main" prst="straightConnector1">
            <a:avLst/>
          </a:prstGeom>
          <a:ln xmlns:a="http://schemas.openxmlformats.org/drawingml/2006/main" w="19050">
            <a:solidFill>
              <a:srgbClr val="276E6B"/>
            </a:solidFill>
            <a:prstDash val="solid"/>
            <a:tailEnd type="arrow" w="sm" len="sm"/>
          </a:ln>
        </p:spPr>
      </p:cxnSp>
      <p:cxnSp>
        <p:nvCxnSpPr>
          <p:cNvPr id="29" name=""/>
          <p:cNvCxnSpPr>
            <a:stCxn xmlns:a="http://schemas.openxmlformats.org/drawingml/2006/main" id="8" idx="3"/>
            <a:endCxn xmlns:a="http://schemas.openxmlformats.org/drawingml/2006/main" id="9" idx="1"/>
          </p:cNvCxnSpPr>
          <p:nvPr/>
        </p:nvCxnSpPr>
        <p:spPr>
          <a:xfrm xmlns:a="http://schemas.openxmlformats.org/drawingml/2006/main">
            <a:off x="7381875" y="2571750"/>
            <a:ext cx="1362075" cy="0"/>
          </a:xfrm>
          <a:prstGeom xmlns:a="http://schemas.openxmlformats.org/drawingml/2006/main" prst="straightConnector1">
            <a:avLst/>
          </a:prstGeom>
          <a:ln xmlns:a="http://schemas.openxmlformats.org/drawingml/2006/main" w="19050">
            <a:solidFill>
              <a:srgbClr val="276E6B"/>
            </a:solidFill>
            <a:prstDash val="solid"/>
            <a:tailEnd type="arrow" w="sm" len="sm"/>
          </a:ln>
        </p:spPr>
      </p:cxnSp>
      <p:sp>
        <p:nvSpPr>
          <p:cNvPr id="12" name="">
            <a:extLst xmlns:a="http://schemas.openxmlformats.org/drawingml/2006/main">
              <a:ext uri="{FF2B5EF4-FFF2-40B4-BE49-F238E27FC236}">
                <a16:creationId xmlns:a16="http://schemas.microsoft.com/office/drawing/2014/main" id="{9499A426-C810-400F-A1A4-DB290D089CFF}"/>
              </a:ext>
            </a:extLst>
          </p:cNvPr>
          <p:cNvSpPr>
            <a:spLocks xmlns:a="http://schemas.openxmlformats.org/drawingml/2006/main" noGrp="1"/>
          </p:cNvSpPr>
          <p:nvPr/>
        </p:nvSpPr>
        <p:spPr>
          <a:xfrm xmlns:a="http://schemas.openxmlformats.org/drawingml/2006/main">
            <a:off x="3381375" y="3371850"/>
            <a:ext cx="1476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275" b="0">
                <a:solidFill>
                  <a:srgbClr val="59676A"/>
                </a:solidFill>
                <a:latin typeface="Source Sans 3"/>
                <a:ea typeface="Source Sans 3"/>
                <a:cs typeface="Source Sans 3"/>
              </a:defRPr>
            </a:pPr>
            <a:r>
              <a:rPr sz="1275" b="0">
                <a:solidFill>
                  <a:srgbClr val="59676A"/>
                </a:solidFill>
                <a:latin typeface="Source Sans 3"/>
                <a:ea typeface="Source Sans 3"/>
                <a:cs typeface="Source Sans 3"/>
              </a:rPr>
              <a:t>SMS, telephone calls,</a:t>
            </a:r>
          </a:p>
          <a:p xmlns:a="http://schemas.openxmlformats.org/drawingml/2006/main">
            <a:pPr algn="ctr">
              <a:defRPr sz="1275" b="0">
                <a:solidFill>
                  <a:srgbClr val="59676A"/>
                </a:solidFill>
                <a:latin typeface="Source Sans 3"/>
                <a:ea typeface="Source Sans 3"/>
                <a:cs typeface="Source Sans 3"/>
              </a:defRPr>
            </a:pPr>
            <a:r>
              <a:rPr sz="1275" b="0">
                <a:solidFill>
                  <a:srgbClr val="59676A"/>
                </a:solidFill>
                <a:latin typeface="Source Sans 3"/>
                <a:ea typeface="Source Sans 3"/>
                <a:cs typeface="Source Sans 3"/>
              </a:rPr>
              <a:t>online messages</a:t>
            </a:r>
          </a:p>
        </p:txBody>
      </p:sp>
      <p:sp>
        <p:nvSpPr>
          <p:cNvPr id="13" name="">
            <a:extLst xmlns:a="http://schemas.openxmlformats.org/drawingml/2006/main">
              <a:ext uri="{FF2B5EF4-FFF2-40B4-BE49-F238E27FC236}">
                <a16:creationId xmlns:a16="http://schemas.microsoft.com/office/drawing/2014/main" id="{EEE341A2-B75D-4693-BD44-56BBD217CD67}"/>
              </a:ext>
            </a:extLst>
          </p:cNvPr>
          <p:cNvSpPr>
            <a:spLocks xmlns:a="http://schemas.openxmlformats.org/drawingml/2006/main" noGrp="1"/>
          </p:cNvSpPr>
          <p:nvPr/>
        </p:nvSpPr>
        <p:spPr>
          <a:xfrm xmlns:a="http://schemas.openxmlformats.org/drawingml/2006/main">
            <a:off x="7372350" y="3371850"/>
            <a:ext cx="13716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275" b="0">
                <a:solidFill>
                  <a:srgbClr val="59676A"/>
                </a:solidFill>
                <a:latin typeface="Source Sans 3"/>
                <a:ea typeface="Source Sans 3"/>
                <a:cs typeface="Source Sans 3"/>
              </a:defRPr>
            </a:pPr>
            <a:r>
              <a:rPr sz="1275" b="0">
                <a:solidFill>
                  <a:srgbClr val="59676A"/>
                </a:solidFill>
                <a:latin typeface="Source Sans 3"/>
                <a:ea typeface="Source Sans 3"/>
                <a:cs typeface="Source Sans 3"/>
              </a:rPr>
              <a:t>Calls, requests,</a:t>
            </a:r>
          </a:p>
          <a:p xmlns:a="http://schemas.openxmlformats.org/drawingml/2006/main">
            <a:pPr algn="ctr">
              <a:defRPr sz="1275" b="0">
                <a:solidFill>
                  <a:srgbClr val="59676A"/>
                </a:solidFill>
                <a:latin typeface="Source Sans 3"/>
                <a:ea typeface="Source Sans 3"/>
                <a:cs typeface="Source Sans 3"/>
              </a:defRPr>
            </a:pPr>
            <a:r>
              <a:rPr sz="1275" b="0">
                <a:solidFill>
                  <a:srgbClr val="59676A"/>
                </a:solidFill>
                <a:latin typeface="Source Sans 3"/>
                <a:ea typeface="Source Sans 3"/>
                <a:cs typeface="Source Sans 3"/>
              </a:rPr>
              <a:t>field information</a:t>
            </a:r>
          </a:p>
        </p:txBody>
      </p:sp>
      <p:sp>
        <p:nvSpPr>
          <p:cNvPr id="14" name="">
            <a:extLst xmlns:a="http://schemas.openxmlformats.org/drawingml/2006/main">
              <a:ext uri="{FF2B5EF4-FFF2-40B4-BE49-F238E27FC236}">
                <a16:creationId xmlns:a16="http://schemas.microsoft.com/office/drawing/2014/main" id="{BF9A1003-7932-4DFB-B127-3216AFC51AA7}"/>
              </a:ext>
            </a:extLst>
          </p:cNvPr>
          <p:cNvSpPr>
            <a:spLocks xmlns:a="http://schemas.openxmlformats.org/drawingml/2006/main" noGrp="1"/>
          </p:cNvSpPr>
          <p:nvPr/>
        </p:nvSpPr>
        <p:spPr>
          <a:xfrm xmlns:a="http://schemas.openxmlformats.org/drawingml/2006/main">
            <a:off x="3295650" y="4362450"/>
            <a:ext cx="5572125" cy="790575"/>
          </a:xfrm>
          <a:prstGeom xmlns:a="http://schemas.openxmlformats.org/drawingml/2006/main" prst="roundRect">
            <a:avLst>
              <a:gd name="adj" fmla="val 9639"/>
            </a:avLst>
          </a:prstGeom>
          <a:solidFill xmlns:a="http://schemas.openxmlformats.org/drawingml/2006/main">
            <a:srgbClr val="E4EFEC"/>
          </a:solidFill>
          <a:ln xmlns:a="http://schemas.openxmlformats.org/drawingml/2006/main" w="14288">
            <a:solidFill>
              <a:srgbClr val="D3DCDA"/>
            </a:solidFill>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575" b="1">
                <a:solidFill>
                  <a:srgbClr val="252D30"/>
                </a:solidFill>
                <a:latin typeface="Source Sans 3"/>
                <a:ea typeface="Source Sans 3"/>
                <a:cs typeface="Source Sans 3"/>
              </a:defRPr>
            </a:pPr>
            <a:r>
              <a:rPr sz="1575" b="1">
                <a:solidFill>
                  <a:srgbClr val="252D30"/>
                </a:solidFill>
                <a:latin typeface="Source Sans 3"/>
                <a:ea typeface="Source Sans 3"/>
                <a:cs typeface="Source Sans 3"/>
              </a:rPr>
              <a:t>Manual consolidation</a:t>
            </a:r>
          </a:p>
          <a:p xmlns:a="http://schemas.openxmlformats.org/drawingml/2006/main">
            <a:pPr algn="ctr">
              <a:defRPr sz="1575" b="1">
                <a:solidFill>
                  <a:srgbClr val="252D30"/>
                </a:solidFill>
                <a:latin typeface="Source Sans 3"/>
                <a:ea typeface="Source Sans 3"/>
                <a:cs typeface="Source Sans 3"/>
              </a:defRPr>
            </a:pPr>
            <a:r>
              <a:rPr sz="1575" b="1">
                <a:solidFill>
                  <a:srgbClr val="252D30"/>
                </a:solidFill>
                <a:latin typeface="Source Sans 3"/>
                <a:ea typeface="Source Sans 3"/>
                <a:cs typeface="Source Sans 3"/>
              </a:rPr>
              <a:t>Messages, documents, drives, spreadsheets</a:t>
            </a:r>
          </a:p>
        </p:txBody>
      </p:sp>
      <p:sp>
        <p:nvSpPr>
          <p:cNvPr id="15" name="">
            <a:extLst xmlns:a="http://schemas.openxmlformats.org/drawingml/2006/main">
              <a:ext uri="{FF2B5EF4-FFF2-40B4-BE49-F238E27FC236}">
                <a16:creationId xmlns:a16="http://schemas.microsoft.com/office/drawing/2014/main" id="{685AA604-2CD9-44D3-A827-06D7B9D0CEE7}"/>
              </a:ext>
            </a:extLst>
          </p:cNvPr>
          <p:cNvSpPr>
            <a:spLocks xmlns:a="http://schemas.openxmlformats.org/drawingml/2006/main" noGrp="1"/>
          </p:cNvSpPr>
          <p:nvPr/>
        </p:nvSpPr>
        <p:spPr>
          <a:xfrm xmlns:a="http://schemas.openxmlformats.org/drawingml/2006/main">
            <a:off x="9182100" y="4362450"/>
            <a:ext cx="2114550" cy="790575"/>
          </a:xfrm>
          <a:prstGeom xmlns:a="http://schemas.openxmlformats.org/drawingml/2006/main" prst="roundRect">
            <a:avLst>
              <a:gd name="adj" fmla="val 9639"/>
            </a:avLst>
          </a:prstGeom>
          <a:solidFill xmlns:a="http://schemas.openxmlformats.org/drawingml/2006/main">
            <a:srgbClr val="FFFFFF"/>
          </a:solidFill>
          <a:ln xmlns:a="http://schemas.openxmlformats.org/drawingml/2006/main" w="14288">
            <a:solidFill>
              <a:srgbClr val="D3DCDA"/>
            </a:solidFill>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500" b="1">
                <a:solidFill>
                  <a:srgbClr val="252D30"/>
                </a:solidFill>
                <a:latin typeface="Source Sans 3"/>
                <a:ea typeface="Source Sans 3"/>
                <a:cs typeface="Source Sans 3"/>
              </a:defRPr>
            </a:pPr>
            <a:r>
              <a:rPr sz="1500" b="1">
                <a:solidFill>
                  <a:srgbClr val="252D30"/>
                </a:solidFill>
                <a:latin typeface="Source Sans 3"/>
                <a:ea typeface="Source Sans 3"/>
                <a:cs typeface="Source Sans 3"/>
              </a:rPr>
              <a:t>Prepare and submit</a:t>
            </a:r>
          </a:p>
          <a:p xmlns:a="http://schemas.openxmlformats.org/drawingml/2006/main">
            <a:pPr algn="ctr">
              <a:defRPr sz="1500" b="1">
                <a:solidFill>
                  <a:srgbClr val="252D30"/>
                </a:solidFill>
                <a:latin typeface="Source Sans 3"/>
                <a:ea typeface="Source Sans 3"/>
                <a:cs typeface="Source Sans 3"/>
              </a:defRPr>
            </a:pPr>
            <a:r>
              <a:rPr sz="1500" b="1">
                <a:solidFill>
                  <a:srgbClr val="252D30"/>
                </a:solidFill>
                <a:latin typeface="Source Sans 3"/>
                <a:ea typeface="Source Sans 3"/>
                <a:cs typeface="Source Sans 3"/>
              </a:rPr>
              <a:t>City Situation Report</a:t>
            </a:r>
          </a:p>
        </p:txBody>
      </p:sp>
      <p:cxnSp>
        <p:nvCxnSpPr>
          <p:cNvPr id="34" name=""/>
          <p:cNvCxnSpPr>
            <a:stCxn xmlns:a="http://schemas.openxmlformats.org/drawingml/2006/main" id="9" idx="2"/>
            <a:endCxn xmlns:a="http://schemas.openxmlformats.org/drawingml/2006/main" id="14" idx="0"/>
          </p:cNvCxnSpPr>
          <p:nvPr/>
        </p:nvCxnSpPr>
        <p:spPr>
          <a:xfrm xmlns:a="http://schemas.openxmlformats.org/drawingml/2006/main" flipH="1">
            <a:off x="6081713" y="3238500"/>
            <a:ext cx="3948113" cy="1123950"/>
          </a:xfrm>
          <a:prstGeom xmlns:a="http://schemas.openxmlformats.org/drawingml/2006/main" prst="bentConnector4">
            <a:avLst>
              <a:gd name="adj1" fmla="val 0"/>
              <a:gd name="adj2" fmla="val 79661"/>
            </a:avLst>
          </a:prstGeom>
          <a:ln xmlns:a="http://schemas.openxmlformats.org/drawingml/2006/main" w="19050">
            <a:solidFill>
              <a:srgbClr val="276E6B"/>
            </a:solidFill>
            <a:prstDash val="solid"/>
            <a:tailEnd type="arrow" w="sm" len="sm"/>
          </a:ln>
        </p:spPr>
      </p:cxnSp>
      <p:cxnSp>
        <p:nvCxnSpPr>
          <p:cNvPr id="35" name=""/>
          <p:cNvCxnSpPr>
            <a:stCxn xmlns:a="http://schemas.openxmlformats.org/drawingml/2006/main" id="14" idx="3"/>
            <a:endCxn xmlns:a="http://schemas.openxmlformats.org/drawingml/2006/main" id="15" idx="1"/>
          </p:cNvCxnSpPr>
          <p:nvPr/>
        </p:nvCxnSpPr>
        <p:spPr>
          <a:xfrm xmlns:a="http://schemas.openxmlformats.org/drawingml/2006/main">
            <a:off x="8867775" y="4757738"/>
            <a:ext cx="314325" cy="0"/>
          </a:xfrm>
          <a:prstGeom xmlns:a="http://schemas.openxmlformats.org/drawingml/2006/main" prst="straightConnector1">
            <a:avLst/>
          </a:prstGeom>
          <a:ln xmlns:a="http://schemas.openxmlformats.org/drawingml/2006/main" w="19050">
            <a:solidFill>
              <a:srgbClr val="276E6B"/>
            </a:solidFill>
            <a:prstDash val="solid"/>
            <a:tailEnd type="arrow" w="sm" len="sm"/>
          </a:ln>
        </p:spPr>
      </p:cxnSp>
      <p:sp>
        <p:nvSpPr>
          <p:cNvPr id="18" name="">
            <a:extLst xmlns:a="http://schemas.openxmlformats.org/drawingml/2006/main">
              <a:ext uri="{FF2B5EF4-FFF2-40B4-BE49-F238E27FC236}">
                <a16:creationId xmlns:a16="http://schemas.microsoft.com/office/drawing/2014/main" id="{F5F74E69-C10F-471F-8D82-CB1CCC43C81F}"/>
              </a:ext>
            </a:extLst>
          </p:cNvPr>
          <p:cNvSpPr>
            <a:spLocks xmlns:a="http://schemas.openxmlformats.org/drawingml/2006/main" noGrp="1"/>
          </p:cNvSpPr>
          <p:nvPr/>
        </p:nvSpPr>
        <p:spPr>
          <a:xfrm xmlns:a="http://schemas.openxmlformats.org/drawingml/2006/main">
            <a:off x="952500" y="5400675"/>
            <a:ext cx="1028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425" b="1">
                <a:solidFill>
                  <a:srgbClr val="276E6B"/>
                </a:solidFill>
                <a:latin typeface="Source Sans 3"/>
                <a:ea typeface="Source Sans 3"/>
                <a:cs typeface="Source Sans 3"/>
              </a:defRPr>
            </a:pPr>
            <a:r>
              <a:rPr sz="1425" b="1">
                <a:solidFill>
                  <a:srgbClr val="276E6B"/>
                </a:solidFill>
                <a:latin typeface="Source Sans 3"/>
                <a:ea typeface="Source Sans 3"/>
                <a:cs typeface="Source Sans 3"/>
              </a:rPr>
              <a:t>Submission status and the relationship between changing versions are difficult to see across separate channels.</a:t>
            </a:r>
          </a:p>
        </p:txBody>
      </p:sp>
    </p:spTree>
    <p:extLst>
      <p:ext uri="{BB962C8B-B14F-4D97-AF65-F5344CB8AC3E}">
        <p14:creationId xmlns:p14="http://schemas.microsoft.com/office/powerpoint/2010/main" val="329263111"/>
      </p:ext>
    </p:extLst>
  </p:cSld>
</p:sld>
</file>

<file path=ppt/slides/slide6.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321A7F66-54C2-4AEB-8FF9-71F0A1A810A8}"/>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01D8A2F-138A-464A-896C-0826C0EB13AD}"/>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IMPLICATIONS OF THE CURRENT WORKFLOW</a:t>
            </a:r>
          </a:p>
        </p:txBody>
      </p:sp>
      <p:sp>
        <p:nvSpPr>
          <p:cNvPr id="3" name="">
            <a:extLst xmlns:a="http://schemas.openxmlformats.org/drawingml/2006/main">
              <a:ext uri="{FF2B5EF4-FFF2-40B4-BE49-F238E27FC236}">
                <a16:creationId xmlns:a16="http://schemas.microsoft.com/office/drawing/2014/main" id="{83573D32-FDA6-4CDB-BBF1-C84C0F064240}"/>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Repeated follow-up and re-entry affect the reporting chain</a:t>
            </a:r>
          </a:p>
        </p:txBody>
      </p:sp>
      <p:sp>
        <p:nvSpPr>
          <p:cNvPr id="4" name="">
            <a:extLst xmlns:a="http://schemas.openxmlformats.org/drawingml/2006/main">
              <a:ext uri="{FF2B5EF4-FFF2-40B4-BE49-F238E27FC236}">
                <a16:creationId xmlns:a16="http://schemas.microsoft.com/office/drawing/2014/main" id="{A057B030-D123-489A-8AE5-C28DCA45AC20}"/>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FBF3B9DF-B310-44AB-BAC7-E6B710B9DA8A}"/>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Statement of the Problem and ZCDRRMO interview</a:t>
            </a:r>
          </a:p>
        </p:txBody>
      </p:sp>
      <p:sp>
        <p:nvSpPr>
          <p:cNvPr id="6" name="">
            <a:extLst xmlns:a="http://schemas.openxmlformats.org/drawingml/2006/main">
              <a:ext uri="{FF2B5EF4-FFF2-40B4-BE49-F238E27FC236}">
                <a16:creationId xmlns:a16="http://schemas.microsoft.com/office/drawing/2014/main" id="{C3A0C0AD-598F-4C92-9E5D-84399618CDF5}"/>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06</a:t>
            </a:r>
          </a:p>
        </p:txBody>
      </p:sp>
      <p:sp>
        <p:nvSpPr>
          <p:cNvPr id="7" name="">
            <a:extLst xmlns:a="http://schemas.openxmlformats.org/drawingml/2006/main">
              <a:ext uri="{FF2B5EF4-FFF2-40B4-BE49-F238E27FC236}">
                <a16:creationId xmlns:a16="http://schemas.microsoft.com/office/drawing/2014/main" id="{05F025D1-263C-41A8-9F1F-C9F3E0EFD547}"/>
              </a:ext>
            </a:extLst>
          </p:cNvPr>
          <p:cNvSpPr>
            <a:spLocks xmlns:a="http://schemas.openxmlformats.org/drawingml/2006/main" noGrp="1"/>
          </p:cNvSpPr>
          <p:nvPr/>
        </p:nvSpPr>
        <p:spPr>
          <a:xfrm xmlns:a="http://schemas.openxmlformats.org/drawingml/2006/main">
            <a:off x="933450" y="1362075"/>
            <a:ext cx="2171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Timeliness</a:t>
            </a:r>
          </a:p>
        </p:txBody>
      </p:sp>
      <p:sp>
        <p:nvSpPr>
          <p:cNvPr id="8" name="">
            <a:extLst xmlns:a="http://schemas.openxmlformats.org/drawingml/2006/main">
              <a:ext uri="{FF2B5EF4-FFF2-40B4-BE49-F238E27FC236}">
                <a16:creationId xmlns:a16="http://schemas.microsoft.com/office/drawing/2014/main" id="{C863C739-12C7-4DBD-914B-1B081453010A}"/>
              </a:ext>
            </a:extLst>
          </p:cNvPr>
          <p:cNvSpPr>
            <a:spLocks xmlns:a="http://schemas.openxmlformats.org/drawingml/2006/main" noGrp="1"/>
          </p:cNvSpPr>
          <p:nvPr/>
        </p:nvSpPr>
        <p:spPr>
          <a:xfrm xmlns:a="http://schemas.openxmlformats.org/drawingml/2006/main">
            <a:off x="3276600" y="1362075"/>
            <a:ext cx="7943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63" b="0">
                <a:solidFill>
                  <a:srgbClr val="252D30"/>
                </a:solidFill>
                <a:latin typeface="Source Sans 3"/>
                <a:ea typeface="Source Sans 3"/>
                <a:cs typeface="Source Sans 3"/>
              </a:defRPr>
            </a:pPr>
            <a:r>
              <a:rPr sz="1463" b="0">
                <a:solidFill>
                  <a:srgbClr val="252D30"/>
                </a:solidFill>
                <a:latin typeface="Source Sans 3"/>
                <a:ea typeface="Source Sans 3"/>
                <a:cs typeface="Source Sans 3"/>
              </a:rPr>
              <a:t>Calls and clarification requests add hand-offs before staff can consolidate a sufficiently documented incident picture.</a:t>
            </a:r>
          </a:p>
        </p:txBody>
      </p:sp>
      <p:sp>
        <p:nvSpPr>
          <p:cNvPr id="9" name="">
            <a:extLst xmlns:a="http://schemas.openxmlformats.org/drawingml/2006/main">
              <a:ext uri="{FF2B5EF4-FFF2-40B4-BE49-F238E27FC236}">
                <a16:creationId xmlns:a16="http://schemas.microsoft.com/office/drawing/2014/main" id="{86C6D6CB-DCB1-4C9D-A526-62563C3D27AA}"/>
              </a:ext>
            </a:extLst>
          </p:cNvPr>
          <p:cNvSpPr>
            <a:spLocks xmlns:a="http://schemas.openxmlformats.org/drawingml/2006/main" noGrp="1"/>
          </p:cNvSpPr>
          <p:nvPr/>
        </p:nvSpPr>
        <p:spPr>
          <a:xfrm xmlns:a="http://schemas.openxmlformats.org/drawingml/2006/main">
            <a:off x="933450" y="2238375"/>
            <a:ext cx="2171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Staff effort</a:t>
            </a:r>
          </a:p>
        </p:txBody>
      </p:sp>
      <p:sp>
        <p:nvSpPr>
          <p:cNvPr id="10" name="">
            <a:extLst xmlns:a="http://schemas.openxmlformats.org/drawingml/2006/main">
              <a:ext uri="{FF2B5EF4-FFF2-40B4-BE49-F238E27FC236}">
                <a16:creationId xmlns:a16="http://schemas.microsoft.com/office/drawing/2014/main" id="{6EDBDF83-1C26-4112-8FC9-B6BDD7809927}"/>
              </a:ext>
            </a:extLst>
          </p:cNvPr>
          <p:cNvSpPr>
            <a:spLocks xmlns:a="http://schemas.openxmlformats.org/drawingml/2006/main" noGrp="1"/>
          </p:cNvSpPr>
          <p:nvPr/>
        </p:nvSpPr>
        <p:spPr>
          <a:xfrm xmlns:a="http://schemas.openxmlformats.org/drawingml/2006/main">
            <a:off x="3276600" y="2238375"/>
            <a:ext cx="7943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63" b="0">
                <a:solidFill>
                  <a:srgbClr val="252D30"/>
                </a:solidFill>
                <a:latin typeface="Source Sans 3"/>
                <a:ea typeface="Source Sans 3"/>
                <a:cs typeface="Source Sans 3"/>
              </a:defRPr>
            </a:pPr>
            <a:r>
              <a:rPr sz="1463" b="0">
                <a:solidFill>
                  <a:srgbClr val="252D30"/>
                </a:solidFill>
                <a:latin typeface="Source Sans 3"/>
                <a:ea typeface="Source Sans 3"/>
                <a:cs typeface="Source Sans 3"/>
              </a:rPr>
              <a:t>The same information may be edited, summarized and re-entered for different recipients.</a:t>
            </a:r>
          </a:p>
        </p:txBody>
      </p:sp>
      <p:sp>
        <p:nvSpPr>
          <p:cNvPr id="11" name="">
            <a:extLst xmlns:a="http://schemas.openxmlformats.org/drawingml/2006/main">
              <a:ext uri="{FF2B5EF4-FFF2-40B4-BE49-F238E27FC236}">
                <a16:creationId xmlns:a16="http://schemas.microsoft.com/office/drawing/2014/main" id="{137E349B-E9B9-4F15-93D2-E65E06BCF684}"/>
              </a:ext>
            </a:extLst>
          </p:cNvPr>
          <p:cNvSpPr>
            <a:spLocks xmlns:a="http://schemas.openxmlformats.org/drawingml/2006/main" noGrp="1"/>
          </p:cNvSpPr>
          <p:nvPr/>
        </p:nvSpPr>
        <p:spPr>
          <a:xfrm xmlns:a="http://schemas.openxmlformats.org/drawingml/2006/main">
            <a:off x="933450" y="3114675"/>
            <a:ext cx="2171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Record continuity</a:t>
            </a:r>
          </a:p>
        </p:txBody>
      </p:sp>
      <p:sp>
        <p:nvSpPr>
          <p:cNvPr id="12" name="">
            <a:extLst xmlns:a="http://schemas.openxmlformats.org/drawingml/2006/main">
              <a:ext uri="{FF2B5EF4-FFF2-40B4-BE49-F238E27FC236}">
                <a16:creationId xmlns:a16="http://schemas.microsoft.com/office/drawing/2014/main" id="{4BB91154-7485-4F7D-BFBE-3037BB39AB1A}"/>
              </a:ext>
            </a:extLst>
          </p:cNvPr>
          <p:cNvSpPr>
            <a:spLocks xmlns:a="http://schemas.openxmlformats.org/drawingml/2006/main" noGrp="1"/>
          </p:cNvSpPr>
          <p:nvPr/>
        </p:nvSpPr>
        <p:spPr>
          <a:xfrm xmlns:a="http://schemas.openxmlformats.org/drawingml/2006/main">
            <a:off x="3276600" y="3114675"/>
            <a:ext cx="7943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63" b="0">
                <a:solidFill>
                  <a:srgbClr val="252D30"/>
                </a:solidFill>
                <a:latin typeface="Source Sans 3"/>
                <a:ea typeface="Source Sans 3"/>
                <a:cs typeface="Source Sans 3"/>
              </a:defRPr>
            </a:pPr>
            <a:r>
              <a:rPr sz="1463" b="0">
                <a:solidFill>
                  <a:srgbClr val="252D30"/>
                </a:solidFill>
                <a:latin typeface="Source Sans 3"/>
                <a:ea typeface="Source Sans 3"/>
                <a:cs typeface="Source Sans 3"/>
              </a:rPr>
              <a:t>Separate messages and files make it harder to identify the current report version and its source.</a:t>
            </a:r>
          </a:p>
        </p:txBody>
      </p:sp>
      <p:sp>
        <p:nvSpPr>
          <p:cNvPr id="13" name="">
            <a:extLst xmlns:a="http://schemas.openxmlformats.org/drawingml/2006/main">
              <a:ext uri="{FF2B5EF4-FFF2-40B4-BE49-F238E27FC236}">
                <a16:creationId xmlns:a16="http://schemas.microsoft.com/office/drawing/2014/main" id="{F9C3D164-1C0D-4297-A8CC-B90EBA490288}"/>
              </a:ext>
            </a:extLst>
          </p:cNvPr>
          <p:cNvSpPr>
            <a:spLocks xmlns:a="http://schemas.openxmlformats.org/drawingml/2006/main" noGrp="1"/>
          </p:cNvSpPr>
          <p:nvPr/>
        </p:nvSpPr>
        <p:spPr>
          <a:xfrm xmlns:a="http://schemas.openxmlformats.org/drawingml/2006/main">
            <a:off x="933450" y="3990975"/>
            <a:ext cx="2171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Verification load</a:t>
            </a:r>
          </a:p>
        </p:txBody>
      </p:sp>
      <p:sp>
        <p:nvSpPr>
          <p:cNvPr id="14" name="">
            <a:extLst xmlns:a="http://schemas.openxmlformats.org/drawingml/2006/main">
              <a:ext uri="{FF2B5EF4-FFF2-40B4-BE49-F238E27FC236}">
                <a16:creationId xmlns:a16="http://schemas.microsoft.com/office/drawing/2014/main" id="{851587B9-56C0-48D9-BE43-3351C5ACD1E2}"/>
              </a:ext>
            </a:extLst>
          </p:cNvPr>
          <p:cNvSpPr>
            <a:spLocks xmlns:a="http://schemas.openxmlformats.org/drawingml/2006/main" noGrp="1"/>
          </p:cNvSpPr>
          <p:nvPr/>
        </p:nvSpPr>
        <p:spPr>
          <a:xfrm xmlns:a="http://schemas.openxmlformats.org/drawingml/2006/main">
            <a:off x="3276600" y="3990975"/>
            <a:ext cx="7943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63" b="0">
                <a:solidFill>
                  <a:srgbClr val="252D30"/>
                </a:solidFill>
                <a:latin typeface="Source Sans 3"/>
                <a:ea typeface="Source Sans 3"/>
                <a:cs typeface="Source Sans 3"/>
              </a:defRPr>
            </a:pPr>
            <a:r>
              <a:rPr sz="1463" b="0">
                <a:solidFill>
                  <a:srgbClr val="252D30"/>
                </a:solidFill>
                <a:latin typeface="Source Sans 3"/>
                <a:ea typeface="Source Sans 3"/>
                <a:cs typeface="Source Sans 3"/>
              </a:rPr>
              <a:t>Personnel may need repeated follow-up or field checks while covering several operational duties.</a:t>
            </a:r>
          </a:p>
        </p:txBody>
      </p:sp>
      <p:sp>
        <p:nvSpPr>
          <p:cNvPr id="15" name="">
            <a:extLst xmlns:a="http://schemas.openxmlformats.org/drawingml/2006/main">
              <a:ext uri="{FF2B5EF4-FFF2-40B4-BE49-F238E27FC236}">
                <a16:creationId xmlns:a16="http://schemas.microsoft.com/office/drawing/2014/main" id="{CB3AB074-EB0D-4D47-9357-C35559DBCCF5}"/>
              </a:ext>
            </a:extLst>
          </p:cNvPr>
          <p:cNvSpPr>
            <a:spLocks xmlns:a="http://schemas.openxmlformats.org/drawingml/2006/main" noGrp="1"/>
          </p:cNvSpPr>
          <p:nvPr/>
        </p:nvSpPr>
        <p:spPr>
          <a:xfrm xmlns:a="http://schemas.openxmlformats.org/drawingml/2006/main">
            <a:off x="933450" y="4867275"/>
            <a:ext cx="2171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Controlled sharing</a:t>
            </a:r>
          </a:p>
        </p:txBody>
      </p:sp>
      <p:sp>
        <p:nvSpPr>
          <p:cNvPr id="16" name="">
            <a:extLst xmlns:a="http://schemas.openxmlformats.org/drawingml/2006/main">
              <a:ext uri="{FF2B5EF4-FFF2-40B4-BE49-F238E27FC236}">
                <a16:creationId xmlns:a16="http://schemas.microsoft.com/office/drawing/2014/main" id="{7D5289B6-404E-49ED-8EBB-993C53C07AB3}"/>
              </a:ext>
            </a:extLst>
          </p:cNvPr>
          <p:cNvSpPr>
            <a:spLocks xmlns:a="http://schemas.openxmlformats.org/drawingml/2006/main" noGrp="1"/>
          </p:cNvSpPr>
          <p:nvPr/>
        </p:nvSpPr>
        <p:spPr>
          <a:xfrm xmlns:a="http://schemas.openxmlformats.org/drawingml/2006/main">
            <a:off x="3276600" y="4867275"/>
            <a:ext cx="7943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63" b="0">
                <a:solidFill>
                  <a:srgbClr val="252D30"/>
                </a:solidFill>
                <a:latin typeface="Source Sans 3"/>
                <a:ea typeface="Source Sans 3"/>
                <a:cs typeface="Source Sans 3"/>
              </a:defRPr>
            </a:pPr>
            <a:r>
              <a:rPr sz="1463" b="0">
                <a:solidFill>
                  <a:srgbClr val="252D30"/>
                </a:solidFill>
                <a:latin typeface="Source Sans 3"/>
                <a:ea typeface="Source Sans 3"/>
                <a:cs typeface="Source Sans 3"/>
              </a:rPr>
              <a:t>Information needs to reach report preparers, but access cannot be unrestricted because records may contain protected details.</a:t>
            </a:r>
          </a:p>
        </p:txBody>
      </p:sp>
    </p:spTree>
    <p:extLst>
      <p:ext uri="{BB962C8B-B14F-4D97-AF65-F5344CB8AC3E}">
        <p14:creationId xmlns:p14="http://schemas.microsoft.com/office/powerpoint/2010/main" val="1869354018"/>
      </p:ext>
    </p:extLst>
  </p:cSld>
</p:sld>
</file>

<file path=ppt/slides/slide7.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B0B2EB2-F89E-4D04-8A31-7B074E1807AE}"/>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59171AF-9FFA-4F7A-9507-00984769AFDA}"/>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POSSIBLE SOLUTIONS AND WHY NOT</a:t>
            </a:r>
          </a:p>
        </p:txBody>
      </p:sp>
      <p:sp>
        <p:nvSpPr>
          <p:cNvPr id="3" name="">
            <a:extLst xmlns:a="http://schemas.openxmlformats.org/drawingml/2006/main">
              <a:ext uri="{FF2B5EF4-FFF2-40B4-BE49-F238E27FC236}">
                <a16:creationId xmlns:a16="http://schemas.microsoft.com/office/drawing/2014/main" id="{EC88D94C-C436-4239-A53B-A70F56CFC2A7}"/>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Useful tools are insufficient when used alone</a:t>
            </a:r>
          </a:p>
        </p:txBody>
      </p:sp>
      <p:sp>
        <p:nvSpPr>
          <p:cNvPr id="4" name="">
            <a:extLst xmlns:a="http://schemas.openxmlformats.org/drawingml/2006/main">
              <a:ext uri="{FF2B5EF4-FFF2-40B4-BE49-F238E27FC236}">
                <a16:creationId xmlns:a16="http://schemas.microsoft.com/office/drawing/2014/main" id="{88A56982-1422-4EFE-8A54-2808E962B6FF}"/>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BC1D8B60-56FC-4D06-9157-25B52F93F4EE}"/>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current workflow and rationale for the proposed system</a:t>
            </a:r>
          </a:p>
        </p:txBody>
      </p:sp>
      <p:sp>
        <p:nvSpPr>
          <p:cNvPr id="6" name="">
            <a:extLst xmlns:a="http://schemas.openxmlformats.org/drawingml/2006/main">
              <a:ext uri="{FF2B5EF4-FFF2-40B4-BE49-F238E27FC236}">
                <a16:creationId xmlns:a16="http://schemas.microsoft.com/office/drawing/2014/main" id="{E0832324-D868-409D-96C8-2C45F00E3C72}"/>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07</a:t>
            </a:r>
          </a:p>
        </p:txBody>
      </p:sp>
      <p:graphicFrame>
        <p:nvGraphicFramePr>
          <p:cNvPr id="14" name=""/>
          <p:cNvGraphicFramePr/>
          <p:nvPr/>
        </p:nvGraphicFramePr>
        <p:xfrm>
          <a:off xmlns:a="http://schemas.openxmlformats.org/drawingml/2006/main" x="895350" y="1438275"/>
          <a:ext xmlns:a="http://schemas.openxmlformats.org/drawingml/2006/main" cx="10401300" cy="4000500"/>
        </p:xfrm>
        <a:graphic xmlns:a="http://schemas.openxmlformats.org/drawingml/2006/main">
          <a:graphicData uri="http://schemas.openxmlformats.org/drawingml/2006/table">
            <a:tbl>
              <a:tblPr/>
              <a:tblGrid>
                <a:gridCol w="2190750"/>
                <a:gridCol w="3714750"/>
                <a:gridCol w="4495800"/>
              </a:tblGrid>
              <a:tr h="523875">
                <a:tc>
                  <a:txBody>
                    <a:bodyPr wrap="square" lIns="104775" tIns="66675" rIns="104775" bIns="66675">
                      <a:normAutofit/>
                    </a:bodyPr>
                    <a:lstStyle/>
                    <a:p>
                      <a:pPr algn="l"/>
                      <a:r>
                        <a:rPr sz="1313" b="1">
                          <a:solidFill>
                            <a:srgbClr val="FFFFFF"/>
                          </a:solidFill>
                          <a:latin typeface="Lexend"/>
                          <a:ea typeface="Lexend"/>
                          <a:cs typeface="Lexend"/>
                        </a:rPr>
                        <a:t>Approach</a:t>
                      </a:r>
                    </a:p>
                  </a:txBody>
                  <a:tcPr marL="91440" marR="91440" marT="45720" marB="45720" anchor="ctr">
                    <a:solidFill>
                      <a:srgbClr val="252D30"/>
                    </a:solidFill>
                  </a:tcPr>
                </a:tc>
                <a:tc>
                  <a:txBody>
                    <a:bodyPr wrap="square" lIns="104775" tIns="66675" rIns="104775" bIns="66675">
                      <a:normAutofit/>
                    </a:bodyPr>
                    <a:lstStyle/>
                    <a:p>
                      <a:pPr algn="l"/>
                      <a:r>
                        <a:rPr sz="1313" b="1">
                          <a:solidFill>
                            <a:srgbClr val="FFFFFF"/>
                          </a:solidFill>
                          <a:latin typeface="Lexend"/>
                          <a:ea typeface="Lexend"/>
                          <a:cs typeface="Lexend"/>
                        </a:rPr>
                        <a:t>What it supports</a:t>
                      </a:r>
                    </a:p>
                  </a:txBody>
                  <a:tcPr marL="91440" marR="91440" marT="45720" marB="45720" anchor="ctr">
                    <a:solidFill>
                      <a:srgbClr val="252D30"/>
                    </a:solidFill>
                  </a:tcPr>
                </a:tc>
                <a:tc>
                  <a:txBody>
                    <a:bodyPr wrap="square" lIns="104775" tIns="66675" rIns="104775" bIns="66675">
                      <a:normAutofit/>
                    </a:bodyPr>
                    <a:lstStyle/>
                    <a:p>
                      <a:pPr algn="l"/>
                      <a:r>
                        <a:rPr sz="1313" b="1">
                          <a:solidFill>
                            <a:srgbClr val="FFFFFF"/>
                          </a:solidFill>
                          <a:latin typeface="Lexend"/>
                          <a:ea typeface="Lexend"/>
                          <a:cs typeface="Lexend"/>
                        </a:rPr>
                        <a:t>Why it is not sufficient alone</a:t>
                      </a:r>
                    </a:p>
                  </a:txBody>
                  <a:tcPr marL="91440" marR="91440" marT="45720" marB="45720" anchor="ctr">
                    <a:solidFill>
                      <a:srgbClr val="252D30"/>
                    </a:solidFill>
                  </a:tcPr>
                </a:tc>
              </a:tr>
              <a:tr h="869156">
                <a:tc>
                  <a:txBody>
                    <a:bodyPr wrap="square" lIns="104775" tIns="66675" rIns="104775" bIns="66675">
                      <a:normAutofit/>
                    </a:bodyPr>
                    <a:lstStyle/>
                    <a:p>
                      <a:pPr algn="l"/>
                      <a:r>
                        <a:rPr sz="1313">
                          <a:solidFill>
                            <a:srgbClr val="252D30"/>
                          </a:solidFill>
                          <a:latin typeface="Source Sans 3"/>
                          <a:ea typeface="Source Sans 3"/>
                          <a:cs typeface="Source Sans 3"/>
                        </a:rPr>
                        <a:t>Calls, SMS, radio, messaging</a:t>
                      </a:r>
                    </a:p>
                  </a:txBody>
                  <a:tcPr marL="91440" marR="91440" marT="45720" marB="45720" anchor="ctr">
                    <a:solidFill>
                      <a:srgbClr val="FFFFFF"/>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Fast contact and urgent coordination</a:t>
                      </a:r>
                    </a:p>
                  </a:txBody>
                  <a:tcPr marL="91440" marR="91440" marT="45720" marB="45720" anchor="ctr">
                    <a:solidFill>
                      <a:srgbClr val="FFFFFF"/>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Status, source, correction and version history remain spread across channels</a:t>
                      </a:r>
                    </a:p>
                  </a:txBody>
                  <a:tcPr marL="91440" marR="91440" marT="45720" marB="45720" anchor="ctr">
                    <a:solidFill>
                      <a:srgbClr val="FFFFFF"/>
                    </a:solidFill>
                  </a:tcPr>
                </a:tc>
              </a:tr>
              <a:tr h="869156">
                <a:tc>
                  <a:txBody>
                    <a:bodyPr wrap="square" lIns="104775" tIns="66675" rIns="104775" bIns="66675">
                      <a:normAutofit/>
                    </a:bodyPr>
                    <a:lstStyle/>
                    <a:p>
                      <a:pPr algn="l"/>
                      <a:r>
                        <a:rPr sz="1313">
                          <a:solidFill>
                            <a:srgbClr val="252D30"/>
                          </a:solidFill>
                          <a:latin typeface="Source Sans 3"/>
                          <a:ea typeface="Source Sans 3"/>
                          <a:cs typeface="Source Sans 3"/>
                        </a:rPr>
                        <a:t>Paper forms and spreadsheets</a:t>
                      </a:r>
                    </a:p>
                  </a:txBody>
                  <a:tcPr marL="91440" marR="91440" marT="45720" marB="45720" anchor="ctr">
                    <a:solidFill>
                      <a:srgbClr val="E9ECE8"/>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Flexible local capture and manual review</a:t>
                      </a:r>
                    </a:p>
                  </a:txBody>
                  <a:tcPr marL="91440" marR="91440" marT="45720" marB="45720" anchor="ctr">
                    <a:solidFill>
                      <a:srgbClr val="E9ECE8"/>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Copies require manual reconciliation and repeated summary work</a:t>
                      </a:r>
                    </a:p>
                  </a:txBody>
                  <a:tcPr marL="91440" marR="91440" marT="45720" marB="45720" anchor="ctr">
                    <a:solidFill>
                      <a:srgbClr val="E9ECE8"/>
                    </a:solidFill>
                  </a:tcPr>
                </a:tc>
              </a:tr>
              <a:tr h="869156">
                <a:tc>
                  <a:txBody>
                    <a:bodyPr wrap="square" lIns="104775" tIns="66675" rIns="104775" bIns="66675">
                      <a:normAutofit/>
                    </a:bodyPr>
                    <a:lstStyle/>
                    <a:p>
                      <a:pPr algn="l"/>
                      <a:r>
                        <a:rPr sz="1313">
                          <a:solidFill>
                            <a:srgbClr val="252D30"/>
                          </a:solidFill>
                          <a:latin typeface="Source Sans 3"/>
                          <a:ea typeface="Source Sans 3"/>
                          <a:cs typeface="Source Sans 3"/>
                        </a:rPr>
                        <a:t>Single-level reporting app</a:t>
                      </a:r>
                    </a:p>
                  </a:txBody>
                  <a:tcPr marL="91440" marR="91440" marT="45720" marB="45720" anchor="ctr">
                    <a:solidFill>
                      <a:srgbClr val="FFFFFF"/>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Structured electronic submission</a:t>
                      </a:r>
                    </a:p>
                  </a:txBody>
                  <a:tcPr marL="91440" marR="91440" marT="45720" marB="45720" anchor="ctr">
                    <a:solidFill>
                      <a:srgbClr val="FFFFFF"/>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May not represent Purok to Barangay to DRRM review and cumulative SitRep history</a:t>
                      </a:r>
                    </a:p>
                  </a:txBody>
                  <a:tcPr marL="91440" marR="91440" marT="45720" marB="45720" anchor="ctr">
                    <a:solidFill>
                      <a:srgbClr val="FFFFFF"/>
                    </a:solidFill>
                  </a:tcPr>
                </a:tc>
              </a:tr>
              <a:tr h="869156">
                <a:tc>
                  <a:txBody>
                    <a:bodyPr wrap="square" lIns="104775" tIns="66675" rIns="104775" bIns="66675">
                      <a:normAutofit/>
                    </a:bodyPr>
                    <a:lstStyle/>
                    <a:p>
                      <a:pPr algn="l"/>
                      <a:r>
                        <a:rPr sz="1313">
                          <a:solidFill>
                            <a:srgbClr val="252D30"/>
                          </a:solidFill>
                          <a:latin typeface="Source Sans 3"/>
                          <a:ea typeface="Source Sans 3"/>
                          <a:cs typeface="Source Sans 3"/>
                        </a:rPr>
                        <a:t>Proposed integrated web system</a:t>
                      </a:r>
                    </a:p>
                  </a:txBody>
                  <a:tcPr marL="91440" marR="91440" marT="45720" marB="45720" anchor="ctr">
                    <a:solidFill>
                      <a:srgbClr val="E9ECE8"/>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Role-based reporting, verification, history and SitRep preparation</a:t>
                      </a:r>
                    </a:p>
                  </a:txBody>
                  <a:tcPr marL="91440" marR="91440" marT="45720" marB="45720" anchor="ctr">
                    <a:solidFill>
                      <a:srgbClr val="E9ECE8"/>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Still depends on connectivity and central service, so contingency channels remain necessary</a:t>
                      </a:r>
                    </a:p>
                  </a:txBody>
                  <a:tcPr marL="91440" marR="91440" marT="45720" marB="45720" anchor="ctr">
                    <a:solidFill>
                      <a:srgbClr val="E9ECE8"/>
                    </a:solidFill>
                  </a:tcPr>
                </a:tc>
              </a:tr>
            </a:tbl>
          </a:graphicData>
        </a:graphic>
      </p:graphicFrame>
    </p:spTree>
    <p:extLst>
      <p:ext uri="{BB962C8B-B14F-4D97-AF65-F5344CB8AC3E}">
        <p14:creationId xmlns:p14="http://schemas.microsoft.com/office/powerpoint/2010/main" val="363061714"/>
      </p:ext>
    </p:extLst>
  </p:cSld>
</p:sld>
</file>

<file path=ppt/slides/slide8.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28D3ABE1-6F45-4A13-A4FA-DF40EDC94855}"/>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27FFECF-7C0A-4558-AE1C-6976E337B204}"/>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PROBLEM STATEMENT</a:t>
            </a:r>
          </a:p>
        </p:txBody>
      </p:sp>
      <p:sp>
        <p:nvSpPr>
          <p:cNvPr id="3" name="">
            <a:extLst xmlns:a="http://schemas.openxmlformats.org/drawingml/2006/main">
              <a:ext uri="{FF2B5EF4-FFF2-40B4-BE49-F238E27FC236}">
                <a16:creationId xmlns:a16="http://schemas.microsoft.com/office/drawing/2014/main" id="{BB472C55-1CA3-4378-92A3-3E85D7188C85}"/>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The paper identifies four distinct operational problems</a:t>
            </a:r>
          </a:p>
        </p:txBody>
      </p:sp>
      <p:sp>
        <p:nvSpPr>
          <p:cNvPr id="4" name="">
            <a:extLst xmlns:a="http://schemas.openxmlformats.org/drawingml/2006/main">
              <a:ext uri="{FF2B5EF4-FFF2-40B4-BE49-F238E27FC236}">
                <a16:creationId xmlns:a16="http://schemas.microsoft.com/office/drawing/2014/main" id="{CFFD4542-EE2E-41C5-8863-4DEAA19943E1}"/>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BBC7035D-4B82-41D8-82ED-33C4660A5A03}"/>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Sources: revised paper, Statement of the Problem; A. Kanti, second interview, 26 March 2026</a:t>
            </a:r>
          </a:p>
        </p:txBody>
      </p:sp>
      <p:sp>
        <p:nvSpPr>
          <p:cNvPr id="6" name="">
            <a:extLst xmlns:a="http://schemas.openxmlformats.org/drawingml/2006/main">
              <a:ext uri="{FF2B5EF4-FFF2-40B4-BE49-F238E27FC236}">
                <a16:creationId xmlns:a16="http://schemas.microsoft.com/office/drawing/2014/main" id="{3471CF7F-D8F9-4913-97A2-51C046784FC8}"/>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08</a:t>
            </a:r>
          </a:p>
        </p:txBody>
      </p:sp>
      <p:sp>
        <p:nvSpPr>
          <p:cNvPr id="7" name="">
            <a:extLst xmlns:a="http://schemas.openxmlformats.org/drawingml/2006/main">
              <a:ext uri="{FF2B5EF4-FFF2-40B4-BE49-F238E27FC236}">
                <a16:creationId xmlns:a16="http://schemas.microsoft.com/office/drawing/2014/main" id="{C11E7AFE-4723-4BA0-B33F-5800B3660411}"/>
              </a:ext>
            </a:extLst>
          </p:cNvPr>
          <p:cNvSpPr>
            <a:spLocks xmlns:a="http://schemas.openxmlformats.org/drawingml/2006/main" noGrp="1"/>
          </p:cNvSpPr>
          <p:nvPr/>
        </p:nvSpPr>
        <p:spPr>
          <a:xfrm xmlns:a="http://schemas.openxmlformats.org/drawingml/2006/main">
            <a:off x="933450" y="146685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575" b="1">
                <a:solidFill>
                  <a:srgbClr val="276E6B"/>
                </a:solidFill>
                <a:latin typeface="Lexend"/>
                <a:ea typeface="Lexend"/>
                <a:cs typeface="Lexend"/>
              </a:defRPr>
            </a:pPr>
            <a:r>
              <a:rPr sz="1575" b="1">
                <a:solidFill>
                  <a:srgbClr val="276E6B"/>
                </a:solidFill>
                <a:latin typeface="Lexend"/>
                <a:ea typeface="Lexend"/>
                <a:cs typeface="Lexend"/>
              </a:rPr>
              <a:t>01</a:t>
            </a:r>
          </a:p>
        </p:txBody>
      </p:sp>
      <p:sp>
        <p:nvSpPr>
          <p:cNvPr id="8" name="">
            <a:extLst xmlns:a="http://schemas.openxmlformats.org/drawingml/2006/main">
              <a:ext uri="{FF2B5EF4-FFF2-40B4-BE49-F238E27FC236}">
                <a16:creationId xmlns:a16="http://schemas.microsoft.com/office/drawing/2014/main" id="{0DE6CCB2-C3DA-4D6F-B059-0E2D7D49B539}"/>
              </a:ext>
            </a:extLst>
          </p:cNvPr>
          <p:cNvSpPr>
            <a:spLocks xmlns:a="http://schemas.openxmlformats.org/drawingml/2006/main" noGrp="1"/>
          </p:cNvSpPr>
          <p:nvPr/>
        </p:nvSpPr>
        <p:spPr>
          <a:xfrm xmlns:a="http://schemas.openxmlformats.org/drawingml/2006/main">
            <a:off x="1466850" y="1466850"/>
            <a:ext cx="4286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725" b="1">
                <a:solidFill>
                  <a:srgbClr val="252D30"/>
                </a:solidFill>
                <a:latin typeface="Lexend"/>
                <a:ea typeface="Lexend"/>
                <a:cs typeface="Lexend"/>
              </a:defRPr>
            </a:pPr>
            <a:r>
              <a:rPr sz="1725" b="1">
                <a:solidFill>
                  <a:srgbClr val="252D30"/>
                </a:solidFill>
                <a:latin typeface="Lexend"/>
                <a:ea typeface="Lexend"/>
                <a:cs typeface="Lexend"/>
              </a:rPr>
              <a:t>Communication delay</a:t>
            </a:r>
          </a:p>
        </p:txBody>
      </p:sp>
      <p:sp>
        <p:nvSpPr>
          <p:cNvPr id="9" name="">
            <a:extLst xmlns:a="http://schemas.openxmlformats.org/drawingml/2006/main">
              <a:ext uri="{FF2B5EF4-FFF2-40B4-BE49-F238E27FC236}">
                <a16:creationId xmlns:a16="http://schemas.microsoft.com/office/drawing/2014/main" id="{270F35A0-3131-40A8-9BBC-3CBE82A77B32}"/>
              </a:ext>
            </a:extLst>
          </p:cNvPr>
          <p:cNvSpPr>
            <a:spLocks xmlns:a="http://schemas.openxmlformats.org/drawingml/2006/main" noGrp="1"/>
          </p:cNvSpPr>
          <p:nvPr/>
        </p:nvSpPr>
        <p:spPr>
          <a:xfrm xmlns:a="http://schemas.openxmlformats.org/drawingml/2006/main">
            <a:off x="1466850" y="1952625"/>
            <a:ext cx="41719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0">
                <a:solidFill>
                  <a:srgbClr val="59676A"/>
                </a:solidFill>
                <a:latin typeface="Source Sans 3"/>
                <a:ea typeface="Source Sans 3"/>
                <a:cs typeface="Source Sans 3"/>
              </a:defRPr>
            </a:pPr>
            <a:r>
              <a:rPr sz="1500" b="0">
                <a:solidFill>
                  <a:srgbClr val="59676A"/>
                </a:solidFill>
                <a:latin typeface="Source Sans 3"/>
                <a:ea typeface="Source Sans 3"/>
                <a:cs typeface="Source Sans 3"/>
              </a:rPr>
              <a:t>Submission, acknowledgement and clarification depend on follow-up.</a:t>
            </a:r>
          </a:p>
        </p:txBody>
      </p:sp>
      <p:sp>
        <p:nvSpPr>
          <p:cNvPr id="10" name="">
            <a:extLst xmlns:a="http://schemas.openxmlformats.org/drawingml/2006/main">
              <a:ext uri="{FF2B5EF4-FFF2-40B4-BE49-F238E27FC236}">
                <a16:creationId xmlns:a16="http://schemas.microsoft.com/office/drawing/2014/main" id="{4D06779C-6CCE-4859-AB56-3E5F7CF10DBC}"/>
              </a:ext>
            </a:extLst>
          </p:cNvPr>
          <p:cNvSpPr>
            <a:spLocks xmlns:a="http://schemas.openxmlformats.org/drawingml/2006/main" noGrp="1"/>
          </p:cNvSpPr>
          <p:nvPr/>
        </p:nvSpPr>
        <p:spPr>
          <a:xfrm xmlns:a="http://schemas.openxmlformats.org/drawingml/2006/main">
            <a:off x="1466850" y="2981325"/>
            <a:ext cx="41338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1" name="">
            <a:extLst xmlns:a="http://schemas.openxmlformats.org/drawingml/2006/main">
              <a:ext uri="{FF2B5EF4-FFF2-40B4-BE49-F238E27FC236}">
                <a16:creationId xmlns:a16="http://schemas.microsoft.com/office/drawing/2014/main" id="{B0673D72-964B-4E6E-80CC-952BA116A366}"/>
              </a:ext>
            </a:extLst>
          </p:cNvPr>
          <p:cNvSpPr>
            <a:spLocks xmlns:a="http://schemas.openxmlformats.org/drawingml/2006/main" noGrp="1"/>
          </p:cNvSpPr>
          <p:nvPr/>
        </p:nvSpPr>
        <p:spPr>
          <a:xfrm xmlns:a="http://schemas.openxmlformats.org/drawingml/2006/main">
            <a:off x="6191250" y="146685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575" b="1">
                <a:solidFill>
                  <a:srgbClr val="276E6B"/>
                </a:solidFill>
                <a:latin typeface="Lexend"/>
                <a:ea typeface="Lexend"/>
                <a:cs typeface="Lexend"/>
              </a:defRPr>
            </a:pPr>
            <a:r>
              <a:rPr sz="1575" b="1">
                <a:solidFill>
                  <a:srgbClr val="276E6B"/>
                </a:solidFill>
                <a:latin typeface="Lexend"/>
                <a:ea typeface="Lexend"/>
                <a:cs typeface="Lexend"/>
              </a:rPr>
              <a:t>02</a:t>
            </a:r>
          </a:p>
        </p:txBody>
      </p:sp>
      <p:sp>
        <p:nvSpPr>
          <p:cNvPr id="12" name="">
            <a:extLst xmlns:a="http://schemas.openxmlformats.org/drawingml/2006/main">
              <a:ext uri="{FF2B5EF4-FFF2-40B4-BE49-F238E27FC236}">
                <a16:creationId xmlns:a16="http://schemas.microsoft.com/office/drawing/2014/main" id="{72A6EFD4-CE88-40E9-8615-FFFDD1B95AA3}"/>
              </a:ext>
            </a:extLst>
          </p:cNvPr>
          <p:cNvSpPr>
            <a:spLocks xmlns:a="http://schemas.openxmlformats.org/drawingml/2006/main" noGrp="1"/>
          </p:cNvSpPr>
          <p:nvPr/>
        </p:nvSpPr>
        <p:spPr>
          <a:xfrm xmlns:a="http://schemas.openxmlformats.org/drawingml/2006/main">
            <a:off x="6724650" y="1466850"/>
            <a:ext cx="4286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725" b="1">
                <a:solidFill>
                  <a:srgbClr val="252D30"/>
                </a:solidFill>
                <a:latin typeface="Lexend"/>
                <a:ea typeface="Lexend"/>
                <a:cs typeface="Lexend"/>
              </a:defRPr>
            </a:pPr>
            <a:r>
              <a:rPr sz="1725" b="1">
                <a:solidFill>
                  <a:srgbClr val="252D30"/>
                </a:solidFill>
                <a:latin typeface="Lexend"/>
                <a:ea typeface="Lexend"/>
                <a:cs typeface="Lexend"/>
              </a:rPr>
              <a:t>Manual record management</a:t>
            </a:r>
          </a:p>
        </p:txBody>
      </p:sp>
      <p:sp>
        <p:nvSpPr>
          <p:cNvPr id="13" name="">
            <a:extLst xmlns:a="http://schemas.openxmlformats.org/drawingml/2006/main">
              <a:ext uri="{FF2B5EF4-FFF2-40B4-BE49-F238E27FC236}">
                <a16:creationId xmlns:a16="http://schemas.microsoft.com/office/drawing/2014/main" id="{2CBBF01D-C6FA-41DA-9915-14FA4DB274D9}"/>
              </a:ext>
            </a:extLst>
          </p:cNvPr>
          <p:cNvSpPr>
            <a:spLocks xmlns:a="http://schemas.openxmlformats.org/drawingml/2006/main" noGrp="1"/>
          </p:cNvSpPr>
          <p:nvPr/>
        </p:nvSpPr>
        <p:spPr>
          <a:xfrm xmlns:a="http://schemas.openxmlformats.org/drawingml/2006/main">
            <a:off x="6724650" y="1952625"/>
            <a:ext cx="41719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0">
                <a:solidFill>
                  <a:srgbClr val="59676A"/>
                </a:solidFill>
                <a:latin typeface="Source Sans 3"/>
                <a:ea typeface="Source Sans 3"/>
                <a:cs typeface="Source Sans 3"/>
              </a:defRPr>
            </a:pPr>
            <a:r>
              <a:rPr sz="1500" b="0">
                <a:solidFill>
                  <a:srgbClr val="59676A"/>
                </a:solidFill>
                <a:latin typeface="Source Sans 3"/>
                <a:ea typeface="Source Sans 3"/>
                <a:cs typeface="Source Sans 3"/>
              </a:rPr>
              <a:t>Staff combine records and may summarize the same information again.</a:t>
            </a:r>
          </a:p>
        </p:txBody>
      </p:sp>
      <p:sp>
        <p:nvSpPr>
          <p:cNvPr id="14" name="">
            <a:extLst xmlns:a="http://schemas.openxmlformats.org/drawingml/2006/main">
              <a:ext uri="{FF2B5EF4-FFF2-40B4-BE49-F238E27FC236}">
                <a16:creationId xmlns:a16="http://schemas.microsoft.com/office/drawing/2014/main" id="{A77EF067-7820-4848-B87E-7AA099D9E404}"/>
              </a:ext>
            </a:extLst>
          </p:cNvPr>
          <p:cNvSpPr>
            <a:spLocks xmlns:a="http://schemas.openxmlformats.org/drawingml/2006/main" noGrp="1"/>
          </p:cNvSpPr>
          <p:nvPr/>
        </p:nvSpPr>
        <p:spPr>
          <a:xfrm xmlns:a="http://schemas.openxmlformats.org/drawingml/2006/main">
            <a:off x="6724650" y="2981325"/>
            <a:ext cx="41338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5" name="">
            <a:extLst xmlns:a="http://schemas.openxmlformats.org/drawingml/2006/main">
              <a:ext uri="{FF2B5EF4-FFF2-40B4-BE49-F238E27FC236}">
                <a16:creationId xmlns:a16="http://schemas.microsoft.com/office/drawing/2014/main" id="{F6FB32A0-5233-4007-B9E6-1560C5AF0876}"/>
              </a:ext>
            </a:extLst>
          </p:cNvPr>
          <p:cNvSpPr>
            <a:spLocks xmlns:a="http://schemas.openxmlformats.org/drawingml/2006/main" noGrp="1"/>
          </p:cNvSpPr>
          <p:nvPr/>
        </p:nvSpPr>
        <p:spPr>
          <a:xfrm xmlns:a="http://schemas.openxmlformats.org/drawingml/2006/main">
            <a:off x="933450" y="3438525"/>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575" b="1">
                <a:solidFill>
                  <a:srgbClr val="276E6B"/>
                </a:solidFill>
                <a:latin typeface="Lexend"/>
                <a:ea typeface="Lexend"/>
                <a:cs typeface="Lexend"/>
              </a:defRPr>
            </a:pPr>
            <a:r>
              <a:rPr sz="1575" b="1">
                <a:solidFill>
                  <a:srgbClr val="276E6B"/>
                </a:solidFill>
                <a:latin typeface="Lexend"/>
                <a:ea typeface="Lexend"/>
                <a:cs typeface="Lexend"/>
              </a:rPr>
              <a:t>03</a:t>
            </a:r>
          </a:p>
        </p:txBody>
      </p:sp>
      <p:sp>
        <p:nvSpPr>
          <p:cNvPr id="16" name="">
            <a:extLst xmlns:a="http://schemas.openxmlformats.org/drawingml/2006/main">
              <a:ext uri="{FF2B5EF4-FFF2-40B4-BE49-F238E27FC236}">
                <a16:creationId xmlns:a16="http://schemas.microsoft.com/office/drawing/2014/main" id="{F17D818F-1E13-43F5-8FAB-3B7BAA881DC0}"/>
              </a:ext>
            </a:extLst>
          </p:cNvPr>
          <p:cNvSpPr>
            <a:spLocks xmlns:a="http://schemas.openxmlformats.org/drawingml/2006/main" noGrp="1"/>
          </p:cNvSpPr>
          <p:nvPr/>
        </p:nvSpPr>
        <p:spPr>
          <a:xfrm xmlns:a="http://schemas.openxmlformats.org/drawingml/2006/main">
            <a:off x="1466850" y="3438525"/>
            <a:ext cx="4286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725" b="1">
                <a:solidFill>
                  <a:srgbClr val="252D30"/>
                </a:solidFill>
                <a:latin typeface="Lexend"/>
                <a:ea typeface="Lexend"/>
                <a:cs typeface="Lexend"/>
              </a:defRPr>
            </a:pPr>
            <a:r>
              <a:rPr sz="1725" b="1">
                <a:solidFill>
                  <a:srgbClr val="252D30"/>
                </a:solidFill>
                <a:latin typeface="Lexend"/>
                <a:ea typeface="Lexend"/>
                <a:cs typeface="Lexend"/>
              </a:rPr>
              <a:t>Limited data sharing</a:t>
            </a:r>
          </a:p>
        </p:txBody>
      </p:sp>
      <p:sp>
        <p:nvSpPr>
          <p:cNvPr id="17" name="">
            <a:extLst xmlns:a="http://schemas.openxmlformats.org/drawingml/2006/main">
              <a:ext uri="{FF2B5EF4-FFF2-40B4-BE49-F238E27FC236}">
                <a16:creationId xmlns:a16="http://schemas.microsoft.com/office/drawing/2014/main" id="{C0AC150C-09AA-46D2-9A47-4B481BA70B17}"/>
              </a:ext>
            </a:extLst>
          </p:cNvPr>
          <p:cNvSpPr>
            <a:spLocks xmlns:a="http://schemas.openxmlformats.org/drawingml/2006/main" noGrp="1"/>
          </p:cNvSpPr>
          <p:nvPr/>
        </p:nvSpPr>
        <p:spPr>
          <a:xfrm xmlns:a="http://schemas.openxmlformats.org/drawingml/2006/main">
            <a:off x="1466850" y="3924300"/>
            <a:ext cx="41719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0">
                <a:solidFill>
                  <a:srgbClr val="59676A"/>
                </a:solidFill>
                <a:latin typeface="Source Sans 3"/>
                <a:ea typeface="Source Sans 3"/>
                <a:cs typeface="Source Sans 3"/>
              </a:defRPr>
            </a:pPr>
            <a:r>
              <a:rPr sz="1500" b="0">
                <a:solidFill>
                  <a:srgbClr val="59676A"/>
                </a:solidFill>
                <a:latin typeface="Source Sans 3"/>
                <a:ea typeface="Source Sans 3"/>
                <a:cs typeface="Source Sans 3"/>
              </a:rPr>
              <a:t>Separate office functions do not always share the information needed for SitRep preparation.</a:t>
            </a:r>
          </a:p>
        </p:txBody>
      </p:sp>
      <p:sp>
        <p:nvSpPr>
          <p:cNvPr id="18" name="">
            <a:extLst xmlns:a="http://schemas.openxmlformats.org/drawingml/2006/main">
              <a:ext uri="{FF2B5EF4-FFF2-40B4-BE49-F238E27FC236}">
                <a16:creationId xmlns:a16="http://schemas.microsoft.com/office/drawing/2014/main" id="{2A317584-4F58-4AA1-A427-0CC6933A1503}"/>
              </a:ext>
            </a:extLst>
          </p:cNvPr>
          <p:cNvSpPr>
            <a:spLocks xmlns:a="http://schemas.openxmlformats.org/drawingml/2006/main" noGrp="1"/>
          </p:cNvSpPr>
          <p:nvPr/>
        </p:nvSpPr>
        <p:spPr>
          <a:xfrm xmlns:a="http://schemas.openxmlformats.org/drawingml/2006/main">
            <a:off x="1466850" y="4953000"/>
            <a:ext cx="41338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9" name="">
            <a:extLst xmlns:a="http://schemas.openxmlformats.org/drawingml/2006/main">
              <a:ext uri="{FF2B5EF4-FFF2-40B4-BE49-F238E27FC236}">
                <a16:creationId xmlns:a16="http://schemas.microsoft.com/office/drawing/2014/main" id="{4CF49E6B-3D01-4471-82E4-ED5ABDDBFEB1}"/>
              </a:ext>
            </a:extLst>
          </p:cNvPr>
          <p:cNvSpPr>
            <a:spLocks xmlns:a="http://schemas.openxmlformats.org/drawingml/2006/main" noGrp="1"/>
          </p:cNvSpPr>
          <p:nvPr/>
        </p:nvSpPr>
        <p:spPr>
          <a:xfrm xmlns:a="http://schemas.openxmlformats.org/drawingml/2006/main">
            <a:off x="6191250" y="3438525"/>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575" b="1">
                <a:solidFill>
                  <a:srgbClr val="276E6B"/>
                </a:solidFill>
                <a:latin typeface="Lexend"/>
                <a:ea typeface="Lexend"/>
                <a:cs typeface="Lexend"/>
              </a:defRPr>
            </a:pPr>
            <a:r>
              <a:rPr sz="1575" b="1">
                <a:solidFill>
                  <a:srgbClr val="276E6B"/>
                </a:solidFill>
                <a:latin typeface="Lexend"/>
                <a:ea typeface="Lexend"/>
                <a:cs typeface="Lexend"/>
              </a:rPr>
              <a:t>04</a:t>
            </a:r>
          </a:p>
        </p:txBody>
      </p:sp>
      <p:sp>
        <p:nvSpPr>
          <p:cNvPr id="20" name="">
            <a:extLst xmlns:a="http://schemas.openxmlformats.org/drawingml/2006/main">
              <a:ext uri="{FF2B5EF4-FFF2-40B4-BE49-F238E27FC236}">
                <a16:creationId xmlns:a16="http://schemas.microsoft.com/office/drawing/2014/main" id="{7530A332-677C-4F41-94D4-0ABB9D42AEBC}"/>
              </a:ext>
            </a:extLst>
          </p:cNvPr>
          <p:cNvSpPr>
            <a:spLocks xmlns:a="http://schemas.openxmlformats.org/drawingml/2006/main" noGrp="1"/>
          </p:cNvSpPr>
          <p:nvPr/>
        </p:nvSpPr>
        <p:spPr>
          <a:xfrm xmlns:a="http://schemas.openxmlformats.org/drawingml/2006/main">
            <a:off x="6724650" y="3438525"/>
            <a:ext cx="4286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725" b="1">
                <a:solidFill>
                  <a:srgbClr val="252D30"/>
                </a:solidFill>
                <a:latin typeface="Lexend"/>
                <a:ea typeface="Lexend"/>
                <a:cs typeface="Lexend"/>
              </a:defRPr>
            </a:pPr>
            <a:r>
              <a:rPr sz="1725" b="1">
                <a:solidFill>
                  <a:srgbClr val="252D30"/>
                </a:solidFill>
                <a:latin typeface="Lexend"/>
                <a:ea typeface="Lexend"/>
                <a:cs typeface="Lexend"/>
              </a:rPr>
              <a:t>Inefficient verification</a:t>
            </a:r>
          </a:p>
        </p:txBody>
      </p:sp>
      <p:sp>
        <p:nvSpPr>
          <p:cNvPr id="21" name="">
            <a:extLst xmlns:a="http://schemas.openxmlformats.org/drawingml/2006/main">
              <a:ext uri="{FF2B5EF4-FFF2-40B4-BE49-F238E27FC236}">
                <a16:creationId xmlns:a16="http://schemas.microsoft.com/office/drawing/2014/main" id="{A5A37E17-7227-4EE7-B54D-A8E000AB4D54}"/>
              </a:ext>
            </a:extLst>
          </p:cNvPr>
          <p:cNvSpPr>
            <a:spLocks xmlns:a="http://schemas.openxmlformats.org/drawingml/2006/main" noGrp="1"/>
          </p:cNvSpPr>
          <p:nvPr/>
        </p:nvSpPr>
        <p:spPr>
          <a:xfrm xmlns:a="http://schemas.openxmlformats.org/drawingml/2006/main">
            <a:off x="6724650" y="3924300"/>
            <a:ext cx="41719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0">
                <a:solidFill>
                  <a:srgbClr val="59676A"/>
                </a:solidFill>
                <a:latin typeface="Source Sans 3"/>
                <a:ea typeface="Source Sans 3"/>
                <a:cs typeface="Source Sans 3"/>
              </a:defRPr>
            </a:pPr>
            <a:r>
              <a:rPr sz="1500" b="0">
                <a:solidFill>
                  <a:srgbClr val="59676A"/>
                </a:solidFill>
                <a:latin typeface="Source Sans 3"/>
                <a:ea typeface="Source Sans 3"/>
                <a:cs typeface="Source Sans 3"/>
              </a:rPr>
              <a:t>Incomplete or inconsistent details prompt additional calls or field checks.</a:t>
            </a:r>
          </a:p>
        </p:txBody>
      </p:sp>
      <p:sp>
        <p:nvSpPr>
          <p:cNvPr id="22" name="">
            <a:extLst xmlns:a="http://schemas.openxmlformats.org/drawingml/2006/main">
              <a:ext uri="{FF2B5EF4-FFF2-40B4-BE49-F238E27FC236}">
                <a16:creationId xmlns:a16="http://schemas.microsoft.com/office/drawing/2014/main" id="{D9C4E99E-773D-40C4-8B76-CFBC938D9C76}"/>
              </a:ext>
            </a:extLst>
          </p:cNvPr>
          <p:cNvSpPr>
            <a:spLocks xmlns:a="http://schemas.openxmlformats.org/drawingml/2006/main" noGrp="1"/>
          </p:cNvSpPr>
          <p:nvPr/>
        </p:nvSpPr>
        <p:spPr>
          <a:xfrm xmlns:a="http://schemas.openxmlformats.org/drawingml/2006/main">
            <a:off x="6724650" y="4953000"/>
            <a:ext cx="41338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3" name="">
            <a:extLst xmlns:a="http://schemas.openxmlformats.org/drawingml/2006/main">
              <a:ext uri="{FF2B5EF4-FFF2-40B4-BE49-F238E27FC236}">
                <a16:creationId xmlns:a16="http://schemas.microsoft.com/office/drawing/2014/main" id="{8F3A2596-9913-48B8-8C53-5A5999CA59AB}"/>
              </a:ext>
            </a:extLst>
          </p:cNvPr>
          <p:cNvSpPr>
            <a:spLocks xmlns:a="http://schemas.openxmlformats.org/drawingml/2006/main" noGrp="1"/>
          </p:cNvSpPr>
          <p:nvPr/>
        </p:nvSpPr>
        <p:spPr>
          <a:xfrm xmlns:a="http://schemas.openxmlformats.org/drawingml/2006/main">
            <a:off x="933450" y="550545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425" b="1">
                <a:solidFill>
                  <a:srgbClr val="276E6B"/>
                </a:solidFill>
                <a:latin typeface="Source Sans 3"/>
                <a:ea typeface="Source Sans 3"/>
                <a:cs typeface="Source Sans 3"/>
              </a:defRPr>
            </a:pPr>
            <a:r>
              <a:rPr sz="1425" b="1">
                <a:solidFill>
                  <a:srgbClr val="276E6B"/>
                </a:solidFill>
                <a:latin typeface="Source Sans 3"/>
                <a:ea typeface="Source Sans 3"/>
                <a:cs typeface="Source Sans 3"/>
              </a:rPr>
              <a:t>The paper describes an information-governance problem, not a lack of communication channels alone.</a:t>
            </a:r>
          </a:p>
        </p:txBody>
      </p:sp>
    </p:spTree>
    <p:extLst>
      <p:ext uri="{BB962C8B-B14F-4D97-AF65-F5344CB8AC3E}">
        <p14:creationId xmlns:p14="http://schemas.microsoft.com/office/powerpoint/2010/main" val="237690601"/>
      </p:ext>
    </p:extLst>
  </p:cSld>
</p:sld>
</file>

<file path=ppt/slides/slide9.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75203D4-5631-4A80-9689-F4F46C695103}"/>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C09EE0A-91B7-4682-8B60-78A5222C90E5}"/>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WORKFLOW GAPS AND MANDATED PRACTICE</a:t>
            </a:r>
          </a:p>
        </p:txBody>
      </p:sp>
      <p:sp>
        <p:nvSpPr>
          <p:cNvPr id="3" name="">
            <a:extLst xmlns:a="http://schemas.openxmlformats.org/drawingml/2006/main">
              <a:ext uri="{FF2B5EF4-FFF2-40B4-BE49-F238E27FC236}">
                <a16:creationId xmlns:a16="http://schemas.microsoft.com/office/drawing/2014/main" id="{CE225AFE-89F8-42A3-B212-E362177D8740}"/>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The proposed workflow supports existing public responsibilities</a:t>
            </a:r>
          </a:p>
        </p:txBody>
      </p:sp>
      <p:sp>
        <p:nvSpPr>
          <p:cNvPr id="4" name="">
            <a:extLst xmlns:a="http://schemas.openxmlformats.org/drawingml/2006/main">
              <a:ext uri="{FF2B5EF4-FFF2-40B4-BE49-F238E27FC236}">
                <a16:creationId xmlns:a16="http://schemas.microsoft.com/office/drawing/2014/main" id="{CF7CA172-3928-4E49-9759-4355F490156E}"/>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967CA329-23FC-4F16-BE66-C55EEEBB199A}"/>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Sources: RA 10121, Section 12; NDRRMC NDRRMOC SOPG (2024); revised paper, Chapter 1</a:t>
            </a:r>
          </a:p>
        </p:txBody>
      </p:sp>
      <p:sp>
        <p:nvSpPr>
          <p:cNvPr id="6" name="">
            <a:extLst xmlns:a="http://schemas.openxmlformats.org/drawingml/2006/main">
              <a:ext uri="{FF2B5EF4-FFF2-40B4-BE49-F238E27FC236}">
                <a16:creationId xmlns:a16="http://schemas.microsoft.com/office/drawing/2014/main" id="{67927C0B-6A12-4668-92C7-07418B9C3589}"/>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09</a:t>
            </a:r>
          </a:p>
        </p:txBody>
      </p:sp>
      <p:graphicFrame>
        <p:nvGraphicFramePr>
          <p:cNvPr id="15" name=""/>
          <p:cNvGraphicFramePr/>
          <p:nvPr/>
        </p:nvGraphicFramePr>
        <p:xfrm>
          <a:off xmlns:a="http://schemas.openxmlformats.org/drawingml/2006/main" x="895350" y="1600200"/>
          <a:ext xmlns:a="http://schemas.openxmlformats.org/drawingml/2006/main" cx="10401300" cy="3314700"/>
        </p:xfrm>
        <a:graphic xmlns:a="http://schemas.openxmlformats.org/drawingml/2006/main">
          <a:graphicData uri="http://schemas.openxmlformats.org/drawingml/2006/table">
            <a:tbl>
              <a:tblPr/>
              <a:tblGrid>
                <a:gridCol w="2705100"/>
                <a:gridCol w="3714750"/>
                <a:gridCol w="3981450"/>
              </a:tblGrid>
              <a:tr h="552450">
                <a:tc>
                  <a:txBody>
                    <a:bodyPr wrap="square" lIns="104775" tIns="66675" rIns="104775" bIns="66675">
                      <a:normAutofit/>
                    </a:bodyPr>
                    <a:lstStyle/>
                    <a:p>
                      <a:pPr algn="l"/>
                      <a:r>
                        <a:rPr sz="1313" b="1">
                          <a:solidFill>
                            <a:srgbClr val="FFFFFF"/>
                          </a:solidFill>
                          <a:latin typeface="Lexend"/>
                          <a:ea typeface="Lexend"/>
                          <a:cs typeface="Lexend"/>
                        </a:rPr>
                        <a:t>Evidence or mandate</a:t>
                      </a:r>
                    </a:p>
                  </a:txBody>
                  <a:tcPr marL="91440" marR="91440" marT="45720" marB="45720" anchor="ctr">
                    <a:solidFill>
                      <a:srgbClr val="252D30"/>
                    </a:solidFill>
                  </a:tcPr>
                </a:tc>
                <a:tc>
                  <a:txBody>
                    <a:bodyPr wrap="square" lIns="104775" tIns="66675" rIns="104775" bIns="66675">
                      <a:normAutofit/>
                    </a:bodyPr>
                    <a:lstStyle/>
                    <a:p>
                      <a:pPr algn="l"/>
                      <a:r>
                        <a:rPr sz="1313" b="1">
                          <a:solidFill>
                            <a:srgbClr val="FFFFFF"/>
                          </a:solidFill>
                          <a:latin typeface="Lexend"/>
                          <a:ea typeface="Lexend"/>
                          <a:cs typeface="Lexend"/>
                        </a:rPr>
                        <a:t>Gap described in the paper</a:t>
                      </a:r>
                    </a:p>
                  </a:txBody>
                  <a:tcPr marL="91440" marR="91440" marT="45720" marB="45720" anchor="ctr">
                    <a:solidFill>
                      <a:srgbClr val="252D30"/>
                    </a:solidFill>
                  </a:tcPr>
                </a:tc>
                <a:tc>
                  <a:txBody>
                    <a:bodyPr wrap="square" lIns="104775" tIns="66675" rIns="104775" bIns="66675">
                      <a:normAutofit/>
                    </a:bodyPr>
                    <a:lstStyle/>
                    <a:p>
                      <a:pPr algn="l"/>
                      <a:r>
                        <a:rPr sz="1313" b="1">
                          <a:solidFill>
                            <a:srgbClr val="FFFFFF"/>
                          </a:solidFill>
                          <a:latin typeface="Lexend"/>
                          <a:ea typeface="Lexend"/>
                          <a:cs typeface="Lexend"/>
                        </a:rPr>
                        <a:t>Design response</a:t>
                      </a:r>
                    </a:p>
                  </a:txBody>
                  <a:tcPr marL="91440" marR="91440" marT="45720" marB="45720" anchor="ctr">
                    <a:solidFill>
                      <a:srgbClr val="252D30"/>
                    </a:solidFill>
                  </a:tcPr>
                </a:tc>
              </a:tr>
              <a:tr h="920750">
                <a:tc>
                  <a:txBody>
                    <a:bodyPr wrap="square" lIns="104775" tIns="66675" rIns="104775" bIns="66675">
                      <a:normAutofit/>
                    </a:bodyPr>
                    <a:lstStyle/>
                    <a:p>
                      <a:pPr algn="l"/>
                      <a:r>
                        <a:rPr sz="1350">
                          <a:solidFill>
                            <a:srgbClr val="252D30"/>
                          </a:solidFill>
                          <a:latin typeface="Source Sans 3"/>
                          <a:ea typeface="Source Sans 3"/>
                          <a:cs typeface="Source Sans 3"/>
                        </a:rPr>
                        <a:t>RA 10121, Section 12</a:t>
                      </a:r>
                    </a:p>
                  </a:txBody>
                  <a:tcPr marL="91440" marR="91440" marT="45720" marB="45720" anchor="ctr">
                    <a:solidFill>
                      <a:srgbClr val="FFFFFF"/>
                    </a:solidFill>
                  </a:tcPr>
                </a:tc>
                <a:tc>
                  <a:txBody>
                    <a:bodyPr wrap="square" lIns="104775" tIns="66675" rIns="104775" bIns="66675">
                      <a:normAutofit/>
                    </a:bodyPr>
                    <a:lstStyle/>
                    <a:p>
                      <a:pPr algn="l"/>
                      <a:r>
                        <a:rPr sz="1350">
                          <a:solidFill>
                            <a:srgbClr val="252D30"/>
                          </a:solidFill>
                          <a:latin typeface="Source Sans 3"/>
                          <a:ea typeface="Source Sans 3"/>
                          <a:cs typeface="Source Sans 3"/>
                        </a:rPr>
                        <a:t>Local information is collected and handled across jurisdictions and office functions</a:t>
                      </a:r>
                    </a:p>
                  </a:txBody>
                  <a:tcPr marL="91440" marR="91440" marT="45720" marB="45720" anchor="ctr">
                    <a:solidFill>
                      <a:srgbClr val="FFFFFF"/>
                    </a:solidFill>
                  </a:tcPr>
                </a:tc>
                <a:tc>
                  <a:txBody>
                    <a:bodyPr wrap="square" lIns="104775" tIns="66675" rIns="104775" bIns="66675">
                      <a:normAutofit/>
                    </a:bodyPr>
                    <a:lstStyle/>
                    <a:p>
                      <a:pPr algn="l"/>
                      <a:r>
                        <a:rPr sz="1350">
                          <a:solidFill>
                            <a:srgbClr val="252D30"/>
                          </a:solidFill>
                          <a:latin typeface="Source Sans 3"/>
                          <a:ea typeface="Source Sans 3"/>
                          <a:cs typeface="Source Sans 3"/>
                        </a:rPr>
                        <a:t>Shared records scoped by role and jurisdiction</a:t>
                      </a:r>
                    </a:p>
                  </a:txBody>
                  <a:tcPr marL="91440" marR="91440" marT="45720" marB="45720" anchor="ctr">
                    <a:solidFill>
                      <a:srgbClr val="FFFFFF"/>
                    </a:solidFill>
                  </a:tcPr>
                </a:tc>
              </a:tr>
              <a:tr h="920750">
                <a:tc>
                  <a:txBody>
                    <a:bodyPr wrap="square" lIns="104775" tIns="66675" rIns="104775" bIns="66675">
                      <a:normAutofit/>
                    </a:bodyPr>
                    <a:lstStyle/>
                    <a:p>
                      <a:pPr algn="l"/>
                      <a:r>
                        <a:rPr sz="1350">
                          <a:solidFill>
                            <a:srgbClr val="252D30"/>
                          </a:solidFill>
                          <a:latin typeface="Source Sans 3"/>
                          <a:ea typeface="Source Sans 3"/>
                          <a:cs typeface="Source Sans 3"/>
                        </a:rPr>
                        <a:t>NDRRMOC SOPG (2024)</a:t>
                      </a:r>
                    </a:p>
                  </a:txBody>
                  <a:tcPr marL="91440" marR="91440" marT="45720" marB="45720" anchor="ctr">
                    <a:solidFill>
                      <a:srgbClr val="E9ECE8"/>
                    </a:solidFill>
                  </a:tcPr>
                </a:tc>
                <a:tc>
                  <a:txBody>
                    <a:bodyPr wrap="square" lIns="104775" tIns="66675" rIns="104775" bIns="66675">
                      <a:normAutofit/>
                    </a:bodyPr>
                    <a:lstStyle/>
                    <a:p>
                      <a:pPr algn="l"/>
                      <a:r>
                        <a:rPr sz="1350">
                          <a:solidFill>
                            <a:srgbClr val="252D30"/>
                          </a:solidFill>
                          <a:latin typeface="Source Sans 3"/>
                          <a:ea typeface="Source Sans 3"/>
                          <a:cs typeface="Source Sans 3"/>
                        </a:rPr>
                        <a:t>Initial, Progress, Terminal and Final reporting update the situation over time</a:t>
                      </a:r>
                    </a:p>
                  </a:txBody>
                  <a:tcPr marL="91440" marR="91440" marT="45720" marB="45720" anchor="ctr">
                    <a:solidFill>
                      <a:srgbClr val="E9ECE8"/>
                    </a:solidFill>
                  </a:tcPr>
                </a:tc>
                <a:tc>
                  <a:txBody>
                    <a:bodyPr wrap="square" lIns="104775" tIns="66675" rIns="104775" bIns="66675">
                      <a:normAutofit/>
                    </a:bodyPr>
                    <a:lstStyle/>
                    <a:p>
                      <a:pPr algn="l"/>
                      <a:r>
                        <a:rPr sz="1350">
                          <a:solidFill>
                            <a:srgbClr val="252D30"/>
                          </a:solidFill>
                          <a:latin typeface="Source Sans 3"/>
                          <a:ea typeface="Source Sans 3"/>
                          <a:cs typeface="Source Sans 3"/>
                        </a:rPr>
                        <a:t>Versioned reports retain source, cutoff and status</a:t>
                      </a:r>
                    </a:p>
                  </a:txBody>
                  <a:tcPr marL="91440" marR="91440" marT="45720" marB="45720" anchor="ctr">
                    <a:solidFill>
                      <a:srgbClr val="E9ECE8"/>
                    </a:solidFill>
                  </a:tcPr>
                </a:tc>
              </a:tr>
              <a:tr h="920750">
                <a:tc>
                  <a:txBody>
                    <a:bodyPr wrap="square" lIns="104775" tIns="66675" rIns="104775" bIns="66675">
                      <a:normAutofit/>
                    </a:bodyPr>
                    <a:lstStyle/>
                    <a:p>
                      <a:pPr algn="l"/>
                      <a:r>
                        <a:rPr sz="1350">
                          <a:solidFill>
                            <a:srgbClr val="252D30"/>
                          </a:solidFill>
                          <a:latin typeface="Source Sans 3"/>
                          <a:ea typeface="Source Sans 3"/>
                          <a:cs typeface="Source Sans 3"/>
                        </a:rPr>
                        <a:t>Validation before official dissemination</a:t>
                      </a:r>
                    </a:p>
                  </a:txBody>
                  <a:tcPr marL="91440" marR="91440" marT="45720" marB="45720" anchor="ctr">
                    <a:solidFill>
                      <a:srgbClr val="FFFFFF"/>
                    </a:solidFill>
                  </a:tcPr>
                </a:tc>
                <a:tc>
                  <a:txBody>
                    <a:bodyPr wrap="square" lIns="104775" tIns="66675" rIns="104775" bIns="66675">
                      <a:normAutofit/>
                    </a:bodyPr>
                    <a:lstStyle/>
                    <a:p>
                      <a:pPr algn="l"/>
                      <a:r>
                        <a:rPr sz="1350">
                          <a:solidFill>
                            <a:srgbClr val="252D30"/>
                          </a:solidFill>
                          <a:latin typeface="Source Sans 3"/>
                          <a:ea typeface="Source Sans 3"/>
                          <a:cs typeface="Source Sans 3"/>
                        </a:rPr>
                        <a:t>Clarification and verification depend on calls and staff follow-up</a:t>
                      </a:r>
                    </a:p>
                  </a:txBody>
                  <a:tcPr marL="91440" marR="91440" marT="45720" marB="45720" anchor="ctr">
                    <a:solidFill>
                      <a:srgbClr val="FFFFFF"/>
                    </a:solidFill>
                  </a:tcPr>
                </a:tc>
                <a:tc>
                  <a:txBody>
                    <a:bodyPr wrap="square" lIns="104775" tIns="66675" rIns="104775" bIns="66675">
                      <a:normAutofit/>
                    </a:bodyPr>
                    <a:lstStyle/>
                    <a:p>
                      <a:pPr algn="l"/>
                      <a:r>
                        <a:rPr sz="1350">
                          <a:solidFill>
                            <a:srgbClr val="252D30"/>
                          </a:solidFill>
                          <a:latin typeface="Source Sans 3"/>
                          <a:ea typeface="Source Sans 3"/>
                          <a:cs typeface="Source Sans 3"/>
                        </a:rPr>
                        <a:t>Human review records a decision, reason and correction history</a:t>
                      </a:r>
                    </a:p>
                  </a:txBody>
                  <a:tcPr marL="91440" marR="91440" marT="45720" marB="45720" anchor="ctr">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E52B587D-23F9-4831-93E9-D1921AE782DD}"/>
              </a:ext>
            </a:extLst>
          </p:cNvPr>
          <p:cNvSpPr>
            <a:spLocks xmlns:a="http://schemas.openxmlformats.org/drawingml/2006/main" noGrp="1"/>
          </p:cNvSpPr>
          <p:nvPr/>
        </p:nvSpPr>
        <p:spPr>
          <a:xfrm xmlns:a="http://schemas.openxmlformats.org/drawingml/2006/main">
            <a:off x="933450" y="527685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425" b="1">
                <a:solidFill>
                  <a:srgbClr val="A9782A"/>
                </a:solidFill>
                <a:latin typeface="Source Sans 3"/>
                <a:ea typeface="Source Sans 3"/>
                <a:cs typeface="Source Sans 3"/>
              </a:defRPr>
            </a:pPr>
            <a:r>
              <a:rPr sz="1425" b="1">
                <a:solidFill>
                  <a:srgbClr val="A9782A"/>
                </a:solidFill>
                <a:latin typeface="Source Sans 3"/>
                <a:ea typeface="Source Sans 3"/>
                <a:cs typeface="Source Sans 3"/>
              </a:rPr>
              <a:t>RA 10121 does not require this specific digital platform.</a:t>
            </a:r>
          </a:p>
        </p:txBody>
      </p:sp>
    </p:spTree>
    <p:extLst>
      <p:ext uri="{BB962C8B-B14F-4D97-AF65-F5344CB8AC3E}">
        <p14:creationId xmlns:p14="http://schemas.microsoft.com/office/powerpoint/2010/main" val="1936843729"/>
      </p:ext>
    </p:extLst>
  </p:cSld>
</p:sld>
</file>

<file path=ppt/slides/slide10.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4074C8D7-D191-4659-A563-F86A7CF44BCD}"/>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32C9C18-EC1D-464F-A92D-D4AEA67BBEF7}"/>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PROPOSED SYSTEM</a:t>
            </a:r>
          </a:p>
        </p:txBody>
      </p:sp>
      <p:sp>
        <p:nvSpPr>
          <p:cNvPr id="3" name="">
            <a:extLst xmlns:a="http://schemas.openxmlformats.org/drawingml/2006/main">
              <a:ext uri="{FF2B5EF4-FFF2-40B4-BE49-F238E27FC236}">
                <a16:creationId xmlns:a16="http://schemas.microsoft.com/office/drawing/2014/main" id="{F0242AF2-95EA-4353-98D4-669A2D300AAC}"/>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A role-based web system links local reporting to SitRep preparation</a:t>
            </a:r>
          </a:p>
        </p:txBody>
      </p:sp>
      <p:sp>
        <p:nvSpPr>
          <p:cNvPr id="4" name="">
            <a:extLst xmlns:a="http://schemas.openxmlformats.org/drawingml/2006/main">
              <a:ext uri="{FF2B5EF4-FFF2-40B4-BE49-F238E27FC236}">
                <a16:creationId xmlns:a16="http://schemas.microsoft.com/office/drawing/2014/main" id="{139DD6C5-582E-409D-9A3C-40226AE56A67}"/>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281653CC-EDEF-4031-9EEB-D40434CA75F8}"/>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General Objective, Scope and Limitations</a:t>
            </a:r>
          </a:p>
        </p:txBody>
      </p:sp>
      <p:sp>
        <p:nvSpPr>
          <p:cNvPr id="6" name="">
            <a:extLst xmlns:a="http://schemas.openxmlformats.org/drawingml/2006/main">
              <a:ext uri="{FF2B5EF4-FFF2-40B4-BE49-F238E27FC236}">
                <a16:creationId xmlns:a16="http://schemas.microsoft.com/office/drawing/2014/main" id="{562B253D-46A8-467E-AEC0-3DC992CB2DF7}"/>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10</a:t>
            </a:r>
          </a:p>
        </p:txBody>
      </p:sp>
      <p:sp>
        <p:nvSpPr>
          <p:cNvPr id="7" name="">
            <a:extLst xmlns:a="http://schemas.openxmlformats.org/drawingml/2006/main">
              <a:ext uri="{FF2B5EF4-FFF2-40B4-BE49-F238E27FC236}">
                <a16:creationId xmlns:a16="http://schemas.microsoft.com/office/drawing/2014/main" id="{035ECF7E-227F-42B4-A631-57398334CA75}"/>
              </a:ext>
            </a:extLst>
          </p:cNvPr>
          <p:cNvSpPr>
            <a:spLocks xmlns:a="http://schemas.openxmlformats.org/drawingml/2006/main" noGrp="1"/>
          </p:cNvSpPr>
          <p:nvPr/>
        </p:nvSpPr>
        <p:spPr>
          <a:xfrm xmlns:a="http://schemas.openxmlformats.org/drawingml/2006/main">
            <a:off x="933450" y="1790700"/>
            <a:ext cx="3095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350" b="1">
                <a:solidFill>
                  <a:srgbClr val="276E6B"/>
                </a:solidFill>
                <a:latin typeface="Lexend"/>
                <a:ea typeface="Lexend"/>
                <a:cs typeface="Lexend"/>
              </a:defRPr>
            </a:pPr>
            <a:r>
              <a:rPr sz="1350" b="1">
                <a:solidFill>
                  <a:srgbClr val="276E6B"/>
                </a:solidFill>
                <a:latin typeface="Lexend"/>
                <a:ea typeface="Lexend"/>
                <a:cs typeface="Lexend"/>
              </a:rPr>
              <a:t>PUROK</a:t>
            </a:r>
          </a:p>
        </p:txBody>
      </p:sp>
      <p:sp>
        <p:nvSpPr>
          <p:cNvPr id="8" name="">
            <a:extLst xmlns:a="http://schemas.openxmlformats.org/drawingml/2006/main">
              <a:ext uri="{FF2B5EF4-FFF2-40B4-BE49-F238E27FC236}">
                <a16:creationId xmlns:a16="http://schemas.microsoft.com/office/drawing/2014/main" id="{7AA8A6B1-7BCC-43C5-98C9-AB8D813CC08B}"/>
              </a:ext>
            </a:extLst>
          </p:cNvPr>
          <p:cNvSpPr>
            <a:spLocks xmlns:a="http://schemas.openxmlformats.org/drawingml/2006/main" noGrp="1"/>
          </p:cNvSpPr>
          <p:nvPr/>
        </p:nvSpPr>
        <p:spPr>
          <a:xfrm xmlns:a="http://schemas.openxmlformats.org/drawingml/2006/main">
            <a:off x="933450" y="2266950"/>
            <a:ext cx="3095625" cy="1371600"/>
          </a:xfrm>
          <a:prstGeom xmlns:a="http://schemas.openxmlformats.org/drawingml/2006/main" prst="roundRect">
            <a:avLst>
              <a:gd name="adj" fmla="val 5556"/>
            </a:avLst>
          </a:prstGeom>
          <a:solidFill xmlns:a="http://schemas.openxmlformats.org/drawingml/2006/main">
            <a:srgbClr val="E4EFEC"/>
          </a:solidFill>
          <a:ln xmlns:a="http://schemas.openxmlformats.org/drawingml/2006/main" w="14288">
            <a:solidFill>
              <a:srgbClr val="D3DCDA"/>
            </a:solidFill>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650" b="1">
                <a:solidFill>
                  <a:srgbClr val="252D30"/>
                </a:solidFill>
                <a:latin typeface="Source Sans 3"/>
                <a:ea typeface="Source Sans 3"/>
                <a:cs typeface="Source Sans 3"/>
              </a:defRPr>
            </a:pPr>
            <a:r>
              <a:rPr sz="1650" b="1">
                <a:solidFill>
                  <a:srgbClr val="252D30"/>
                </a:solidFill>
                <a:latin typeface="Source Sans 3"/>
                <a:ea typeface="Source Sans 3"/>
                <a:cs typeface="Source Sans 3"/>
              </a:rPr>
              <a:t>Monthly aggregate profile</a:t>
            </a:r>
          </a:p>
          <a:p xmlns:a="http://schemas.openxmlformats.org/drawingml/2006/main">
            <a:pPr algn="ctr">
              <a:defRPr sz="1650" b="1">
                <a:solidFill>
                  <a:srgbClr val="252D30"/>
                </a:solidFill>
                <a:latin typeface="Source Sans 3"/>
                <a:ea typeface="Source Sans 3"/>
                <a:cs typeface="Source Sans 3"/>
              </a:defRPr>
            </a:pPr>
            <a:r>
              <a:rPr sz="1650" b="1">
                <a:solidFill>
                  <a:srgbClr val="252D30"/>
                </a:solidFill>
                <a:latin typeface="Source Sans 3"/>
                <a:ea typeface="Source Sans 3"/>
                <a:cs typeface="Source Sans 3"/>
              </a:rPr>
              <a:t>Initial incident report</a:t>
            </a:r>
          </a:p>
        </p:txBody>
      </p:sp>
      <p:sp>
        <p:nvSpPr>
          <p:cNvPr id="9" name="">
            <a:extLst xmlns:a="http://schemas.openxmlformats.org/drawingml/2006/main">
              <a:ext uri="{FF2B5EF4-FFF2-40B4-BE49-F238E27FC236}">
                <a16:creationId xmlns:a16="http://schemas.microsoft.com/office/drawing/2014/main" id="{EC1505E4-9495-4740-883F-9AD396C65945}"/>
              </a:ext>
            </a:extLst>
          </p:cNvPr>
          <p:cNvSpPr>
            <a:spLocks xmlns:a="http://schemas.openxmlformats.org/drawingml/2006/main" noGrp="1"/>
          </p:cNvSpPr>
          <p:nvPr/>
        </p:nvSpPr>
        <p:spPr>
          <a:xfrm xmlns:a="http://schemas.openxmlformats.org/drawingml/2006/main">
            <a:off x="4476750" y="1790700"/>
            <a:ext cx="3095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350" b="1">
                <a:solidFill>
                  <a:srgbClr val="276E6B"/>
                </a:solidFill>
                <a:latin typeface="Lexend"/>
                <a:ea typeface="Lexend"/>
                <a:cs typeface="Lexend"/>
              </a:defRPr>
            </a:pPr>
            <a:r>
              <a:rPr sz="1350" b="1">
                <a:solidFill>
                  <a:srgbClr val="276E6B"/>
                </a:solidFill>
                <a:latin typeface="Lexend"/>
                <a:ea typeface="Lexend"/>
                <a:cs typeface="Lexend"/>
              </a:rPr>
              <a:t>BARANGAY</a:t>
            </a:r>
          </a:p>
        </p:txBody>
      </p:sp>
      <p:sp>
        <p:nvSpPr>
          <p:cNvPr id="10" name="">
            <a:extLst xmlns:a="http://schemas.openxmlformats.org/drawingml/2006/main">
              <a:ext uri="{FF2B5EF4-FFF2-40B4-BE49-F238E27FC236}">
                <a16:creationId xmlns:a16="http://schemas.microsoft.com/office/drawing/2014/main" id="{B6248C63-C4F8-43FE-AEA7-944D69F5EEBE}"/>
              </a:ext>
            </a:extLst>
          </p:cNvPr>
          <p:cNvSpPr>
            <a:spLocks xmlns:a="http://schemas.openxmlformats.org/drawingml/2006/main" noGrp="1"/>
          </p:cNvSpPr>
          <p:nvPr/>
        </p:nvSpPr>
        <p:spPr>
          <a:xfrm xmlns:a="http://schemas.openxmlformats.org/drawingml/2006/main">
            <a:off x="4476750" y="2266950"/>
            <a:ext cx="3095625" cy="1371600"/>
          </a:xfrm>
          <a:prstGeom xmlns:a="http://schemas.openxmlformats.org/drawingml/2006/main" prst="roundRect">
            <a:avLst>
              <a:gd name="adj" fmla="val 5556"/>
            </a:avLst>
          </a:prstGeom>
          <a:solidFill xmlns:a="http://schemas.openxmlformats.org/drawingml/2006/main">
            <a:srgbClr val="FFFFFF"/>
          </a:solidFill>
          <a:ln xmlns:a="http://schemas.openxmlformats.org/drawingml/2006/main" w="14288">
            <a:solidFill>
              <a:srgbClr val="D3DCDA"/>
            </a:solidFill>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650" b="1">
                <a:solidFill>
                  <a:srgbClr val="252D30"/>
                </a:solidFill>
                <a:latin typeface="Source Sans 3"/>
                <a:ea typeface="Source Sans 3"/>
                <a:cs typeface="Source Sans 3"/>
              </a:defRPr>
            </a:pPr>
            <a:r>
              <a:rPr sz="1650" b="1">
                <a:solidFill>
                  <a:srgbClr val="252D30"/>
                </a:solidFill>
                <a:latin typeface="Source Sans 3"/>
                <a:ea typeface="Source Sans 3"/>
                <a:cs typeface="Source Sans 3"/>
              </a:rPr>
              <a:t>Verify Purok records</a:t>
            </a:r>
          </a:p>
          <a:p xmlns:a="http://schemas.openxmlformats.org/drawingml/2006/main">
            <a:pPr algn="ctr">
              <a:defRPr sz="1650" b="1">
                <a:solidFill>
                  <a:srgbClr val="252D30"/>
                </a:solidFill>
                <a:latin typeface="Source Sans 3"/>
                <a:ea typeface="Source Sans 3"/>
                <a:cs typeface="Source Sans 3"/>
              </a:defRPr>
            </a:pPr>
            <a:r>
              <a:rPr sz="1650" b="1">
                <a:solidFill>
                  <a:srgbClr val="252D30"/>
                </a:solidFill>
                <a:latin typeface="Source Sans 3"/>
                <a:ea typeface="Source Sans 3"/>
                <a:cs typeface="Source Sans 3"/>
              </a:rPr>
              <a:t>Consolidate reports</a:t>
            </a:r>
          </a:p>
        </p:txBody>
      </p:sp>
      <p:sp>
        <p:nvSpPr>
          <p:cNvPr id="11" name="">
            <a:extLst xmlns:a="http://schemas.openxmlformats.org/drawingml/2006/main">
              <a:ext uri="{FF2B5EF4-FFF2-40B4-BE49-F238E27FC236}">
                <a16:creationId xmlns:a16="http://schemas.microsoft.com/office/drawing/2014/main" id="{A4B5D43D-C384-44F5-9EC8-B221355CDD71}"/>
              </a:ext>
            </a:extLst>
          </p:cNvPr>
          <p:cNvSpPr>
            <a:spLocks xmlns:a="http://schemas.openxmlformats.org/drawingml/2006/main" noGrp="1"/>
          </p:cNvSpPr>
          <p:nvPr/>
        </p:nvSpPr>
        <p:spPr>
          <a:xfrm xmlns:a="http://schemas.openxmlformats.org/drawingml/2006/main">
            <a:off x="8020050" y="1790700"/>
            <a:ext cx="3095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350" b="1">
                <a:solidFill>
                  <a:srgbClr val="276E6B"/>
                </a:solidFill>
                <a:latin typeface="Lexend"/>
                <a:ea typeface="Lexend"/>
                <a:cs typeface="Lexend"/>
              </a:defRPr>
            </a:pPr>
            <a:r>
              <a:rPr sz="1350" b="1">
                <a:solidFill>
                  <a:srgbClr val="276E6B"/>
                </a:solidFill>
                <a:latin typeface="Lexend"/>
                <a:ea typeface="Lexend"/>
                <a:cs typeface="Lexend"/>
              </a:rPr>
              <a:t>DRRM ADMINISTRATOR</a:t>
            </a:r>
          </a:p>
        </p:txBody>
      </p:sp>
      <p:sp>
        <p:nvSpPr>
          <p:cNvPr id="12" name="">
            <a:extLst xmlns:a="http://schemas.openxmlformats.org/drawingml/2006/main">
              <a:ext uri="{FF2B5EF4-FFF2-40B4-BE49-F238E27FC236}">
                <a16:creationId xmlns:a16="http://schemas.microsoft.com/office/drawing/2014/main" id="{6C3BF207-2210-49BE-A942-6E47DE951E0F}"/>
              </a:ext>
            </a:extLst>
          </p:cNvPr>
          <p:cNvSpPr>
            <a:spLocks xmlns:a="http://schemas.openxmlformats.org/drawingml/2006/main" noGrp="1"/>
          </p:cNvSpPr>
          <p:nvPr/>
        </p:nvSpPr>
        <p:spPr>
          <a:xfrm xmlns:a="http://schemas.openxmlformats.org/drawingml/2006/main">
            <a:off x="8020050" y="2266950"/>
            <a:ext cx="3095625" cy="1371600"/>
          </a:xfrm>
          <a:prstGeom xmlns:a="http://schemas.openxmlformats.org/drawingml/2006/main" prst="roundRect">
            <a:avLst>
              <a:gd name="adj" fmla="val 5556"/>
            </a:avLst>
          </a:prstGeom>
          <a:solidFill xmlns:a="http://schemas.openxmlformats.org/drawingml/2006/main">
            <a:srgbClr val="FFFFFF"/>
          </a:solidFill>
          <a:ln xmlns:a="http://schemas.openxmlformats.org/drawingml/2006/main" w="14288">
            <a:solidFill>
              <a:srgbClr val="D3DCDA"/>
            </a:solidFill>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650" b="1">
                <a:solidFill>
                  <a:srgbClr val="252D30"/>
                </a:solidFill>
                <a:latin typeface="Source Sans 3"/>
                <a:ea typeface="Source Sans 3"/>
                <a:cs typeface="Source Sans 3"/>
              </a:defRPr>
            </a:pPr>
            <a:r>
              <a:rPr sz="1650" b="1">
                <a:solidFill>
                  <a:srgbClr val="252D30"/>
                </a:solidFill>
                <a:latin typeface="Source Sans 3"/>
                <a:ea typeface="Source Sans 3"/>
                <a:cs typeface="Source Sans 3"/>
              </a:rPr>
              <a:t>Verify Barangay records</a:t>
            </a:r>
          </a:p>
          <a:p xmlns:a="http://schemas.openxmlformats.org/drawingml/2006/main">
            <a:pPr algn="ctr">
              <a:defRPr sz="1650" b="1">
                <a:solidFill>
                  <a:srgbClr val="252D30"/>
                </a:solidFill>
                <a:latin typeface="Source Sans 3"/>
                <a:ea typeface="Source Sans 3"/>
                <a:cs typeface="Source Sans 3"/>
              </a:defRPr>
            </a:pPr>
            <a:r>
              <a:rPr sz="1650" b="1">
                <a:solidFill>
                  <a:srgbClr val="252D30"/>
                </a:solidFill>
                <a:latin typeface="Source Sans 3"/>
                <a:ea typeface="Source Sans 3"/>
                <a:cs typeface="Source Sans 3"/>
              </a:rPr>
              <a:t>Prepare and route SitRep</a:t>
            </a:r>
          </a:p>
        </p:txBody>
      </p:sp>
      <p:cxnSp>
        <p:nvCxnSpPr>
          <p:cNvPr id="33" name=""/>
          <p:cNvCxnSpPr>
            <a:stCxn xmlns:a="http://schemas.openxmlformats.org/drawingml/2006/main" id="8" idx="3"/>
            <a:endCxn xmlns:a="http://schemas.openxmlformats.org/drawingml/2006/main" id="10" idx="1"/>
          </p:cNvCxnSpPr>
          <p:nvPr/>
        </p:nvCxnSpPr>
        <p:spPr>
          <a:xfrm xmlns:a="http://schemas.openxmlformats.org/drawingml/2006/main">
            <a:off x="4029075" y="2952750"/>
            <a:ext cx="447675" cy="0"/>
          </a:xfrm>
          <a:prstGeom xmlns:a="http://schemas.openxmlformats.org/drawingml/2006/main" prst="straightConnector1">
            <a:avLst/>
          </a:prstGeom>
          <a:ln xmlns:a="http://schemas.openxmlformats.org/drawingml/2006/main" w="19050">
            <a:solidFill>
              <a:srgbClr val="276E6B"/>
            </a:solidFill>
            <a:prstDash val="solid"/>
            <a:tailEnd type="arrow" w="sm" len="sm"/>
          </a:ln>
        </p:spPr>
      </p:cxnSp>
      <p:cxnSp>
        <p:nvCxnSpPr>
          <p:cNvPr id="34" name=""/>
          <p:cNvCxnSpPr>
            <a:stCxn xmlns:a="http://schemas.openxmlformats.org/drawingml/2006/main" id="10" idx="3"/>
            <a:endCxn xmlns:a="http://schemas.openxmlformats.org/drawingml/2006/main" id="12" idx="1"/>
          </p:cNvCxnSpPr>
          <p:nvPr/>
        </p:nvCxnSpPr>
        <p:spPr>
          <a:xfrm xmlns:a="http://schemas.openxmlformats.org/drawingml/2006/main">
            <a:off x="7572375" y="2952750"/>
            <a:ext cx="447675" cy="0"/>
          </a:xfrm>
          <a:prstGeom xmlns:a="http://schemas.openxmlformats.org/drawingml/2006/main" prst="straightConnector1">
            <a:avLst/>
          </a:prstGeom>
          <a:ln xmlns:a="http://schemas.openxmlformats.org/drawingml/2006/main" w="19050">
            <a:solidFill>
              <a:srgbClr val="276E6B"/>
            </a:solidFill>
            <a:prstDash val="solid"/>
            <a:tailEnd type="arrow" w="sm" len="sm"/>
          </a:ln>
        </p:spPr>
      </p:cxnSp>
      <p:sp>
        <p:nvSpPr>
          <p:cNvPr id="15" name="">
            <a:extLst xmlns:a="http://schemas.openxmlformats.org/drawingml/2006/main">
              <a:ext uri="{FF2B5EF4-FFF2-40B4-BE49-F238E27FC236}">
                <a16:creationId xmlns:a16="http://schemas.microsoft.com/office/drawing/2014/main" id="{55141686-590E-4276-99EE-9A429250B165}"/>
              </a:ext>
            </a:extLst>
          </p:cNvPr>
          <p:cNvSpPr>
            <a:spLocks xmlns:a="http://schemas.openxmlformats.org/drawingml/2006/main" noGrp="1"/>
          </p:cNvSpPr>
          <p:nvPr/>
        </p:nvSpPr>
        <p:spPr>
          <a:xfrm xmlns:a="http://schemas.openxmlformats.org/drawingml/2006/main">
            <a:off x="1000125" y="4076700"/>
            <a:ext cx="1019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575" b="0">
                <a:solidFill>
                  <a:srgbClr val="59676A"/>
                </a:solidFill>
                <a:latin typeface="Source Sans 3"/>
                <a:ea typeface="Source Sans 3"/>
                <a:cs typeface="Source Sans 3"/>
              </a:defRPr>
            </a:pPr>
            <a:r>
              <a:rPr sz="1575" b="0">
                <a:solidFill>
                  <a:srgbClr val="59676A"/>
                </a:solidFill>
                <a:latin typeface="Source Sans 3"/>
                <a:ea typeface="Source Sans 3"/>
                <a:cs typeface="Source Sans 3"/>
              </a:rPr>
              <a:t>Correction requests return to the originating level. Verified information moves upward with its source and version.</a:t>
            </a:r>
          </a:p>
        </p:txBody>
      </p:sp>
      <p:sp>
        <p:nvSpPr>
          <p:cNvPr id="16" name="">
            <a:extLst xmlns:a="http://schemas.openxmlformats.org/drawingml/2006/main">
              <a:ext uri="{FF2B5EF4-FFF2-40B4-BE49-F238E27FC236}">
                <a16:creationId xmlns:a16="http://schemas.microsoft.com/office/drawing/2014/main" id="{67996FA5-26D7-46C3-BFEB-8DB5BA0AB625}"/>
              </a:ext>
            </a:extLst>
          </p:cNvPr>
          <p:cNvSpPr>
            <a:spLocks xmlns:a="http://schemas.openxmlformats.org/drawingml/2006/main" noGrp="1"/>
          </p:cNvSpPr>
          <p:nvPr/>
        </p:nvSpPr>
        <p:spPr>
          <a:xfrm xmlns:a="http://schemas.openxmlformats.org/drawingml/2006/main">
            <a:off x="2000250" y="4943475"/>
            <a:ext cx="8191500" cy="0"/>
          </a:xfrm>
          <a:prstGeom xmlns:a="http://schemas.openxmlformats.org/drawingml/2006/main" prst="line">
            <a:avLst/>
          </a:prstGeom>
          <a:noFill xmlns:a="http://schemas.openxmlformats.org/drawingml/2006/main"/>
          <a:ln xmlns:a="http://schemas.openxmlformats.org/drawingml/2006/main" w="19050">
            <a:solidFill>
              <a:srgbClr val="276E6B"/>
            </a:solidFill>
          </a:ln>
        </p:spPr>
      </p:sp>
      <p:sp>
        <p:nvSpPr>
          <p:cNvPr id="17" name="">
            <a:extLst xmlns:a="http://schemas.openxmlformats.org/drawingml/2006/main">
              <a:ext uri="{FF2B5EF4-FFF2-40B4-BE49-F238E27FC236}">
                <a16:creationId xmlns:a16="http://schemas.microsoft.com/office/drawing/2014/main" id="{C7ADC85B-1F49-4716-897D-64100212AE1F}"/>
              </a:ext>
            </a:extLst>
          </p:cNvPr>
          <p:cNvSpPr>
            <a:spLocks xmlns:a="http://schemas.openxmlformats.org/drawingml/2006/main" noGrp="1"/>
          </p:cNvSpPr>
          <p:nvPr/>
        </p:nvSpPr>
        <p:spPr>
          <a:xfrm xmlns:a="http://schemas.openxmlformats.org/drawingml/2006/main">
            <a:off x="1219200" y="5181600"/>
            <a:ext cx="2524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275" b="1">
                <a:solidFill>
                  <a:srgbClr val="276E6B"/>
                </a:solidFill>
                <a:latin typeface="Lexend"/>
                <a:ea typeface="Lexend"/>
                <a:cs typeface="Lexend"/>
              </a:defRPr>
            </a:pPr>
            <a:r>
              <a:rPr sz="1275" b="1">
                <a:solidFill>
                  <a:srgbClr val="276E6B"/>
                </a:solidFill>
                <a:latin typeface="Lexend"/>
                <a:ea typeface="Lexend"/>
                <a:cs typeface="Lexend"/>
              </a:rPr>
              <a:t>REPORT HISTORY</a:t>
            </a:r>
          </a:p>
        </p:txBody>
      </p:sp>
      <p:sp>
        <p:nvSpPr>
          <p:cNvPr id="18" name="">
            <a:extLst xmlns:a="http://schemas.openxmlformats.org/drawingml/2006/main">
              <a:ext uri="{FF2B5EF4-FFF2-40B4-BE49-F238E27FC236}">
                <a16:creationId xmlns:a16="http://schemas.microsoft.com/office/drawing/2014/main" id="{615DACAA-DBAE-4E44-BE6A-6746EBC8DF39}"/>
              </a:ext>
            </a:extLst>
          </p:cNvPr>
          <p:cNvSpPr>
            <a:spLocks xmlns:a="http://schemas.openxmlformats.org/drawingml/2006/main" noGrp="1"/>
          </p:cNvSpPr>
          <p:nvPr/>
        </p:nvSpPr>
        <p:spPr>
          <a:xfrm xmlns:a="http://schemas.openxmlformats.org/drawingml/2006/main">
            <a:off x="4781550" y="5181600"/>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275" b="1">
                <a:solidFill>
                  <a:srgbClr val="276E6B"/>
                </a:solidFill>
                <a:latin typeface="Lexend"/>
                <a:ea typeface="Lexend"/>
                <a:cs typeface="Lexend"/>
              </a:defRPr>
            </a:pPr>
            <a:r>
              <a:rPr sz="1275" b="1">
                <a:solidFill>
                  <a:srgbClr val="276E6B"/>
                </a:solidFill>
                <a:latin typeface="Lexend"/>
                <a:ea typeface="Lexend"/>
                <a:cs typeface="Lexend"/>
              </a:rPr>
              <a:t>ROLE-BASED DASHBOARD</a:t>
            </a:r>
          </a:p>
        </p:txBody>
      </p:sp>
      <p:sp>
        <p:nvSpPr>
          <p:cNvPr id="19" name="">
            <a:extLst xmlns:a="http://schemas.openxmlformats.org/drawingml/2006/main">
              <a:ext uri="{FF2B5EF4-FFF2-40B4-BE49-F238E27FC236}">
                <a16:creationId xmlns:a16="http://schemas.microsoft.com/office/drawing/2014/main" id="{FC24D52A-ABA1-46A4-877E-C450022046A9}"/>
              </a:ext>
            </a:extLst>
          </p:cNvPr>
          <p:cNvSpPr>
            <a:spLocks xmlns:a="http://schemas.openxmlformats.org/drawingml/2006/main" noGrp="1"/>
          </p:cNvSpPr>
          <p:nvPr/>
        </p:nvSpPr>
        <p:spPr>
          <a:xfrm xmlns:a="http://schemas.openxmlformats.org/drawingml/2006/main">
            <a:off x="8467725" y="5181600"/>
            <a:ext cx="247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275" b="1">
                <a:solidFill>
                  <a:srgbClr val="276E6B"/>
                </a:solidFill>
                <a:latin typeface="Lexend"/>
                <a:ea typeface="Lexend"/>
                <a:cs typeface="Lexend"/>
              </a:defRPr>
            </a:pPr>
            <a:r>
              <a:rPr sz="1275" b="1">
                <a:solidFill>
                  <a:srgbClr val="276E6B"/>
                </a:solidFill>
                <a:latin typeface="Lexend"/>
                <a:ea typeface="Lexend"/>
                <a:cs typeface="Lexend"/>
              </a:rPr>
              <a:t>EDITABLE SITREP DRAFT</a:t>
            </a:r>
          </a:p>
        </p:txBody>
      </p:sp>
      <p:sp>
        <p:nvSpPr>
          <p:cNvPr id="20" name="">
            <a:extLst xmlns:a="http://schemas.openxmlformats.org/drawingml/2006/main">
              <a:ext uri="{FF2B5EF4-FFF2-40B4-BE49-F238E27FC236}">
                <a16:creationId xmlns:a16="http://schemas.microsoft.com/office/drawing/2014/main" id="{76D529FB-3B59-4FB3-AA6F-0E35CBB5F1E1}"/>
              </a:ext>
            </a:extLst>
          </p:cNvPr>
          <p:cNvSpPr>
            <a:spLocks xmlns:a="http://schemas.openxmlformats.org/drawingml/2006/main" noGrp="1"/>
          </p:cNvSpPr>
          <p:nvPr/>
        </p:nvSpPr>
        <p:spPr>
          <a:xfrm xmlns:a="http://schemas.openxmlformats.org/drawingml/2006/main">
            <a:off x="1000125" y="5629275"/>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Human reviewers determine factual accuracy. Approval and release remain with authorized officials.</a:t>
            </a:r>
          </a:p>
        </p:txBody>
      </p:sp>
    </p:spTree>
    <p:extLst>
      <p:ext uri="{BB962C8B-B14F-4D97-AF65-F5344CB8AC3E}">
        <p14:creationId xmlns:p14="http://schemas.microsoft.com/office/powerpoint/2010/main" val="64363261"/>
      </p:ext>
    </p:extLst>
  </p:cSld>
</p:sld>
</file>

<file path=ppt/slides/slide11.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1E0028C3-6CAD-4BA2-A6D6-1EA75548AA72}"/>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5B0EBB9-8221-444A-9726-03EA44AB64D6}"/>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PROPOSED SYSTEM OBJECTIVES</a:t>
            </a:r>
          </a:p>
        </p:txBody>
      </p:sp>
      <p:sp>
        <p:nvSpPr>
          <p:cNvPr id="3" name="">
            <a:extLst xmlns:a="http://schemas.openxmlformats.org/drawingml/2006/main">
              <a:ext uri="{FF2B5EF4-FFF2-40B4-BE49-F238E27FC236}">
                <a16:creationId xmlns:a16="http://schemas.microsoft.com/office/drawing/2014/main" id="{C8C8D124-84A1-4085-B95C-DB768515C40C}"/>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The objectives connect module development to evaluation</a:t>
            </a:r>
          </a:p>
        </p:txBody>
      </p:sp>
      <p:sp>
        <p:nvSpPr>
          <p:cNvPr id="4" name="">
            <a:extLst xmlns:a="http://schemas.openxmlformats.org/drawingml/2006/main">
              <a:ext uri="{FF2B5EF4-FFF2-40B4-BE49-F238E27FC236}">
                <a16:creationId xmlns:a16="http://schemas.microsoft.com/office/drawing/2014/main" id="{D1801971-6A28-43B2-B9A2-99EC5D20745C}"/>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938E7540-F050-4C75-AD9D-75ECBDB7B190}"/>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General and Specific Objectives</a:t>
            </a:r>
          </a:p>
        </p:txBody>
      </p:sp>
      <p:sp>
        <p:nvSpPr>
          <p:cNvPr id="6" name="">
            <a:extLst xmlns:a="http://schemas.openxmlformats.org/drawingml/2006/main">
              <a:ext uri="{FF2B5EF4-FFF2-40B4-BE49-F238E27FC236}">
                <a16:creationId xmlns:a16="http://schemas.microsoft.com/office/drawing/2014/main" id="{3CE1B0A8-8A37-47E0-B6B8-86AF12D034B7}"/>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11</a:t>
            </a:r>
          </a:p>
        </p:txBody>
      </p:sp>
      <p:sp>
        <p:nvSpPr>
          <p:cNvPr id="7" name="">
            <a:extLst xmlns:a="http://schemas.openxmlformats.org/drawingml/2006/main">
              <a:ext uri="{FF2B5EF4-FFF2-40B4-BE49-F238E27FC236}">
                <a16:creationId xmlns:a16="http://schemas.microsoft.com/office/drawing/2014/main" id="{9A977F45-C887-43A4-8EE5-793EE249915B}"/>
              </a:ext>
            </a:extLst>
          </p:cNvPr>
          <p:cNvSpPr>
            <a:spLocks xmlns:a="http://schemas.openxmlformats.org/drawingml/2006/main" noGrp="1"/>
          </p:cNvSpPr>
          <p:nvPr/>
        </p:nvSpPr>
        <p:spPr>
          <a:xfrm xmlns:a="http://schemas.openxmlformats.org/drawingml/2006/main">
            <a:off x="933450" y="1381125"/>
            <a:ext cx="10287000" cy="12382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087293F-CC1B-4C18-95AD-2D64B7435B50}"/>
              </a:ext>
            </a:extLst>
          </p:cNvPr>
          <p:cNvSpPr>
            <a:spLocks xmlns:a="http://schemas.openxmlformats.org/drawingml/2006/main" noGrp="1"/>
          </p:cNvSpPr>
          <p:nvPr/>
        </p:nvSpPr>
        <p:spPr>
          <a:xfrm xmlns:a="http://schemas.openxmlformats.org/drawingml/2006/main">
            <a:off x="1181100" y="1552575"/>
            <a:ext cx="2524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00" b="1">
                <a:solidFill>
                  <a:srgbClr val="D8E9E6"/>
                </a:solidFill>
                <a:latin typeface="Lexend"/>
                <a:ea typeface="Lexend"/>
                <a:cs typeface="Lexend"/>
              </a:defRPr>
            </a:pPr>
            <a:r>
              <a:rPr sz="1200" b="1">
                <a:solidFill>
                  <a:srgbClr val="D8E9E6"/>
                </a:solidFill>
                <a:latin typeface="Lexend"/>
                <a:ea typeface="Lexend"/>
                <a:cs typeface="Lexend"/>
              </a:rPr>
              <a:t>GENERAL OBJECTIVE</a:t>
            </a:r>
          </a:p>
        </p:txBody>
      </p:sp>
      <p:sp>
        <p:nvSpPr>
          <p:cNvPr id="9" name="">
            <a:extLst xmlns:a="http://schemas.openxmlformats.org/drawingml/2006/main">
              <a:ext uri="{FF2B5EF4-FFF2-40B4-BE49-F238E27FC236}">
                <a16:creationId xmlns:a16="http://schemas.microsoft.com/office/drawing/2014/main" id="{CB03AEBE-C6F6-48A2-B52A-B7F82C66A03F}"/>
              </a:ext>
            </a:extLst>
          </p:cNvPr>
          <p:cNvSpPr>
            <a:spLocks xmlns:a="http://schemas.openxmlformats.org/drawingml/2006/main" noGrp="1"/>
          </p:cNvSpPr>
          <p:nvPr/>
        </p:nvSpPr>
        <p:spPr>
          <a:xfrm xmlns:a="http://schemas.openxmlformats.org/drawingml/2006/main">
            <a:off x="1181100" y="1885950"/>
            <a:ext cx="9677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650" b="1">
                <a:solidFill>
                  <a:srgbClr val="FFFFFF"/>
                </a:solidFill>
                <a:latin typeface="Source Sans 3"/>
                <a:ea typeface="Source Sans 3"/>
                <a:cs typeface="Source Sans 3"/>
              </a:defRPr>
            </a:pPr>
            <a:r>
              <a:rPr sz="1650" b="1">
                <a:solidFill>
                  <a:srgbClr val="FFFFFF"/>
                </a:solidFill>
                <a:latin typeface="Source Sans 3"/>
                <a:ea typeface="Source Sans 3"/>
                <a:cs typeface="Source Sans 3"/>
              </a:rPr>
              <a:t>Design, develop and evaluate a centralized, role-based online system for grassroots incident reporting and NDRRMC SitRep consolidation.</a:t>
            </a:r>
          </a:p>
        </p:txBody>
      </p:sp>
      <p:sp>
        <p:nvSpPr>
          <p:cNvPr id="10" name="">
            <a:extLst xmlns:a="http://schemas.openxmlformats.org/drawingml/2006/main">
              <a:ext uri="{FF2B5EF4-FFF2-40B4-BE49-F238E27FC236}">
                <a16:creationId xmlns:a16="http://schemas.microsoft.com/office/drawing/2014/main" id="{00502AF5-9983-49B7-9306-5B0344086152}"/>
              </a:ext>
            </a:extLst>
          </p:cNvPr>
          <p:cNvSpPr>
            <a:spLocks xmlns:a="http://schemas.openxmlformats.org/drawingml/2006/main" noGrp="1"/>
          </p:cNvSpPr>
          <p:nvPr/>
        </p:nvSpPr>
        <p:spPr>
          <a:xfrm xmlns:a="http://schemas.openxmlformats.org/drawingml/2006/main">
            <a:off x="952500" y="2924175"/>
            <a:ext cx="1619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Build</a:t>
            </a:r>
          </a:p>
        </p:txBody>
      </p:sp>
      <p:sp>
        <p:nvSpPr>
          <p:cNvPr id="11" name="">
            <a:extLst xmlns:a="http://schemas.openxmlformats.org/drawingml/2006/main">
              <a:ext uri="{FF2B5EF4-FFF2-40B4-BE49-F238E27FC236}">
                <a16:creationId xmlns:a16="http://schemas.microsoft.com/office/drawing/2014/main" id="{2568004F-E23C-4664-AF14-3B6C51237730}"/>
              </a:ext>
            </a:extLst>
          </p:cNvPr>
          <p:cNvSpPr>
            <a:spLocks xmlns:a="http://schemas.openxmlformats.org/drawingml/2006/main" noGrp="1"/>
          </p:cNvSpPr>
          <p:nvPr/>
        </p:nvSpPr>
        <p:spPr>
          <a:xfrm xmlns:a="http://schemas.openxmlformats.org/drawingml/2006/main">
            <a:off x="2743200" y="2924175"/>
            <a:ext cx="84486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17 distinct modules for account administration, profiles, incident reporting, verification, histories, hazards, dashboard and SitRep.</a:t>
            </a:r>
          </a:p>
        </p:txBody>
      </p:sp>
      <p:sp>
        <p:nvSpPr>
          <p:cNvPr id="12" name="">
            <a:extLst xmlns:a="http://schemas.openxmlformats.org/drawingml/2006/main">
              <a:ext uri="{FF2B5EF4-FFF2-40B4-BE49-F238E27FC236}">
                <a16:creationId xmlns:a16="http://schemas.microsoft.com/office/drawing/2014/main" id="{49A482FF-CFA8-4C21-8B2F-FBAB0223C25F}"/>
              </a:ext>
            </a:extLst>
          </p:cNvPr>
          <p:cNvSpPr>
            <a:spLocks xmlns:a="http://schemas.openxmlformats.org/drawingml/2006/main" noGrp="1"/>
          </p:cNvSpPr>
          <p:nvPr/>
        </p:nvSpPr>
        <p:spPr>
          <a:xfrm xmlns:a="http://schemas.openxmlformats.org/drawingml/2006/main">
            <a:off x="952500" y="3562350"/>
            <a:ext cx="1619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Preserve</a:t>
            </a:r>
          </a:p>
        </p:txBody>
      </p:sp>
      <p:sp>
        <p:nvSpPr>
          <p:cNvPr id="13" name="">
            <a:extLst xmlns:a="http://schemas.openxmlformats.org/drawingml/2006/main">
              <a:ext uri="{FF2B5EF4-FFF2-40B4-BE49-F238E27FC236}">
                <a16:creationId xmlns:a16="http://schemas.microsoft.com/office/drawing/2014/main" id="{4298F599-C911-4904-916D-A09C268C5993}"/>
              </a:ext>
            </a:extLst>
          </p:cNvPr>
          <p:cNvSpPr>
            <a:spLocks xmlns:a="http://schemas.openxmlformats.org/drawingml/2006/main" noGrp="1"/>
          </p:cNvSpPr>
          <p:nvPr/>
        </p:nvSpPr>
        <p:spPr>
          <a:xfrm xmlns:a="http://schemas.openxmlformats.org/drawingml/2006/main">
            <a:off x="2743200" y="3562350"/>
            <a:ext cx="84486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required fields, jurisdiction, provenance, decisions, correction history and report versions.</a:t>
            </a:r>
          </a:p>
        </p:txBody>
      </p:sp>
      <p:sp>
        <p:nvSpPr>
          <p:cNvPr id="14" name="">
            <a:extLst xmlns:a="http://schemas.openxmlformats.org/drawingml/2006/main">
              <a:ext uri="{FF2B5EF4-FFF2-40B4-BE49-F238E27FC236}">
                <a16:creationId xmlns:a16="http://schemas.microsoft.com/office/drawing/2014/main" id="{D53120CC-1F96-4A91-9367-3D361218E141}"/>
              </a:ext>
            </a:extLst>
          </p:cNvPr>
          <p:cNvSpPr>
            <a:spLocks xmlns:a="http://schemas.openxmlformats.org/drawingml/2006/main" noGrp="1"/>
          </p:cNvSpPr>
          <p:nvPr/>
        </p:nvSpPr>
        <p:spPr>
          <a:xfrm xmlns:a="http://schemas.openxmlformats.org/drawingml/2006/main">
            <a:off x="952500" y="4200525"/>
            <a:ext cx="1619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Consolidate</a:t>
            </a:r>
          </a:p>
        </p:txBody>
      </p:sp>
      <p:sp>
        <p:nvSpPr>
          <p:cNvPr id="15" name="">
            <a:extLst xmlns:a="http://schemas.openxmlformats.org/drawingml/2006/main">
              <a:ext uri="{FF2B5EF4-FFF2-40B4-BE49-F238E27FC236}">
                <a16:creationId xmlns:a16="http://schemas.microsoft.com/office/drawing/2014/main" id="{693658DB-FEAD-48A5-B16F-E192DE03826F}"/>
              </a:ext>
            </a:extLst>
          </p:cNvPr>
          <p:cNvSpPr>
            <a:spLocks xmlns:a="http://schemas.openxmlformats.org/drawingml/2006/main" noGrp="1"/>
          </p:cNvSpPr>
          <p:nvPr/>
        </p:nvSpPr>
        <p:spPr>
          <a:xfrm xmlns:a="http://schemas.openxmlformats.org/drawingml/2006/main">
            <a:off x="2743200" y="4200525"/>
            <a:ext cx="84486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verified Barangay incident reports into editable, template-based Situation Report drafts.</a:t>
            </a:r>
          </a:p>
        </p:txBody>
      </p:sp>
      <p:sp>
        <p:nvSpPr>
          <p:cNvPr id="16" name="">
            <a:extLst xmlns:a="http://schemas.openxmlformats.org/drawingml/2006/main">
              <a:ext uri="{FF2B5EF4-FFF2-40B4-BE49-F238E27FC236}">
                <a16:creationId xmlns:a16="http://schemas.microsoft.com/office/drawing/2014/main" id="{BDD85A18-DB31-4B66-A02F-659945F7D3B3}"/>
              </a:ext>
            </a:extLst>
          </p:cNvPr>
          <p:cNvSpPr>
            <a:spLocks xmlns:a="http://schemas.openxmlformats.org/drawingml/2006/main" noGrp="1"/>
          </p:cNvSpPr>
          <p:nvPr/>
        </p:nvSpPr>
        <p:spPr>
          <a:xfrm xmlns:a="http://schemas.openxmlformats.org/drawingml/2006/main">
            <a:off x="952500" y="4838700"/>
            <a:ext cx="1619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Evaluate</a:t>
            </a:r>
          </a:p>
        </p:txBody>
      </p:sp>
      <p:sp>
        <p:nvSpPr>
          <p:cNvPr id="17" name="">
            <a:extLst xmlns:a="http://schemas.openxmlformats.org/drawingml/2006/main">
              <a:ext uri="{FF2B5EF4-FFF2-40B4-BE49-F238E27FC236}">
                <a16:creationId xmlns:a16="http://schemas.microsoft.com/office/drawing/2014/main" id="{54DBA97F-6B0C-4C48-BEA9-F6786D8DFDC2}"/>
              </a:ext>
            </a:extLst>
          </p:cNvPr>
          <p:cNvSpPr>
            <a:spLocks xmlns:a="http://schemas.openxmlformats.org/drawingml/2006/main" noGrp="1"/>
          </p:cNvSpPr>
          <p:nvPr/>
        </p:nvSpPr>
        <p:spPr>
          <a:xfrm xmlns:a="http://schemas.openxmlformats.org/drawingml/2006/main">
            <a:off x="2743200" y="4838700"/>
            <a:ext cx="84486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functionality, integration, security, responsive behavior, acceptance and usability.</a:t>
            </a:r>
          </a:p>
        </p:txBody>
      </p:sp>
      <p:sp>
        <p:nvSpPr>
          <p:cNvPr id="18" name="">
            <a:extLst xmlns:a="http://schemas.openxmlformats.org/drawingml/2006/main">
              <a:ext uri="{FF2B5EF4-FFF2-40B4-BE49-F238E27FC236}">
                <a16:creationId xmlns:a16="http://schemas.microsoft.com/office/drawing/2014/main" id="{DA9BCD37-CC7B-492C-A4F1-10D128010ACB}"/>
              </a:ext>
            </a:extLst>
          </p:cNvPr>
          <p:cNvSpPr>
            <a:spLocks xmlns:a="http://schemas.openxmlformats.org/drawingml/2006/main" noGrp="1"/>
          </p:cNvSpPr>
          <p:nvPr/>
        </p:nvSpPr>
        <p:spPr>
          <a:xfrm xmlns:a="http://schemas.openxmlformats.org/drawingml/2006/main">
            <a:off x="952500" y="55816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A9782A"/>
                </a:solidFill>
                <a:latin typeface="Source Sans 3"/>
                <a:ea typeface="Source Sans 3"/>
                <a:cs typeface="Source Sans 3"/>
              </a:defRPr>
            </a:pPr>
            <a:r>
              <a:rPr sz="1350" b="1">
                <a:solidFill>
                  <a:srgbClr val="A9782A"/>
                </a:solidFill>
                <a:latin typeface="Source Sans 3"/>
                <a:ea typeface="Source Sans 3"/>
                <a:cs typeface="Source Sans 3"/>
              </a:rPr>
              <a:t>Targets in the manuscript are planned acceptance criteria, not results.</a:t>
            </a:r>
          </a:p>
        </p:txBody>
      </p:sp>
    </p:spTree>
    <p:extLst>
      <p:ext uri="{BB962C8B-B14F-4D97-AF65-F5344CB8AC3E}">
        <p14:creationId xmlns:p14="http://schemas.microsoft.com/office/powerpoint/2010/main" val="865719686"/>
      </p:ext>
    </p:extLst>
  </p:cSld>
</p:sld>
</file>

<file path=ppt/slides/slide12.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5E605967-33E8-419A-8BDA-91D87174AE3F}"/>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BA8A874-51FD-4418-A27D-1F304D02DF33}"/>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PROPOSED SYSTEM FLOWCHART</a:t>
            </a:r>
          </a:p>
        </p:txBody>
      </p:sp>
      <p:sp>
        <p:nvSpPr>
          <p:cNvPr id="3" name="">
            <a:extLst xmlns:a="http://schemas.openxmlformats.org/drawingml/2006/main">
              <a:ext uri="{FF2B5EF4-FFF2-40B4-BE49-F238E27FC236}">
                <a16:creationId xmlns:a16="http://schemas.microsoft.com/office/drawing/2014/main" id="{4518E870-1D8C-43B4-936F-9E8D940AEF87}"/>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Review gates govern upward reporting</a:t>
            </a:r>
          </a:p>
        </p:txBody>
      </p:sp>
      <p:sp>
        <p:nvSpPr>
          <p:cNvPr id="4" name="">
            <a:extLst xmlns:a="http://schemas.openxmlformats.org/drawingml/2006/main">
              <a:ext uri="{FF2B5EF4-FFF2-40B4-BE49-F238E27FC236}">
                <a16:creationId xmlns:a16="http://schemas.microsoft.com/office/drawing/2014/main" id="{23986A7F-BE81-4997-8F8E-3B3D6D7DF206}"/>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FF51A3A3-4965-4FE2-ADD6-FE096F99EF6B}"/>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Figure 2 and module flowcharts</a:t>
            </a:r>
          </a:p>
        </p:txBody>
      </p:sp>
      <p:sp>
        <p:nvSpPr>
          <p:cNvPr id="6" name="">
            <a:extLst xmlns:a="http://schemas.openxmlformats.org/drawingml/2006/main">
              <a:ext uri="{FF2B5EF4-FFF2-40B4-BE49-F238E27FC236}">
                <a16:creationId xmlns:a16="http://schemas.microsoft.com/office/drawing/2014/main" id="{CC21E245-984D-4E83-8426-616DE9FCA6DE}"/>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12</a:t>
            </a:r>
          </a:p>
        </p:txBody>
      </p:sp>
      <p:sp>
        <p:nvSpPr>
          <p:cNvPr id="7" name="">
            <a:extLst xmlns:a="http://schemas.openxmlformats.org/drawingml/2006/main">
              <a:ext uri="{FF2B5EF4-FFF2-40B4-BE49-F238E27FC236}">
                <a16:creationId xmlns:a16="http://schemas.microsoft.com/office/drawing/2014/main" id="{1BE109B5-1A86-46DC-8BFC-43717D070865}"/>
              </a:ext>
            </a:extLst>
          </p:cNvPr>
          <p:cNvSpPr>
            <a:spLocks xmlns:a="http://schemas.openxmlformats.org/drawingml/2006/main" noGrp="1"/>
          </p:cNvSpPr>
          <p:nvPr/>
        </p:nvSpPr>
        <p:spPr>
          <a:xfrm xmlns:a="http://schemas.openxmlformats.org/drawingml/2006/main">
            <a:off x="4572000" y="1257300"/>
            <a:ext cx="2857500" cy="495300"/>
          </a:xfrm>
          <a:prstGeom xmlns:a="http://schemas.openxmlformats.org/drawingml/2006/main" prst="ellipse">
            <a:avLst/>
          </a:prstGeom>
          <a:solidFill xmlns:a="http://schemas.openxmlformats.org/drawingml/2006/main">
            <a:srgbClr val="E4EFEC"/>
          </a:solidFill>
          <a:ln xmlns:a="http://schemas.openxmlformats.org/drawingml/2006/main" w="14288">
            <a:solidFill>
              <a:srgbClr val="D3DCDA"/>
            </a:solidFill>
          </a:ln>
        </p:spPr>
        <p:txBody>
          <a:bodyPr xmlns:a="http://schemas.openxmlformats.org/drawingml/2006/main" wrap="square" lIns="114300" tIns="76200" rIns="114300" bIns="76200" anchor="ctr">
            <a:normAutofit fontScale="93031"/>
          </a:bodyPr>
          <a:lstStyle xmlns:a="http://schemas.openxmlformats.org/drawingml/2006/main"/>
          <a:p xmlns:a="http://schemas.openxmlformats.org/drawingml/2006/main">
            <a:pPr algn="ctr">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Sign in with issued account</a:t>
            </a:r>
          </a:p>
        </p:txBody>
      </p:sp>
      <p:sp>
        <p:nvSpPr>
          <p:cNvPr id="8" name="">
            <a:extLst xmlns:a="http://schemas.openxmlformats.org/drawingml/2006/main">
              <a:ext uri="{FF2B5EF4-FFF2-40B4-BE49-F238E27FC236}">
                <a16:creationId xmlns:a16="http://schemas.microsoft.com/office/drawing/2014/main" id="{965BD8CF-B04A-484F-BB2B-02084C94388F}"/>
              </a:ext>
            </a:extLst>
          </p:cNvPr>
          <p:cNvSpPr>
            <a:spLocks xmlns:a="http://schemas.openxmlformats.org/drawingml/2006/main" noGrp="1"/>
          </p:cNvSpPr>
          <p:nvPr/>
        </p:nvSpPr>
        <p:spPr>
          <a:xfrm xmlns:a="http://schemas.openxmlformats.org/drawingml/2006/main">
            <a:off x="857250" y="2247900"/>
            <a:ext cx="2190750" cy="8382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14288">
            <a:solidFill>
              <a:srgbClr val="D3DCDA"/>
            </a:solidFill>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Purok submits</a:t>
            </a:r>
          </a:p>
          <a:p xmlns:a="http://schemas.openxmlformats.org/drawingml/2006/main">
            <a:pPr algn="ctr">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profile or initial report</a:t>
            </a:r>
          </a:p>
        </p:txBody>
      </p:sp>
      <p:sp>
        <p:nvSpPr>
          <p:cNvPr id="9" name="">
            <a:extLst xmlns:a="http://schemas.openxmlformats.org/drawingml/2006/main">
              <a:ext uri="{FF2B5EF4-FFF2-40B4-BE49-F238E27FC236}">
                <a16:creationId xmlns:a16="http://schemas.microsoft.com/office/drawing/2014/main" id="{CC5678EE-F82F-4FB2-975F-FD416A29D94D}"/>
              </a:ext>
            </a:extLst>
          </p:cNvPr>
          <p:cNvSpPr>
            <a:spLocks xmlns:a="http://schemas.openxmlformats.org/drawingml/2006/main" noGrp="1"/>
          </p:cNvSpPr>
          <p:nvPr/>
        </p:nvSpPr>
        <p:spPr>
          <a:xfrm xmlns:a="http://schemas.openxmlformats.org/drawingml/2006/main">
            <a:off x="3667125" y="2247900"/>
            <a:ext cx="2095500" cy="8382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14288">
            <a:solidFill>
              <a:srgbClr val="D3DCDA"/>
            </a:solidFill>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Barangay verifies</a:t>
            </a:r>
          </a:p>
          <a:p xmlns:a="http://schemas.openxmlformats.org/drawingml/2006/main">
            <a:pPr algn="ctr">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Purok submission</a:t>
            </a:r>
          </a:p>
        </p:txBody>
      </p:sp>
      <p:sp>
        <p:nvSpPr>
          <p:cNvPr id="10" name="">
            <a:extLst xmlns:a="http://schemas.openxmlformats.org/drawingml/2006/main">
              <a:ext uri="{FF2B5EF4-FFF2-40B4-BE49-F238E27FC236}">
                <a16:creationId xmlns:a16="http://schemas.microsoft.com/office/drawing/2014/main" id="{77A47915-22B0-455F-B27B-3A2B3379875F}"/>
              </a:ext>
            </a:extLst>
          </p:cNvPr>
          <p:cNvSpPr>
            <a:spLocks xmlns:a="http://schemas.openxmlformats.org/drawingml/2006/main" noGrp="1"/>
          </p:cNvSpPr>
          <p:nvPr/>
        </p:nvSpPr>
        <p:spPr>
          <a:xfrm xmlns:a="http://schemas.openxmlformats.org/drawingml/2006/main">
            <a:off x="6334125" y="2247900"/>
            <a:ext cx="1219200" cy="838200"/>
          </a:xfrm>
          <a:prstGeom xmlns:a="http://schemas.openxmlformats.org/drawingml/2006/main" prst="diamond">
            <a:avLst/>
          </a:prstGeom>
          <a:solidFill xmlns:a="http://schemas.openxmlformats.org/drawingml/2006/main">
            <a:srgbClr val="E4EFEC"/>
          </a:solidFill>
          <a:ln xmlns:a="http://schemas.openxmlformats.org/drawingml/2006/main" w="14288">
            <a:solidFill>
              <a:srgbClr val="D3DCDA"/>
            </a:solidFill>
          </a:ln>
        </p:spPr>
        <p:txBody>
          <a:bodyPr xmlns:a="http://schemas.openxmlformats.org/drawingml/2006/main" wrap="square" lIns="47625" tIns="76200" rIns="47625" bIns="76200" anchor="ctr">
            <a:normAutofit fontScale="69603"/>
          </a:bodyPr>
          <a:lstStyle xmlns:a="http://schemas.openxmlformats.org/drawingml/2006/main"/>
          <a:p xmlns:a="http://schemas.openxmlformats.org/drawingml/2006/main">
            <a:pPr algn="ctr">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Accepted?</a:t>
            </a:r>
          </a:p>
        </p:txBody>
      </p:sp>
      <p:sp>
        <p:nvSpPr>
          <p:cNvPr id="11" name="">
            <a:extLst xmlns:a="http://schemas.openxmlformats.org/drawingml/2006/main">
              <a:ext uri="{FF2B5EF4-FFF2-40B4-BE49-F238E27FC236}">
                <a16:creationId xmlns:a16="http://schemas.microsoft.com/office/drawing/2014/main" id="{E86A6FC1-6B7F-461B-97C5-87BD2D062E2A}"/>
              </a:ext>
            </a:extLst>
          </p:cNvPr>
          <p:cNvSpPr>
            <a:spLocks xmlns:a="http://schemas.openxmlformats.org/drawingml/2006/main" noGrp="1"/>
          </p:cNvSpPr>
          <p:nvPr/>
        </p:nvSpPr>
        <p:spPr>
          <a:xfrm xmlns:a="http://schemas.openxmlformats.org/drawingml/2006/main">
            <a:off x="8134350" y="3429000"/>
            <a:ext cx="1809750" cy="723900"/>
          </a:xfrm>
          <a:prstGeom xmlns:a="http://schemas.openxmlformats.org/drawingml/2006/main" prst="roundRect">
            <a:avLst>
              <a:gd name="adj" fmla="val 10526"/>
            </a:avLst>
          </a:prstGeom>
          <a:solidFill xmlns:a="http://schemas.openxmlformats.org/drawingml/2006/main">
            <a:srgbClr val="F3EBDD"/>
          </a:solidFill>
          <a:ln xmlns:a="http://schemas.openxmlformats.org/drawingml/2006/main" w="14288">
            <a:solidFill>
              <a:srgbClr val="D3DCDA"/>
            </a:solidFill>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275" b="1">
                <a:solidFill>
                  <a:srgbClr val="252D30"/>
                </a:solidFill>
                <a:latin typeface="Source Sans 3"/>
                <a:ea typeface="Source Sans 3"/>
                <a:cs typeface="Source Sans 3"/>
              </a:defRPr>
            </a:pPr>
            <a:r>
              <a:rPr sz="1275" b="1">
                <a:solidFill>
                  <a:srgbClr val="252D30"/>
                </a:solidFill>
                <a:latin typeface="Source Sans 3"/>
                <a:ea typeface="Source Sans 3"/>
                <a:cs typeface="Source Sans 3"/>
              </a:rPr>
              <a:t>Return to Purok</a:t>
            </a:r>
          </a:p>
          <a:p xmlns:a="http://schemas.openxmlformats.org/drawingml/2006/main">
            <a:pPr algn="ctr">
              <a:defRPr sz="1275" b="1">
                <a:solidFill>
                  <a:srgbClr val="252D30"/>
                </a:solidFill>
                <a:latin typeface="Source Sans 3"/>
                <a:ea typeface="Source Sans 3"/>
                <a:cs typeface="Source Sans 3"/>
              </a:defRPr>
            </a:pPr>
            <a:r>
              <a:rPr sz="1275" b="1">
                <a:solidFill>
                  <a:srgbClr val="252D30"/>
                </a:solidFill>
                <a:latin typeface="Source Sans 3"/>
                <a:ea typeface="Source Sans 3"/>
                <a:cs typeface="Source Sans 3"/>
              </a:rPr>
              <a:t>with reason</a:t>
            </a:r>
          </a:p>
        </p:txBody>
      </p:sp>
      <p:sp>
        <p:nvSpPr>
          <p:cNvPr id="12" name="">
            <a:extLst xmlns:a="http://schemas.openxmlformats.org/drawingml/2006/main">
              <a:ext uri="{FF2B5EF4-FFF2-40B4-BE49-F238E27FC236}">
                <a16:creationId xmlns:a16="http://schemas.microsoft.com/office/drawing/2014/main" id="{D82E15D5-08A7-4A21-86E0-DCCF21F5832F}"/>
              </a:ext>
            </a:extLst>
          </p:cNvPr>
          <p:cNvSpPr>
            <a:spLocks xmlns:a="http://schemas.openxmlformats.org/drawingml/2006/main" noGrp="1"/>
          </p:cNvSpPr>
          <p:nvPr/>
        </p:nvSpPr>
        <p:spPr>
          <a:xfrm xmlns:a="http://schemas.openxmlformats.org/drawingml/2006/main">
            <a:off x="8239125" y="2247900"/>
            <a:ext cx="1809750" cy="8382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14288">
            <a:solidFill>
              <a:srgbClr val="D3DCDA"/>
            </a:solidFill>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Barangay consolidates</a:t>
            </a:r>
          </a:p>
          <a:p xmlns:a="http://schemas.openxmlformats.org/drawingml/2006/main">
            <a:pPr algn="ctr">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verified Purok data</a:t>
            </a:r>
          </a:p>
        </p:txBody>
      </p:sp>
      <p:sp>
        <p:nvSpPr>
          <p:cNvPr id="13" name="">
            <a:extLst xmlns:a="http://schemas.openxmlformats.org/drawingml/2006/main">
              <a:ext uri="{FF2B5EF4-FFF2-40B4-BE49-F238E27FC236}">
                <a16:creationId xmlns:a16="http://schemas.microsoft.com/office/drawing/2014/main" id="{FE7840DC-2B0C-4E41-86CC-616F123E5823}"/>
              </a:ext>
            </a:extLst>
          </p:cNvPr>
          <p:cNvSpPr>
            <a:spLocks xmlns:a="http://schemas.openxmlformats.org/drawingml/2006/main" noGrp="1"/>
          </p:cNvSpPr>
          <p:nvPr/>
        </p:nvSpPr>
        <p:spPr>
          <a:xfrm xmlns:a="http://schemas.openxmlformats.org/drawingml/2006/main">
            <a:off x="1028700" y="4324350"/>
            <a:ext cx="2190750" cy="8382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14288">
            <a:solidFill>
              <a:srgbClr val="D3DCDA"/>
            </a:solidFill>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DRRM Administrator</a:t>
            </a:r>
          </a:p>
          <a:p xmlns:a="http://schemas.openxmlformats.org/drawingml/2006/main">
            <a:pPr algn="ctr">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verifies Barangay report</a:t>
            </a:r>
          </a:p>
        </p:txBody>
      </p:sp>
      <p:sp>
        <p:nvSpPr>
          <p:cNvPr id="14" name="">
            <a:extLst xmlns:a="http://schemas.openxmlformats.org/drawingml/2006/main">
              <a:ext uri="{FF2B5EF4-FFF2-40B4-BE49-F238E27FC236}">
                <a16:creationId xmlns:a16="http://schemas.microsoft.com/office/drawing/2014/main" id="{11A89B68-2881-40E7-B65D-A2DF6FDEF6AC}"/>
              </a:ext>
            </a:extLst>
          </p:cNvPr>
          <p:cNvSpPr>
            <a:spLocks xmlns:a="http://schemas.openxmlformats.org/drawingml/2006/main" noGrp="1"/>
          </p:cNvSpPr>
          <p:nvPr/>
        </p:nvSpPr>
        <p:spPr>
          <a:xfrm xmlns:a="http://schemas.openxmlformats.org/drawingml/2006/main">
            <a:off x="4171950" y="4324350"/>
            <a:ext cx="1219200" cy="838200"/>
          </a:xfrm>
          <a:prstGeom xmlns:a="http://schemas.openxmlformats.org/drawingml/2006/main" prst="diamond">
            <a:avLst/>
          </a:prstGeom>
          <a:solidFill xmlns:a="http://schemas.openxmlformats.org/drawingml/2006/main">
            <a:srgbClr val="E4EFEC"/>
          </a:solidFill>
          <a:ln xmlns:a="http://schemas.openxmlformats.org/drawingml/2006/main" w="14288">
            <a:solidFill>
              <a:srgbClr val="D3DCDA"/>
            </a:solidFill>
          </a:ln>
        </p:spPr>
        <p:txBody>
          <a:bodyPr xmlns:a="http://schemas.openxmlformats.org/drawingml/2006/main" wrap="square" lIns="47625" tIns="76200" rIns="47625" bIns="76200" anchor="ctr">
            <a:normAutofit fontScale="69603"/>
          </a:bodyPr>
          <a:lstStyle xmlns:a="http://schemas.openxmlformats.org/drawingml/2006/main"/>
          <a:p xmlns:a="http://schemas.openxmlformats.org/drawingml/2006/main">
            <a:pPr algn="ctr">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Accepted?</a:t>
            </a:r>
          </a:p>
        </p:txBody>
      </p:sp>
      <p:sp>
        <p:nvSpPr>
          <p:cNvPr id="15" name="">
            <a:extLst xmlns:a="http://schemas.openxmlformats.org/drawingml/2006/main">
              <a:ext uri="{FF2B5EF4-FFF2-40B4-BE49-F238E27FC236}">
                <a16:creationId xmlns:a16="http://schemas.microsoft.com/office/drawing/2014/main" id="{697E66DE-8D14-462D-BA79-9F590CD4431D}"/>
              </a:ext>
            </a:extLst>
          </p:cNvPr>
          <p:cNvSpPr>
            <a:spLocks xmlns:a="http://schemas.openxmlformats.org/drawingml/2006/main" noGrp="1"/>
          </p:cNvSpPr>
          <p:nvPr/>
        </p:nvSpPr>
        <p:spPr>
          <a:xfrm xmlns:a="http://schemas.openxmlformats.org/drawingml/2006/main">
            <a:off x="5953125" y="5191125"/>
            <a:ext cx="1809750" cy="647700"/>
          </a:xfrm>
          <a:prstGeom xmlns:a="http://schemas.openxmlformats.org/drawingml/2006/main" prst="roundRect">
            <a:avLst>
              <a:gd name="adj" fmla="val 11765"/>
            </a:avLst>
          </a:prstGeom>
          <a:solidFill xmlns:a="http://schemas.openxmlformats.org/drawingml/2006/main">
            <a:srgbClr val="F3EBDD"/>
          </a:solidFill>
          <a:ln xmlns:a="http://schemas.openxmlformats.org/drawingml/2006/main" w="14288">
            <a:solidFill>
              <a:srgbClr val="D3DCDA"/>
            </a:solidFill>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275" b="1">
                <a:solidFill>
                  <a:srgbClr val="252D30"/>
                </a:solidFill>
                <a:latin typeface="Source Sans 3"/>
                <a:ea typeface="Source Sans 3"/>
                <a:cs typeface="Source Sans 3"/>
              </a:defRPr>
            </a:pPr>
            <a:r>
              <a:rPr sz="1275" b="1">
                <a:solidFill>
                  <a:srgbClr val="252D30"/>
                </a:solidFill>
                <a:latin typeface="Source Sans 3"/>
                <a:ea typeface="Source Sans 3"/>
                <a:cs typeface="Source Sans 3"/>
              </a:rPr>
              <a:t>Return to Barangay</a:t>
            </a:r>
          </a:p>
          <a:p xmlns:a="http://schemas.openxmlformats.org/drawingml/2006/main">
            <a:pPr algn="ctr">
              <a:defRPr sz="1275" b="1">
                <a:solidFill>
                  <a:srgbClr val="252D30"/>
                </a:solidFill>
                <a:latin typeface="Source Sans 3"/>
                <a:ea typeface="Source Sans 3"/>
                <a:cs typeface="Source Sans 3"/>
              </a:defRPr>
            </a:pPr>
            <a:r>
              <a:rPr sz="1275" b="1">
                <a:solidFill>
                  <a:srgbClr val="252D30"/>
                </a:solidFill>
                <a:latin typeface="Source Sans 3"/>
                <a:ea typeface="Source Sans 3"/>
                <a:cs typeface="Source Sans 3"/>
              </a:rPr>
              <a:t>with reason</a:t>
            </a:r>
          </a:p>
        </p:txBody>
      </p:sp>
      <p:sp>
        <p:nvSpPr>
          <p:cNvPr id="16" name="">
            <a:extLst xmlns:a="http://schemas.openxmlformats.org/drawingml/2006/main">
              <a:ext uri="{FF2B5EF4-FFF2-40B4-BE49-F238E27FC236}">
                <a16:creationId xmlns:a16="http://schemas.microsoft.com/office/drawing/2014/main" id="{594D23B1-0A26-446F-9CF2-383F77627079}"/>
              </a:ext>
            </a:extLst>
          </p:cNvPr>
          <p:cNvSpPr>
            <a:spLocks xmlns:a="http://schemas.openxmlformats.org/drawingml/2006/main" noGrp="1"/>
          </p:cNvSpPr>
          <p:nvPr/>
        </p:nvSpPr>
        <p:spPr>
          <a:xfrm xmlns:a="http://schemas.openxmlformats.org/drawingml/2006/main">
            <a:off x="6667500" y="4324350"/>
            <a:ext cx="1809750" cy="8382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14288">
            <a:solidFill>
              <a:srgbClr val="D3DCDA"/>
            </a:solidFill>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Prepare and edit</a:t>
            </a:r>
          </a:p>
          <a:p xmlns:a="http://schemas.openxmlformats.org/drawingml/2006/main">
            <a:pPr algn="ctr">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SitRep draft</a:t>
            </a:r>
          </a:p>
        </p:txBody>
      </p:sp>
      <p:sp>
        <p:nvSpPr>
          <p:cNvPr id="17" name="">
            <a:extLst xmlns:a="http://schemas.openxmlformats.org/drawingml/2006/main">
              <a:ext uri="{FF2B5EF4-FFF2-40B4-BE49-F238E27FC236}">
                <a16:creationId xmlns:a16="http://schemas.microsoft.com/office/drawing/2014/main" id="{E62DE8F4-663E-48F7-9CC7-2D408D1E1B44}"/>
              </a:ext>
            </a:extLst>
          </p:cNvPr>
          <p:cNvSpPr>
            <a:spLocks xmlns:a="http://schemas.openxmlformats.org/drawingml/2006/main" noGrp="1"/>
          </p:cNvSpPr>
          <p:nvPr/>
        </p:nvSpPr>
        <p:spPr>
          <a:xfrm xmlns:a="http://schemas.openxmlformats.org/drawingml/2006/main">
            <a:off x="9239250" y="4324350"/>
            <a:ext cx="2143125" cy="838200"/>
          </a:xfrm>
          <a:prstGeom xmlns:a="http://schemas.openxmlformats.org/drawingml/2006/main" prst="roundRect">
            <a:avLst>
              <a:gd name="adj" fmla="val 9091"/>
            </a:avLst>
          </a:prstGeom>
          <a:solidFill xmlns:a="http://schemas.openxmlformats.org/drawingml/2006/main">
            <a:srgbClr val="E4EFEC"/>
          </a:solidFill>
          <a:ln xmlns:a="http://schemas.openxmlformats.org/drawingml/2006/main" w="14288">
            <a:solidFill>
              <a:srgbClr val="D3DCDA"/>
            </a:solidFill>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Authorized review,</a:t>
            </a:r>
          </a:p>
          <a:p xmlns:a="http://schemas.openxmlformats.org/drawingml/2006/main">
            <a:pPr algn="ctr">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approval and export</a:t>
            </a:r>
          </a:p>
        </p:txBody>
      </p:sp>
      <p:cxnSp>
        <p:nvCxnSpPr>
          <p:cNvPr id="49" name=""/>
          <p:cNvCxnSpPr>
            <a:stCxn xmlns:a="http://schemas.openxmlformats.org/drawingml/2006/main" id="7" idx="4"/>
            <a:endCxn xmlns:a="http://schemas.openxmlformats.org/drawingml/2006/main" id="8" idx="0"/>
          </p:cNvCxnSpPr>
          <p:nvPr/>
        </p:nvCxnSpPr>
        <p:spPr>
          <a:xfrm xmlns:a="http://schemas.openxmlformats.org/drawingml/2006/main" flipH="1">
            <a:off x="1952625" y="1752600"/>
            <a:ext cx="4048125" cy="495300"/>
          </a:xfrm>
          <a:prstGeom xmlns:a="http://schemas.openxmlformats.org/drawingml/2006/main" prst="bentConnector4">
            <a:avLst>
              <a:gd name="adj1" fmla="val 0"/>
              <a:gd name="adj2" fmla="val 50000"/>
            </a:avLst>
          </a:prstGeom>
          <a:ln xmlns:a="http://schemas.openxmlformats.org/drawingml/2006/main" w="19050">
            <a:solidFill>
              <a:srgbClr val="276E6B"/>
            </a:solidFill>
            <a:prstDash val="solid"/>
            <a:tailEnd type="arrow" w="sm" len="sm"/>
          </a:ln>
        </p:spPr>
      </p:cxnSp>
      <p:cxnSp>
        <p:nvCxnSpPr>
          <p:cNvPr id="50" name=""/>
          <p:cNvCxnSpPr>
            <a:stCxn xmlns:a="http://schemas.openxmlformats.org/drawingml/2006/main" id="8" idx="3"/>
            <a:endCxn xmlns:a="http://schemas.openxmlformats.org/drawingml/2006/main" id="9" idx="1"/>
          </p:cNvCxnSpPr>
          <p:nvPr/>
        </p:nvCxnSpPr>
        <p:spPr>
          <a:xfrm xmlns:a="http://schemas.openxmlformats.org/drawingml/2006/main">
            <a:off x="3048000" y="2667000"/>
            <a:ext cx="619125" cy="0"/>
          </a:xfrm>
          <a:prstGeom xmlns:a="http://schemas.openxmlformats.org/drawingml/2006/main" prst="straightConnector1">
            <a:avLst/>
          </a:prstGeom>
          <a:ln xmlns:a="http://schemas.openxmlformats.org/drawingml/2006/main" w="19050">
            <a:solidFill>
              <a:srgbClr val="276E6B"/>
            </a:solidFill>
            <a:prstDash val="solid"/>
            <a:tailEnd type="arrow" w="sm" len="sm"/>
          </a:ln>
        </p:spPr>
      </p:cxnSp>
      <p:cxnSp>
        <p:nvCxnSpPr>
          <p:cNvPr id="51" name=""/>
          <p:cNvCxnSpPr>
            <a:stCxn xmlns:a="http://schemas.openxmlformats.org/drawingml/2006/main" id="9" idx="3"/>
            <a:endCxn xmlns:a="http://schemas.openxmlformats.org/drawingml/2006/main" id="10" idx="1"/>
          </p:cNvCxnSpPr>
          <p:nvPr/>
        </p:nvCxnSpPr>
        <p:spPr>
          <a:xfrm xmlns:a="http://schemas.openxmlformats.org/drawingml/2006/main">
            <a:off x="5762625" y="2667000"/>
            <a:ext cx="571500" cy="0"/>
          </a:xfrm>
          <a:prstGeom xmlns:a="http://schemas.openxmlformats.org/drawingml/2006/main" prst="straightConnector1">
            <a:avLst/>
          </a:prstGeom>
          <a:ln xmlns:a="http://schemas.openxmlformats.org/drawingml/2006/main" w="19050">
            <a:solidFill>
              <a:srgbClr val="276E6B"/>
            </a:solidFill>
            <a:prstDash val="solid"/>
            <a:tailEnd type="arrow" w="sm" len="sm"/>
          </a:ln>
        </p:spPr>
      </p:cxnSp>
      <p:cxnSp>
        <p:nvCxnSpPr>
          <p:cNvPr id="52" name=""/>
          <p:cNvCxnSpPr>
            <a:stCxn xmlns:a="http://schemas.openxmlformats.org/drawingml/2006/main" id="10" idx="3"/>
            <a:endCxn xmlns:a="http://schemas.openxmlformats.org/drawingml/2006/main" id="12" idx="1"/>
          </p:cNvCxnSpPr>
          <p:nvPr/>
        </p:nvCxnSpPr>
        <p:spPr>
          <a:xfrm xmlns:a="http://schemas.openxmlformats.org/drawingml/2006/main">
            <a:off x="7553325" y="2667000"/>
            <a:ext cx="685800" cy="0"/>
          </a:xfrm>
          <a:prstGeom xmlns:a="http://schemas.openxmlformats.org/drawingml/2006/main" prst="straightConnector1">
            <a:avLst/>
          </a:prstGeom>
          <a:ln xmlns:a="http://schemas.openxmlformats.org/drawingml/2006/main" w="19050">
            <a:solidFill>
              <a:srgbClr val="276E6B"/>
            </a:solidFill>
            <a:prstDash val="solid"/>
            <a:tailEnd type="arrow" w="sm" len="sm"/>
          </a:ln>
        </p:spPr>
      </p:cxnSp>
      <p:cxnSp>
        <p:nvCxnSpPr>
          <p:cNvPr id="53" name=""/>
          <p:cNvCxnSpPr>
            <a:stCxn xmlns:a="http://schemas.openxmlformats.org/drawingml/2006/main" id="10" idx="2"/>
            <a:endCxn xmlns:a="http://schemas.openxmlformats.org/drawingml/2006/main" id="11" idx="0"/>
          </p:cNvCxnSpPr>
          <p:nvPr/>
        </p:nvCxnSpPr>
        <p:spPr>
          <a:xfrm xmlns:a="http://schemas.openxmlformats.org/drawingml/2006/main">
            <a:off x="6943725" y="3086100"/>
            <a:ext cx="2095500" cy="342900"/>
          </a:xfrm>
          <a:prstGeom xmlns:a="http://schemas.openxmlformats.org/drawingml/2006/main" prst="bentConnector4">
            <a:avLst>
              <a:gd name="adj1" fmla="val 0"/>
              <a:gd name="adj2" fmla="val 50000"/>
            </a:avLst>
          </a:prstGeom>
          <a:ln xmlns:a="http://schemas.openxmlformats.org/drawingml/2006/main" w="19050">
            <a:solidFill>
              <a:srgbClr val="A9782A"/>
            </a:solidFill>
            <a:prstDash val="solid"/>
            <a:tailEnd type="arrow" w="sm" len="sm"/>
          </a:ln>
        </p:spPr>
      </p:cxnSp>
      <p:cxnSp>
        <p:nvCxnSpPr>
          <p:cNvPr id="54" name=""/>
          <p:cNvCxnSpPr>
            <a:stCxn xmlns:a="http://schemas.openxmlformats.org/drawingml/2006/main" id="12" idx="2"/>
            <a:endCxn xmlns:a="http://schemas.openxmlformats.org/drawingml/2006/main" id="13" idx="0"/>
          </p:cNvCxnSpPr>
          <p:nvPr/>
        </p:nvCxnSpPr>
        <p:spPr>
          <a:xfrm xmlns:a="http://schemas.openxmlformats.org/drawingml/2006/main" flipH="1">
            <a:off x="2124075" y="3086100"/>
            <a:ext cx="7019925" cy="1238250"/>
          </a:xfrm>
          <a:prstGeom xmlns:a="http://schemas.openxmlformats.org/drawingml/2006/main" prst="bentConnector4">
            <a:avLst>
              <a:gd name="adj1" fmla="val 0"/>
              <a:gd name="adj2" fmla="val 18462"/>
            </a:avLst>
          </a:prstGeom>
          <a:ln xmlns:a="http://schemas.openxmlformats.org/drawingml/2006/main" w="19050">
            <a:solidFill>
              <a:srgbClr val="276E6B"/>
            </a:solidFill>
            <a:prstDash val="solid"/>
            <a:tailEnd type="arrow" w="sm" len="sm"/>
          </a:ln>
        </p:spPr>
      </p:cxnSp>
      <p:cxnSp>
        <p:nvCxnSpPr>
          <p:cNvPr id="55" name=""/>
          <p:cNvCxnSpPr>
            <a:stCxn xmlns:a="http://schemas.openxmlformats.org/drawingml/2006/main" id="13" idx="3"/>
            <a:endCxn xmlns:a="http://schemas.openxmlformats.org/drawingml/2006/main" id="14" idx="1"/>
          </p:cNvCxnSpPr>
          <p:nvPr/>
        </p:nvCxnSpPr>
        <p:spPr>
          <a:xfrm xmlns:a="http://schemas.openxmlformats.org/drawingml/2006/main">
            <a:off x="3219450" y="4743450"/>
            <a:ext cx="952500" cy="0"/>
          </a:xfrm>
          <a:prstGeom xmlns:a="http://schemas.openxmlformats.org/drawingml/2006/main" prst="straightConnector1">
            <a:avLst/>
          </a:prstGeom>
          <a:ln xmlns:a="http://schemas.openxmlformats.org/drawingml/2006/main" w="19050">
            <a:solidFill>
              <a:srgbClr val="276E6B"/>
            </a:solidFill>
            <a:prstDash val="solid"/>
            <a:tailEnd type="arrow" w="sm" len="sm"/>
          </a:ln>
        </p:spPr>
      </p:cxnSp>
      <p:cxnSp>
        <p:nvCxnSpPr>
          <p:cNvPr id="56" name=""/>
          <p:cNvCxnSpPr>
            <a:stCxn xmlns:a="http://schemas.openxmlformats.org/drawingml/2006/main" id="14" idx="3"/>
            <a:endCxn xmlns:a="http://schemas.openxmlformats.org/drawingml/2006/main" id="16" idx="1"/>
          </p:cNvCxnSpPr>
          <p:nvPr/>
        </p:nvCxnSpPr>
        <p:spPr>
          <a:xfrm xmlns:a="http://schemas.openxmlformats.org/drawingml/2006/main">
            <a:off x="5391150" y="4743450"/>
            <a:ext cx="1276350" cy="0"/>
          </a:xfrm>
          <a:prstGeom xmlns:a="http://schemas.openxmlformats.org/drawingml/2006/main" prst="straightConnector1">
            <a:avLst/>
          </a:prstGeom>
          <a:ln xmlns:a="http://schemas.openxmlformats.org/drawingml/2006/main" w="19050">
            <a:solidFill>
              <a:srgbClr val="276E6B"/>
            </a:solidFill>
            <a:prstDash val="solid"/>
            <a:tailEnd type="arrow" w="sm" len="sm"/>
          </a:ln>
        </p:spPr>
      </p:cxnSp>
      <p:cxnSp>
        <p:nvCxnSpPr>
          <p:cNvPr id="57" name=""/>
          <p:cNvCxnSpPr>
            <a:stCxn xmlns:a="http://schemas.openxmlformats.org/drawingml/2006/main" id="14" idx="2"/>
            <a:endCxn xmlns:a="http://schemas.openxmlformats.org/drawingml/2006/main" id="15" idx="0"/>
          </p:cNvCxnSpPr>
          <p:nvPr/>
        </p:nvCxnSpPr>
        <p:spPr>
          <a:xfrm xmlns:a="http://schemas.openxmlformats.org/drawingml/2006/main">
            <a:off x="4781550" y="5162550"/>
            <a:ext cx="2076450" cy="28575"/>
          </a:xfrm>
          <a:prstGeom xmlns:a="http://schemas.openxmlformats.org/drawingml/2006/main" prst="bentConnector4">
            <a:avLst>
              <a:gd name="adj1" fmla="val 0"/>
              <a:gd name="adj2" fmla="val 50000"/>
            </a:avLst>
          </a:prstGeom>
          <a:ln xmlns:a="http://schemas.openxmlformats.org/drawingml/2006/main" w="19050">
            <a:solidFill>
              <a:srgbClr val="A9782A"/>
            </a:solidFill>
            <a:prstDash val="solid"/>
            <a:tailEnd type="arrow" w="sm" len="sm"/>
          </a:ln>
        </p:spPr>
      </p:cxnSp>
      <p:cxnSp>
        <p:nvCxnSpPr>
          <p:cNvPr id="58" name=""/>
          <p:cNvCxnSpPr>
            <a:stCxn xmlns:a="http://schemas.openxmlformats.org/drawingml/2006/main" id="16" idx="3"/>
            <a:endCxn xmlns:a="http://schemas.openxmlformats.org/drawingml/2006/main" id="17" idx="1"/>
          </p:cNvCxnSpPr>
          <p:nvPr/>
        </p:nvCxnSpPr>
        <p:spPr>
          <a:xfrm xmlns:a="http://schemas.openxmlformats.org/drawingml/2006/main">
            <a:off x="8477250" y="4743450"/>
            <a:ext cx="762000" cy="0"/>
          </a:xfrm>
          <a:prstGeom xmlns:a="http://schemas.openxmlformats.org/drawingml/2006/main" prst="straightConnector1">
            <a:avLst/>
          </a:prstGeom>
          <a:ln xmlns:a="http://schemas.openxmlformats.org/drawingml/2006/main" w="19050">
            <a:solidFill>
              <a:srgbClr val="276E6B"/>
            </a:solidFill>
            <a:prstDash val="solid"/>
            <a:tailEnd type="arrow" w="sm" len="sm"/>
          </a:ln>
        </p:spPr>
      </p:cxnSp>
      <p:sp>
        <p:nvSpPr>
          <p:cNvPr id="28" name="">
            <a:extLst xmlns:a="http://schemas.openxmlformats.org/drawingml/2006/main">
              <a:ext uri="{FF2B5EF4-FFF2-40B4-BE49-F238E27FC236}">
                <a16:creationId xmlns:a16="http://schemas.microsoft.com/office/drawing/2014/main" id="{62F49B9F-B8AB-4690-9176-BF024D7FDC26}"/>
              </a:ext>
            </a:extLst>
          </p:cNvPr>
          <p:cNvSpPr>
            <a:spLocks xmlns:a="http://schemas.openxmlformats.org/drawingml/2006/main" noGrp="1"/>
          </p:cNvSpPr>
          <p:nvPr/>
        </p:nvSpPr>
        <p:spPr>
          <a:xfrm xmlns:a="http://schemas.openxmlformats.org/drawingml/2006/main">
            <a:off x="7639050" y="24574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050" b="1">
                <a:solidFill>
                  <a:srgbClr val="276E6B"/>
                </a:solidFill>
                <a:latin typeface="Source Sans 3"/>
                <a:ea typeface="Source Sans 3"/>
                <a:cs typeface="Source Sans 3"/>
              </a:defRPr>
            </a:pPr>
            <a:r>
              <a:rPr sz="1050" b="1">
                <a:solidFill>
                  <a:srgbClr val="276E6B"/>
                </a:solidFill>
                <a:latin typeface="Source Sans 3"/>
                <a:ea typeface="Source Sans 3"/>
                <a:cs typeface="Source Sans 3"/>
              </a:rPr>
              <a:t>YES</a:t>
            </a:r>
          </a:p>
        </p:txBody>
      </p:sp>
      <p:sp>
        <p:nvSpPr>
          <p:cNvPr id="29" name="">
            <a:extLst xmlns:a="http://schemas.openxmlformats.org/drawingml/2006/main">
              <a:ext uri="{FF2B5EF4-FFF2-40B4-BE49-F238E27FC236}">
                <a16:creationId xmlns:a16="http://schemas.microsoft.com/office/drawing/2014/main" id="{878491BD-5800-4E56-846E-7F5AE83CC048}"/>
              </a:ext>
            </a:extLst>
          </p:cNvPr>
          <p:cNvSpPr>
            <a:spLocks xmlns:a="http://schemas.openxmlformats.org/drawingml/2006/main" noGrp="1"/>
          </p:cNvSpPr>
          <p:nvPr/>
        </p:nvSpPr>
        <p:spPr>
          <a:xfrm xmlns:a="http://schemas.openxmlformats.org/drawingml/2006/main">
            <a:off x="7353300" y="3095625"/>
            <a:ext cx="666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050" b="1">
                <a:solidFill>
                  <a:srgbClr val="A9782A"/>
                </a:solidFill>
                <a:latin typeface="Source Sans 3"/>
                <a:ea typeface="Source Sans 3"/>
                <a:cs typeface="Source Sans 3"/>
              </a:defRPr>
            </a:pPr>
            <a:r>
              <a:rPr sz="1050" b="1">
                <a:solidFill>
                  <a:srgbClr val="A9782A"/>
                </a:solidFill>
                <a:latin typeface="Source Sans 3"/>
                <a:ea typeface="Source Sans 3"/>
                <a:cs typeface="Source Sans 3"/>
              </a:rPr>
              <a:t>RETURN</a:t>
            </a:r>
          </a:p>
        </p:txBody>
      </p:sp>
      <p:sp>
        <p:nvSpPr>
          <p:cNvPr id="30" name="">
            <a:extLst xmlns:a="http://schemas.openxmlformats.org/drawingml/2006/main">
              <a:ext uri="{FF2B5EF4-FFF2-40B4-BE49-F238E27FC236}">
                <a16:creationId xmlns:a16="http://schemas.microsoft.com/office/drawing/2014/main" id="{39139892-32FA-4C23-9E7A-3B0CAD411FDC}"/>
              </a:ext>
            </a:extLst>
          </p:cNvPr>
          <p:cNvSpPr>
            <a:spLocks xmlns:a="http://schemas.openxmlformats.org/drawingml/2006/main" noGrp="1"/>
          </p:cNvSpPr>
          <p:nvPr/>
        </p:nvSpPr>
        <p:spPr>
          <a:xfrm xmlns:a="http://schemas.openxmlformats.org/drawingml/2006/main">
            <a:off x="5476875" y="446722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050" b="1">
                <a:solidFill>
                  <a:srgbClr val="276E6B"/>
                </a:solidFill>
                <a:latin typeface="Source Sans 3"/>
                <a:ea typeface="Source Sans 3"/>
                <a:cs typeface="Source Sans 3"/>
              </a:defRPr>
            </a:pPr>
            <a:r>
              <a:rPr sz="1050" b="1">
                <a:solidFill>
                  <a:srgbClr val="276E6B"/>
                </a:solidFill>
                <a:latin typeface="Source Sans 3"/>
                <a:ea typeface="Source Sans 3"/>
                <a:cs typeface="Source Sans 3"/>
              </a:rPr>
              <a:t>YES</a:t>
            </a:r>
          </a:p>
        </p:txBody>
      </p:sp>
      <p:sp>
        <p:nvSpPr>
          <p:cNvPr id="31" name="">
            <a:extLst xmlns:a="http://schemas.openxmlformats.org/drawingml/2006/main">
              <a:ext uri="{FF2B5EF4-FFF2-40B4-BE49-F238E27FC236}">
                <a16:creationId xmlns:a16="http://schemas.microsoft.com/office/drawing/2014/main" id="{FC5D6CAC-120D-46B9-9B63-314CE78A8768}"/>
              </a:ext>
            </a:extLst>
          </p:cNvPr>
          <p:cNvSpPr>
            <a:spLocks xmlns:a="http://schemas.openxmlformats.org/drawingml/2006/main" noGrp="1"/>
          </p:cNvSpPr>
          <p:nvPr/>
        </p:nvSpPr>
        <p:spPr>
          <a:xfrm xmlns:a="http://schemas.openxmlformats.org/drawingml/2006/main">
            <a:off x="4705350" y="5133975"/>
            <a:ext cx="781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95238"/>
          </a:bodyPr>
          <a:lstStyle xmlns:a="http://schemas.openxmlformats.org/drawingml/2006/main"/>
          <a:p xmlns:a="http://schemas.openxmlformats.org/drawingml/2006/main">
            <a:pPr algn="ctr">
              <a:defRPr sz="1050" b="1">
                <a:solidFill>
                  <a:srgbClr val="A9782A"/>
                </a:solidFill>
                <a:latin typeface="Source Sans 3"/>
                <a:ea typeface="Source Sans 3"/>
                <a:cs typeface="Source Sans 3"/>
              </a:defRPr>
            </a:pPr>
            <a:r>
              <a:rPr sz="1050" b="1">
                <a:solidFill>
                  <a:srgbClr val="A9782A"/>
                </a:solidFill>
                <a:latin typeface="Source Sans 3"/>
                <a:ea typeface="Source Sans 3"/>
                <a:cs typeface="Source Sans 3"/>
              </a:rPr>
              <a:t>RETURN</a:t>
            </a:r>
          </a:p>
        </p:txBody>
      </p:sp>
    </p:spTree>
    <p:extLst>
      <p:ext uri="{BB962C8B-B14F-4D97-AF65-F5344CB8AC3E}">
        <p14:creationId xmlns:p14="http://schemas.microsoft.com/office/powerpoint/2010/main" val="194671735"/>
      </p:ext>
    </p:extLst>
  </p:cSld>
</p:sld>
</file>

<file path=ppt/slides/slide13.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62" name="">
            <a:extLst xmlns:a="http://schemas.openxmlformats.org/drawingml/2006/main">
              <a:ext uri="{FF2B5EF4-FFF2-40B4-BE49-F238E27FC236}">
                <a16:creationId xmlns:a16="http://schemas.microsoft.com/office/drawing/2014/main" id="{810E1A54-033C-48DE-8BEC-E80A858B1B8C}"/>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667E420-58FC-41E4-8107-92D2A18082DF}"/>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PROPOSED SYSTEM MODULES: OVERVIEW</a:t>
            </a:r>
          </a:p>
        </p:txBody>
      </p:sp>
      <p:sp>
        <p:nvSpPr>
          <p:cNvPr id="3" name="">
            <a:extLst xmlns:a="http://schemas.openxmlformats.org/drawingml/2006/main">
              <a:ext uri="{FF2B5EF4-FFF2-40B4-BE49-F238E27FC236}">
                <a16:creationId xmlns:a16="http://schemas.microsoft.com/office/drawing/2014/main" id="{E6F9E88D-555A-4830-9BDF-76F6DD23CC6C}"/>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Modules remain separate by reporting level</a:t>
            </a:r>
          </a:p>
        </p:txBody>
      </p:sp>
      <p:sp>
        <p:nvSpPr>
          <p:cNvPr id="4" name="">
            <a:extLst xmlns:a="http://schemas.openxmlformats.org/drawingml/2006/main">
              <a:ext uri="{FF2B5EF4-FFF2-40B4-BE49-F238E27FC236}">
                <a16:creationId xmlns:a16="http://schemas.microsoft.com/office/drawing/2014/main" id="{1AE72F29-1FEC-46D7-8491-8F73910B6348}"/>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28EBFE42-EFFF-4AF2-8748-6E72B5C91C4B}"/>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Specific Objectives and Table 3</a:t>
            </a:r>
          </a:p>
        </p:txBody>
      </p:sp>
      <p:sp>
        <p:nvSpPr>
          <p:cNvPr id="6" name="">
            <a:extLst xmlns:a="http://schemas.openxmlformats.org/drawingml/2006/main">
              <a:ext uri="{FF2B5EF4-FFF2-40B4-BE49-F238E27FC236}">
                <a16:creationId xmlns:a16="http://schemas.microsoft.com/office/drawing/2014/main" id="{D4DD2765-FF1E-4674-8F25-F62DB8303F27}"/>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13</a:t>
            </a:r>
          </a:p>
        </p:txBody>
      </p:sp>
      <p:sp>
        <p:nvSpPr>
          <p:cNvPr id="7" name="">
            <a:extLst xmlns:a="http://schemas.openxmlformats.org/drawingml/2006/main">
              <a:ext uri="{FF2B5EF4-FFF2-40B4-BE49-F238E27FC236}">
                <a16:creationId xmlns:a16="http://schemas.microsoft.com/office/drawing/2014/main" id="{970D1666-C12E-4C23-B9A6-1F5A7C86F01E}"/>
              </a:ext>
            </a:extLst>
          </p:cNvPr>
          <p:cNvSpPr>
            <a:spLocks xmlns:a="http://schemas.openxmlformats.org/drawingml/2006/main" noGrp="1"/>
          </p:cNvSpPr>
          <p:nvPr/>
        </p:nvSpPr>
        <p:spPr>
          <a:xfrm xmlns:a="http://schemas.openxmlformats.org/drawingml/2006/main">
            <a:off x="914400" y="1400175"/>
            <a:ext cx="3219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PUROK</a:t>
            </a:r>
          </a:p>
        </p:txBody>
      </p:sp>
      <p:sp>
        <p:nvSpPr>
          <p:cNvPr id="8" name="">
            <a:extLst xmlns:a="http://schemas.openxmlformats.org/drawingml/2006/main">
              <a:ext uri="{FF2B5EF4-FFF2-40B4-BE49-F238E27FC236}">
                <a16:creationId xmlns:a16="http://schemas.microsoft.com/office/drawing/2014/main" id="{5259C918-FF17-46B3-9762-0A68A51E758E}"/>
              </a:ext>
            </a:extLst>
          </p:cNvPr>
          <p:cNvSpPr>
            <a:spLocks xmlns:a="http://schemas.openxmlformats.org/drawingml/2006/main" noGrp="1"/>
          </p:cNvSpPr>
          <p:nvPr/>
        </p:nvSpPr>
        <p:spPr>
          <a:xfrm xmlns:a="http://schemas.openxmlformats.org/drawingml/2006/main">
            <a:off x="914400" y="1762125"/>
            <a:ext cx="3105150" cy="0"/>
          </a:xfrm>
          <a:prstGeom xmlns:a="http://schemas.openxmlformats.org/drawingml/2006/main" prst="line">
            <a:avLst/>
          </a:prstGeom>
          <a:noFill xmlns:a="http://schemas.openxmlformats.org/drawingml/2006/main"/>
          <a:ln xmlns:a="http://schemas.openxmlformats.org/drawingml/2006/main" w="19050">
            <a:solidFill>
              <a:srgbClr val="276E6B"/>
            </a:solidFill>
          </a:ln>
        </p:spPr>
      </p:sp>
      <p:sp>
        <p:nvSpPr>
          <p:cNvPr id="9" name="">
            <a:extLst xmlns:a="http://schemas.openxmlformats.org/drawingml/2006/main">
              <a:ext uri="{FF2B5EF4-FFF2-40B4-BE49-F238E27FC236}">
                <a16:creationId xmlns:a16="http://schemas.microsoft.com/office/drawing/2014/main" id="{8B69985A-1F63-4817-A3E9-CD3CE2D4FF68}"/>
              </a:ext>
            </a:extLst>
          </p:cNvPr>
          <p:cNvSpPr>
            <a:spLocks xmlns:a="http://schemas.openxmlformats.org/drawingml/2006/main" noGrp="1"/>
          </p:cNvSpPr>
          <p:nvPr/>
        </p:nvSpPr>
        <p:spPr>
          <a:xfrm xmlns:a="http://schemas.openxmlformats.org/drawingml/2006/main">
            <a:off x="914400" y="197167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01</a:t>
            </a:r>
          </a:p>
        </p:txBody>
      </p:sp>
      <p:sp>
        <p:nvSpPr>
          <p:cNvPr id="10" name="">
            <a:extLst xmlns:a="http://schemas.openxmlformats.org/drawingml/2006/main">
              <a:ext uri="{FF2B5EF4-FFF2-40B4-BE49-F238E27FC236}">
                <a16:creationId xmlns:a16="http://schemas.microsoft.com/office/drawing/2014/main" id="{FF002DF5-776B-45DE-97CF-FD6AB66BDB29}"/>
              </a:ext>
            </a:extLst>
          </p:cNvPr>
          <p:cNvSpPr>
            <a:spLocks xmlns:a="http://schemas.openxmlformats.org/drawingml/2006/main" noGrp="1"/>
          </p:cNvSpPr>
          <p:nvPr/>
        </p:nvSpPr>
        <p:spPr>
          <a:xfrm xmlns:a="http://schemas.openxmlformats.org/drawingml/2006/main">
            <a:off x="1371600" y="197167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Purok User Management</a:t>
            </a:r>
          </a:p>
        </p:txBody>
      </p:sp>
      <p:sp>
        <p:nvSpPr>
          <p:cNvPr id="11" name="">
            <a:extLst xmlns:a="http://schemas.openxmlformats.org/drawingml/2006/main">
              <a:ext uri="{FF2B5EF4-FFF2-40B4-BE49-F238E27FC236}">
                <a16:creationId xmlns:a16="http://schemas.microsoft.com/office/drawing/2014/main" id="{B75EA215-6BAC-4116-8380-FD73D778C338}"/>
              </a:ext>
            </a:extLst>
          </p:cNvPr>
          <p:cNvSpPr>
            <a:spLocks xmlns:a="http://schemas.openxmlformats.org/drawingml/2006/main" noGrp="1"/>
          </p:cNvSpPr>
          <p:nvPr/>
        </p:nvSpPr>
        <p:spPr>
          <a:xfrm xmlns:a="http://schemas.openxmlformats.org/drawingml/2006/main">
            <a:off x="1371600" y="2457450"/>
            <a:ext cx="264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2" name="">
            <a:extLst xmlns:a="http://schemas.openxmlformats.org/drawingml/2006/main">
              <a:ext uri="{FF2B5EF4-FFF2-40B4-BE49-F238E27FC236}">
                <a16:creationId xmlns:a16="http://schemas.microsoft.com/office/drawing/2014/main" id="{5DBA07A8-64D2-4583-99B5-26BE29688E52}"/>
              </a:ext>
            </a:extLst>
          </p:cNvPr>
          <p:cNvSpPr>
            <a:spLocks xmlns:a="http://schemas.openxmlformats.org/drawingml/2006/main" noGrp="1"/>
          </p:cNvSpPr>
          <p:nvPr/>
        </p:nvSpPr>
        <p:spPr>
          <a:xfrm xmlns:a="http://schemas.openxmlformats.org/drawingml/2006/main">
            <a:off x="914400" y="252412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02</a:t>
            </a:r>
          </a:p>
        </p:txBody>
      </p:sp>
      <p:sp>
        <p:nvSpPr>
          <p:cNvPr id="13" name="">
            <a:extLst xmlns:a="http://schemas.openxmlformats.org/drawingml/2006/main">
              <a:ext uri="{FF2B5EF4-FFF2-40B4-BE49-F238E27FC236}">
                <a16:creationId xmlns:a16="http://schemas.microsoft.com/office/drawing/2014/main" id="{C89287DD-C8D7-47BD-AB6F-12F1583B97CC}"/>
              </a:ext>
            </a:extLst>
          </p:cNvPr>
          <p:cNvSpPr>
            <a:spLocks xmlns:a="http://schemas.openxmlformats.org/drawingml/2006/main" noGrp="1"/>
          </p:cNvSpPr>
          <p:nvPr/>
        </p:nvSpPr>
        <p:spPr>
          <a:xfrm xmlns:a="http://schemas.openxmlformats.org/drawingml/2006/main">
            <a:off x="1371600" y="252412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Purok Profile Creation</a:t>
            </a:r>
          </a:p>
        </p:txBody>
      </p:sp>
      <p:sp>
        <p:nvSpPr>
          <p:cNvPr id="14" name="">
            <a:extLst xmlns:a="http://schemas.openxmlformats.org/drawingml/2006/main">
              <a:ext uri="{FF2B5EF4-FFF2-40B4-BE49-F238E27FC236}">
                <a16:creationId xmlns:a16="http://schemas.microsoft.com/office/drawing/2014/main" id="{8F594378-9558-454B-9E97-C26CD9475224}"/>
              </a:ext>
            </a:extLst>
          </p:cNvPr>
          <p:cNvSpPr>
            <a:spLocks xmlns:a="http://schemas.openxmlformats.org/drawingml/2006/main" noGrp="1"/>
          </p:cNvSpPr>
          <p:nvPr/>
        </p:nvSpPr>
        <p:spPr>
          <a:xfrm xmlns:a="http://schemas.openxmlformats.org/drawingml/2006/main">
            <a:off x="1371600" y="3009900"/>
            <a:ext cx="264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5" name="">
            <a:extLst xmlns:a="http://schemas.openxmlformats.org/drawingml/2006/main">
              <a:ext uri="{FF2B5EF4-FFF2-40B4-BE49-F238E27FC236}">
                <a16:creationId xmlns:a16="http://schemas.microsoft.com/office/drawing/2014/main" id="{44DADF35-0405-46DA-9AB4-4A9A3CA39AA8}"/>
              </a:ext>
            </a:extLst>
          </p:cNvPr>
          <p:cNvSpPr>
            <a:spLocks xmlns:a="http://schemas.openxmlformats.org/drawingml/2006/main" noGrp="1"/>
          </p:cNvSpPr>
          <p:nvPr/>
        </p:nvSpPr>
        <p:spPr>
          <a:xfrm xmlns:a="http://schemas.openxmlformats.org/drawingml/2006/main">
            <a:off x="914400" y="307657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03</a:t>
            </a:r>
          </a:p>
        </p:txBody>
      </p:sp>
      <p:sp>
        <p:nvSpPr>
          <p:cNvPr id="16" name="">
            <a:extLst xmlns:a="http://schemas.openxmlformats.org/drawingml/2006/main">
              <a:ext uri="{FF2B5EF4-FFF2-40B4-BE49-F238E27FC236}">
                <a16:creationId xmlns:a16="http://schemas.microsoft.com/office/drawing/2014/main" id="{4DD2816D-418B-4789-8620-5A8F7319F720}"/>
              </a:ext>
            </a:extLst>
          </p:cNvPr>
          <p:cNvSpPr>
            <a:spLocks xmlns:a="http://schemas.openxmlformats.org/drawingml/2006/main" noGrp="1"/>
          </p:cNvSpPr>
          <p:nvPr/>
        </p:nvSpPr>
        <p:spPr>
          <a:xfrm xmlns:a="http://schemas.openxmlformats.org/drawingml/2006/main">
            <a:off x="1371600" y="307657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Purok Profile Verification</a:t>
            </a:r>
          </a:p>
        </p:txBody>
      </p:sp>
      <p:sp>
        <p:nvSpPr>
          <p:cNvPr id="17" name="">
            <a:extLst xmlns:a="http://schemas.openxmlformats.org/drawingml/2006/main">
              <a:ext uri="{FF2B5EF4-FFF2-40B4-BE49-F238E27FC236}">
                <a16:creationId xmlns:a16="http://schemas.microsoft.com/office/drawing/2014/main" id="{92367079-D64E-4180-85B7-08D47D5833BF}"/>
              </a:ext>
            </a:extLst>
          </p:cNvPr>
          <p:cNvSpPr>
            <a:spLocks xmlns:a="http://schemas.openxmlformats.org/drawingml/2006/main" noGrp="1"/>
          </p:cNvSpPr>
          <p:nvPr/>
        </p:nvSpPr>
        <p:spPr>
          <a:xfrm xmlns:a="http://schemas.openxmlformats.org/drawingml/2006/main">
            <a:off x="1371600" y="3562350"/>
            <a:ext cx="264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8" name="">
            <a:extLst xmlns:a="http://schemas.openxmlformats.org/drawingml/2006/main">
              <a:ext uri="{FF2B5EF4-FFF2-40B4-BE49-F238E27FC236}">
                <a16:creationId xmlns:a16="http://schemas.microsoft.com/office/drawing/2014/main" id="{42CABDDB-2090-46F2-B66B-45CB5F16C72A}"/>
              </a:ext>
            </a:extLst>
          </p:cNvPr>
          <p:cNvSpPr>
            <a:spLocks xmlns:a="http://schemas.openxmlformats.org/drawingml/2006/main" noGrp="1"/>
          </p:cNvSpPr>
          <p:nvPr/>
        </p:nvSpPr>
        <p:spPr>
          <a:xfrm xmlns:a="http://schemas.openxmlformats.org/drawingml/2006/main">
            <a:off x="914400" y="362902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04</a:t>
            </a:r>
          </a:p>
        </p:txBody>
      </p:sp>
      <p:sp>
        <p:nvSpPr>
          <p:cNvPr id="19" name="">
            <a:extLst xmlns:a="http://schemas.openxmlformats.org/drawingml/2006/main">
              <a:ext uri="{FF2B5EF4-FFF2-40B4-BE49-F238E27FC236}">
                <a16:creationId xmlns:a16="http://schemas.microsoft.com/office/drawing/2014/main" id="{3FEF3513-CC34-4B21-A9E0-BED69CBC5F6E}"/>
              </a:ext>
            </a:extLst>
          </p:cNvPr>
          <p:cNvSpPr>
            <a:spLocks xmlns:a="http://schemas.openxmlformats.org/drawingml/2006/main" noGrp="1"/>
          </p:cNvSpPr>
          <p:nvPr/>
        </p:nvSpPr>
        <p:spPr>
          <a:xfrm xmlns:a="http://schemas.openxmlformats.org/drawingml/2006/main">
            <a:off x="1371600" y="362902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Purok Incident Reporting</a:t>
            </a:r>
          </a:p>
        </p:txBody>
      </p:sp>
      <p:sp>
        <p:nvSpPr>
          <p:cNvPr id="20" name="">
            <a:extLst xmlns:a="http://schemas.openxmlformats.org/drawingml/2006/main">
              <a:ext uri="{FF2B5EF4-FFF2-40B4-BE49-F238E27FC236}">
                <a16:creationId xmlns:a16="http://schemas.microsoft.com/office/drawing/2014/main" id="{F7F21AC4-D85B-419D-BB5E-34638A12F9CC}"/>
              </a:ext>
            </a:extLst>
          </p:cNvPr>
          <p:cNvSpPr>
            <a:spLocks xmlns:a="http://schemas.openxmlformats.org/drawingml/2006/main" noGrp="1"/>
          </p:cNvSpPr>
          <p:nvPr/>
        </p:nvSpPr>
        <p:spPr>
          <a:xfrm xmlns:a="http://schemas.openxmlformats.org/drawingml/2006/main">
            <a:off x="1371600" y="4114800"/>
            <a:ext cx="264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1" name="">
            <a:extLst xmlns:a="http://schemas.openxmlformats.org/drawingml/2006/main">
              <a:ext uri="{FF2B5EF4-FFF2-40B4-BE49-F238E27FC236}">
                <a16:creationId xmlns:a16="http://schemas.microsoft.com/office/drawing/2014/main" id="{C7832FBE-420F-4B43-A816-7C6F692056CD}"/>
              </a:ext>
            </a:extLst>
          </p:cNvPr>
          <p:cNvSpPr>
            <a:spLocks xmlns:a="http://schemas.openxmlformats.org/drawingml/2006/main" noGrp="1"/>
          </p:cNvSpPr>
          <p:nvPr/>
        </p:nvSpPr>
        <p:spPr>
          <a:xfrm xmlns:a="http://schemas.openxmlformats.org/drawingml/2006/main">
            <a:off x="914400" y="418147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05</a:t>
            </a:r>
          </a:p>
        </p:txBody>
      </p:sp>
      <p:sp>
        <p:nvSpPr>
          <p:cNvPr id="22" name="">
            <a:extLst xmlns:a="http://schemas.openxmlformats.org/drawingml/2006/main">
              <a:ext uri="{FF2B5EF4-FFF2-40B4-BE49-F238E27FC236}">
                <a16:creationId xmlns:a16="http://schemas.microsoft.com/office/drawing/2014/main" id="{61C13AF7-7511-4D00-AA84-60A08CB18BF2}"/>
              </a:ext>
            </a:extLst>
          </p:cNvPr>
          <p:cNvSpPr>
            <a:spLocks xmlns:a="http://schemas.openxmlformats.org/drawingml/2006/main" noGrp="1"/>
          </p:cNvSpPr>
          <p:nvPr/>
        </p:nvSpPr>
        <p:spPr>
          <a:xfrm xmlns:a="http://schemas.openxmlformats.org/drawingml/2006/main">
            <a:off x="1371600" y="418147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Purok Incident Report Verification</a:t>
            </a:r>
          </a:p>
        </p:txBody>
      </p:sp>
      <p:sp>
        <p:nvSpPr>
          <p:cNvPr id="23" name="">
            <a:extLst xmlns:a="http://schemas.openxmlformats.org/drawingml/2006/main">
              <a:ext uri="{FF2B5EF4-FFF2-40B4-BE49-F238E27FC236}">
                <a16:creationId xmlns:a16="http://schemas.microsoft.com/office/drawing/2014/main" id="{EB20D46A-B8CB-4057-89FF-F78365ADDFB7}"/>
              </a:ext>
            </a:extLst>
          </p:cNvPr>
          <p:cNvSpPr>
            <a:spLocks xmlns:a="http://schemas.openxmlformats.org/drawingml/2006/main" noGrp="1"/>
          </p:cNvSpPr>
          <p:nvPr/>
        </p:nvSpPr>
        <p:spPr>
          <a:xfrm xmlns:a="http://schemas.openxmlformats.org/drawingml/2006/main">
            <a:off x="1371600" y="4667250"/>
            <a:ext cx="264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4" name="">
            <a:extLst xmlns:a="http://schemas.openxmlformats.org/drawingml/2006/main">
              <a:ext uri="{FF2B5EF4-FFF2-40B4-BE49-F238E27FC236}">
                <a16:creationId xmlns:a16="http://schemas.microsoft.com/office/drawing/2014/main" id="{2C70BB07-91FF-447F-830B-7CF0C599D7D2}"/>
              </a:ext>
            </a:extLst>
          </p:cNvPr>
          <p:cNvSpPr>
            <a:spLocks xmlns:a="http://schemas.openxmlformats.org/drawingml/2006/main" noGrp="1"/>
          </p:cNvSpPr>
          <p:nvPr/>
        </p:nvSpPr>
        <p:spPr>
          <a:xfrm xmlns:a="http://schemas.openxmlformats.org/drawingml/2006/main">
            <a:off x="914400" y="473392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06</a:t>
            </a:r>
          </a:p>
        </p:txBody>
      </p:sp>
      <p:sp>
        <p:nvSpPr>
          <p:cNvPr id="25" name="">
            <a:extLst xmlns:a="http://schemas.openxmlformats.org/drawingml/2006/main">
              <a:ext uri="{FF2B5EF4-FFF2-40B4-BE49-F238E27FC236}">
                <a16:creationId xmlns:a16="http://schemas.microsoft.com/office/drawing/2014/main" id="{DAE72F5E-94CB-4483-8652-88143C2328D7}"/>
              </a:ext>
            </a:extLst>
          </p:cNvPr>
          <p:cNvSpPr>
            <a:spLocks xmlns:a="http://schemas.openxmlformats.org/drawingml/2006/main" noGrp="1"/>
          </p:cNvSpPr>
          <p:nvPr/>
        </p:nvSpPr>
        <p:spPr>
          <a:xfrm xmlns:a="http://schemas.openxmlformats.org/drawingml/2006/main">
            <a:off x="1371600" y="473392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Purok Incident Report History</a:t>
            </a:r>
          </a:p>
        </p:txBody>
      </p:sp>
      <p:sp>
        <p:nvSpPr>
          <p:cNvPr id="26" name="">
            <a:extLst xmlns:a="http://schemas.openxmlformats.org/drawingml/2006/main">
              <a:ext uri="{FF2B5EF4-FFF2-40B4-BE49-F238E27FC236}">
                <a16:creationId xmlns:a16="http://schemas.microsoft.com/office/drawing/2014/main" id="{5EF91EE8-702D-4878-BAE1-82F9F56C46FE}"/>
              </a:ext>
            </a:extLst>
          </p:cNvPr>
          <p:cNvSpPr>
            <a:spLocks xmlns:a="http://schemas.openxmlformats.org/drawingml/2006/main" noGrp="1"/>
          </p:cNvSpPr>
          <p:nvPr/>
        </p:nvSpPr>
        <p:spPr>
          <a:xfrm xmlns:a="http://schemas.openxmlformats.org/drawingml/2006/main">
            <a:off x="4486275" y="1400175"/>
            <a:ext cx="3219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BARANGAY</a:t>
            </a:r>
          </a:p>
        </p:txBody>
      </p:sp>
      <p:sp>
        <p:nvSpPr>
          <p:cNvPr id="27" name="">
            <a:extLst xmlns:a="http://schemas.openxmlformats.org/drawingml/2006/main">
              <a:ext uri="{FF2B5EF4-FFF2-40B4-BE49-F238E27FC236}">
                <a16:creationId xmlns:a16="http://schemas.microsoft.com/office/drawing/2014/main" id="{68238213-AD11-4413-A42F-96777D43775B}"/>
              </a:ext>
            </a:extLst>
          </p:cNvPr>
          <p:cNvSpPr>
            <a:spLocks xmlns:a="http://schemas.openxmlformats.org/drawingml/2006/main" noGrp="1"/>
          </p:cNvSpPr>
          <p:nvPr/>
        </p:nvSpPr>
        <p:spPr>
          <a:xfrm xmlns:a="http://schemas.openxmlformats.org/drawingml/2006/main">
            <a:off x="4486275" y="1762125"/>
            <a:ext cx="3105150" cy="0"/>
          </a:xfrm>
          <a:prstGeom xmlns:a="http://schemas.openxmlformats.org/drawingml/2006/main" prst="line">
            <a:avLst/>
          </a:prstGeom>
          <a:noFill xmlns:a="http://schemas.openxmlformats.org/drawingml/2006/main"/>
          <a:ln xmlns:a="http://schemas.openxmlformats.org/drawingml/2006/main" w="19050">
            <a:solidFill>
              <a:srgbClr val="276E6B"/>
            </a:solidFill>
          </a:ln>
        </p:spPr>
      </p:sp>
      <p:sp>
        <p:nvSpPr>
          <p:cNvPr id="28" name="">
            <a:extLst xmlns:a="http://schemas.openxmlformats.org/drawingml/2006/main">
              <a:ext uri="{FF2B5EF4-FFF2-40B4-BE49-F238E27FC236}">
                <a16:creationId xmlns:a16="http://schemas.microsoft.com/office/drawing/2014/main" id="{D0870A18-D61D-4CB5-A459-A7350C95EBE0}"/>
              </a:ext>
            </a:extLst>
          </p:cNvPr>
          <p:cNvSpPr>
            <a:spLocks xmlns:a="http://schemas.openxmlformats.org/drawingml/2006/main" noGrp="1"/>
          </p:cNvSpPr>
          <p:nvPr/>
        </p:nvSpPr>
        <p:spPr>
          <a:xfrm xmlns:a="http://schemas.openxmlformats.org/drawingml/2006/main">
            <a:off x="4486275" y="197167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01</a:t>
            </a:r>
          </a:p>
        </p:txBody>
      </p:sp>
      <p:sp>
        <p:nvSpPr>
          <p:cNvPr id="29" name="">
            <a:extLst xmlns:a="http://schemas.openxmlformats.org/drawingml/2006/main">
              <a:ext uri="{FF2B5EF4-FFF2-40B4-BE49-F238E27FC236}">
                <a16:creationId xmlns:a16="http://schemas.microsoft.com/office/drawing/2014/main" id="{9BD8D563-0D4C-4179-BAC0-669D1E277090}"/>
              </a:ext>
            </a:extLst>
          </p:cNvPr>
          <p:cNvSpPr>
            <a:spLocks xmlns:a="http://schemas.openxmlformats.org/drawingml/2006/main" noGrp="1"/>
          </p:cNvSpPr>
          <p:nvPr/>
        </p:nvSpPr>
        <p:spPr>
          <a:xfrm xmlns:a="http://schemas.openxmlformats.org/drawingml/2006/main">
            <a:off x="4943475" y="197167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Barangay User Management</a:t>
            </a:r>
          </a:p>
        </p:txBody>
      </p:sp>
      <p:sp>
        <p:nvSpPr>
          <p:cNvPr id="30" name="">
            <a:extLst xmlns:a="http://schemas.openxmlformats.org/drawingml/2006/main">
              <a:ext uri="{FF2B5EF4-FFF2-40B4-BE49-F238E27FC236}">
                <a16:creationId xmlns:a16="http://schemas.microsoft.com/office/drawing/2014/main" id="{6A62FF06-A18E-4282-B5FD-7C53CC0C9D2C}"/>
              </a:ext>
            </a:extLst>
          </p:cNvPr>
          <p:cNvSpPr>
            <a:spLocks xmlns:a="http://schemas.openxmlformats.org/drawingml/2006/main" noGrp="1"/>
          </p:cNvSpPr>
          <p:nvPr/>
        </p:nvSpPr>
        <p:spPr>
          <a:xfrm xmlns:a="http://schemas.openxmlformats.org/drawingml/2006/main">
            <a:off x="4943475" y="2457450"/>
            <a:ext cx="264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31" name="">
            <a:extLst xmlns:a="http://schemas.openxmlformats.org/drawingml/2006/main">
              <a:ext uri="{FF2B5EF4-FFF2-40B4-BE49-F238E27FC236}">
                <a16:creationId xmlns:a16="http://schemas.microsoft.com/office/drawing/2014/main" id="{47D0A4E9-8631-43B3-AFEB-A0738F5D77C7}"/>
              </a:ext>
            </a:extLst>
          </p:cNvPr>
          <p:cNvSpPr>
            <a:spLocks xmlns:a="http://schemas.openxmlformats.org/drawingml/2006/main" noGrp="1"/>
          </p:cNvSpPr>
          <p:nvPr/>
        </p:nvSpPr>
        <p:spPr>
          <a:xfrm xmlns:a="http://schemas.openxmlformats.org/drawingml/2006/main">
            <a:off x="4486275" y="252412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02</a:t>
            </a:r>
          </a:p>
        </p:txBody>
      </p:sp>
      <p:sp>
        <p:nvSpPr>
          <p:cNvPr id="32" name="">
            <a:extLst xmlns:a="http://schemas.openxmlformats.org/drawingml/2006/main">
              <a:ext uri="{FF2B5EF4-FFF2-40B4-BE49-F238E27FC236}">
                <a16:creationId xmlns:a16="http://schemas.microsoft.com/office/drawing/2014/main" id="{8CA59F4D-8E84-4684-B1D7-943F300F1C2B}"/>
              </a:ext>
            </a:extLst>
          </p:cNvPr>
          <p:cNvSpPr>
            <a:spLocks xmlns:a="http://schemas.openxmlformats.org/drawingml/2006/main" noGrp="1"/>
          </p:cNvSpPr>
          <p:nvPr/>
        </p:nvSpPr>
        <p:spPr>
          <a:xfrm xmlns:a="http://schemas.openxmlformats.org/drawingml/2006/main">
            <a:off x="4943475" y="252412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Barangay Profile Creation</a:t>
            </a:r>
          </a:p>
        </p:txBody>
      </p:sp>
      <p:sp>
        <p:nvSpPr>
          <p:cNvPr id="33" name="">
            <a:extLst xmlns:a="http://schemas.openxmlformats.org/drawingml/2006/main">
              <a:ext uri="{FF2B5EF4-FFF2-40B4-BE49-F238E27FC236}">
                <a16:creationId xmlns:a16="http://schemas.microsoft.com/office/drawing/2014/main" id="{260F52AA-4C5A-4D7E-846C-CCAE4D2B37F9}"/>
              </a:ext>
            </a:extLst>
          </p:cNvPr>
          <p:cNvSpPr>
            <a:spLocks xmlns:a="http://schemas.openxmlformats.org/drawingml/2006/main" noGrp="1"/>
          </p:cNvSpPr>
          <p:nvPr/>
        </p:nvSpPr>
        <p:spPr>
          <a:xfrm xmlns:a="http://schemas.openxmlformats.org/drawingml/2006/main">
            <a:off x="4943475" y="3009900"/>
            <a:ext cx="264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34" name="">
            <a:extLst xmlns:a="http://schemas.openxmlformats.org/drawingml/2006/main">
              <a:ext uri="{FF2B5EF4-FFF2-40B4-BE49-F238E27FC236}">
                <a16:creationId xmlns:a16="http://schemas.microsoft.com/office/drawing/2014/main" id="{EF6FD341-86BE-4DBE-BB35-2891D3D37DAB}"/>
              </a:ext>
            </a:extLst>
          </p:cNvPr>
          <p:cNvSpPr>
            <a:spLocks xmlns:a="http://schemas.openxmlformats.org/drawingml/2006/main" noGrp="1"/>
          </p:cNvSpPr>
          <p:nvPr/>
        </p:nvSpPr>
        <p:spPr>
          <a:xfrm xmlns:a="http://schemas.openxmlformats.org/drawingml/2006/main">
            <a:off x="4486275" y="307657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03</a:t>
            </a:r>
          </a:p>
        </p:txBody>
      </p:sp>
      <p:sp>
        <p:nvSpPr>
          <p:cNvPr id="35" name="">
            <a:extLst xmlns:a="http://schemas.openxmlformats.org/drawingml/2006/main">
              <a:ext uri="{FF2B5EF4-FFF2-40B4-BE49-F238E27FC236}">
                <a16:creationId xmlns:a16="http://schemas.microsoft.com/office/drawing/2014/main" id="{7EBCB530-9B5E-4469-B519-A760C694285B}"/>
              </a:ext>
            </a:extLst>
          </p:cNvPr>
          <p:cNvSpPr>
            <a:spLocks xmlns:a="http://schemas.openxmlformats.org/drawingml/2006/main" noGrp="1"/>
          </p:cNvSpPr>
          <p:nvPr/>
        </p:nvSpPr>
        <p:spPr>
          <a:xfrm xmlns:a="http://schemas.openxmlformats.org/drawingml/2006/main">
            <a:off x="4943475" y="307657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Barangay Profile Verification</a:t>
            </a:r>
          </a:p>
        </p:txBody>
      </p:sp>
      <p:sp>
        <p:nvSpPr>
          <p:cNvPr id="36" name="">
            <a:extLst xmlns:a="http://schemas.openxmlformats.org/drawingml/2006/main">
              <a:ext uri="{FF2B5EF4-FFF2-40B4-BE49-F238E27FC236}">
                <a16:creationId xmlns:a16="http://schemas.microsoft.com/office/drawing/2014/main" id="{8BBFFD2D-D3CB-4A32-9E94-BFB7DF41BD16}"/>
              </a:ext>
            </a:extLst>
          </p:cNvPr>
          <p:cNvSpPr>
            <a:spLocks xmlns:a="http://schemas.openxmlformats.org/drawingml/2006/main" noGrp="1"/>
          </p:cNvSpPr>
          <p:nvPr/>
        </p:nvSpPr>
        <p:spPr>
          <a:xfrm xmlns:a="http://schemas.openxmlformats.org/drawingml/2006/main">
            <a:off x="4943475" y="3562350"/>
            <a:ext cx="264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37" name="">
            <a:extLst xmlns:a="http://schemas.openxmlformats.org/drawingml/2006/main">
              <a:ext uri="{FF2B5EF4-FFF2-40B4-BE49-F238E27FC236}">
                <a16:creationId xmlns:a16="http://schemas.microsoft.com/office/drawing/2014/main" id="{3B6A1A29-C981-47D9-ADB2-03DF5166A530}"/>
              </a:ext>
            </a:extLst>
          </p:cNvPr>
          <p:cNvSpPr>
            <a:spLocks xmlns:a="http://schemas.openxmlformats.org/drawingml/2006/main" noGrp="1"/>
          </p:cNvSpPr>
          <p:nvPr/>
        </p:nvSpPr>
        <p:spPr>
          <a:xfrm xmlns:a="http://schemas.openxmlformats.org/drawingml/2006/main">
            <a:off x="4486275" y="362902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04</a:t>
            </a:r>
          </a:p>
        </p:txBody>
      </p:sp>
      <p:sp>
        <p:nvSpPr>
          <p:cNvPr id="38" name="">
            <a:extLst xmlns:a="http://schemas.openxmlformats.org/drawingml/2006/main">
              <a:ext uri="{FF2B5EF4-FFF2-40B4-BE49-F238E27FC236}">
                <a16:creationId xmlns:a16="http://schemas.microsoft.com/office/drawing/2014/main" id="{340CB347-F1CB-47E4-876C-D5EAC45FBB3A}"/>
              </a:ext>
            </a:extLst>
          </p:cNvPr>
          <p:cNvSpPr>
            <a:spLocks xmlns:a="http://schemas.openxmlformats.org/drawingml/2006/main" noGrp="1"/>
          </p:cNvSpPr>
          <p:nvPr/>
        </p:nvSpPr>
        <p:spPr>
          <a:xfrm xmlns:a="http://schemas.openxmlformats.org/drawingml/2006/main">
            <a:off x="4943475" y="362902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Barangay Incident Reporting</a:t>
            </a:r>
          </a:p>
        </p:txBody>
      </p:sp>
      <p:sp>
        <p:nvSpPr>
          <p:cNvPr id="39" name="">
            <a:extLst xmlns:a="http://schemas.openxmlformats.org/drawingml/2006/main">
              <a:ext uri="{FF2B5EF4-FFF2-40B4-BE49-F238E27FC236}">
                <a16:creationId xmlns:a16="http://schemas.microsoft.com/office/drawing/2014/main" id="{7E06CF6D-EB5A-48EE-A4D0-09464E519583}"/>
              </a:ext>
            </a:extLst>
          </p:cNvPr>
          <p:cNvSpPr>
            <a:spLocks xmlns:a="http://schemas.openxmlformats.org/drawingml/2006/main" noGrp="1"/>
          </p:cNvSpPr>
          <p:nvPr/>
        </p:nvSpPr>
        <p:spPr>
          <a:xfrm xmlns:a="http://schemas.openxmlformats.org/drawingml/2006/main">
            <a:off x="4943475" y="4114800"/>
            <a:ext cx="264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40" name="">
            <a:extLst xmlns:a="http://schemas.openxmlformats.org/drawingml/2006/main">
              <a:ext uri="{FF2B5EF4-FFF2-40B4-BE49-F238E27FC236}">
                <a16:creationId xmlns:a16="http://schemas.microsoft.com/office/drawing/2014/main" id="{CF32B862-0B11-4AB4-AD2F-93BE23D9ACA7}"/>
              </a:ext>
            </a:extLst>
          </p:cNvPr>
          <p:cNvSpPr>
            <a:spLocks xmlns:a="http://schemas.openxmlformats.org/drawingml/2006/main" noGrp="1"/>
          </p:cNvSpPr>
          <p:nvPr/>
        </p:nvSpPr>
        <p:spPr>
          <a:xfrm xmlns:a="http://schemas.openxmlformats.org/drawingml/2006/main">
            <a:off x="4486275" y="418147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05</a:t>
            </a:r>
          </a:p>
        </p:txBody>
      </p:sp>
      <p:sp>
        <p:nvSpPr>
          <p:cNvPr id="41" name="">
            <a:extLst xmlns:a="http://schemas.openxmlformats.org/drawingml/2006/main">
              <a:ext uri="{FF2B5EF4-FFF2-40B4-BE49-F238E27FC236}">
                <a16:creationId xmlns:a16="http://schemas.microsoft.com/office/drawing/2014/main" id="{78F036D7-D5B6-4CCE-8FB2-E8380B931D9A}"/>
              </a:ext>
            </a:extLst>
          </p:cNvPr>
          <p:cNvSpPr>
            <a:spLocks xmlns:a="http://schemas.openxmlformats.org/drawingml/2006/main" noGrp="1"/>
          </p:cNvSpPr>
          <p:nvPr/>
        </p:nvSpPr>
        <p:spPr>
          <a:xfrm xmlns:a="http://schemas.openxmlformats.org/drawingml/2006/main">
            <a:off x="4943475" y="418147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Barangay Incident Report Verification</a:t>
            </a:r>
          </a:p>
        </p:txBody>
      </p:sp>
      <p:sp>
        <p:nvSpPr>
          <p:cNvPr id="42" name="">
            <a:extLst xmlns:a="http://schemas.openxmlformats.org/drawingml/2006/main">
              <a:ext uri="{FF2B5EF4-FFF2-40B4-BE49-F238E27FC236}">
                <a16:creationId xmlns:a16="http://schemas.microsoft.com/office/drawing/2014/main" id="{1C6F8002-CB56-4031-99CA-F28150027279}"/>
              </a:ext>
            </a:extLst>
          </p:cNvPr>
          <p:cNvSpPr>
            <a:spLocks xmlns:a="http://schemas.openxmlformats.org/drawingml/2006/main" noGrp="1"/>
          </p:cNvSpPr>
          <p:nvPr/>
        </p:nvSpPr>
        <p:spPr>
          <a:xfrm xmlns:a="http://schemas.openxmlformats.org/drawingml/2006/main">
            <a:off x="4943475" y="4667250"/>
            <a:ext cx="264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43" name="">
            <a:extLst xmlns:a="http://schemas.openxmlformats.org/drawingml/2006/main">
              <a:ext uri="{FF2B5EF4-FFF2-40B4-BE49-F238E27FC236}">
                <a16:creationId xmlns:a16="http://schemas.microsoft.com/office/drawing/2014/main" id="{31FD2940-D852-401D-A65D-58EFB4A52BB8}"/>
              </a:ext>
            </a:extLst>
          </p:cNvPr>
          <p:cNvSpPr>
            <a:spLocks xmlns:a="http://schemas.openxmlformats.org/drawingml/2006/main" noGrp="1"/>
          </p:cNvSpPr>
          <p:nvPr/>
        </p:nvSpPr>
        <p:spPr>
          <a:xfrm xmlns:a="http://schemas.openxmlformats.org/drawingml/2006/main">
            <a:off x="4486275" y="473392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06</a:t>
            </a:r>
          </a:p>
        </p:txBody>
      </p:sp>
      <p:sp>
        <p:nvSpPr>
          <p:cNvPr id="44" name="">
            <a:extLst xmlns:a="http://schemas.openxmlformats.org/drawingml/2006/main">
              <a:ext uri="{FF2B5EF4-FFF2-40B4-BE49-F238E27FC236}">
                <a16:creationId xmlns:a16="http://schemas.microsoft.com/office/drawing/2014/main" id="{290565EA-27DA-4C11-BEDD-FD9FDBE0AEB8}"/>
              </a:ext>
            </a:extLst>
          </p:cNvPr>
          <p:cNvSpPr>
            <a:spLocks xmlns:a="http://schemas.openxmlformats.org/drawingml/2006/main" noGrp="1"/>
          </p:cNvSpPr>
          <p:nvPr/>
        </p:nvSpPr>
        <p:spPr>
          <a:xfrm xmlns:a="http://schemas.openxmlformats.org/drawingml/2006/main">
            <a:off x="4943475" y="473392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Barangay Incident Report History</a:t>
            </a:r>
          </a:p>
        </p:txBody>
      </p:sp>
      <p:sp>
        <p:nvSpPr>
          <p:cNvPr id="45" name="">
            <a:extLst xmlns:a="http://schemas.openxmlformats.org/drawingml/2006/main">
              <a:ext uri="{FF2B5EF4-FFF2-40B4-BE49-F238E27FC236}">
                <a16:creationId xmlns:a16="http://schemas.microsoft.com/office/drawing/2014/main" id="{20C77E1F-64D8-4C09-8A24-B5F586272ECB}"/>
              </a:ext>
            </a:extLst>
          </p:cNvPr>
          <p:cNvSpPr>
            <a:spLocks xmlns:a="http://schemas.openxmlformats.org/drawingml/2006/main" noGrp="1"/>
          </p:cNvSpPr>
          <p:nvPr/>
        </p:nvSpPr>
        <p:spPr>
          <a:xfrm xmlns:a="http://schemas.openxmlformats.org/drawingml/2006/main">
            <a:off x="8058150" y="1400175"/>
            <a:ext cx="3219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DRRM ADMINISTRATOR</a:t>
            </a:r>
          </a:p>
        </p:txBody>
      </p:sp>
      <p:sp>
        <p:nvSpPr>
          <p:cNvPr id="46" name="">
            <a:extLst xmlns:a="http://schemas.openxmlformats.org/drawingml/2006/main">
              <a:ext uri="{FF2B5EF4-FFF2-40B4-BE49-F238E27FC236}">
                <a16:creationId xmlns:a16="http://schemas.microsoft.com/office/drawing/2014/main" id="{4557B773-44DD-446C-BD74-CB2A9EB105C6}"/>
              </a:ext>
            </a:extLst>
          </p:cNvPr>
          <p:cNvSpPr>
            <a:spLocks xmlns:a="http://schemas.openxmlformats.org/drawingml/2006/main" noGrp="1"/>
          </p:cNvSpPr>
          <p:nvPr/>
        </p:nvSpPr>
        <p:spPr>
          <a:xfrm xmlns:a="http://schemas.openxmlformats.org/drawingml/2006/main">
            <a:off x="8058150" y="1762125"/>
            <a:ext cx="3105150" cy="0"/>
          </a:xfrm>
          <a:prstGeom xmlns:a="http://schemas.openxmlformats.org/drawingml/2006/main" prst="line">
            <a:avLst/>
          </a:prstGeom>
          <a:noFill xmlns:a="http://schemas.openxmlformats.org/drawingml/2006/main"/>
          <a:ln xmlns:a="http://schemas.openxmlformats.org/drawingml/2006/main" w="19050">
            <a:solidFill>
              <a:srgbClr val="276E6B"/>
            </a:solidFill>
          </a:ln>
        </p:spPr>
      </p:sp>
      <p:sp>
        <p:nvSpPr>
          <p:cNvPr id="47" name="">
            <a:extLst xmlns:a="http://schemas.openxmlformats.org/drawingml/2006/main">
              <a:ext uri="{FF2B5EF4-FFF2-40B4-BE49-F238E27FC236}">
                <a16:creationId xmlns:a16="http://schemas.microsoft.com/office/drawing/2014/main" id="{ED7ECE98-8862-4379-8F23-096ADEDECB36}"/>
              </a:ext>
            </a:extLst>
          </p:cNvPr>
          <p:cNvSpPr>
            <a:spLocks xmlns:a="http://schemas.openxmlformats.org/drawingml/2006/main" noGrp="1"/>
          </p:cNvSpPr>
          <p:nvPr/>
        </p:nvSpPr>
        <p:spPr>
          <a:xfrm xmlns:a="http://schemas.openxmlformats.org/drawingml/2006/main">
            <a:off x="8058150" y="197167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01</a:t>
            </a:r>
          </a:p>
        </p:txBody>
      </p:sp>
      <p:sp>
        <p:nvSpPr>
          <p:cNvPr id="48" name="">
            <a:extLst xmlns:a="http://schemas.openxmlformats.org/drawingml/2006/main">
              <a:ext uri="{FF2B5EF4-FFF2-40B4-BE49-F238E27FC236}">
                <a16:creationId xmlns:a16="http://schemas.microsoft.com/office/drawing/2014/main" id="{D42AD4E0-BDAF-40F7-BD8E-42DE2F38E336}"/>
              </a:ext>
            </a:extLst>
          </p:cNvPr>
          <p:cNvSpPr>
            <a:spLocks xmlns:a="http://schemas.openxmlformats.org/drawingml/2006/main" noGrp="1"/>
          </p:cNvSpPr>
          <p:nvPr/>
        </p:nvSpPr>
        <p:spPr>
          <a:xfrm xmlns:a="http://schemas.openxmlformats.org/drawingml/2006/main">
            <a:off x="8515350" y="197167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System User Management</a:t>
            </a:r>
          </a:p>
        </p:txBody>
      </p:sp>
      <p:sp>
        <p:nvSpPr>
          <p:cNvPr id="49" name="">
            <a:extLst xmlns:a="http://schemas.openxmlformats.org/drawingml/2006/main">
              <a:ext uri="{FF2B5EF4-FFF2-40B4-BE49-F238E27FC236}">
                <a16:creationId xmlns:a16="http://schemas.microsoft.com/office/drawing/2014/main" id="{84587270-5446-40F3-983A-8F24D664A057}"/>
              </a:ext>
            </a:extLst>
          </p:cNvPr>
          <p:cNvSpPr>
            <a:spLocks xmlns:a="http://schemas.openxmlformats.org/drawingml/2006/main" noGrp="1"/>
          </p:cNvSpPr>
          <p:nvPr/>
        </p:nvSpPr>
        <p:spPr>
          <a:xfrm xmlns:a="http://schemas.openxmlformats.org/drawingml/2006/main">
            <a:off x="8515350" y="2457450"/>
            <a:ext cx="264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0" name="">
            <a:extLst xmlns:a="http://schemas.openxmlformats.org/drawingml/2006/main">
              <a:ext uri="{FF2B5EF4-FFF2-40B4-BE49-F238E27FC236}">
                <a16:creationId xmlns:a16="http://schemas.microsoft.com/office/drawing/2014/main" id="{629C20ED-6A1D-42A5-9608-9035F2E2A91E}"/>
              </a:ext>
            </a:extLst>
          </p:cNvPr>
          <p:cNvSpPr>
            <a:spLocks xmlns:a="http://schemas.openxmlformats.org/drawingml/2006/main" noGrp="1"/>
          </p:cNvSpPr>
          <p:nvPr/>
        </p:nvSpPr>
        <p:spPr>
          <a:xfrm xmlns:a="http://schemas.openxmlformats.org/drawingml/2006/main">
            <a:off x="8058150" y="252412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02</a:t>
            </a:r>
          </a:p>
        </p:txBody>
      </p:sp>
      <p:sp>
        <p:nvSpPr>
          <p:cNvPr id="51" name="">
            <a:extLst xmlns:a="http://schemas.openxmlformats.org/drawingml/2006/main">
              <a:ext uri="{FF2B5EF4-FFF2-40B4-BE49-F238E27FC236}">
                <a16:creationId xmlns:a16="http://schemas.microsoft.com/office/drawing/2014/main" id="{38441650-4F69-450D-A8A5-526C28F093C1}"/>
              </a:ext>
            </a:extLst>
          </p:cNvPr>
          <p:cNvSpPr>
            <a:spLocks xmlns:a="http://schemas.openxmlformats.org/drawingml/2006/main" noGrp="1"/>
          </p:cNvSpPr>
          <p:nvPr/>
        </p:nvSpPr>
        <p:spPr>
          <a:xfrm xmlns:a="http://schemas.openxmlformats.org/drawingml/2006/main">
            <a:off x="8515350" y="252412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Hazard Creation</a:t>
            </a:r>
          </a:p>
        </p:txBody>
      </p:sp>
      <p:sp>
        <p:nvSpPr>
          <p:cNvPr id="52" name="">
            <a:extLst xmlns:a="http://schemas.openxmlformats.org/drawingml/2006/main">
              <a:ext uri="{FF2B5EF4-FFF2-40B4-BE49-F238E27FC236}">
                <a16:creationId xmlns:a16="http://schemas.microsoft.com/office/drawing/2014/main" id="{BBB890B6-A89F-4E3E-AFAC-44A09E90FDA1}"/>
              </a:ext>
            </a:extLst>
          </p:cNvPr>
          <p:cNvSpPr>
            <a:spLocks xmlns:a="http://schemas.openxmlformats.org/drawingml/2006/main" noGrp="1"/>
          </p:cNvSpPr>
          <p:nvPr/>
        </p:nvSpPr>
        <p:spPr>
          <a:xfrm xmlns:a="http://schemas.openxmlformats.org/drawingml/2006/main">
            <a:off x="8515350" y="3009900"/>
            <a:ext cx="264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3" name="">
            <a:extLst xmlns:a="http://schemas.openxmlformats.org/drawingml/2006/main">
              <a:ext uri="{FF2B5EF4-FFF2-40B4-BE49-F238E27FC236}">
                <a16:creationId xmlns:a16="http://schemas.microsoft.com/office/drawing/2014/main" id="{7F754FCE-3AA8-4592-8C51-031055AA2EF6}"/>
              </a:ext>
            </a:extLst>
          </p:cNvPr>
          <p:cNvSpPr>
            <a:spLocks xmlns:a="http://schemas.openxmlformats.org/drawingml/2006/main" noGrp="1"/>
          </p:cNvSpPr>
          <p:nvPr/>
        </p:nvSpPr>
        <p:spPr>
          <a:xfrm xmlns:a="http://schemas.openxmlformats.org/drawingml/2006/main">
            <a:off x="8058150" y="307657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03</a:t>
            </a:r>
          </a:p>
        </p:txBody>
      </p:sp>
      <p:sp>
        <p:nvSpPr>
          <p:cNvPr id="54" name="">
            <a:extLst xmlns:a="http://schemas.openxmlformats.org/drawingml/2006/main">
              <a:ext uri="{FF2B5EF4-FFF2-40B4-BE49-F238E27FC236}">
                <a16:creationId xmlns:a16="http://schemas.microsoft.com/office/drawing/2014/main" id="{A05D9019-FF21-4B22-8734-B59FF3AA9A86}"/>
              </a:ext>
            </a:extLst>
          </p:cNvPr>
          <p:cNvSpPr>
            <a:spLocks xmlns:a="http://schemas.openxmlformats.org/drawingml/2006/main" noGrp="1"/>
          </p:cNvSpPr>
          <p:nvPr/>
        </p:nvSpPr>
        <p:spPr>
          <a:xfrm xmlns:a="http://schemas.openxmlformats.org/drawingml/2006/main">
            <a:off x="8515350" y="307657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Situation Report Generation</a:t>
            </a:r>
          </a:p>
        </p:txBody>
      </p:sp>
      <p:sp>
        <p:nvSpPr>
          <p:cNvPr id="55" name="">
            <a:extLst xmlns:a="http://schemas.openxmlformats.org/drawingml/2006/main">
              <a:ext uri="{FF2B5EF4-FFF2-40B4-BE49-F238E27FC236}">
                <a16:creationId xmlns:a16="http://schemas.microsoft.com/office/drawing/2014/main" id="{A7EDCA9E-B3AD-4E7B-A8A5-03F6668B8598}"/>
              </a:ext>
            </a:extLst>
          </p:cNvPr>
          <p:cNvSpPr>
            <a:spLocks xmlns:a="http://schemas.openxmlformats.org/drawingml/2006/main" noGrp="1"/>
          </p:cNvSpPr>
          <p:nvPr/>
        </p:nvSpPr>
        <p:spPr>
          <a:xfrm xmlns:a="http://schemas.openxmlformats.org/drawingml/2006/main">
            <a:off x="8515350" y="3562350"/>
            <a:ext cx="264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6" name="">
            <a:extLst xmlns:a="http://schemas.openxmlformats.org/drawingml/2006/main">
              <a:ext uri="{FF2B5EF4-FFF2-40B4-BE49-F238E27FC236}">
                <a16:creationId xmlns:a16="http://schemas.microsoft.com/office/drawing/2014/main" id="{8137D51F-5D8D-416A-B070-D8FE3492AE99}"/>
              </a:ext>
            </a:extLst>
          </p:cNvPr>
          <p:cNvSpPr>
            <a:spLocks xmlns:a="http://schemas.openxmlformats.org/drawingml/2006/main" noGrp="1"/>
          </p:cNvSpPr>
          <p:nvPr/>
        </p:nvSpPr>
        <p:spPr>
          <a:xfrm xmlns:a="http://schemas.openxmlformats.org/drawingml/2006/main">
            <a:off x="8058150" y="362902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04</a:t>
            </a:r>
          </a:p>
        </p:txBody>
      </p:sp>
      <p:sp>
        <p:nvSpPr>
          <p:cNvPr id="57" name="">
            <a:extLst xmlns:a="http://schemas.openxmlformats.org/drawingml/2006/main">
              <a:ext uri="{FF2B5EF4-FFF2-40B4-BE49-F238E27FC236}">
                <a16:creationId xmlns:a16="http://schemas.microsoft.com/office/drawing/2014/main" id="{81B2843D-BBAA-4E64-9A2C-6B48A17C3BF3}"/>
              </a:ext>
            </a:extLst>
          </p:cNvPr>
          <p:cNvSpPr>
            <a:spLocks xmlns:a="http://schemas.openxmlformats.org/drawingml/2006/main" noGrp="1"/>
          </p:cNvSpPr>
          <p:nvPr/>
        </p:nvSpPr>
        <p:spPr>
          <a:xfrm xmlns:a="http://schemas.openxmlformats.org/drawingml/2006/main">
            <a:off x="8515350" y="362902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Situation Report Historical Catalog</a:t>
            </a:r>
          </a:p>
        </p:txBody>
      </p:sp>
      <p:sp>
        <p:nvSpPr>
          <p:cNvPr id="58" name="">
            <a:extLst xmlns:a="http://schemas.openxmlformats.org/drawingml/2006/main">
              <a:ext uri="{FF2B5EF4-FFF2-40B4-BE49-F238E27FC236}">
                <a16:creationId xmlns:a16="http://schemas.microsoft.com/office/drawing/2014/main" id="{D856254C-0F60-457B-BB72-762E1A41A9D9}"/>
              </a:ext>
            </a:extLst>
          </p:cNvPr>
          <p:cNvSpPr>
            <a:spLocks xmlns:a="http://schemas.openxmlformats.org/drawingml/2006/main" noGrp="1"/>
          </p:cNvSpPr>
          <p:nvPr/>
        </p:nvSpPr>
        <p:spPr>
          <a:xfrm xmlns:a="http://schemas.openxmlformats.org/drawingml/2006/main">
            <a:off x="8515350" y="4114800"/>
            <a:ext cx="264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9" name="">
            <a:extLst xmlns:a="http://schemas.openxmlformats.org/drawingml/2006/main">
              <a:ext uri="{FF2B5EF4-FFF2-40B4-BE49-F238E27FC236}">
                <a16:creationId xmlns:a16="http://schemas.microsoft.com/office/drawing/2014/main" id="{644ECF4D-4689-4BBB-B550-F5E6E85B7AE8}"/>
              </a:ext>
            </a:extLst>
          </p:cNvPr>
          <p:cNvSpPr>
            <a:spLocks xmlns:a="http://schemas.openxmlformats.org/drawingml/2006/main" noGrp="1"/>
          </p:cNvSpPr>
          <p:nvPr/>
        </p:nvSpPr>
        <p:spPr>
          <a:xfrm xmlns:a="http://schemas.openxmlformats.org/drawingml/2006/main">
            <a:off x="8058150" y="418147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05</a:t>
            </a:r>
          </a:p>
        </p:txBody>
      </p:sp>
      <p:sp>
        <p:nvSpPr>
          <p:cNvPr id="60" name="">
            <a:extLst xmlns:a="http://schemas.openxmlformats.org/drawingml/2006/main">
              <a:ext uri="{FF2B5EF4-FFF2-40B4-BE49-F238E27FC236}">
                <a16:creationId xmlns:a16="http://schemas.microsoft.com/office/drawing/2014/main" id="{BF9CDE10-20A3-4BDC-8CE1-4F9F71A2150A}"/>
              </a:ext>
            </a:extLst>
          </p:cNvPr>
          <p:cNvSpPr>
            <a:spLocks xmlns:a="http://schemas.openxmlformats.org/drawingml/2006/main" noGrp="1"/>
          </p:cNvSpPr>
          <p:nvPr/>
        </p:nvSpPr>
        <p:spPr>
          <a:xfrm xmlns:a="http://schemas.openxmlformats.org/drawingml/2006/main">
            <a:off x="8515350" y="418147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System Dashboard</a:t>
            </a:r>
          </a:p>
        </p:txBody>
      </p:sp>
      <p:sp>
        <p:nvSpPr>
          <p:cNvPr id="61" name="">
            <a:extLst xmlns:a="http://schemas.openxmlformats.org/drawingml/2006/main">
              <a:ext uri="{FF2B5EF4-FFF2-40B4-BE49-F238E27FC236}">
                <a16:creationId xmlns:a16="http://schemas.microsoft.com/office/drawing/2014/main" id="{6A198352-7EFF-41B0-8FC7-32B48C2406C5}"/>
              </a:ext>
            </a:extLst>
          </p:cNvPr>
          <p:cNvSpPr>
            <a:spLocks xmlns:a="http://schemas.openxmlformats.org/drawingml/2006/main" noGrp="1"/>
          </p:cNvSpPr>
          <p:nvPr/>
        </p:nvSpPr>
        <p:spPr>
          <a:xfrm xmlns:a="http://schemas.openxmlformats.org/drawingml/2006/main">
            <a:off x="933450" y="556260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Verification decisions remain human decisions at each authorized level.</a:t>
            </a:r>
          </a:p>
        </p:txBody>
      </p:sp>
    </p:spTree>
    <p:extLst>
      <p:ext uri="{BB962C8B-B14F-4D97-AF65-F5344CB8AC3E}">
        <p14:creationId xmlns:p14="http://schemas.microsoft.com/office/powerpoint/2010/main" val="885979161"/>
      </p:ext>
    </p:extLst>
  </p:cSld>
</p:sld>
</file>

<file path=ppt/slides/slide14.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33FF805-2140-4CB3-B7D7-E7534D8757EB}"/>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04C2549-8358-481D-89D5-B0734668C4D4}"/>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EXISTING SYSTEMS</a:t>
            </a:r>
          </a:p>
        </p:txBody>
      </p:sp>
      <p:sp>
        <p:nvSpPr>
          <p:cNvPr id="3" name="">
            <a:extLst xmlns:a="http://schemas.openxmlformats.org/drawingml/2006/main">
              <a:ext uri="{FF2B5EF4-FFF2-40B4-BE49-F238E27FC236}">
                <a16:creationId xmlns:a16="http://schemas.microsoft.com/office/drawing/2014/main" id="{A5E1F1E4-AADF-4D98-846E-4DD4D303945A}"/>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Related systems solve different parts of the reporting problem</a:t>
            </a:r>
          </a:p>
        </p:txBody>
      </p:sp>
      <p:sp>
        <p:nvSpPr>
          <p:cNvPr id="4" name="">
            <a:extLst xmlns:a="http://schemas.openxmlformats.org/drawingml/2006/main">
              <a:ext uri="{FF2B5EF4-FFF2-40B4-BE49-F238E27FC236}">
                <a16:creationId xmlns:a16="http://schemas.microsoft.com/office/drawing/2014/main" id="{92BDB875-BED1-4609-A737-1414FC310125}"/>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E64FCD6F-B1BF-4683-8088-7F28C433244F}"/>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Sections 2.6–2.7 and Table 1</a:t>
            </a:r>
          </a:p>
        </p:txBody>
      </p:sp>
      <p:sp>
        <p:nvSpPr>
          <p:cNvPr id="6" name="">
            <a:extLst xmlns:a="http://schemas.openxmlformats.org/drawingml/2006/main">
              <a:ext uri="{FF2B5EF4-FFF2-40B4-BE49-F238E27FC236}">
                <a16:creationId xmlns:a16="http://schemas.microsoft.com/office/drawing/2014/main" id="{9FA8844D-BD11-4B46-8BF3-D48D8D889739}"/>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14</a:t>
            </a:r>
          </a:p>
        </p:txBody>
      </p:sp>
      <p:graphicFrame>
        <p:nvGraphicFramePr>
          <p:cNvPr id="15" name=""/>
          <p:cNvGraphicFramePr/>
          <p:nvPr/>
        </p:nvGraphicFramePr>
        <p:xfrm>
          <a:off xmlns:a="http://schemas.openxmlformats.org/drawingml/2006/main" x="895350" y="1438275"/>
          <a:ext xmlns:a="http://schemas.openxmlformats.org/drawingml/2006/main" cx="10401300" cy="4000500"/>
        </p:xfrm>
        <a:graphic xmlns:a="http://schemas.openxmlformats.org/drawingml/2006/main">
          <a:graphicData uri="http://schemas.openxmlformats.org/drawingml/2006/table">
            <a:tbl>
              <a:tblPr/>
              <a:tblGrid>
                <a:gridCol w="2095500"/>
                <a:gridCol w="3943350"/>
                <a:gridCol w="4362450"/>
              </a:tblGrid>
              <a:tr h="533400">
                <a:tc>
                  <a:txBody>
                    <a:bodyPr wrap="square" lIns="104775" tIns="66675" rIns="104775" bIns="66675">
                      <a:normAutofit/>
                    </a:bodyPr>
                    <a:lstStyle/>
                    <a:p>
                      <a:pPr algn="l"/>
                      <a:r>
                        <a:rPr sz="1313" b="1">
                          <a:solidFill>
                            <a:srgbClr val="FFFFFF"/>
                          </a:solidFill>
                          <a:latin typeface="Lexend"/>
                          <a:ea typeface="Lexend"/>
                          <a:cs typeface="Lexend"/>
                        </a:rPr>
                        <a:t>System reviewed</a:t>
                      </a:r>
                    </a:p>
                  </a:txBody>
                  <a:tcPr marL="91440" marR="91440" marT="45720" marB="45720" anchor="ctr">
                    <a:solidFill>
                      <a:srgbClr val="252D30"/>
                    </a:solidFill>
                  </a:tcPr>
                </a:tc>
                <a:tc>
                  <a:txBody>
                    <a:bodyPr wrap="square" lIns="104775" tIns="66675" rIns="104775" bIns="66675">
                      <a:normAutofit/>
                    </a:bodyPr>
                    <a:lstStyle/>
                    <a:p>
                      <a:pPr algn="l"/>
                      <a:r>
                        <a:rPr sz="1313" b="1">
                          <a:solidFill>
                            <a:srgbClr val="FFFFFF"/>
                          </a:solidFill>
                          <a:latin typeface="Lexend"/>
                          <a:ea typeface="Lexend"/>
                          <a:cs typeface="Lexend"/>
                        </a:rPr>
                        <a:t>Focus described in the paper</a:t>
                      </a:r>
                    </a:p>
                  </a:txBody>
                  <a:tcPr marL="91440" marR="91440" marT="45720" marB="45720" anchor="ctr">
                    <a:solidFill>
                      <a:srgbClr val="252D30"/>
                    </a:solidFill>
                  </a:tcPr>
                </a:tc>
                <a:tc>
                  <a:txBody>
                    <a:bodyPr wrap="square" lIns="104775" tIns="66675" rIns="104775" bIns="66675">
                      <a:normAutofit/>
                    </a:bodyPr>
                    <a:lstStyle/>
                    <a:p>
                      <a:pPr algn="l"/>
                      <a:r>
                        <a:rPr sz="1313" b="1">
                          <a:solidFill>
                            <a:srgbClr val="FFFFFF"/>
                          </a:solidFill>
                          <a:latin typeface="Lexend"/>
                          <a:ea typeface="Lexend"/>
                          <a:cs typeface="Lexend"/>
                        </a:rPr>
                        <a:t>Relevance to the proposed system</a:t>
                      </a:r>
                    </a:p>
                  </a:txBody>
                  <a:tcPr marL="91440" marR="91440" marT="45720" marB="45720" anchor="ctr">
                    <a:solidFill>
                      <a:srgbClr val="252D30"/>
                    </a:solidFill>
                  </a:tcPr>
                </a:tc>
              </a:tr>
              <a:tr h="866775">
                <a:tc>
                  <a:txBody>
                    <a:bodyPr wrap="square" lIns="104775" tIns="66675" rIns="104775" bIns="66675">
                      <a:normAutofit/>
                    </a:bodyPr>
                    <a:lstStyle/>
                    <a:p>
                      <a:pPr algn="l"/>
                      <a:r>
                        <a:rPr sz="1313">
                          <a:solidFill>
                            <a:srgbClr val="252D30"/>
                          </a:solidFill>
                          <a:latin typeface="Source Sans 3"/>
                          <a:ea typeface="Source Sans 3"/>
                          <a:cs typeface="Source Sans 3"/>
                        </a:rPr>
                        <a:t>Bandilyo App</a:t>
                      </a:r>
                    </a:p>
                  </a:txBody>
                  <a:tcPr marL="91440" marR="91440" marT="45720" marB="45720" anchor="ctr">
                    <a:solidFill>
                      <a:srgbClr val="FFFFFF"/>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Mobile incident reporting, geolocation and SMS-based communication</a:t>
                      </a:r>
                    </a:p>
                  </a:txBody>
                  <a:tcPr marL="91440" marR="91440" marT="45720" marB="45720" anchor="ctr">
                    <a:solidFill>
                      <a:srgbClr val="FFFFFF"/>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The paper distinguishes its proposed tiered verification and SitRep lifecycle</a:t>
                      </a:r>
                    </a:p>
                  </a:txBody>
                  <a:tcPr marL="91440" marR="91440" marT="45720" marB="45720" anchor="ctr">
                    <a:solidFill>
                      <a:srgbClr val="FFFFFF"/>
                    </a:solidFill>
                  </a:tcPr>
                </a:tc>
              </a:tr>
              <a:tr h="866775">
                <a:tc>
                  <a:txBody>
                    <a:bodyPr wrap="square" lIns="104775" tIns="66675" rIns="104775" bIns="66675">
                      <a:normAutofit/>
                    </a:bodyPr>
                    <a:lstStyle/>
                    <a:p>
                      <a:pPr algn="l"/>
                      <a:r>
                        <a:rPr sz="1313">
                          <a:solidFill>
                            <a:srgbClr val="252D30"/>
                          </a:solidFill>
                          <a:latin typeface="Source Sans 3"/>
                          <a:ea typeface="Source Sans 3"/>
                          <a:cs typeface="Source Sans 3"/>
                        </a:rPr>
                        <a:t>AGAPP</a:t>
                      </a:r>
                    </a:p>
                  </a:txBody>
                  <a:tcPr marL="91440" marR="91440" marT="45720" marB="45720" anchor="ctr">
                    <a:solidFill>
                      <a:srgbClr val="E9ECE8"/>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Near-real-time disaster information reporting with basic review</a:t>
                      </a:r>
                    </a:p>
                  </a:txBody>
                  <a:tcPr marL="91440" marR="91440" marT="45720" marB="45720" anchor="ctr">
                    <a:solidFill>
                      <a:srgbClr val="E9ECE8"/>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The paper identifies a gap in standardized, retrievable SitRep history</a:t>
                      </a:r>
                    </a:p>
                  </a:txBody>
                  <a:tcPr marL="91440" marR="91440" marT="45720" marB="45720" anchor="ctr">
                    <a:solidFill>
                      <a:srgbClr val="E9ECE8"/>
                    </a:solidFill>
                  </a:tcPr>
                </a:tc>
              </a:tr>
              <a:tr h="866775">
                <a:tc>
                  <a:txBody>
                    <a:bodyPr wrap="square" lIns="104775" tIns="66675" rIns="104775" bIns="66675">
                      <a:normAutofit/>
                    </a:bodyPr>
                    <a:lstStyle/>
                    <a:p>
                      <a:pPr algn="l"/>
                      <a:r>
                        <a:rPr sz="1313">
                          <a:solidFill>
                            <a:srgbClr val="252D30"/>
                          </a:solidFill>
                          <a:latin typeface="Source Sans 3"/>
                          <a:ea typeface="Source Sans 3"/>
                          <a:cs typeface="Source Sans 3"/>
                        </a:rPr>
                        <a:t>IRespondPH</a:t>
                      </a:r>
                    </a:p>
                  </a:txBody>
                  <a:tcPr marL="91440" marR="91440" marT="45720" marB="45720" anchor="ctr">
                    <a:solidFill>
                      <a:srgbClr val="FFFFFF"/>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Citizen reporting, LGU review, public-facing information and heatmaps</a:t>
                      </a:r>
                    </a:p>
                  </a:txBody>
                  <a:tcPr marL="91440" marR="91440" marT="45720" marB="45720" anchor="ctr">
                    <a:solidFill>
                      <a:srgbClr val="FFFFFF"/>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The paper focuses the proposal on administrative jurisdictional reporting and template-based SitReps</a:t>
                      </a:r>
                    </a:p>
                  </a:txBody>
                  <a:tcPr marL="91440" marR="91440" marT="45720" marB="45720" anchor="ctr">
                    <a:solidFill>
                      <a:srgbClr val="FFFFFF"/>
                    </a:solidFill>
                  </a:tcPr>
                </a:tc>
              </a:tr>
              <a:tr h="866775">
                <a:tc>
                  <a:txBody>
                    <a:bodyPr wrap="square" lIns="104775" tIns="66675" rIns="104775" bIns="66675">
                      <a:normAutofit/>
                    </a:bodyPr>
                    <a:lstStyle/>
                    <a:p>
                      <a:pPr algn="l"/>
                      <a:r>
                        <a:rPr sz="1313">
                          <a:solidFill>
                            <a:srgbClr val="252D30"/>
                          </a:solidFill>
                          <a:latin typeface="Source Sans 3"/>
                          <a:ea typeface="Source Sans 3"/>
                          <a:cs typeface="Source Sans 3"/>
                        </a:rPr>
                        <a:t>Mamamayan</a:t>
                      </a:r>
                    </a:p>
                  </a:txBody>
                  <a:tcPr marL="91440" marR="91440" marT="45720" marB="45720" anchor="ctr">
                    <a:solidFill>
                      <a:srgbClr val="E9ECE8"/>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Resident reports routed to an emergency operations center for response</a:t>
                      </a:r>
                    </a:p>
                  </a:txBody>
                  <a:tcPr marL="91440" marR="91440" marT="45720" marB="45720" anchor="ctr">
                    <a:solidFill>
                      <a:srgbClr val="E9ECE8"/>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The paper focuses the proposal on formal SitRep preparation and report history</a:t>
                      </a:r>
                    </a:p>
                  </a:txBody>
                  <a:tcPr marL="91440" marR="91440" marT="45720" marB="45720" anchor="ctr">
                    <a:solidFill>
                      <a:srgbClr val="E9ECE8"/>
                    </a:solidFill>
                  </a:tcPr>
                </a:tc>
              </a:tr>
            </a:tbl>
          </a:graphicData>
        </a:graphic>
      </p:graphicFrame>
      <p:sp>
        <p:nvSpPr>
          <p:cNvPr id="8" name="">
            <a:extLst xmlns:a="http://schemas.openxmlformats.org/drawingml/2006/main">
              <a:ext uri="{FF2B5EF4-FFF2-40B4-BE49-F238E27FC236}">
                <a16:creationId xmlns:a16="http://schemas.microsoft.com/office/drawing/2014/main" id="{D3CCD588-6E4B-4C0E-B921-3F938511CC01}"/>
              </a:ext>
            </a:extLst>
          </p:cNvPr>
          <p:cNvSpPr>
            <a:spLocks xmlns:a="http://schemas.openxmlformats.org/drawingml/2006/main" noGrp="1"/>
          </p:cNvSpPr>
          <p:nvPr/>
        </p:nvSpPr>
        <p:spPr>
          <a:xfrm xmlns:a="http://schemas.openxmlformats.org/drawingml/2006/main">
            <a:off x="933450" y="554355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00" b="0">
                <a:solidFill>
                  <a:srgbClr val="59676A"/>
                </a:solidFill>
                <a:latin typeface="Source Sans 3"/>
                <a:ea typeface="Source Sans 3"/>
                <a:cs typeface="Source Sans 3"/>
              </a:defRPr>
            </a:pPr>
            <a:r>
              <a:rPr sz="1200" b="0">
                <a:solidFill>
                  <a:srgbClr val="59676A"/>
                </a:solidFill>
                <a:latin typeface="Source Sans 3"/>
                <a:ea typeface="Source Sans 3"/>
                <a:cs typeface="Source Sans 3"/>
              </a:rPr>
              <a:t>Comparison is limited to the related work reviewed in the manuscript.</a:t>
            </a:r>
          </a:p>
        </p:txBody>
      </p:sp>
    </p:spTree>
    <p:extLst>
      <p:ext uri="{BB962C8B-B14F-4D97-AF65-F5344CB8AC3E}">
        <p14:creationId xmlns:p14="http://schemas.microsoft.com/office/powerpoint/2010/main" val="356554835"/>
      </p:ext>
    </p:extLst>
  </p:cSld>
</p:sld>
</file>

<file path=ppt/slides/slide15.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353243D-AA3D-4BF4-8ADD-4364E1F6C62C}"/>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950A68D-219C-4641-BA02-7D67C299D411}"/>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PROBLEM, OBJECTIVES, AND MODULES</a:t>
            </a:r>
          </a:p>
        </p:txBody>
      </p:sp>
      <p:sp>
        <p:nvSpPr>
          <p:cNvPr id="3" name="">
            <a:extLst xmlns:a="http://schemas.openxmlformats.org/drawingml/2006/main">
              <a:ext uri="{FF2B5EF4-FFF2-40B4-BE49-F238E27FC236}">
                <a16:creationId xmlns:a16="http://schemas.microsoft.com/office/drawing/2014/main" id="{6073165C-D6D6-47E8-8FD4-7E632879C054}"/>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Each reported problem has a corresponding design response</a:t>
            </a:r>
          </a:p>
        </p:txBody>
      </p:sp>
      <p:sp>
        <p:nvSpPr>
          <p:cNvPr id="4" name="">
            <a:extLst xmlns:a="http://schemas.openxmlformats.org/drawingml/2006/main">
              <a:ext uri="{FF2B5EF4-FFF2-40B4-BE49-F238E27FC236}">
                <a16:creationId xmlns:a16="http://schemas.microsoft.com/office/drawing/2014/main" id="{7BC36C4E-E95C-44DB-9120-88EF10937B17}"/>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F6ED6F48-C7F8-4531-9178-8AE2649F8ED1}"/>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Statement of the Problem, Specific Objectives and Table 3</a:t>
            </a:r>
          </a:p>
        </p:txBody>
      </p:sp>
      <p:sp>
        <p:nvSpPr>
          <p:cNvPr id="6" name="">
            <a:extLst xmlns:a="http://schemas.openxmlformats.org/drawingml/2006/main">
              <a:ext uri="{FF2B5EF4-FFF2-40B4-BE49-F238E27FC236}">
                <a16:creationId xmlns:a16="http://schemas.microsoft.com/office/drawing/2014/main" id="{F9956805-795C-477A-9F6D-0D7990DA1D63}"/>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15</a:t>
            </a:r>
          </a:p>
        </p:txBody>
      </p:sp>
      <p:graphicFrame>
        <p:nvGraphicFramePr>
          <p:cNvPr id="15" name=""/>
          <p:cNvGraphicFramePr/>
          <p:nvPr/>
        </p:nvGraphicFramePr>
        <p:xfrm>
          <a:off xmlns:a="http://schemas.openxmlformats.org/drawingml/2006/main" x="895350" y="1409700"/>
          <a:ext xmlns:a="http://schemas.openxmlformats.org/drawingml/2006/main" cx="10401300" cy="4029075"/>
        </p:xfrm>
        <a:graphic xmlns:a="http://schemas.openxmlformats.org/drawingml/2006/main">
          <a:graphicData uri="http://schemas.openxmlformats.org/drawingml/2006/table">
            <a:tbl>
              <a:tblPr/>
              <a:tblGrid>
                <a:gridCol w="2238375"/>
                <a:gridCol w="3895725"/>
                <a:gridCol w="4267200"/>
              </a:tblGrid>
              <a:tr h="533400">
                <a:tc>
                  <a:txBody>
                    <a:bodyPr wrap="square" lIns="104775" tIns="66675" rIns="104775" bIns="66675">
                      <a:normAutofit/>
                    </a:bodyPr>
                    <a:lstStyle/>
                    <a:p>
                      <a:pPr algn="l"/>
                      <a:r>
                        <a:rPr sz="1350" b="1">
                          <a:solidFill>
                            <a:srgbClr val="FFFFFF"/>
                          </a:solidFill>
                          <a:latin typeface="Lexend"/>
                          <a:ea typeface="Lexend"/>
                          <a:cs typeface="Lexend"/>
                        </a:rPr>
                        <a:t>Problem</a:t>
                      </a:r>
                    </a:p>
                  </a:txBody>
                  <a:tcPr marL="91440" marR="91440" marT="45720" marB="45720" anchor="ctr">
                    <a:solidFill>
                      <a:srgbClr val="252D30"/>
                    </a:solidFill>
                  </a:tcPr>
                </a:tc>
                <a:tc>
                  <a:txBody>
                    <a:bodyPr wrap="square" lIns="104775" tIns="66675" rIns="104775" bIns="66675">
                      <a:normAutofit/>
                    </a:bodyPr>
                    <a:lstStyle/>
                    <a:p>
                      <a:pPr algn="l"/>
                      <a:r>
                        <a:rPr sz="1350" b="1">
                          <a:solidFill>
                            <a:srgbClr val="FFFFFF"/>
                          </a:solidFill>
                          <a:latin typeface="Lexend"/>
                          <a:ea typeface="Lexend"/>
                          <a:cs typeface="Lexend"/>
                        </a:rPr>
                        <a:t>Objective response</a:t>
                      </a:r>
                    </a:p>
                  </a:txBody>
                  <a:tcPr marL="91440" marR="91440" marT="45720" marB="45720" anchor="ctr">
                    <a:solidFill>
                      <a:srgbClr val="252D30"/>
                    </a:solidFill>
                  </a:tcPr>
                </a:tc>
                <a:tc>
                  <a:txBody>
                    <a:bodyPr wrap="square" lIns="104775" tIns="66675" rIns="104775" bIns="66675">
                      <a:normAutofit/>
                    </a:bodyPr>
                    <a:lstStyle/>
                    <a:p>
                      <a:pPr algn="l"/>
                      <a:r>
                        <a:rPr sz="1350" b="1">
                          <a:solidFill>
                            <a:srgbClr val="FFFFFF"/>
                          </a:solidFill>
                          <a:latin typeface="Lexend"/>
                          <a:ea typeface="Lexend"/>
                          <a:cs typeface="Lexend"/>
                        </a:rPr>
                        <a:t>Responsible modules</a:t>
                      </a:r>
                    </a:p>
                  </a:txBody>
                  <a:tcPr marL="91440" marR="91440" marT="45720" marB="45720" anchor="ctr">
                    <a:solidFill>
                      <a:srgbClr val="252D30"/>
                    </a:solidFill>
                  </a:tcPr>
                </a:tc>
              </a:tr>
              <a:tr h="873919">
                <a:tc>
                  <a:txBody>
                    <a:bodyPr wrap="square" lIns="104775" tIns="66675" rIns="104775" bIns="66675">
                      <a:normAutofit/>
                    </a:bodyPr>
                    <a:lstStyle/>
                    <a:p>
                      <a:pPr algn="l"/>
                      <a:r>
                        <a:rPr sz="1313">
                          <a:solidFill>
                            <a:srgbClr val="252D30"/>
                          </a:solidFill>
                          <a:latin typeface="Source Sans 3"/>
                          <a:ea typeface="Source Sans 3"/>
                          <a:cs typeface="Source Sans 3"/>
                        </a:rPr>
                        <a:t>Communication delay</a:t>
                      </a:r>
                    </a:p>
                  </a:txBody>
                  <a:tcPr marL="91440" marR="91440" marT="45720" marB="45720" anchor="ctr">
                    <a:solidFill>
                      <a:srgbClr val="FFFFFF"/>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Provide structured submission, routing and visible status</a:t>
                      </a:r>
                    </a:p>
                  </a:txBody>
                  <a:tcPr marL="91440" marR="91440" marT="45720" marB="45720" anchor="ctr">
                    <a:solidFill>
                      <a:srgbClr val="FFFFFF"/>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Purok and Barangay Incident Reporting; report history</a:t>
                      </a:r>
                    </a:p>
                  </a:txBody>
                  <a:tcPr marL="91440" marR="91440" marT="45720" marB="45720" anchor="ctr">
                    <a:solidFill>
                      <a:srgbClr val="FFFFFF"/>
                    </a:solidFill>
                  </a:tcPr>
                </a:tc>
              </a:tr>
              <a:tr h="873919">
                <a:tc>
                  <a:txBody>
                    <a:bodyPr wrap="square" lIns="104775" tIns="66675" rIns="104775" bIns="66675">
                      <a:normAutofit/>
                    </a:bodyPr>
                    <a:lstStyle/>
                    <a:p>
                      <a:pPr algn="l"/>
                      <a:r>
                        <a:rPr sz="1313">
                          <a:solidFill>
                            <a:srgbClr val="252D30"/>
                          </a:solidFill>
                          <a:latin typeface="Source Sans 3"/>
                          <a:ea typeface="Source Sans 3"/>
                          <a:cs typeface="Source Sans 3"/>
                        </a:rPr>
                        <a:t>Manual record management</a:t>
                      </a:r>
                    </a:p>
                  </a:txBody>
                  <a:tcPr marL="91440" marR="91440" marT="45720" marB="45720" anchor="ctr">
                    <a:solidFill>
                      <a:srgbClr val="E9ECE8"/>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Reuse verified, versioned records in an editable SitRep draft</a:t>
                      </a:r>
                    </a:p>
                  </a:txBody>
                  <a:tcPr marL="91440" marR="91440" marT="45720" marB="45720" anchor="ctr">
                    <a:solidFill>
                      <a:srgbClr val="E9ECE8"/>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Incident histories; Situation Report Generation; Historical Catalog</a:t>
                      </a:r>
                    </a:p>
                  </a:txBody>
                  <a:tcPr marL="91440" marR="91440" marT="45720" marB="45720" anchor="ctr">
                    <a:solidFill>
                      <a:srgbClr val="E9ECE8"/>
                    </a:solidFill>
                  </a:tcPr>
                </a:tc>
              </a:tr>
              <a:tr h="873919">
                <a:tc>
                  <a:txBody>
                    <a:bodyPr wrap="square" lIns="104775" tIns="66675" rIns="104775" bIns="66675">
                      <a:normAutofit/>
                    </a:bodyPr>
                    <a:lstStyle/>
                    <a:p>
                      <a:pPr algn="l"/>
                      <a:r>
                        <a:rPr sz="1313">
                          <a:solidFill>
                            <a:srgbClr val="252D30"/>
                          </a:solidFill>
                          <a:latin typeface="Source Sans 3"/>
                          <a:ea typeface="Source Sans 3"/>
                          <a:cs typeface="Source Sans 3"/>
                        </a:rPr>
                        <a:t>Limited data sharing</a:t>
                      </a:r>
                    </a:p>
                  </a:txBody>
                  <a:tcPr marL="91440" marR="91440" marT="45720" marB="45720" anchor="ctr">
                    <a:solidFill>
                      <a:srgbClr val="FFFFFF"/>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Share source-attributed information under role and jurisdiction limits</a:t>
                      </a:r>
                    </a:p>
                  </a:txBody>
                  <a:tcPr marL="91440" marR="91440" marT="45720" marB="45720" anchor="ctr">
                    <a:solidFill>
                      <a:srgbClr val="FFFFFF"/>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Three user-management levels; role-specific Dashboard</a:t>
                      </a:r>
                    </a:p>
                  </a:txBody>
                  <a:tcPr marL="91440" marR="91440" marT="45720" marB="45720" anchor="ctr">
                    <a:solidFill>
                      <a:srgbClr val="FFFFFF"/>
                    </a:solidFill>
                  </a:tcPr>
                </a:tc>
              </a:tr>
              <a:tr h="873919">
                <a:tc>
                  <a:txBody>
                    <a:bodyPr wrap="square" lIns="104775" tIns="66675" rIns="104775" bIns="66675">
                      <a:normAutofit/>
                    </a:bodyPr>
                    <a:lstStyle/>
                    <a:p>
                      <a:pPr algn="l"/>
                      <a:r>
                        <a:rPr sz="1313">
                          <a:solidFill>
                            <a:srgbClr val="252D30"/>
                          </a:solidFill>
                          <a:latin typeface="Source Sans 3"/>
                          <a:ea typeface="Source Sans 3"/>
                          <a:cs typeface="Source Sans 3"/>
                        </a:rPr>
                        <a:t>Inefficient verification</a:t>
                      </a:r>
                    </a:p>
                  </a:txBody>
                  <a:tcPr marL="91440" marR="91440" marT="45720" marB="45720" anchor="ctr">
                    <a:solidFill>
                      <a:srgbClr val="E9ECE8"/>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Record evidence, decision, reason, version and correction path</a:t>
                      </a:r>
                    </a:p>
                  </a:txBody>
                  <a:tcPr marL="91440" marR="91440" marT="45720" marB="45720" anchor="ctr">
                    <a:solidFill>
                      <a:srgbClr val="E9ECE8"/>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Purok and Barangay profile and incident verification</a:t>
                      </a:r>
                    </a:p>
                  </a:txBody>
                  <a:tcPr marL="91440" marR="91440" marT="45720" marB="45720" anchor="ctr">
                    <a:solidFill>
                      <a:srgbClr val="E9ECE8"/>
                    </a:solidFill>
                  </a:tcPr>
                </a:tc>
              </a:tr>
            </a:tbl>
          </a:graphicData>
        </a:graphic>
      </p:graphicFrame>
      <p:sp>
        <p:nvSpPr>
          <p:cNvPr id="8" name="">
            <a:extLst xmlns:a="http://schemas.openxmlformats.org/drawingml/2006/main">
              <a:ext uri="{FF2B5EF4-FFF2-40B4-BE49-F238E27FC236}">
                <a16:creationId xmlns:a16="http://schemas.microsoft.com/office/drawing/2014/main" id="{E3012706-6C17-431C-AAB8-FCB275A81D99}"/>
              </a:ext>
            </a:extLst>
          </p:cNvPr>
          <p:cNvSpPr>
            <a:spLocks xmlns:a="http://schemas.openxmlformats.org/drawingml/2006/main" noGrp="1"/>
          </p:cNvSpPr>
          <p:nvPr/>
        </p:nvSpPr>
        <p:spPr>
          <a:xfrm xmlns:a="http://schemas.openxmlformats.org/drawingml/2006/main">
            <a:off x="933450" y="558165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Source Sans 3"/>
                <a:ea typeface="Source Sans 3"/>
                <a:cs typeface="Source Sans 3"/>
              </a:defRPr>
            </a:pPr>
            <a:r>
              <a:rPr sz="1350" b="1">
                <a:solidFill>
                  <a:srgbClr val="276E6B"/>
                </a:solidFill>
                <a:latin typeface="Source Sans 3"/>
                <a:ea typeface="Source Sans 3"/>
                <a:cs typeface="Source Sans 3"/>
              </a:rPr>
              <a:t>Automated checks support completeness and consistency. Human reviewers decide factual accuracy.</a:t>
            </a:r>
          </a:p>
        </p:txBody>
      </p:sp>
    </p:spTree>
    <p:extLst>
      <p:ext uri="{BB962C8B-B14F-4D97-AF65-F5344CB8AC3E}">
        <p14:creationId xmlns:p14="http://schemas.microsoft.com/office/powerpoint/2010/main" val="594882053"/>
      </p:ext>
    </p:extLst>
  </p:cSld>
</p:sld>
</file>

<file path=ppt/slides/slide16.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ACD6D6FB-74ED-436E-B50E-54D13EF584F6}"/>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7C73CB9-0FE1-4C5D-A402-5F5760EA57D1}"/>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USERS AND CHARACTERISTICS</a:t>
            </a:r>
          </a:p>
        </p:txBody>
      </p:sp>
      <p:sp>
        <p:nvSpPr>
          <p:cNvPr id="3" name="">
            <a:extLst xmlns:a="http://schemas.openxmlformats.org/drawingml/2006/main">
              <a:ext uri="{FF2B5EF4-FFF2-40B4-BE49-F238E27FC236}">
                <a16:creationId xmlns:a16="http://schemas.microsoft.com/office/drawing/2014/main" id="{56366D99-9AD9-4758-8957-34A23B981321}"/>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The interface follows each role's work and device context</a:t>
            </a:r>
          </a:p>
        </p:txBody>
      </p:sp>
      <p:sp>
        <p:nvSpPr>
          <p:cNvPr id="4" name="">
            <a:extLst xmlns:a="http://schemas.openxmlformats.org/drawingml/2006/main">
              <a:ext uri="{FF2B5EF4-FFF2-40B4-BE49-F238E27FC236}">
                <a16:creationId xmlns:a16="http://schemas.microsoft.com/office/drawing/2014/main" id="{3B2735E3-04B6-43F8-A1F7-0E8BAFFF5DC4}"/>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ABFD65F5-5F49-4D26-BFA7-6585F0908F1F}"/>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Table 2, Scope and module descriptions</a:t>
            </a:r>
          </a:p>
        </p:txBody>
      </p:sp>
      <p:sp>
        <p:nvSpPr>
          <p:cNvPr id="6" name="">
            <a:extLst xmlns:a="http://schemas.openxmlformats.org/drawingml/2006/main">
              <a:ext uri="{FF2B5EF4-FFF2-40B4-BE49-F238E27FC236}">
                <a16:creationId xmlns:a16="http://schemas.microsoft.com/office/drawing/2014/main" id="{135F8197-5D39-4A09-941C-289418756F44}"/>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16</a:t>
            </a:r>
          </a:p>
        </p:txBody>
      </p:sp>
      <p:sp>
        <p:nvSpPr>
          <p:cNvPr id="7" name="">
            <a:extLst xmlns:a="http://schemas.openxmlformats.org/drawingml/2006/main">
              <a:ext uri="{FF2B5EF4-FFF2-40B4-BE49-F238E27FC236}">
                <a16:creationId xmlns:a16="http://schemas.microsoft.com/office/drawing/2014/main" id="{EF8A6DE2-76B1-480C-8F36-1D52E941B083}"/>
              </a:ext>
            </a:extLst>
          </p:cNvPr>
          <p:cNvSpPr>
            <a:spLocks xmlns:a="http://schemas.openxmlformats.org/drawingml/2006/main" noGrp="1"/>
          </p:cNvSpPr>
          <p:nvPr/>
        </p:nvSpPr>
        <p:spPr>
          <a:xfrm xmlns:a="http://schemas.openxmlformats.org/drawingml/2006/main">
            <a:off x="933450" y="1466850"/>
            <a:ext cx="2552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PUROK PERSONNEL</a:t>
            </a:r>
          </a:p>
        </p:txBody>
      </p:sp>
      <p:sp>
        <p:nvSpPr>
          <p:cNvPr id="8" name="">
            <a:extLst xmlns:a="http://schemas.openxmlformats.org/drawingml/2006/main">
              <a:ext uri="{FF2B5EF4-FFF2-40B4-BE49-F238E27FC236}">
                <a16:creationId xmlns:a16="http://schemas.microsoft.com/office/drawing/2014/main" id="{6624B088-BE95-4908-8CE5-4D6B8473379F}"/>
              </a:ext>
            </a:extLst>
          </p:cNvPr>
          <p:cNvSpPr>
            <a:spLocks xmlns:a="http://schemas.openxmlformats.org/drawingml/2006/main" noGrp="1"/>
          </p:cNvSpPr>
          <p:nvPr/>
        </p:nvSpPr>
        <p:spPr>
          <a:xfrm xmlns:a="http://schemas.openxmlformats.org/drawingml/2006/main">
            <a:off x="3695700" y="1457325"/>
            <a:ext cx="7429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75" b="0">
                <a:solidFill>
                  <a:srgbClr val="252D30"/>
                </a:solidFill>
                <a:latin typeface="Source Sans 3"/>
                <a:ea typeface="Source Sans 3"/>
                <a:cs typeface="Source Sans 3"/>
              </a:defRPr>
            </a:pPr>
            <a:r>
              <a:rPr sz="1575" b="0">
                <a:solidFill>
                  <a:srgbClr val="252D30"/>
                </a:solidFill>
                <a:latin typeface="Source Sans 3"/>
                <a:ea typeface="Source Sans 3"/>
                <a:cs typeface="Source Sans 3"/>
              </a:rPr>
              <a:t>Mobile-first browser use. Enters aggregate community profile values and initial incident information. Tracks submission status and corrections.</a:t>
            </a:r>
          </a:p>
        </p:txBody>
      </p:sp>
      <p:sp>
        <p:nvSpPr>
          <p:cNvPr id="9" name="">
            <a:extLst xmlns:a="http://schemas.openxmlformats.org/drawingml/2006/main">
              <a:ext uri="{FF2B5EF4-FFF2-40B4-BE49-F238E27FC236}">
                <a16:creationId xmlns:a16="http://schemas.microsoft.com/office/drawing/2014/main" id="{764C5A1F-9097-4FDD-B847-08BD2115EE2C}"/>
              </a:ext>
            </a:extLst>
          </p:cNvPr>
          <p:cNvSpPr>
            <a:spLocks xmlns:a="http://schemas.openxmlformats.org/drawingml/2006/main" noGrp="1"/>
          </p:cNvSpPr>
          <p:nvPr/>
        </p:nvSpPr>
        <p:spPr>
          <a:xfrm xmlns:a="http://schemas.openxmlformats.org/drawingml/2006/main">
            <a:off x="933450" y="2428875"/>
            <a:ext cx="102108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0" name="">
            <a:extLst xmlns:a="http://schemas.openxmlformats.org/drawingml/2006/main">
              <a:ext uri="{FF2B5EF4-FFF2-40B4-BE49-F238E27FC236}">
                <a16:creationId xmlns:a16="http://schemas.microsoft.com/office/drawing/2014/main" id="{33D28856-7679-4831-886B-0E3C4285905A}"/>
              </a:ext>
            </a:extLst>
          </p:cNvPr>
          <p:cNvSpPr>
            <a:spLocks xmlns:a="http://schemas.openxmlformats.org/drawingml/2006/main" noGrp="1"/>
          </p:cNvSpPr>
          <p:nvPr/>
        </p:nvSpPr>
        <p:spPr>
          <a:xfrm xmlns:a="http://schemas.openxmlformats.org/drawingml/2006/main">
            <a:off x="933450" y="2771775"/>
            <a:ext cx="2552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BARANGAY PERSONNEL</a:t>
            </a:r>
          </a:p>
        </p:txBody>
      </p:sp>
      <p:sp>
        <p:nvSpPr>
          <p:cNvPr id="11" name="">
            <a:extLst xmlns:a="http://schemas.openxmlformats.org/drawingml/2006/main">
              <a:ext uri="{FF2B5EF4-FFF2-40B4-BE49-F238E27FC236}">
                <a16:creationId xmlns:a16="http://schemas.microsoft.com/office/drawing/2014/main" id="{782BAFAD-1499-40E5-B8D2-DE448BB26651}"/>
              </a:ext>
            </a:extLst>
          </p:cNvPr>
          <p:cNvSpPr>
            <a:spLocks xmlns:a="http://schemas.openxmlformats.org/drawingml/2006/main" noGrp="1"/>
          </p:cNvSpPr>
          <p:nvPr/>
        </p:nvSpPr>
        <p:spPr>
          <a:xfrm xmlns:a="http://schemas.openxmlformats.org/drawingml/2006/main">
            <a:off x="3695700" y="2762250"/>
            <a:ext cx="7429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75" b="0">
                <a:solidFill>
                  <a:srgbClr val="252D30"/>
                </a:solidFill>
                <a:latin typeface="Source Sans 3"/>
                <a:ea typeface="Source Sans 3"/>
                <a:cs typeface="Source Sans 3"/>
              </a:defRPr>
            </a:pPr>
            <a:r>
              <a:rPr sz="1575" b="0">
                <a:solidFill>
                  <a:srgbClr val="252D30"/>
                </a:solidFill>
                <a:latin typeface="Source Sans 3"/>
                <a:ea typeface="Source Sans 3"/>
                <a:cs typeface="Source Sans 3"/>
              </a:rPr>
              <a:t>Mobile and desktop browser use. Reviews Purok submissions, consolidates verified data, adds Barangay-level assessment and tracks report history.</a:t>
            </a:r>
          </a:p>
        </p:txBody>
      </p:sp>
      <p:sp>
        <p:nvSpPr>
          <p:cNvPr id="12" name="">
            <a:extLst xmlns:a="http://schemas.openxmlformats.org/drawingml/2006/main">
              <a:ext uri="{FF2B5EF4-FFF2-40B4-BE49-F238E27FC236}">
                <a16:creationId xmlns:a16="http://schemas.microsoft.com/office/drawing/2014/main" id="{B8F2EC4F-99A2-4F3F-8BFA-91DBF4861E09}"/>
              </a:ext>
            </a:extLst>
          </p:cNvPr>
          <p:cNvSpPr>
            <a:spLocks xmlns:a="http://schemas.openxmlformats.org/drawingml/2006/main" noGrp="1"/>
          </p:cNvSpPr>
          <p:nvPr/>
        </p:nvSpPr>
        <p:spPr>
          <a:xfrm xmlns:a="http://schemas.openxmlformats.org/drawingml/2006/main">
            <a:off x="933450" y="3733800"/>
            <a:ext cx="102108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3" name="">
            <a:extLst xmlns:a="http://schemas.openxmlformats.org/drawingml/2006/main">
              <a:ext uri="{FF2B5EF4-FFF2-40B4-BE49-F238E27FC236}">
                <a16:creationId xmlns:a16="http://schemas.microsoft.com/office/drawing/2014/main" id="{3A8EADE3-A26F-4A45-BB04-150D61B4F54D}"/>
              </a:ext>
            </a:extLst>
          </p:cNvPr>
          <p:cNvSpPr>
            <a:spLocks xmlns:a="http://schemas.openxmlformats.org/drawingml/2006/main" noGrp="1"/>
          </p:cNvSpPr>
          <p:nvPr/>
        </p:nvSpPr>
        <p:spPr>
          <a:xfrm xmlns:a="http://schemas.openxmlformats.org/drawingml/2006/main">
            <a:off x="933450" y="4076700"/>
            <a:ext cx="2552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DRRM ADMINISTRATOR</a:t>
            </a:r>
          </a:p>
        </p:txBody>
      </p:sp>
      <p:sp>
        <p:nvSpPr>
          <p:cNvPr id="14" name="">
            <a:extLst xmlns:a="http://schemas.openxmlformats.org/drawingml/2006/main">
              <a:ext uri="{FF2B5EF4-FFF2-40B4-BE49-F238E27FC236}">
                <a16:creationId xmlns:a16="http://schemas.microsoft.com/office/drawing/2014/main" id="{02801A1C-E431-48BB-8DCC-36E61D1565DA}"/>
              </a:ext>
            </a:extLst>
          </p:cNvPr>
          <p:cNvSpPr>
            <a:spLocks xmlns:a="http://schemas.openxmlformats.org/drawingml/2006/main" noGrp="1"/>
          </p:cNvSpPr>
          <p:nvPr/>
        </p:nvSpPr>
        <p:spPr>
          <a:xfrm xmlns:a="http://schemas.openxmlformats.org/drawingml/2006/main">
            <a:off x="3695700" y="4067175"/>
            <a:ext cx="7429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75" b="0">
                <a:solidFill>
                  <a:srgbClr val="252D30"/>
                </a:solidFill>
                <a:latin typeface="Source Sans 3"/>
                <a:ea typeface="Source Sans 3"/>
                <a:cs typeface="Source Sans 3"/>
              </a:defRPr>
            </a:pPr>
            <a:r>
              <a:rPr sz="1575" b="0">
                <a:solidFill>
                  <a:srgbClr val="252D30"/>
                </a:solidFill>
                <a:latin typeface="Source Sans 3"/>
                <a:ea typeface="Source Sans 3"/>
                <a:cs typeface="Source Sans 3"/>
              </a:rPr>
              <a:t>Desktop-capable administrative work. Manages accounts and hazard types, verifies Barangay submissions, prepares SitReps and views system-level summaries.</a:t>
            </a:r>
          </a:p>
        </p:txBody>
      </p:sp>
    </p:spTree>
    <p:extLst>
      <p:ext uri="{BB962C8B-B14F-4D97-AF65-F5344CB8AC3E}">
        <p14:creationId xmlns:p14="http://schemas.microsoft.com/office/powerpoint/2010/main" val="1741782712"/>
      </p:ext>
    </p:extLst>
  </p:cSld>
</p:sld>
</file>

<file path=ppt/slides/slide17.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8C5DA544-5C01-4328-A7A6-0AA88B6A9E47}"/>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204AE3C-27BD-4259-9D39-6623CE196BEA}"/>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SCOPE AND LIMITATIONS</a:t>
            </a:r>
          </a:p>
        </p:txBody>
      </p:sp>
      <p:sp>
        <p:nvSpPr>
          <p:cNvPr id="3" name="">
            <a:extLst xmlns:a="http://schemas.openxmlformats.org/drawingml/2006/main">
              <a:ext uri="{FF2B5EF4-FFF2-40B4-BE49-F238E27FC236}">
                <a16:creationId xmlns:a16="http://schemas.microsoft.com/office/drawing/2014/main" id="{8059E281-562C-411D-97EC-9120BE144F1E}"/>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The proposal covers response and recovery reporting</a:t>
            </a:r>
          </a:p>
        </p:txBody>
      </p:sp>
      <p:sp>
        <p:nvSpPr>
          <p:cNvPr id="4" name="">
            <a:extLst xmlns:a="http://schemas.openxmlformats.org/drawingml/2006/main">
              <a:ext uri="{FF2B5EF4-FFF2-40B4-BE49-F238E27FC236}">
                <a16:creationId xmlns:a16="http://schemas.microsoft.com/office/drawing/2014/main" id="{C275BFE8-B781-4851-81A8-0E01A01E1BB5}"/>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0AE74068-6597-43D0-9E9B-E66E82D69161}"/>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Scope and Limitations</a:t>
            </a:r>
          </a:p>
        </p:txBody>
      </p:sp>
      <p:sp>
        <p:nvSpPr>
          <p:cNvPr id="6" name="">
            <a:extLst xmlns:a="http://schemas.openxmlformats.org/drawingml/2006/main">
              <a:ext uri="{FF2B5EF4-FFF2-40B4-BE49-F238E27FC236}">
                <a16:creationId xmlns:a16="http://schemas.microsoft.com/office/drawing/2014/main" id="{9BE0442D-7BE7-4D71-9595-BBFAF7A6A646}"/>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17</a:t>
            </a:r>
          </a:p>
        </p:txBody>
      </p:sp>
      <p:sp>
        <p:nvSpPr>
          <p:cNvPr id="7" name="">
            <a:extLst xmlns:a="http://schemas.openxmlformats.org/drawingml/2006/main">
              <a:ext uri="{FF2B5EF4-FFF2-40B4-BE49-F238E27FC236}">
                <a16:creationId xmlns:a16="http://schemas.microsoft.com/office/drawing/2014/main" id="{5B0F4B7C-0557-4C9B-BFD5-BC8A1BFA8BFE}"/>
              </a:ext>
            </a:extLst>
          </p:cNvPr>
          <p:cNvSpPr>
            <a:spLocks xmlns:a="http://schemas.openxmlformats.org/drawingml/2006/main" noGrp="1"/>
          </p:cNvSpPr>
          <p:nvPr/>
        </p:nvSpPr>
        <p:spPr>
          <a:xfrm xmlns:a="http://schemas.openxmlformats.org/drawingml/2006/main">
            <a:off x="933450" y="1438275"/>
            <a:ext cx="46196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IN SCOPE</a:t>
            </a:r>
          </a:p>
        </p:txBody>
      </p:sp>
      <p:sp>
        <p:nvSpPr>
          <p:cNvPr id="8" name="">
            <a:extLst xmlns:a="http://schemas.openxmlformats.org/drawingml/2006/main">
              <a:ext uri="{FF2B5EF4-FFF2-40B4-BE49-F238E27FC236}">
                <a16:creationId xmlns:a16="http://schemas.microsoft.com/office/drawing/2014/main" id="{AD57D45A-BBC2-4959-9E2E-31E06E2DA48A}"/>
              </a:ext>
            </a:extLst>
          </p:cNvPr>
          <p:cNvSpPr>
            <a:spLocks xmlns:a="http://schemas.openxmlformats.org/drawingml/2006/main" noGrp="1"/>
          </p:cNvSpPr>
          <p:nvPr/>
        </p:nvSpPr>
        <p:spPr>
          <a:xfrm xmlns:a="http://schemas.openxmlformats.org/drawingml/2006/main">
            <a:off x="933450" y="1809750"/>
            <a:ext cx="4000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01</a:t>
            </a:r>
          </a:p>
        </p:txBody>
      </p:sp>
      <p:sp>
        <p:nvSpPr>
          <p:cNvPr id="9" name="">
            <a:extLst xmlns:a="http://schemas.openxmlformats.org/drawingml/2006/main">
              <a:ext uri="{FF2B5EF4-FFF2-40B4-BE49-F238E27FC236}">
                <a16:creationId xmlns:a16="http://schemas.microsoft.com/office/drawing/2014/main" id="{45199D9A-BBFF-43FE-A543-BCB0416E7AE1}"/>
              </a:ext>
            </a:extLst>
          </p:cNvPr>
          <p:cNvSpPr>
            <a:spLocks xmlns:a="http://schemas.openxmlformats.org/drawingml/2006/main" noGrp="1"/>
          </p:cNvSpPr>
          <p:nvPr/>
        </p:nvSpPr>
        <p:spPr>
          <a:xfrm xmlns:a="http://schemas.openxmlformats.org/drawingml/2006/main">
            <a:off x="1390650" y="1809750"/>
            <a:ext cx="42291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Purok, Barangay and DRRM Administrator roles</a:t>
            </a:r>
          </a:p>
        </p:txBody>
      </p:sp>
      <p:sp>
        <p:nvSpPr>
          <p:cNvPr id="10" name="">
            <a:extLst xmlns:a="http://schemas.openxmlformats.org/drawingml/2006/main">
              <a:ext uri="{FF2B5EF4-FFF2-40B4-BE49-F238E27FC236}">
                <a16:creationId xmlns:a16="http://schemas.microsoft.com/office/drawing/2014/main" id="{734110BF-2011-420B-A654-8BF89FFA19B2}"/>
              </a:ext>
            </a:extLst>
          </p:cNvPr>
          <p:cNvSpPr>
            <a:spLocks xmlns:a="http://schemas.openxmlformats.org/drawingml/2006/main" noGrp="1"/>
          </p:cNvSpPr>
          <p:nvPr/>
        </p:nvSpPr>
        <p:spPr>
          <a:xfrm xmlns:a="http://schemas.openxmlformats.org/drawingml/2006/main">
            <a:off x="1390650" y="2476500"/>
            <a:ext cx="42291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1" name="">
            <a:extLst xmlns:a="http://schemas.openxmlformats.org/drawingml/2006/main">
              <a:ext uri="{FF2B5EF4-FFF2-40B4-BE49-F238E27FC236}">
                <a16:creationId xmlns:a16="http://schemas.microsoft.com/office/drawing/2014/main" id="{7393CCAA-5ADB-4F23-BFC6-F9276D6C6C30}"/>
              </a:ext>
            </a:extLst>
          </p:cNvPr>
          <p:cNvSpPr>
            <a:spLocks xmlns:a="http://schemas.openxmlformats.org/drawingml/2006/main" noGrp="1"/>
          </p:cNvSpPr>
          <p:nvPr/>
        </p:nvSpPr>
        <p:spPr>
          <a:xfrm xmlns:a="http://schemas.openxmlformats.org/drawingml/2006/main">
            <a:off x="933450" y="2543175"/>
            <a:ext cx="4000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02</a:t>
            </a:r>
          </a:p>
        </p:txBody>
      </p:sp>
      <p:sp>
        <p:nvSpPr>
          <p:cNvPr id="12" name="">
            <a:extLst xmlns:a="http://schemas.openxmlformats.org/drawingml/2006/main">
              <a:ext uri="{FF2B5EF4-FFF2-40B4-BE49-F238E27FC236}">
                <a16:creationId xmlns:a16="http://schemas.microsoft.com/office/drawing/2014/main" id="{0E2DF502-404A-494E-B8F0-C132025C1858}"/>
              </a:ext>
            </a:extLst>
          </p:cNvPr>
          <p:cNvSpPr>
            <a:spLocks xmlns:a="http://schemas.openxmlformats.org/drawingml/2006/main" noGrp="1"/>
          </p:cNvSpPr>
          <p:nvPr/>
        </p:nvSpPr>
        <p:spPr>
          <a:xfrm xmlns:a="http://schemas.openxmlformats.org/drawingml/2006/main">
            <a:off x="1390650" y="2543175"/>
            <a:ext cx="42291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Profile and incident reporting with verification</a:t>
            </a:r>
          </a:p>
        </p:txBody>
      </p:sp>
      <p:sp>
        <p:nvSpPr>
          <p:cNvPr id="13" name="">
            <a:extLst xmlns:a="http://schemas.openxmlformats.org/drawingml/2006/main">
              <a:ext uri="{FF2B5EF4-FFF2-40B4-BE49-F238E27FC236}">
                <a16:creationId xmlns:a16="http://schemas.microsoft.com/office/drawing/2014/main" id="{09CBB219-B4F3-48CD-A2AB-30AC45D8BD49}"/>
              </a:ext>
            </a:extLst>
          </p:cNvPr>
          <p:cNvSpPr>
            <a:spLocks xmlns:a="http://schemas.openxmlformats.org/drawingml/2006/main" noGrp="1"/>
          </p:cNvSpPr>
          <p:nvPr/>
        </p:nvSpPr>
        <p:spPr>
          <a:xfrm xmlns:a="http://schemas.openxmlformats.org/drawingml/2006/main">
            <a:off x="1390650" y="3209925"/>
            <a:ext cx="42291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4" name="">
            <a:extLst xmlns:a="http://schemas.openxmlformats.org/drawingml/2006/main">
              <a:ext uri="{FF2B5EF4-FFF2-40B4-BE49-F238E27FC236}">
                <a16:creationId xmlns:a16="http://schemas.microsoft.com/office/drawing/2014/main" id="{589BF4A7-02B8-4584-886B-BC2CD0237666}"/>
              </a:ext>
            </a:extLst>
          </p:cNvPr>
          <p:cNvSpPr>
            <a:spLocks xmlns:a="http://schemas.openxmlformats.org/drawingml/2006/main" noGrp="1"/>
          </p:cNvSpPr>
          <p:nvPr/>
        </p:nvSpPr>
        <p:spPr>
          <a:xfrm xmlns:a="http://schemas.openxmlformats.org/drawingml/2006/main">
            <a:off x="933450" y="3276600"/>
            <a:ext cx="4000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03</a:t>
            </a:r>
          </a:p>
        </p:txBody>
      </p:sp>
      <p:sp>
        <p:nvSpPr>
          <p:cNvPr id="15" name="">
            <a:extLst xmlns:a="http://schemas.openxmlformats.org/drawingml/2006/main">
              <a:ext uri="{FF2B5EF4-FFF2-40B4-BE49-F238E27FC236}">
                <a16:creationId xmlns:a16="http://schemas.microsoft.com/office/drawing/2014/main" id="{BCA1B794-A915-41BF-B021-E37A8BB2D8B7}"/>
              </a:ext>
            </a:extLst>
          </p:cNvPr>
          <p:cNvSpPr>
            <a:spLocks xmlns:a="http://schemas.openxmlformats.org/drawingml/2006/main" noGrp="1"/>
          </p:cNvSpPr>
          <p:nvPr/>
        </p:nvSpPr>
        <p:spPr>
          <a:xfrm xmlns:a="http://schemas.openxmlformats.org/drawingml/2006/main">
            <a:off x="1390650" y="3276600"/>
            <a:ext cx="42291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Response and recovery SitReps</a:t>
            </a:r>
          </a:p>
        </p:txBody>
      </p:sp>
      <p:sp>
        <p:nvSpPr>
          <p:cNvPr id="16" name="">
            <a:extLst xmlns:a="http://schemas.openxmlformats.org/drawingml/2006/main">
              <a:ext uri="{FF2B5EF4-FFF2-40B4-BE49-F238E27FC236}">
                <a16:creationId xmlns:a16="http://schemas.microsoft.com/office/drawing/2014/main" id="{EB85D0E2-0B96-49C6-A457-C62C75FFB5CB}"/>
              </a:ext>
            </a:extLst>
          </p:cNvPr>
          <p:cNvSpPr>
            <a:spLocks xmlns:a="http://schemas.openxmlformats.org/drawingml/2006/main" noGrp="1"/>
          </p:cNvSpPr>
          <p:nvPr/>
        </p:nvSpPr>
        <p:spPr>
          <a:xfrm xmlns:a="http://schemas.openxmlformats.org/drawingml/2006/main">
            <a:off x="1390650" y="3943350"/>
            <a:ext cx="42291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7" name="">
            <a:extLst xmlns:a="http://schemas.openxmlformats.org/drawingml/2006/main">
              <a:ext uri="{FF2B5EF4-FFF2-40B4-BE49-F238E27FC236}">
                <a16:creationId xmlns:a16="http://schemas.microsoft.com/office/drawing/2014/main" id="{5350CE91-AE43-4966-A7E0-8F5B943BA3A8}"/>
              </a:ext>
            </a:extLst>
          </p:cNvPr>
          <p:cNvSpPr>
            <a:spLocks xmlns:a="http://schemas.openxmlformats.org/drawingml/2006/main" noGrp="1"/>
          </p:cNvSpPr>
          <p:nvPr/>
        </p:nvSpPr>
        <p:spPr>
          <a:xfrm xmlns:a="http://schemas.openxmlformats.org/drawingml/2006/main">
            <a:off x="933450" y="4010025"/>
            <a:ext cx="4000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04</a:t>
            </a:r>
          </a:p>
        </p:txBody>
      </p:sp>
      <p:sp>
        <p:nvSpPr>
          <p:cNvPr id="18" name="">
            <a:extLst xmlns:a="http://schemas.openxmlformats.org/drawingml/2006/main">
              <a:ext uri="{FF2B5EF4-FFF2-40B4-BE49-F238E27FC236}">
                <a16:creationId xmlns:a16="http://schemas.microsoft.com/office/drawing/2014/main" id="{804A41A3-A762-410C-9F1F-E11E69F9E854}"/>
              </a:ext>
            </a:extLst>
          </p:cNvPr>
          <p:cNvSpPr>
            <a:spLocks xmlns:a="http://schemas.openxmlformats.org/drawingml/2006/main" noGrp="1"/>
          </p:cNvSpPr>
          <p:nvPr/>
        </p:nvSpPr>
        <p:spPr>
          <a:xfrm xmlns:a="http://schemas.openxmlformats.org/drawingml/2006/main">
            <a:off x="1390650" y="4010025"/>
            <a:ext cx="42291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Role-based history, dashboard and exports</a:t>
            </a:r>
          </a:p>
        </p:txBody>
      </p:sp>
      <p:sp>
        <p:nvSpPr>
          <p:cNvPr id="19" name="">
            <a:extLst xmlns:a="http://schemas.openxmlformats.org/drawingml/2006/main">
              <a:ext uri="{FF2B5EF4-FFF2-40B4-BE49-F238E27FC236}">
                <a16:creationId xmlns:a16="http://schemas.microsoft.com/office/drawing/2014/main" id="{47ADD102-47AB-4E1D-A446-6D96AC37C81F}"/>
              </a:ext>
            </a:extLst>
          </p:cNvPr>
          <p:cNvSpPr>
            <a:spLocks xmlns:a="http://schemas.openxmlformats.org/drawingml/2006/main" noGrp="1"/>
          </p:cNvSpPr>
          <p:nvPr/>
        </p:nvSpPr>
        <p:spPr>
          <a:xfrm xmlns:a="http://schemas.openxmlformats.org/drawingml/2006/main">
            <a:off x="6286500" y="1438275"/>
            <a:ext cx="4762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LIMITATIONS</a:t>
            </a:r>
          </a:p>
        </p:txBody>
      </p:sp>
      <p:sp>
        <p:nvSpPr>
          <p:cNvPr id="20" name="">
            <a:extLst xmlns:a="http://schemas.openxmlformats.org/drawingml/2006/main">
              <a:ext uri="{FF2B5EF4-FFF2-40B4-BE49-F238E27FC236}">
                <a16:creationId xmlns:a16="http://schemas.microsoft.com/office/drawing/2014/main" id="{8A7A26D9-D318-4320-B400-B67143DBBFA4}"/>
              </a:ext>
            </a:extLst>
          </p:cNvPr>
          <p:cNvSpPr>
            <a:spLocks xmlns:a="http://schemas.openxmlformats.org/drawingml/2006/main" noGrp="1"/>
          </p:cNvSpPr>
          <p:nvPr/>
        </p:nvSpPr>
        <p:spPr>
          <a:xfrm xmlns:a="http://schemas.openxmlformats.org/drawingml/2006/main">
            <a:off x="6286500" y="1809750"/>
            <a:ext cx="4000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01</a:t>
            </a:r>
          </a:p>
        </p:txBody>
      </p:sp>
      <p:sp>
        <p:nvSpPr>
          <p:cNvPr id="21" name="">
            <a:extLst xmlns:a="http://schemas.openxmlformats.org/drawingml/2006/main">
              <a:ext uri="{FF2B5EF4-FFF2-40B4-BE49-F238E27FC236}">
                <a16:creationId xmlns:a16="http://schemas.microsoft.com/office/drawing/2014/main" id="{1A9FDE3C-E8C4-46B4-A12F-CFCC108E2321}"/>
              </a:ext>
            </a:extLst>
          </p:cNvPr>
          <p:cNvSpPr>
            <a:spLocks xmlns:a="http://schemas.openxmlformats.org/drawingml/2006/main" noGrp="1"/>
          </p:cNvSpPr>
          <p:nvPr/>
        </p:nvSpPr>
        <p:spPr>
          <a:xfrm xmlns:a="http://schemas.openxmlformats.org/drawingml/2006/main">
            <a:off x="6743700" y="1809750"/>
            <a:ext cx="44005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Internet and central database are required</a:t>
            </a:r>
          </a:p>
        </p:txBody>
      </p:sp>
      <p:sp>
        <p:nvSpPr>
          <p:cNvPr id="22" name="">
            <a:extLst xmlns:a="http://schemas.openxmlformats.org/drawingml/2006/main">
              <a:ext uri="{FF2B5EF4-FFF2-40B4-BE49-F238E27FC236}">
                <a16:creationId xmlns:a16="http://schemas.microsoft.com/office/drawing/2014/main" id="{DF6A5623-3B46-4BFD-B4D9-9BC266651796}"/>
              </a:ext>
            </a:extLst>
          </p:cNvPr>
          <p:cNvSpPr>
            <a:spLocks xmlns:a="http://schemas.openxmlformats.org/drawingml/2006/main" noGrp="1"/>
          </p:cNvSpPr>
          <p:nvPr/>
        </p:nvSpPr>
        <p:spPr>
          <a:xfrm xmlns:a="http://schemas.openxmlformats.org/drawingml/2006/main">
            <a:off x="6743700" y="2476500"/>
            <a:ext cx="44005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3" name="">
            <a:extLst xmlns:a="http://schemas.openxmlformats.org/drawingml/2006/main">
              <a:ext uri="{FF2B5EF4-FFF2-40B4-BE49-F238E27FC236}">
                <a16:creationId xmlns:a16="http://schemas.microsoft.com/office/drawing/2014/main" id="{E649C2DF-3060-44B8-8008-7D397DB3573A}"/>
              </a:ext>
            </a:extLst>
          </p:cNvPr>
          <p:cNvSpPr>
            <a:spLocks xmlns:a="http://schemas.openxmlformats.org/drawingml/2006/main" noGrp="1"/>
          </p:cNvSpPr>
          <p:nvPr/>
        </p:nvSpPr>
        <p:spPr>
          <a:xfrm xmlns:a="http://schemas.openxmlformats.org/drawingml/2006/main">
            <a:off x="6286500" y="2543175"/>
            <a:ext cx="4000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02</a:t>
            </a:r>
          </a:p>
        </p:txBody>
      </p:sp>
      <p:sp>
        <p:nvSpPr>
          <p:cNvPr id="24" name="">
            <a:extLst xmlns:a="http://schemas.openxmlformats.org/drawingml/2006/main">
              <a:ext uri="{FF2B5EF4-FFF2-40B4-BE49-F238E27FC236}">
                <a16:creationId xmlns:a16="http://schemas.microsoft.com/office/drawing/2014/main" id="{D4244D96-5B8F-45CF-9D1D-D8BC11EBC00C}"/>
              </a:ext>
            </a:extLst>
          </p:cNvPr>
          <p:cNvSpPr>
            <a:spLocks xmlns:a="http://schemas.openxmlformats.org/drawingml/2006/main" noGrp="1"/>
          </p:cNvSpPr>
          <p:nvPr/>
        </p:nvSpPr>
        <p:spPr>
          <a:xfrm xmlns:a="http://schemas.openxmlformats.org/drawingml/2006/main">
            <a:off x="6743700" y="2543175"/>
            <a:ext cx="44005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No offline synchronization or SMS fallback</a:t>
            </a:r>
          </a:p>
        </p:txBody>
      </p:sp>
      <p:sp>
        <p:nvSpPr>
          <p:cNvPr id="25" name="">
            <a:extLst xmlns:a="http://schemas.openxmlformats.org/drawingml/2006/main">
              <a:ext uri="{FF2B5EF4-FFF2-40B4-BE49-F238E27FC236}">
                <a16:creationId xmlns:a16="http://schemas.microsoft.com/office/drawing/2014/main" id="{40303002-8975-455A-A3A1-4A61684E6302}"/>
              </a:ext>
            </a:extLst>
          </p:cNvPr>
          <p:cNvSpPr>
            <a:spLocks xmlns:a="http://schemas.openxmlformats.org/drawingml/2006/main" noGrp="1"/>
          </p:cNvSpPr>
          <p:nvPr/>
        </p:nvSpPr>
        <p:spPr>
          <a:xfrm xmlns:a="http://schemas.openxmlformats.org/drawingml/2006/main">
            <a:off x="6743700" y="3209925"/>
            <a:ext cx="44005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6" name="">
            <a:extLst xmlns:a="http://schemas.openxmlformats.org/drawingml/2006/main">
              <a:ext uri="{FF2B5EF4-FFF2-40B4-BE49-F238E27FC236}">
                <a16:creationId xmlns:a16="http://schemas.microsoft.com/office/drawing/2014/main" id="{838EE5E1-6680-4F48-B68B-4546A43F94AF}"/>
              </a:ext>
            </a:extLst>
          </p:cNvPr>
          <p:cNvSpPr>
            <a:spLocks xmlns:a="http://schemas.openxmlformats.org/drawingml/2006/main" noGrp="1"/>
          </p:cNvSpPr>
          <p:nvPr/>
        </p:nvSpPr>
        <p:spPr>
          <a:xfrm xmlns:a="http://schemas.openxmlformats.org/drawingml/2006/main">
            <a:off x="6286500" y="3276600"/>
            <a:ext cx="4000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03</a:t>
            </a:r>
          </a:p>
        </p:txBody>
      </p:sp>
      <p:sp>
        <p:nvSpPr>
          <p:cNvPr id="27" name="">
            <a:extLst xmlns:a="http://schemas.openxmlformats.org/drawingml/2006/main">
              <a:ext uri="{FF2B5EF4-FFF2-40B4-BE49-F238E27FC236}">
                <a16:creationId xmlns:a16="http://schemas.microsoft.com/office/drawing/2014/main" id="{963D7858-C316-4D2C-814B-B859EF9B8BF2}"/>
              </a:ext>
            </a:extLst>
          </p:cNvPr>
          <p:cNvSpPr>
            <a:spLocks xmlns:a="http://schemas.openxmlformats.org/drawingml/2006/main" noGrp="1"/>
          </p:cNvSpPr>
          <p:nvPr/>
        </p:nvSpPr>
        <p:spPr>
          <a:xfrm xmlns:a="http://schemas.openxmlformats.org/drawingml/2006/main">
            <a:off x="6743700" y="3276600"/>
            <a:ext cx="44005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No native mobile app or public announcement module</a:t>
            </a:r>
          </a:p>
        </p:txBody>
      </p:sp>
      <p:sp>
        <p:nvSpPr>
          <p:cNvPr id="28" name="">
            <a:extLst xmlns:a="http://schemas.openxmlformats.org/drawingml/2006/main">
              <a:ext uri="{FF2B5EF4-FFF2-40B4-BE49-F238E27FC236}">
                <a16:creationId xmlns:a16="http://schemas.microsoft.com/office/drawing/2014/main" id="{3DD25CAC-6549-4D17-9F2B-191A9EA9B39C}"/>
              </a:ext>
            </a:extLst>
          </p:cNvPr>
          <p:cNvSpPr>
            <a:spLocks xmlns:a="http://schemas.openxmlformats.org/drawingml/2006/main" noGrp="1"/>
          </p:cNvSpPr>
          <p:nvPr/>
        </p:nvSpPr>
        <p:spPr>
          <a:xfrm xmlns:a="http://schemas.openxmlformats.org/drawingml/2006/main">
            <a:off x="6743700" y="3943350"/>
            <a:ext cx="44005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9" name="">
            <a:extLst xmlns:a="http://schemas.openxmlformats.org/drawingml/2006/main">
              <a:ext uri="{FF2B5EF4-FFF2-40B4-BE49-F238E27FC236}">
                <a16:creationId xmlns:a16="http://schemas.microsoft.com/office/drawing/2014/main" id="{4A2DDAC5-CC57-4F58-8AE7-57E27EC1A2A7}"/>
              </a:ext>
            </a:extLst>
          </p:cNvPr>
          <p:cNvSpPr>
            <a:spLocks xmlns:a="http://schemas.openxmlformats.org/drawingml/2006/main" noGrp="1"/>
          </p:cNvSpPr>
          <p:nvPr/>
        </p:nvSpPr>
        <p:spPr>
          <a:xfrm xmlns:a="http://schemas.openxmlformats.org/drawingml/2006/main">
            <a:off x="6286500" y="4010025"/>
            <a:ext cx="4000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04</a:t>
            </a:r>
          </a:p>
        </p:txBody>
      </p:sp>
      <p:sp>
        <p:nvSpPr>
          <p:cNvPr id="30" name="">
            <a:extLst xmlns:a="http://schemas.openxmlformats.org/drawingml/2006/main">
              <a:ext uri="{FF2B5EF4-FFF2-40B4-BE49-F238E27FC236}">
                <a16:creationId xmlns:a16="http://schemas.microsoft.com/office/drawing/2014/main" id="{84340518-7094-4367-A7D7-5DB48E6A9E2C}"/>
              </a:ext>
            </a:extLst>
          </p:cNvPr>
          <p:cNvSpPr>
            <a:spLocks xmlns:a="http://schemas.openxmlformats.org/drawingml/2006/main" noGrp="1"/>
          </p:cNvSpPr>
          <p:nvPr/>
        </p:nvSpPr>
        <p:spPr>
          <a:xfrm xmlns:a="http://schemas.openxmlformats.org/drawingml/2006/main">
            <a:off x="6743700" y="4010025"/>
            <a:ext cx="44005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Pre-disaster preparedness and risk monitoring are excluded</a:t>
            </a:r>
          </a:p>
        </p:txBody>
      </p:sp>
      <p:sp>
        <p:nvSpPr>
          <p:cNvPr id="31" name="">
            <a:extLst xmlns:a="http://schemas.openxmlformats.org/drawingml/2006/main">
              <a:ext uri="{FF2B5EF4-FFF2-40B4-BE49-F238E27FC236}">
                <a16:creationId xmlns:a16="http://schemas.microsoft.com/office/drawing/2014/main" id="{B1B323D5-3DDD-4859-869B-0A5380461312}"/>
              </a:ext>
            </a:extLst>
          </p:cNvPr>
          <p:cNvSpPr>
            <a:spLocks xmlns:a="http://schemas.openxmlformats.org/drawingml/2006/main" noGrp="1"/>
          </p:cNvSpPr>
          <p:nvPr/>
        </p:nvSpPr>
        <p:spPr>
          <a:xfrm xmlns:a="http://schemas.openxmlformats.org/drawingml/2006/main">
            <a:off x="933450" y="5067300"/>
            <a:ext cx="10229850" cy="685800"/>
          </a:xfrm>
          <a:prstGeom xmlns:a="http://schemas.openxmlformats.org/drawingml/2006/main" prst="rect">
            <a:avLst/>
          </a:prstGeom>
          <a:solidFill xmlns:a="http://schemas.openxmlformats.org/drawingml/2006/main">
            <a:srgbClr val="F3EBDD"/>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682213F5-BFFF-4D26-8E34-696D569D91B1}"/>
              </a:ext>
            </a:extLst>
          </p:cNvPr>
          <p:cNvSpPr>
            <a:spLocks xmlns:a="http://schemas.openxmlformats.org/drawingml/2006/main" noGrp="1"/>
          </p:cNvSpPr>
          <p:nvPr/>
        </p:nvSpPr>
        <p:spPr>
          <a:xfrm xmlns:a="http://schemas.openxmlformats.org/drawingml/2006/main">
            <a:off x="1143000" y="5181600"/>
            <a:ext cx="9829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Before defense, align the multi-organization scope, access matrix and Figure 25 with the stated web-only design.</a:t>
            </a:r>
          </a:p>
        </p:txBody>
      </p:sp>
    </p:spTree>
    <p:extLst>
      <p:ext uri="{BB962C8B-B14F-4D97-AF65-F5344CB8AC3E}">
        <p14:creationId xmlns:p14="http://schemas.microsoft.com/office/powerpoint/2010/main" val="1788676704"/>
      </p:ext>
    </p:extLst>
  </p:cSld>
</p:sld>
</file>

<file path=ppt/slides/slide18.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1861DA28-2F5A-4C36-A6C3-E822045562B0}"/>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363CB4D-873D-4928-B19C-55D0C409F2B7}"/>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ARCHITECTURAL DESIGN</a:t>
            </a:r>
          </a:p>
        </p:txBody>
      </p:sp>
      <p:sp>
        <p:nvSpPr>
          <p:cNvPr id="3" name="">
            <a:extLst xmlns:a="http://schemas.openxmlformats.org/drawingml/2006/main">
              <a:ext uri="{FF2B5EF4-FFF2-40B4-BE49-F238E27FC236}">
                <a16:creationId xmlns:a16="http://schemas.microsoft.com/office/drawing/2014/main" id="{F90D70AD-812F-444D-A61F-DC7F057E6699}"/>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Four layers separate interface, workflow, network and storage</a:t>
            </a:r>
          </a:p>
        </p:txBody>
      </p:sp>
      <p:sp>
        <p:nvSpPr>
          <p:cNvPr id="4" name="">
            <a:extLst xmlns:a="http://schemas.openxmlformats.org/drawingml/2006/main">
              <a:ext uri="{FF2B5EF4-FFF2-40B4-BE49-F238E27FC236}">
                <a16:creationId xmlns:a16="http://schemas.microsoft.com/office/drawing/2014/main" id="{5FE8434A-4E01-43EE-BCFC-20B5BF141306}"/>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02470B38-8F48-4559-89EC-A1EF2A1A286B}"/>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Chapter 3 system architecture and technical specifications</a:t>
            </a:r>
          </a:p>
        </p:txBody>
      </p:sp>
      <p:sp>
        <p:nvSpPr>
          <p:cNvPr id="6" name="">
            <a:extLst xmlns:a="http://schemas.openxmlformats.org/drawingml/2006/main">
              <a:ext uri="{FF2B5EF4-FFF2-40B4-BE49-F238E27FC236}">
                <a16:creationId xmlns:a16="http://schemas.microsoft.com/office/drawing/2014/main" id="{BFDB042E-5FCB-4D10-A9BD-DC3AC12762A3}"/>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18</a:t>
            </a:r>
          </a:p>
        </p:txBody>
      </p:sp>
      <p:sp>
        <p:nvSpPr>
          <p:cNvPr id="7" name="">
            <a:extLst xmlns:a="http://schemas.openxmlformats.org/drawingml/2006/main">
              <a:ext uri="{FF2B5EF4-FFF2-40B4-BE49-F238E27FC236}">
                <a16:creationId xmlns:a16="http://schemas.microsoft.com/office/drawing/2014/main" id="{43817FA0-B286-4CB1-8B9E-EB9F1950A8E5}"/>
              </a:ext>
            </a:extLst>
          </p:cNvPr>
          <p:cNvSpPr>
            <a:spLocks xmlns:a="http://schemas.openxmlformats.org/drawingml/2006/main" noGrp="1"/>
          </p:cNvSpPr>
          <p:nvPr/>
        </p:nvSpPr>
        <p:spPr>
          <a:xfrm xmlns:a="http://schemas.openxmlformats.org/drawingml/2006/main">
            <a:off x="933450" y="1409700"/>
            <a:ext cx="10267950" cy="685800"/>
          </a:xfrm>
          <a:prstGeom xmlns:a="http://schemas.openxmlformats.org/drawingml/2006/main" prst="rect">
            <a:avLst/>
          </a:prstGeom>
          <a:solidFill xmlns:a="http://schemas.openxmlformats.org/drawingml/2006/main">
            <a:srgbClr val="E4EFEC"/>
          </a:solidFill>
          <a:ln xmlns:a="http://schemas.openxmlformats.org/drawingml/2006/main" w="9525">
            <a:solidFill>
              <a:srgbClr val="D3DCDA"/>
            </a:solidFill>
          </a:ln>
        </p:spPr>
      </p:sp>
      <p:sp>
        <p:nvSpPr>
          <p:cNvPr id="8" name="">
            <a:extLst xmlns:a="http://schemas.openxmlformats.org/drawingml/2006/main">
              <a:ext uri="{FF2B5EF4-FFF2-40B4-BE49-F238E27FC236}">
                <a16:creationId xmlns:a16="http://schemas.microsoft.com/office/drawing/2014/main" id="{538CD823-7CD1-458E-BA3F-7AA366E9CD22}"/>
              </a:ext>
            </a:extLst>
          </p:cNvPr>
          <p:cNvSpPr>
            <a:spLocks xmlns:a="http://schemas.openxmlformats.org/drawingml/2006/main" noGrp="1"/>
          </p:cNvSpPr>
          <p:nvPr/>
        </p:nvSpPr>
        <p:spPr>
          <a:xfrm xmlns:a="http://schemas.openxmlformats.org/drawingml/2006/main">
            <a:off x="1162050" y="1524000"/>
            <a:ext cx="1981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PRESENTATION</a:t>
            </a:r>
          </a:p>
        </p:txBody>
      </p:sp>
      <p:sp>
        <p:nvSpPr>
          <p:cNvPr id="9" name="">
            <a:extLst xmlns:a="http://schemas.openxmlformats.org/drawingml/2006/main">
              <a:ext uri="{FF2B5EF4-FFF2-40B4-BE49-F238E27FC236}">
                <a16:creationId xmlns:a16="http://schemas.microsoft.com/office/drawing/2014/main" id="{D6894480-730F-49E5-9C7F-C7F8AE296703}"/>
              </a:ext>
            </a:extLst>
          </p:cNvPr>
          <p:cNvSpPr>
            <a:spLocks xmlns:a="http://schemas.openxmlformats.org/drawingml/2006/main" noGrp="1"/>
          </p:cNvSpPr>
          <p:nvPr/>
        </p:nvSpPr>
        <p:spPr>
          <a:xfrm xmlns:a="http://schemas.openxmlformats.org/drawingml/2006/main">
            <a:off x="3276600" y="1485900"/>
            <a:ext cx="7620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Responsive browser interface</a:t>
            </a:r>
          </a:p>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Purok is mobile-first. Barangay and DRRM are desktop-capable.</a:t>
            </a:r>
          </a:p>
        </p:txBody>
      </p:sp>
      <p:sp>
        <p:nvSpPr>
          <p:cNvPr id="10" name="">
            <a:extLst xmlns:a="http://schemas.openxmlformats.org/drawingml/2006/main">
              <a:ext uri="{FF2B5EF4-FFF2-40B4-BE49-F238E27FC236}">
                <a16:creationId xmlns:a16="http://schemas.microsoft.com/office/drawing/2014/main" id="{3D66573A-C35B-42A1-95CF-6E926B133B12}"/>
              </a:ext>
            </a:extLst>
          </p:cNvPr>
          <p:cNvSpPr>
            <a:spLocks xmlns:a="http://schemas.openxmlformats.org/drawingml/2006/main" noGrp="1"/>
          </p:cNvSpPr>
          <p:nvPr/>
        </p:nvSpPr>
        <p:spPr>
          <a:xfrm xmlns:a="http://schemas.openxmlformats.org/drawingml/2006/main">
            <a:off x="5962650" y="207645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92593"/>
          </a:bodyPr>
          <a:lstStyle xmlns:a="http://schemas.openxmlformats.org/drawingml/2006/main"/>
          <a:p xmlns:a="http://schemas.openxmlformats.org/drawingml/2006/main">
            <a:pPr algn="ctr">
              <a:defRPr sz="1350" b="0">
                <a:solidFill>
                  <a:srgbClr val="276E6B"/>
                </a:solidFill>
                <a:latin typeface="Source Sans 3"/>
                <a:ea typeface="Source Sans 3"/>
                <a:cs typeface="Source Sans 3"/>
              </a:defRPr>
            </a:pPr>
            <a:r>
              <a:rPr sz="1350" b="0">
                <a:solidFill>
                  <a:srgbClr val="276E6B"/>
                </a:solidFill>
                <a:latin typeface="Source Sans 3"/>
                <a:ea typeface="Source Sans 3"/>
                <a:cs typeface="Source Sans 3"/>
              </a:rPr>
              <a:t>↓</a:t>
            </a:r>
          </a:p>
        </p:txBody>
      </p:sp>
      <p:sp>
        <p:nvSpPr>
          <p:cNvPr id="11" name="">
            <a:extLst xmlns:a="http://schemas.openxmlformats.org/drawingml/2006/main">
              <a:ext uri="{FF2B5EF4-FFF2-40B4-BE49-F238E27FC236}">
                <a16:creationId xmlns:a16="http://schemas.microsoft.com/office/drawing/2014/main" id="{50A5B6CD-53B9-49B4-BA7A-50DDDF8A47C1}"/>
              </a:ext>
            </a:extLst>
          </p:cNvPr>
          <p:cNvSpPr>
            <a:spLocks xmlns:a="http://schemas.openxmlformats.org/drawingml/2006/main" noGrp="1"/>
          </p:cNvSpPr>
          <p:nvPr/>
        </p:nvSpPr>
        <p:spPr>
          <a:xfrm xmlns:a="http://schemas.openxmlformats.org/drawingml/2006/main">
            <a:off x="933450" y="2324100"/>
            <a:ext cx="1026795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D3DCDA"/>
            </a:solidFill>
          </a:ln>
        </p:spPr>
      </p:sp>
      <p:sp>
        <p:nvSpPr>
          <p:cNvPr id="12" name="">
            <a:extLst xmlns:a="http://schemas.openxmlformats.org/drawingml/2006/main">
              <a:ext uri="{FF2B5EF4-FFF2-40B4-BE49-F238E27FC236}">
                <a16:creationId xmlns:a16="http://schemas.microsoft.com/office/drawing/2014/main" id="{AD452799-1D55-435C-92AA-BDCAEE2B5073}"/>
              </a:ext>
            </a:extLst>
          </p:cNvPr>
          <p:cNvSpPr>
            <a:spLocks xmlns:a="http://schemas.openxmlformats.org/drawingml/2006/main" noGrp="1"/>
          </p:cNvSpPr>
          <p:nvPr/>
        </p:nvSpPr>
        <p:spPr>
          <a:xfrm xmlns:a="http://schemas.openxmlformats.org/drawingml/2006/main">
            <a:off x="1162050" y="2438400"/>
            <a:ext cx="1981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APPLICATION</a:t>
            </a:r>
          </a:p>
        </p:txBody>
      </p:sp>
      <p:sp>
        <p:nvSpPr>
          <p:cNvPr id="13" name="">
            <a:extLst xmlns:a="http://schemas.openxmlformats.org/drawingml/2006/main">
              <a:ext uri="{FF2B5EF4-FFF2-40B4-BE49-F238E27FC236}">
                <a16:creationId xmlns:a16="http://schemas.microsoft.com/office/drawing/2014/main" id="{AA2BFCF2-EA51-4AB5-AAD6-EFD07D1178E5}"/>
              </a:ext>
            </a:extLst>
          </p:cNvPr>
          <p:cNvSpPr>
            <a:spLocks xmlns:a="http://schemas.openxmlformats.org/drawingml/2006/main" noGrp="1"/>
          </p:cNvSpPr>
          <p:nvPr/>
        </p:nvSpPr>
        <p:spPr>
          <a:xfrm xmlns:a="http://schemas.openxmlformats.org/drawingml/2006/main">
            <a:off x="3276600" y="2400300"/>
            <a:ext cx="7620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Role-specific workflows, required-field checks, verification, aggregation and SitRep editing</a:t>
            </a:r>
          </a:p>
        </p:txBody>
      </p:sp>
      <p:sp>
        <p:nvSpPr>
          <p:cNvPr id="14" name="">
            <a:extLst xmlns:a="http://schemas.openxmlformats.org/drawingml/2006/main">
              <a:ext uri="{FF2B5EF4-FFF2-40B4-BE49-F238E27FC236}">
                <a16:creationId xmlns:a16="http://schemas.microsoft.com/office/drawing/2014/main" id="{391378CC-63DB-48B4-9C5B-348E84329B18}"/>
              </a:ext>
            </a:extLst>
          </p:cNvPr>
          <p:cNvSpPr>
            <a:spLocks xmlns:a="http://schemas.openxmlformats.org/drawingml/2006/main" noGrp="1"/>
          </p:cNvSpPr>
          <p:nvPr/>
        </p:nvSpPr>
        <p:spPr>
          <a:xfrm xmlns:a="http://schemas.openxmlformats.org/drawingml/2006/main">
            <a:off x="5962650" y="299085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92593"/>
          </a:bodyPr>
          <a:lstStyle xmlns:a="http://schemas.openxmlformats.org/drawingml/2006/main"/>
          <a:p xmlns:a="http://schemas.openxmlformats.org/drawingml/2006/main">
            <a:pPr algn="ctr">
              <a:defRPr sz="1350" b="0">
                <a:solidFill>
                  <a:srgbClr val="276E6B"/>
                </a:solidFill>
                <a:latin typeface="Source Sans 3"/>
                <a:ea typeface="Source Sans 3"/>
                <a:cs typeface="Source Sans 3"/>
              </a:defRPr>
            </a:pPr>
            <a:r>
              <a:rPr sz="1350" b="0">
                <a:solidFill>
                  <a:srgbClr val="276E6B"/>
                </a:solidFill>
                <a:latin typeface="Source Sans 3"/>
                <a:ea typeface="Source Sans 3"/>
                <a:cs typeface="Source Sans 3"/>
              </a:rPr>
              <a:t>↓</a:t>
            </a:r>
          </a:p>
        </p:txBody>
      </p:sp>
      <p:sp>
        <p:nvSpPr>
          <p:cNvPr id="15" name="">
            <a:extLst xmlns:a="http://schemas.openxmlformats.org/drawingml/2006/main">
              <a:ext uri="{FF2B5EF4-FFF2-40B4-BE49-F238E27FC236}">
                <a16:creationId xmlns:a16="http://schemas.microsoft.com/office/drawing/2014/main" id="{4CAEA996-C1BD-4273-98D0-5D0B1367B283}"/>
              </a:ext>
            </a:extLst>
          </p:cNvPr>
          <p:cNvSpPr>
            <a:spLocks xmlns:a="http://schemas.openxmlformats.org/drawingml/2006/main" noGrp="1"/>
          </p:cNvSpPr>
          <p:nvPr/>
        </p:nvSpPr>
        <p:spPr>
          <a:xfrm xmlns:a="http://schemas.openxmlformats.org/drawingml/2006/main">
            <a:off x="933450" y="3238500"/>
            <a:ext cx="1026795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D3DCDA"/>
            </a:solidFill>
          </a:ln>
        </p:spPr>
      </p:sp>
      <p:sp>
        <p:nvSpPr>
          <p:cNvPr id="16" name="">
            <a:extLst xmlns:a="http://schemas.openxmlformats.org/drawingml/2006/main">
              <a:ext uri="{FF2B5EF4-FFF2-40B4-BE49-F238E27FC236}">
                <a16:creationId xmlns:a16="http://schemas.microsoft.com/office/drawing/2014/main" id="{F588F932-EA4B-4E2E-B254-D738A039FC66}"/>
              </a:ext>
            </a:extLst>
          </p:cNvPr>
          <p:cNvSpPr>
            <a:spLocks xmlns:a="http://schemas.openxmlformats.org/drawingml/2006/main" noGrp="1"/>
          </p:cNvSpPr>
          <p:nvPr/>
        </p:nvSpPr>
        <p:spPr>
          <a:xfrm xmlns:a="http://schemas.openxmlformats.org/drawingml/2006/main">
            <a:off x="1162050" y="3352800"/>
            <a:ext cx="1981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NETWORK</a:t>
            </a:r>
          </a:p>
        </p:txBody>
      </p:sp>
      <p:sp>
        <p:nvSpPr>
          <p:cNvPr id="17" name="">
            <a:extLst xmlns:a="http://schemas.openxmlformats.org/drawingml/2006/main">
              <a:ext uri="{FF2B5EF4-FFF2-40B4-BE49-F238E27FC236}">
                <a16:creationId xmlns:a16="http://schemas.microsoft.com/office/drawing/2014/main" id="{6DBBE434-0F4A-4D05-B3BD-3B7150D64E8E}"/>
              </a:ext>
            </a:extLst>
          </p:cNvPr>
          <p:cNvSpPr>
            <a:spLocks xmlns:a="http://schemas.openxmlformats.org/drawingml/2006/main" noGrp="1"/>
          </p:cNvSpPr>
          <p:nvPr/>
        </p:nvSpPr>
        <p:spPr>
          <a:xfrm xmlns:a="http://schemas.openxmlformats.org/drawingml/2006/main">
            <a:off x="3276600" y="3314700"/>
            <a:ext cx="7620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REST API over HTTPS; real-time data operations while connected</a:t>
            </a:r>
          </a:p>
        </p:txBody>
      </p:sp>
      <p:sp>
        <p:nvSpPr>
          <p:cNvPr id="18" name="">
            <a:extLst xmlns:a="http://schemas.openxmlformats.org/drawingml/2006/main">
              <a:ext uri="{FF2B5EF4-FFF2-40B4-BE49-F238E27FC236}">
                <a16:creationId xmlns:a16="http://schemas.microsoft.com/office/drawing/2014/main" id="{40EC763E-7B81-452A-BC01-38A2A6E1DB0E}"/>
              </a:ext>
            </a:extLst>
          </p:cNvPr>
          <p:cNvSpPr>
            <a:spLocks xmlns:a="http://schemas.openxmlformats.org/drawingml/2006/main" noGrp="1"/>
          </p:cNvSpPr>
          <p:nvPr/>
        </p:nvSpPr>
        <p:spPr>
          <a:xfrm xmlns:a="http://schemas.openxmlformats.org/drawingml/2006/main">
            <a:off x="5962650" y="390525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92593"/>
          </a:bodyPr>
          <a:lstStyle xmlns:a="http://schemas.openxmlformats.org/drawingml/2006/main"/>
          <a:p xmlns:a="http://schemas.openxmlformats.org/drawingml/2006/main">
            <a:pPr algn="ctr">
              <a:defRPr sz="1350" b="0">
                <a:solidFill>
                  <a:srgbClr val="276E6B"/>
                </a:solidFill>
                <a:latin typeface="Source Sans 3"/>
                <a:ea typeface="Source Sans 3"/>
                <a:cs typeface="Source Sans 3"/>
              </a:defRPr>
            </a:pPr>
            <a:r>
              <a:rPr sz="1350" b="0">
                <a:solidFill>
                  <a:srgbClr val="276E6B"/>
                </a:solidFill>
                <a:latin typeface="Source Sans 3"/>
                <a:ea typeface="Source Sans 3"/>
                <a:cs typeface="Source Sans 3"/>
              </a:rPr>
              <a:t>↓</a:t>
            </a:r>
          </a:p>
        </p:txBody>
      </p:sp>
      <p:sp>
        <p:nvSpPr>
          <p:cNvPr id="19" name="">
            <a:extLst xmlns:a="http://schemas.openxmlformats.org/drawingml/2006/main">
              <a:ext uri="{FF2B5EF4-FFF2-40B4-BE49-F238E27FC236}">
                <a16:creationId xmlns:a16="http://schemas.microsoft.com/office/drawing/2014/main" id="{19A6C477-601E-4754-8A81-953FAEFE5E90}"/>
              </a:ext>
            </a:extLst>
          </p:cNvPr>
          <p:cNvSpPr>
            <a:spLocks xmlns:a="http://schemas.openxmlformats.org/drawingml/2006/main" noGrp="1"/>
          </p:cNvSpPr>
          <p:nvPr/>
        </p:nvSpPr>
        <p:spPr>
          <a:xfrm xmlns:a="http://schemas.openxmlformats.org/drawingml/2006/main">
            <a:off x="933450" y="4152900"/>
            <a:ext cx="1026795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D3DCDA"/>
            </a:solidFill>
          </a:ln>
        </p:spPr>
      </p:sp>
      <p:sp>
        <p:nvSpPr>
          <p:cNvPr id="20" name="">
            <a:extLst xmlns:a="http://schemas.openxmlformats.org/drawingml/2006/main">
              <a:ext uri="{FF2B5EF4-FFF2-40B4-BE49-F238E27FC236}">
                <a16:creationId xmlns:a16="http://schemas.microsoft.com/office/drawing/2014/main" id="{BFDED324-6C45-40A6-B358-86008E81322C}"/>
              </a:ext>
            </a:extLst>
          </p:cNvPr>
          <p:cNvSpPr>
            <a:spLocks xmlns:a="http://schemas.openxmlformats.org/drawingml/2006/main" noGrp="1"/>
          </p:cNvSpPr>
          <p:nvPr/>
        </p:nvSpPr>
        <p:spPr>
          <a:xfrm xmlns:a="http://schemas.openxmlformats.org/drawingml/2006/main">
            <a:off x="1162050" y="4267200"/>
            <a:ext cx="1981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DATA</a:t>
            </a:r>
          </a:p>
        </p:txBody>
      </p:sp>
      <p:sp>
        <p:nvSpPr>
          <p:cNvPr id="21" name="">
            <a:extLst xmlns:a="http://schemas.openxmlformats.org/drawingml/2006/main">
              <a:ext uri="{FF2B5EF4-FFF2-40B4-BE49-F238E27FC236}">
                <a16:creationId xmlns:a16="http://schemas.microsoft.com/office/drawing/2014/main" id="{FC87ACEF-67C6-402B-9F12-C124E93FC427}"/>
              </a:ext>
            </a:extLst>
          </p:cNvPr>
          <p:cNvSpPr>
            <a:spLocks xmlns:a="http://schemas.openxmlformats.org/drawingml/2006/main" noGrp="1"/>
          </p:cNvSpPr>
          <p:nvPr/>
        </p:nvSpPr>
        <p:spPr>
          <a:xfrm xmlns:a="http://schemas.openxmlformats.org/drawingml/2006/main">
            <a:off x="3276600" y="4229100"/>
            <a:ext cx="7620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Centralized PostgreSQL records, report versions and audit history</a:t>
            </a:r>
          </a:p>
        </p:txBody>
      </p:sp>
      <p:sp>
        <p:nvSpPr>
          <p:cNvPr id="22" name="">
            <a:extLst xmlns:a="http://schemas.openxmlformats.org/drawingml/2006/main">
              <a:ext uri="{FF2B5EF4-FFF2-40B4-BE49-F238E27FC236}">
                <a16:creationId xmlns:a16="http://schemas.microsoft.com/office/drawing/2014/main" id="{6A3526C7-17F7-462D-8919-C34FB532F0DD}"/>
              </a:ext>
            </a:extLst>
          </p:cNvPr>
          <p:cNvSpPr>
            <a:spLocks xmlns:a="http://schemas.openxmlformats.org/drawingml/2006/main" noGrp="1"/>
          </p:cNvSpPr>
          <p:nvPr/>
        </p:nvSpPr>
        <p:spPr>
          <a:xfrm xmlns:a="http://schemas.openxmlformats.org/drawingml/2006/main">
            <a:off x="933450" y="5238750"/>
            <a:ext cx="10267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A9782A"/>
                </a:solidFill>
                <a:latin typeface="Source Sans 3"/>
                <a:ea typeface="Source Sans 3"/>
                <a:cs typeface="Source Sans 3"/>
              </a:defRPr>
            </a:pPr>
            <a:r>
              <a:rPr sz="1350" b="1">
                <a:solidFill>
                  <a:srgbClr val="A9782A"/>
                </a:solidFill>
                <a:latin typeface="Source Sans 3"/>
                <a:ea typeface="Source Sans 3"/>
                <a:cs typeface="Source Sans 3"/>
              </a:rPr>
              <a:t>The service does not promise operation during internet, power or telecommunications failures.</a:t>
            </a:r>
          </a:p>
        </p:txBody>
      </p:sp>
    </p:spTree>
    <p:extLst>
      <p:ext uri="{BB962C8B-B14F-4D97-AF65-F5344CB8AC3E}">
        <p14:creationId xmlns:p14="http://schemas.microsoft.com/office/powerpoint/2010/main" val="1718912981"/>
      </p:ext>
    </p:extLst>
  </p:cSld>
</p:sld>
</file>

<file path=ppt/slides/slide19.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14FE8A43-9505-49C7-B08E-FF4C4DD5F771}"/>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C89EA62-C80A-4758-B5AC-5A13D56C23F0}"/>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PROPOSED SYSTEM MODULES: DETAILED</a:t>
            </a:r>
          </a:p>
        </p:txBody>
      </p:sp>
      <p:sp>
        <p:nvSpPr>
          <p:cNvPr id="3" name="">
            <a:extLst xmlns:a="http://schemas.openxmlformats.org/drawingml/2006/main">
              <a:ext uri="{FF2B5EF4-FFF2-40B4-BE49-F238E27FC236}">
                <a16:creationId xmlns:a16="http://schemas.microsoft.com/office/drawing/2014/main" id="{5522E998-C871-449F-9E4A-1C22470CEF79}"/>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Purok accounts and profile modules</a:t>
            </a:r>
          </a:p>
        </p:txBody>
      </p:sp>
      <p:sp>
        <p:nvSpPr>
          <p:cNvPr id="4" name="">
            <a:extLst xmlns:a="http://schemas.openxmlformats.org/drawingml/2006/main">
              <a:ext uri="{FF2B5EF4-FFF2-40B4-BE49-F238E27FC236}">
                <a16:creationId xmlns:a16="http://schemas.microsoft.com/office/drawing/2014/main" id="{1F95F6C0-B315-4959-9220-7E63AF50E834}"/>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BA94641B-F3C1-4CF2-B03F-FCFA51344247}"/>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Specific Objectives 303–305 and Table 3</a:t>
            </a:r>
          </a:p>
        </p:txBody>
      </p:sp>
      <p:sp>
        <p:nvSpPr>
          <p:cNvPr id="6" name="">
            <a:extLst xmlns:a="http://schemas.openxmlformats.org/drawingml/2006/main">
              <a:ext uri="{FF2B5EF4-FFF2-40B4-BE49-F238E27FC236}">
                <a16:creationId xmlns:a16="http://schemas.microsoft.com/office/drawing/2014/main" id="{11494C08-1B0D-4352-99A4-F54D2C0C2A10}"/>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19</a:t>
            </a:r>
          </a:p>
        </p:txBody>
      </p:sp>
      <p:sp>
        <p:nvSpPr>
          <p:cNvPr id="7" name="">
            <a:extLst xmlns:a="http://schemas.openxmlformats.org/drawingml/2006/main">
              <a:ext uri="{FF2B5EF4-FFF2-40B4-BE49-F238E27FC236}">
                <a16:creationId xmlns:a16="http://schemas.microsoft.com/office/drawing/2014/main" id="{35BFAC9E-21C8-4F48-A35D-7D2CC256B394}"/>
              </a:ext>
            </a:extLst>
          </p:cNvPr>
          <p:cNvSpPr>
            <a:spLocks xmlns:a="http://schemas.openxmlformats.org/drawingml/2006/main" noGrp="1"/>
          </p:cNvSpPr>
          <p:nvPr/>
        </p:nvSpPr>
        <p:spPr>
          <a:xfrm xmlns:a="http://schemas.openxmlformats.org/drawingml/2006/main">
            <a:off x="933450" y="13239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MODULE</a:t>
            </a:r>
          </a:p>
        </p:txBody>
      </p:sp>
      <p:sp>
        <p:nvSpPr>
          <p:cNvPr id="8" name="">
            <a:extLst xmlns:a="http://schemas.openxmlformats.org/drawingml/2006/main">
              <a:ext uri="{FF2B5EF4-FFF2-40B4-BE49-F238E27FC236}">
                <a16:creationId xmlns:a16="http://schemas.microsoft.com/office/drawing/2014/main" id="{EE76BF36-C30D-4BA3-9B44-07D34D9E3055}"/>
              </a:ext>
            </a:extLst>
          </p:cNvPr>
          <p:cNvSpPr>
            <a:spLocks xmlns:a="http://schemas.openxmlformats.org/drawingml/2006/main" noGrp="1"/>
          </p:cNvSpPr>
          <p:nvPr/>
        </p:nvSpPr>
        <p:spPr>
          <a:xfrm xmlns:a="http://schemas.openxmlformats.org/drawingml/2006/main">
            <a:off x="3352800" y="1323975"/>
            <a:ext cx="4743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HOW IT WORKS</a:t>
            </a:r>
          </a:p>
        </p:txBody>
      </p:sp>
      <p:sp>
        <p:nvSpPr>
          <p:cNvPr id="9" name="">
            <a:extLst xmlns:a="http://schemas.openxmlformats.org/drawingml/2006/main">
              <a:ext uri="{FF2B5EF4-FFF2-40B4-BE49-F238E27FC236}">
                <a16:creationId xmlns:a16="http://schemas.microsoft.com/office/drawing/2014/main" id="{FB0AD0D6-C682-4F72-A08F-B73E2BCF2B95}"/>
              </a:ext>
            </a:extLst>
          </p:cNvPr>
          <p:cNvSpPr>
            <a:spLocks xmlns:a="http://schemas.openxmlformats.org/drawingml/2006/main" noGrp="1"/>
          </p:cNvSpPr>
          <p:nvPr/>
        </p:nvSpPr>
        <p:spPr>
          <a:xfrm xmlns:a="http://schemas.openxmlformats.org/drawingml/2006/main">
            <a:off x="8343900" y="1323975"/>
            <a:ext cx="276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WHY IT EXISTS</a:t>
            </a:r>
          </a:p>
        </p:txBody>
      </p:sp>
      <p:sp>
        <p:nvSpPr>
          <p:cNvPr id="10" name="">
            <a:extLst xmlns:a="http://schemas.openxmlformats.org/drawingml/2006/main">
              <a:ext uri="{FF2B5EF4-FFF2-40B4-BE49-F238E27FC236}">
                <a16:creationId xmlns:a16="http://schemas.microsoft.com/office/drawing/2014/main" id="{49ED3CC7-726C-4423-842F-19C32C2CEDE7}"/>
              </a:ext>
            </a:extLst>
          </p:cNvPr>
          <p:cNvSpPr>
            <a:spLocks xmlns:a="http://schemas.openxmlformats.org/drawingml/2006/main" noGrp="1"/>
          </p:cNvSpPr>
          <p:nvPr/>
        </p:nvSpPr>
        <p:spPr>
          <a:xfrm xmlns:a="http://schemas.openxmlformats.org/drawingml/2006/main">
            <a:off x="933450" y="1733550"/>
            <a:ext cx="21526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Purok User Management</a:t>
            </a:r>
          </a:p>
        </p:txBody>
      </p:sp>
      <p:sp>
        <p:nvSpPr>
          <p:cNvPr id="11" name="">
            <a:extLst xmlns:a="http://schemas.openxmlformats.org/drawingml/2006/main">
              <a:ext uri="{FF2B5EF4-FFF2-40B4-BE49-F238E27FC236}">
                <a16:creationId xmlns:a16="http://schemas.microsoft.com/office/drawing/2014/main" id="{F396B30D-2921-41AF-92F6-5884E98E45A9}"/>
              </a:ext>
            </a:extLst>
          </p:cNvPr>
          <p:cNvSpPr>
            <a:spLocks xmlns:a="http://schemas.openxmlformats.org/drawingml/2006/main" noGrp="1"/>
          </p:cNvSpPr>
          <p:nvPr/>
        </p:nvSpPr>
        <p:spPr>
          <a:xfrm xmlns:a="http://schemas.openxmlformats.org/drawingml/2006/main">
            <a:off x="3352800" y="173355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Authorized Barangay personnel create a Purok account, assign its Barangay and issue credentials.</a:t>
            </a:r>
          </a:p>
        </p:txBody>
      </p:sp>
      <p:sp>
        <p:nvSpPr>
          <p:cNvPr id="12" name="">
            <a:extLst xmlns:a="http://schemas.openxmlformats.org/drawingml/2006/main">
              <a:ext uri="{FF2B5EF4-FFF2-40B4-BE49-F238E27FC236}">
                <a16:creationId xmlns:a16="http://schemas.microsoft.com/office/drawing/2014/main" id="{57B4F81A-D872-4C2E-B7B3-190518E57345}"/>
              </a:ext>
            </a:extLst>
          </p:cNvPr>
          <p:cNvSpPr>
            <a:spLocks xmlns:a="http://schemas.openxmlformats.org/drawingml/2006/main" noGrp="1"/>
          </p:cNvSpPr>
          <p:nvPr/>
        </p:nvSpPr>
        <p:spPr>
          <a:xfrm xmlns:a="http://schemas.openxmlformats.org/drawingml/2006/main">
            <a:off x="8343900" y="1733550"/>
            <a:ext cx="276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Correct jurisdiction routes submissions to the responsible reviewer.</a:t>
            </a:r>
          </a:p>
        </p:txBody>
      </p:sp>
      <p:sp>
        <p:nvSpPr>
          <p:cNvPr id="13" name="">
            <a:extLst xmlns:a="http://schemas.openxmlformats.org/drawingml/2006/main">
              <a:ext uri="{FF2B5EF4-FFF2-40B4-BE49-F238E27FC236}">
                <a16:creationId xmlns:a16="http://schemas.microsoft.com/office/drawing/2014/main" id="{2CA88816-3C78-41C9-9B6C-8F046A02CB6C}"/>
              </a:ext>
            </a:extLst>
          </p:cNvPr>
          <p:cNvSpPr>
            <a:spLocks xmlns:a="http://schemas.openxmlformats.org/drawingml/2006/main" noGrp="1"/>
          </p:cNvSpPr>
          <p:nvPr/>
        </p:nvSpPr>
        <p:spPr>
          <a:xfrm xmlns:a="http://schemas.openxmlformats.org/drawingml/2006/main">
            <a:off x="933450" y="3000375"/>
            <a:ext cx="102298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4" name="">
            <a:extLst xmlns:a="http://schemas.openxmlformats.org/drawingml/2006/main">
              <a:ext uri="{FF2B5EF4-FFF2-40B4-BE49-F238E27FC236}">
                <a16:creationId xmlns:a16="http://schemas.microsoft.com/office/drawing/2014/main" id="{7543DC6A-9B59-4A19-A79D-4B49E34FE70F}"/>
              </a:ext>
            </a:extLst>
          </p:cNvPr>
          <p:cNvSpPr>
            <a:spLocks xmlns:a="http://schemas.openxmlformats.org/drawingml/2006/main" noGrp="1"/>
          </p:cNvSpPr>
          <p:nvPr/>
        </p:nvSpPr>
        <p:spPr>
          <a:xfrm xmlns:a="http://schemas.openxmlformats.org/drawingml/2006/main">
            <a:off x="933450" y="3105150"/>
            <a:ext cx="21526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Purok Profile Creation</a:t>
            </a:r>
          </a:p>
        </p:txBody>
      </p:sp>
      <p:sp>
        <p:nvSpPr>
          <p:cNvPr id="15" name="">
            <a:extLst xmlns:a="http://schemas.openxmlformats.org/drawingml/2006/main">
              <a:ext uri="{FF2B5EF4-FFF2-40B4-BE49-F238E27FC236}">
                <a16:creationId xmlns:a16="http://schemas.microsoft.com/office/drawing/2014/main" id="{061370A8-2BE7-422E-84C3-843C87BAE49F}"/>
              </a:ext>
            </a:extLst>
          </p:cNvPr>
          <p:cNvSpPr>
            <a:spLocks xmlns:a="http://schemas.openxmlformats.org/drawingml/2006/main" noGrp="1"/>
          </p:cNvSpPr>
          <p:nvPr/>
        </p:nvSpPr>
        <p:spPr>
          <a:xfrm xmlns:a="http://schemas.openxmlformats.org/drawingml/2006/main">
            <a:off x="3352800" y="310515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Record Purok identity and monthly aggregate population, housing, vulnerability and hazard exposure values.</a:t>
            </a:r>
          </a:p>
        </p:txBody>
      </p:sp>
      <p:sp>
        <p:nvSpPr>
          <p:cNvPr id="16" name="">
            <a:extLst xmlns:a="http://schemas.openxmlformats.org/drawingml/2006/main">
              <a:ext uri="{FF2B5EF4-FFF2-40B4-BE49-F238E27FC236}">
                <a16:creationId xmlns:a16="http://schemas.microsoft.com/office/drawing/2014/main" id="{FC7B7907-8C2D-4C15-838E-B2ED5398CFBC}"/>
              </a:ext>
            </a:extLst>
          </p:cNvPr>
          <p:cNvSpPr>
            <a:spLocks xmlns:a="http://schemas.openxmlformats.org/drawingml/2006/main" noGrp="1"/>
          </p:cNvSpPr>
          <p:nvPr/>
        </p:nvSpPr>
        <p:spPr>
          <a:xfrm xmlns:a="http://schemas.openxmlformats.org/drawingml/2006/main">
            <a:off x="8343900" y="3105150"/>
            <a:ext cx="276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Establishes the baseline for exposure analysis and Barangay consolidation. No named household records are required.</a:t>
            </a:r>
          </a:p>
        </p:txBody>
      </p:sp>
      <p:sp>
        <p:nvSpPr>
          <p:cNvPr id="17" name="">
            <a:extLst xmlns:a="http://schemas.openxmlformats.org/drawingml/2006/main">
              <a:ext uri="{FF2B5EF4-FFF2-40B4-BE49-F238E27FC236}">
                <a16:creationId xmlns:a16="http://schemas.microsoft.com/office/drawing/2014/main" id="{BA62D063-5261-499C-AFFB-8E53CC4F5833}"/>
              </a:ext>
            </a:extLst>
          </p:cNvPr>
          <p:cNvSpPr>
            <a:spLocks xmlns:a="http://schemas.openxmlformats.org/drawingml/2006/main" noGrp="1"/>
          </p:cNvSpPr>
          <p:nvPr/>
        </p:nvSpPr>
        <p:spPr>
          <a:xfrm xmlns:a="http://schemas.openxmlformats.org/drawingml/2006/main">
            <a:off x="933450" y="4371975"/>
            <a:ext cx="102298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8" name="">
            <a:extLst xmlns:a="http://schemas.openxmlformats.org/drawingml/2006/main">
              <a:ext uri="{FF2B5EF4-FFF2-40B4-BE49-F238E27FC236}">
                <a16:creationId xmlns:a16="http://schemas.microsoft.com/office/drawing/2014/main" id="{B7927528-E678-4E5E-A893-D032C0320549}"/>
              </a:ext>
            </a:extLst>
          </p:cNvPr>
          <p:cNvSpPr>
            <a:spLocks xmlns:a="http://schemas.openxmlformats.org/drawingml/2006/main" noGrp="1"/>
          </p:cNvSpPr>
          <p:nvPr/>
        </p:nvSpPr>
        <p:spPr>
          <a:xfrm xmlns:a="http://schemas.openxmlformats.org/drawingml/2006/main">
            <a:off x="933450" y="4476750"/>
            <a:ext cx="21526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Purok Profile Verification</a:t>
            </a:r>
          </a:p>
        </p:txBody>
      </p:sp>
      <p:sp>
        <p:nvSpPr>
          <p:cNvPr id="19" name="">
            <a:extLst xmlns:a="http://schemas.openxmlformats.org/drawingml/2006/main">
              <a:ext uri="{FF2B5EF4-FFF2-40B4-BE49-F238E27FC236}">
                <a16:creationId xmlns:a16="http://schemas.microsoft.com/office/drawing/2014/main" id="{294138C4-210D-4DE6-AA96-DE7D306631DB}"/>
              </a:ext>
            </a:extLst>
          </p:cNvPr>
          <p:cNvSpPr>
            <a:spLocks xmlns:a="http://schemas.openxmlformats.org/drawingml/2006/main" noGrp="1"/>
          </p:cNvSpPr>
          <p:nvPr/>
        </p:nvSpPr>
        <p:spPr>
          <a:xfrm xmlns:a="http://schemas.openxmlformats.org/drawingml/2006/main">
            <a:off x="3352800" y="447675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A Barangay reviewer compares the submitted profile with reference information and approves or returns it with a reason.</a:t>
            </a:r>
          </a:p>
        </p:txBody>
      </p:sp>
      <p:sp>
        <p:nvSpPr>
          <p:cNvPr id="20" name="">
            <a:extLst xmlns:a="http://schemas.openxmlformats.org/drawingml/2006/main">
              <a:ext uri="{FF2B5EF4-FFF2-40B4-BE49-F238E27FC236}">
                <a16:creationId xmlns:a16="http://schemas.microsoft.com/office/drawing/2014/main" id="{DA89DE21-9043-4CD9-8CBF-1935D31CF224}"/>
              </a:ext>
            </a:extLst>
          </p:cNvPr>
          <p:cNvSpPr>
            <a:spLocks xmlns:a="http://schemas.openxmlformats.org/drawingml/2006/main" noGrp="1"/>
          </p:cNvSpPr>
          <p:nvPr/>
        </p:nvSpPr>
        <p:spPr>
          <a:xfrm xmlns:a="http://schemas.openxmlformats.org/drawingml/2006/main">
            <a:off x="8343900" y="4476750"/>
            <a:ext cx="276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Keeps unverified baseline data from being treated as confirmed.</a:t>
            </a:r>
          </a:p>
        </p:txBody>
      </p:sp>
    </p:spTree>
    <p:extLst>
      <p:ext uri="{BB962C8B-B14F-4D97-AF65-F5344CB8AC3E}">
        <p14:creationId xmlns:p14="http://schemas.microsoft.com/office/powerpoint/2010/main" val="1637894617"/>
      </p:ext>
    </p:extLst>
  </p:cSld>
</p:sld>
</file>

<file path=ppt/slides/slide20.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8F313B1A-3EC3-4842-8F81-0A0D18A0C6C3}"/>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DE8D956-04E5-4F90-9E00-3346182943DE}"/>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PROPOSED SYSTEM MODULES: DETAILED</a:t>
            </a:r>
          </a:p>
        </p:txBody>
      </p:sp>
      <p:sp>
        <p:nvSpPr>
          <p:cNvPr id="3" name="">
            <a:extLst xmlns:a="http://schemas.openxmlformats.org/drawingml/2006/main">
              <a:ext uri="{FF2B5EF4-FFF2-40B4-BE49-F238E27FC236}">
                <a16:creationId xmlns:a16="http://schemas.microsoft.com/office/drawing/2014/main" id="{B94798AD-94E2-4770-9A02-A4A95D9B5F61}"/>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Purok incident reporting modules</a:t>
            </a:r>
          </a:p>
        </p:txBody>
      </p:sp>
      <p:sp>
        <p:nvSpPr>
          <p:cNvPr id="4" name="">
            <a:extLst xmlns:a="http://schemas.openxmlformats.org/drawingml/2006/main">
              <a:ext uri="{FF2B5EF4-FFF2-40B4-BE49-F238E27FC236}">
                <a16:creationId xmlns:a16="http://schemas.microsoft.com/office/drawing/2014/main" id="{53F45CD4-C755-45E2-B0CA-AB6A6FA5AA3B}"/>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C83341A3-A5BA-4384-833A-BCAF9F14EEC9}"/>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Specific Objectives 306–308 and Table 3</a:t>
            </a:r>
          </a:p>
        </p:txBody>
      </p:sp>
      <p:sp>
        <p:nvSpPr>
          <p:cNvPr id="6" name="">
            <a:extLst xmlns:a="http://schemas.openxmlformats.org/drawingml/2006/main">
              <a:ext uri="{FF2B5EF4-FFF2-40B4-BE49-F238E27FC236}">
                <a16:creationId xmlns:a16="http://schemas.microsoft.com/office/drawing/2014/main" id="{3F4EB233-3B5E-4CEB-9B21-DB7E1543AF9B}"/>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20</a:t>
            </a:r>
          </a:p>
        </p:txBody>
      </p:sp>
      <p:sp>
        <p:nvSpPr>
          <p:cNvPr id="7" name="">
            <a:extLst xmlns:a="http://schemas.openxmlformats.org/drawingml/2006/main">
              <a:ext uri="{FF2B5EF4-FFF2-40B4-BE49-F238E27FC236}">
                <a16:creationId xmlns:a16="http://schemas.microsoft.com/office/drawing/2014/main" id="{DDD1912F-1748-45AF-BDE7-0880B2160E3A}"/>
              </a:ext>
            </a:extLst>
          </p:cNvPr>
          <p:cNvSpPr>
            <a:spLocks xmlns:a="http://schemas.openxmlformats.org/drawingml/2006/main" noGrp="1"/>
          </p:cNvSpPr>
          <p:nvPr/>
        </p:nvSpPr>
        <p:spPr>
          <a:xfrm xmlns:a="http://schemas.openxmlformats.org/drawingml/2006/main">
            <a:off x="933450" y="13239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MODULE</a:t>
            </a:r>
          </a:p>
        </p:txBody>
      </p:sp>
      <p:sp>
        <p:nvSpPr>
          <p:cNvPr id="8" name="">
            <a:extLst xmlns:a="http://schemas.openxmlformats.org/drawingml/2006/main">
              <a:ext uri="{FF2B5EF4-FFF2-40B4-BE49-F238E27FC236}">
                <a16:creationId xmlns:a16="http://schemas.microsoft.com/office/drawing/2014/main" id="{5F56F08A-FF95-4BBC-A3F3-4E7FEA7859FD}"/>
              </a:ext>
            </a:extLst>
          </p:cNvPr>
          <p:cNvSpPr>
            <a:spLocks xmlns:a="http://schemas.openxmlformats.org/drawingml/2006/main" noGrp="1"/>
          </p:cNvSpPr>
          <p:nvPr/>
        </p:nvSpPr>
        <p:spPr>
          <a:xfrm xmlns:a="http://schemas.openxmlformats.org/drawingml/2006/main">
            <a:off x="3352800" y="1323975"/>
            <a:ext cx="4743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HOW IT WORKS</a:t>
            </a:r>
          </a:p>
        </p:txBody>
      </p:sp>
      <p:sp>
        <p:nvSpPr>
          <p:cNvPr id="9" name="">
            <a:extLst xmlns:a="http://schemas.openxmlformats.org/drawingml/2006/main">
              <a:ext uri="{FF2B5EF4-FFF2-40B4-BE49-F238E27FC236}">
                <a16:creationId xmlns:a16="http://schemas.microsoft.com/office/drawing/2014/main" id="{3CAB661D-7906-48F5-AA80-46172CB529F5}"/>
              </a:ext>
            </a:extLst>
          </p:cNvPr>
          <p:cNvSpPr>
            <a:spLocks xmlns:a="http://schemas.openxmlformats.org/drawingml/2006/main" noGrp="1"/>
          </p:cNvSpPr>
          <p:nvPr/>
        </p:nvSpPr>
        <p:spPr>
          <a:xfrm xmlns:a="http://schemas.openxmlformats.org/drawingml/2006/main">
            <a:off x="8343900" y="1323975"/>
            <a:ext cx="276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WHY IT EXISTS</a:t>
            </a:r>
          </a:p>
        </p:txBody>
      </p:sp>
      <p:sp>
        <p:nvSpPr>
          <p:cNvPr id="10" name="">
            <a:extLst xmlns:a="http://schemas.openxmlformats.org/drawingml/2006/main">
              <a:ext uri="{FF2B5EF4-FFF2-40B4-BE49-F238E27FC236}">
                <a16:creationId xmlns:a16="http://schemas.microsoft.com/office/drawing/2014/main" id="{6D732E0D-C7D1-485A-922D-5D59F1940221}"/>
              </a:ext>
            </a:extLst>
          </p:cNvPr>
          <p:cNvSpPr>
            <a:spLocks xmlns:a="http://schemas.openxmlformats.org/drawingml/2006/main" noGrp="1"/>
          </p:cNvSpPr>
          <p:nvPr/>
        </p:nvSpPr>
        <p:spPr>
          <a:xfrm xmlns:a="http://schemas.openxmlformats.org/drawingml/2006/main">
            <a:off x="933450" y="1733550"/>
            <a:ext cx="21526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Purok Incident Reporting</a:t>
            </a:r>
          </a:p>
        </p:txBody>
      </p:sp>
      <p:sp>
        <p:nvSpPr>
          <p:cNvPr id="11" name="">
            <a:extLst xmlns:a="http://schemas.openxmlformats.org/drawingml/2006/main">
              <a:ext uri="{FF2B5EF4-FFF2-40B4-BE49-F238E27FC236}">
                <a16:creationId xmlns:a16="http://schemas.microsoft.com/office/drawing/2014/main" id="{2B30D18B-FCA3-4D76-BC68-4CA5726A489A}"/>
              </a:ext>
            </a:extLst>
          </p:cNvPr>
          <p:cNvSpPr>
            <a:spLocks xmlns:a="http://schemas.openxmlformats.org/drawingml/2006/main" noGrp="1"/>
          </p:cNvSpPr>
          <p:nvPr/>
        </p:nvSpPr>
        <p:spPr>
          <a:xfrm xmlns:a="http://schemas.openxmlformats.org/drawingml/2006/main">
            <a:off x="3352800" y="173355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Submit hazard, location, observed date and time, initial situation and affected or exposure-unit totals. Keep later changes as versions.</a:t>
            </a:r>
          </a:p>
        </p:txBody>
      </p:sp>
      <p:sp>
        <p:nvSpPr>
          <p:cNvPr id="12" name="">
            <a:extLst xmlns:a="http://schemas.openxmlformats.org/drawingml/2006/main">
              <a:ext uri="{FF2B5EF4-FFF2-40B4-BE49-F238E27FC236}">
                <a16:creationId xmlns:a16="http://schemas.microsoft.com/office/drawing/2014/main" id="{521FB7D2-EDB9-4624-8AF9-24A165F5EE5A}"/>
              </a:ext>
            </a:extLst>
          </p:cNvPr>
          <p:cNvSpPr>
            <a:spLocks xmlns:a="http://schemas.openxmlformats.org/drawingml/2006/main" noGrp="1"/>
          </p:cNvSpPr>
          <p:nvPr/>
        </p:nvSpPr>
        <p:spPr>
          <a:xfrm xmlns:a="http://schemas.openxmlformats.org/drawingml/2006/main">
            <a:off x="8343900" y="1733550"/>
            <a:ext cx="276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Captures a useful first report without making Purok complete the full SitRep assessment.</a:t>
            </a:r>
          </a:p>
        </p:txBody>
      </p:sp>
      <p:sp>
        <p:nvSpPr>
          <p:cNvPr id="13" name="">
            <a:extLst xmlns:a="http://schemas.openxmlformats.org/drawingml/2006/main">
              <a:ext uri="{FF2B5EF4-FFF2-40B4-BE49-F238E27FC236}">
                <a16:creationId xmlns:a16="http://schemas.microsoft.com/office/drawing/2014/main" id="{2AAFD265-A397-4E86-9B27-844EC5ED58C4}"/>
              </a:ext>
            </a:extLst>
          </p:cNvPr>
          <p:cNvSpPr>
            <a:spLocks xmlns:a="http://schemas.openxmlformats.org/drawingml/2006/main" noGrp="1"/>
          </p:cNvSpPr>
          <p:nvPr/>
        </p:nvSpPr>
        <p:spPr>
          <a:xfrm xmlns:a="http://schemas.openxmlformats.org/drawingml/2006/main">
            <a:off x="933450" y="3000375"/>
            <a:ext cx="102298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4" name="">
            <a:extLst xmlns:a="http://schemas.openxmlformats.org/drawingml/2006/main">
              <a:ext uri="{FF2B5EF4-FFF2-40B4-BE49-F238E27FC236}">
                <a16:creationId xmlns:a16="http://schemas.microsoft.com/office/drawing/2014/main" id="{6F38F778-D66E-47E5-9618-3509347D015F}"/>
              </a:ext>
            </a:extLst>
          </p:cNvPr>
          <p:cNvSpPr>
            <a:spLocks xmlns:a="http://schemas.openxmlformats.org/drawingml/2006/main" noGrp="1"/>
          </p:cNvSpPr>
          <p:nvPr/>
        </p:nvSpPr>
        <p:spPr>
          <a:xfrm xmlns:a="http://schemas.openxmlformats.org/drawingml/2006/main">
            <a:off x="933450" y="3105150"/>
            <a:ext cx="21526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Purok Incident Report Verification</a:t>
            </a:r>
          </a:p>
        </p:txBody>
      </p:sp>
      <p:sp>
        <p:nvSpPr>
          <p:cNvPr id="15" name="">
            <a:extLst xmlns:a="http://schemas.openxmlformats.org/drawingml/2006/main">
              <a:ext uri="{FF2B5EF4-FFF2-40B4-BE49-F238E27FC236}">
                <a16:creationId xmlns:a16="http://schemas.microsoft.com/office/drawing/2014/main" id="{4C15F43D-A090-4707-946E-603318B16BE2}"/>
              </a:ext>
            </a:extLst>
          </p:cNvPr>
          <p:cNvSpPr>
            <a:spLocks xmlns:a="http://schemas.openxmlformats.org/drawingml/2006/main" noGrp="1"/>
          </p:cNvSpPr>
          <p:nvPr/>
        </p:nvSpPr>
        <p:spPr>
          <a:xfrm xmlns:a="http://schemas.openxmlformats.org/drawingml/2006/main">
            <a:off x="3352800" y="310515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Barangay reviewers compare sources and versions, flag possible duplicates or conflicts, then validate, partially validate, return or reject with a reason.</a:t>
            </a:r>
          </a:p>
        </p:txBody>
      </p:sp>
      <p:sp>
        <p:nvSpPr>
          <p:cNvPr id="16" name="">
            <a:extLst xmlns:a="http://schemas.openxmlformats.org/drawingml/2006/main">
              <a:ext uri="{FF2B5EF4-FFF2-40B4-BE49-F238E27FC236}">
                <a16:creationId xmlns:a16="http://schemas.microsoft.com/office/drawing/2014/main" id="{8B7EC3D5-3A49-4A21-8E38-F67D9D831A98}"/>
              </a:ext>
            </a:extLst>
          </p:cNvPr>
          <p:cNvSpPr>
            <a:spLocks xmlns:a="http://schemas.openxmlformats.org/drawingml/2006/main" noGrp="1"/>
          </p:cNvSpPr>
          <p:nvPr/>
        </p:nvSpPr>
        <p:spPr>
          <a:xfrm xmlns:a="http://schemas.openxmlformats.org/drawingml/2006/main">
            <a:off x="8343900" y="3105150"/>
            <a:ext cx="276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Makes review and correction accountable. Automated checks do not decide factual accuracy.</a:t>
            </a:r>
          </a:p>
        </p:txBody>
      </p:sp>
      <p:sp>
        <p:nvSpPr>
          <p:cNvPr id="17" name="">
            <a:extLst xmlns:a="http://schemas.openxmlformats.org/drawingml/2006/main">
              <a:ext uri="{FF2B5EF4-FFF2-40B4-BE49-F238E27FC236}">
                <a16:creationId xmlns:a16="http://schemas.microsoft.com/office/drawing/2014/main" id="{B52B8EF2-39D9-4214-A1C6-B49A35E6A19C}"/>
              </a:ext>
            </a:extLst>
          </p:cNvPr>
          <p:cNvSpPr>
            <a:spLocks xmlns:a="http://schemas.openxmlformats.org/drawingml/2006/main" noGrp="1"/>
          </p:cNvSpPr>
          <p:nvPr/>
        </p:nvSpPr>
        <p:spPr>
          <a:xfrm xmlns:a="http://schemas.openxmlformats.org/drawingml/2006/main">
            <a:off x="933450" y="4371975"/>
            <a:ext cx="102298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8" name="">
            <a:extLst xmlns:a="http://schemas.openxmlformats.org/drawingml/2006/main">
              <a:ext uri="{FF2B5EF4-FFF2-40B4-BE49-F238E27FC236}">
                <a16:creationId xmlns:a16="http://schemas.microsoft.com/office/drawing/2014/main" id="{31DCA2C0-87BE-4890-A59E-4660A5F4D3BE}"/>
              </a:ext>
            </a:extLst>
          </p:cNvPr>
          <p:cNvSpPr>
            <a:spLocks xmlns:a="http://schemas.openxmlformats.org/drawingml/2006/main" noGrp="1"/>
          </p:cNvSpPr>
          <p:nvPr/>
        </p:nvSpPr>
        <p:spPr>
          <a:xfrm xmlns:a="http://schemas.openxmlformats.org/drawingml/2006/main">
            <a:off x="933450" y="4476750"/>
            <a:ext cx="21526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Purok Incident Report History</a:t>
            </a:r>
          </a:p>
        </p:txBody>
      </p:sp>
      <p:sp>
        <p:nvSpPr>
          <p:cNvPr id="19" name="">
            <a:extLst xmlns:a="http://schemas.openxmlformats.org/drawingml/2006/main">
              <a:ext uri="{FF2B5EF4-FFF2-40B4-BE49-F238E27FC236}">
                <a16:creationId xmlns:a16="http://schemas.microsoft.com/office/drawing/2014/main" id="{B0ABAF77-9BB4-47D0-9631-B10331B3DF0A}"/>
              </a:ext>
            </a:extLst>
          </p:cNvPr>
          <p:cNvSpPr>
            <a:spLocks xmlns:a="http://schemas.openxmlformats.org/drawingml/2006/main" noGrp="1"/>
          </p:cNvSpPr>
          <p:nvPr/>
        </p:nvSpPr>
        <p:spPr>
          <a:xfrm xmlns:a="http://schemas.openxmlformats.org/drawingml/2006/main">
            <a:off x="3352800" y="447675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Retrieve current and prior versions of Purok incident reports with their status.</a:t>
            </a:r>
          </a:p>
        </p:txBody>
      </p:sp>
      <p:sp>
        <p:nvSpPr>
          <p:cNvPr id="20" name="">
            <a:extLst xmlns:a="http://schemas.openxmlformats.org/drawingml/2006/main">
              <a:ext uri="{FF2B5EF4-FFF2-40B4-BE49-F238E27FC236}">
                <a16:creationId xmlns:a16="http://schemas.microsoft.com/office/drawing/2014/main" id="{65679A24-9761-4AE0-A5F1-DC7F8CAEBD14}"/>
              </a:ext>
            </a:extLst>
          </p:cNvPr>
          <p:cNvSpPr>
            <a:spLocks xmlns:a="http://schemas.openxmlformats.org/drawingml/2006/main" noGrp="1"/>
          </p:cNvSpPr>
          <p:nvPr/>
        </p:nvSpPr>
        <p:spPr>
          <a:xfrm xmlns:a="http://schemas.openxmlformats.org/drawingml/2006/main">
            <a:off x="8343900" y="4476750"/>
            <a:ext cx="276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Shows what changed as the event developed and preserves the originating record.</a:t>
            </a:r>
          </a:p>
        </p:txBody>
      </p:sp>
    </p:spTree>
    <p:extLst>
      <p:ext uri="{BB962C8B-B14F-4D97-AF65-F5344CB8AC3E}">
        <p14:creationId xmlns:p14="http://schemas.microsoft.com/office/powerpoint/2010/main" val="1636674763"/>
      </p:ext>
    </p:extLst>
  </p:cSld>
</p:sld>
</file>

<file path=ppt/slides/slide21.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F92845F2-564D-4BF8-AA96-8D5DA344788F}"/>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519BCA3-EEB9-4B1D-BFA8-E2182EBC7175}"/>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PROPOSED SYSTEM MODULES: DETAILED</a:t>
            </a:r>
          </a:p>
        </p:txBody>
      </p:sp>
      <p:sp>
        <p:nvSpPr>
          <p:cNvPr id="3" name="">
            <a:extLst xmlns:a="http://schemas.openxmlformats.org/drawingml/2006/main">
              <a:ext uri="{FF2B5EF4-FFF2-40B4-BE49-F238E27FC236}">
                <a16:creationId xmlns:a16="http://schemas.microsoft.com/office/drawing/2014/main" id="{EA54890F-DDDA-4F27-8F94-3D0CA84C7EDC}"/>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Barangay accounts and profile modules</a:t>
            </a:r>
          </a:p>
        </p:txBody>
      </p:sp>
      <p:sp>
        <p:nvSpPr>
          <p:cNvPr id="4" name="">
            <a:extLst xmlns:a="http://schemas.openxmlformats.org/drawingml/2006/main">
              <a:ext uri="{FF2B5EF4-FFF2-40B4-BE49-F238E27FC236}">
                <a16:creationId xmlns:a16="http://schemas.microsoft.com/office/drawing/2014/main" id="{D40896CA-EFE5-4908-949D-DCFB8778AC5C}"/>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61870305-E429-4DB8-AFB0-1761F2DB6A6D}"/>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Specific Objectives 309–311 and Table 3</a:t>
            </a:r>
          </a:p>
        </p:txBody>
      </p:sp>
      <p:sp>
        <p:nvSpPr>
          <p:cNvPr id="6" name="">
            <a:extLst xmlns:a="http://schemas.openxmlformats.org/drawingml/2006/main">
              <a:ext uri="{FF2B5EF4-FFF2-40B4-BE49-F238E27FC236}">
                <a16:creationId xmlns:a16="http://schemas.microsoft.com/office/drawing/2014/main" id="{AD04C467-9376-4CAF-96FE-9E47B93152F5}"/>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21</a:t>
            </a:r>
          </a:p>
        </p:txBody>
      </p:sp>
      <p:sp>
        <p:nvSpPr>
          <p:cNvPr id="7" name="">
            <a:extLst xmlns:a="http://schemas.openxmlformats.org/drawingml/2006/main">
              <a:ext uri="{FF2B5EF4-FFF2-40B4-BE49-F238E27FC236}">
                <a16:creationId xmlns:a16="http://schemas.microsoft.com/office/drawing/2014/main" id="{88CB0554-26BB-4F7B-948F-0FAF51FF2B23}"/>
              </a:ext>
            </a:extLst>
          </p:cNvPr>
          <p:cNvSpPr>
            <a:spLocks xmlns:a="http://schemas.openxmlformats.org/drawingml/2006/main" noGrp="1"/>
          </p:cNvSpPr>
          <p:nvPr/>
        </p:nvSpPr>
        <p:spPr>
          <a:xfrm xmlns:a="http://schemas.openxmlformats.org/drawingml/2006/main">
            <a:off x="933450" y="13239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MODULE</a:t>
            </a:r>
          </a:p>
        </p:txBody>
      </p:sp>
      <p:sp>
        <p:nvSpPr>
          <p:cNvPr id="8" name="">
            <a:extLst xmlns:a="http://schemas.openxmlformats.org/drawingml/2006/main">
              <a:ext uri="{FF2B5EF4-FFF2-40B4-BE49-F238E27FC236}">
                <a16:creationId xmlns:a16="http://schemas.microsoft.com/office/drawing/2014/main" id="{4D771B4F-9772-404B-A84B-365D95ADCB20}"/>
              </a:ext>
            </a:extLst>
          </p:cNvPr>
          <p:cNvSpPr>
            <a:spLocks xmlns:a="http://schemas.openxmlformats.org/drawingml/2006/main" noGrp="1"/>
          </p:cNvSpPr>
          <p:nvPr/>
        </p:nvSpPr>
        <p:spPr>
          <a:xfrm xmlns:a="http://schemas.openxmlformats.org/drawingml/2006/main">
            <a:off x="3352800" y="1323975"/>
            <a:ext cx="4743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HOW IT WORKS</a:t>
            </a:r>
          </a:p>
        </p:txBody>
      </p:sp>
      <p:sp>
        <p:nvSpPr>
          <p:cNvPr id="9" name="">
            <a:extLst xmlns:a="http://schemas.openxmlformats.org/drawingml/2006/main">
              <a:ext uri="{FF2B5EF4-FFF2-40B4-BE49-F238E27FC236}">
                <a16:creationId xmlns:a16="http://schemas.microsoft.com/office/drawing/2014/main" id="{69810974-EBC6-4B03-9535-C086FCBF7709}"/>
              </a:ext>
            </a:extLst>
          </p:cNvPr>
          <p:cNvSpPr>
            <a:spLocks xmlns:a="http://schemas.openxmlformats.org/drawingml/2006/main" noGrp="1"/>
          </p:cNvSpPr>
          <p:nvPr/>
        </p:nvSpPr>
        <p:spPr>
          <a:xfrm xmlns:a="http://schemas.openxmlformats.org/drawingml/2006/main">
            <a:off x="8343900" y="1323975"/>
            <a:ext cx="276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WHY IT EXISTS</a:t>
            </a:r>
          </a:p>
        </p:txBody>
      </p:sp>
      <p:sp>
        <p:nvSpPr>
          <p:cNvPr id="10" name="">
            <a:extLst xmlns:a="http://schemas.openxmlformats.org/drawingml/2006/main">
              <a:ext uri="{FF2B5EF4-FFF2-40B4-BE49-F238E27FC236}">
                <a16:creationId xmlns:a16="http://schemas.microsoft.com/office/drawing/2014/main" id="{4B99BDB9-36F7-49CA-B10A-4224CA4A8BFA}"/>
              </a:ext>
            </a:extLst>
          </p:cNvPr>
          <p:cNvSpPr>
            <a:spLocks xmlns:a="http://schemas.openxmlformats.org/drawingml/2006/main" noGrp="1"/>
          </p:cNvSpPr>
          <p:nvPr/>
        </p:nvSpPr>
        <p:spPr>
          <a:xfrm xmlns:a="http://schemas.openxmlformats.org/drawingml/2006/main">
            <a:off x="933450" y="1733550"/>
            <a:ext cx="21526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Barangay User Management</a:t>
            </a:r>
          </a:p>
        </p:txBody>
      </p:sp>
      <p:sp>
        <p:nvSpPr>
          <p:cNvPr id="11" name="">
            <a:extLst xmlns:a="http://schemas.openxmlformats.org/drawingml/2006/main">
              <a:ext uri="{FF2B5EF4-FFF2-40B4-BE49-F238E27FC236}">
                <a16:creationId xmlns:a16="http://schemas.microsoft.com/office/drawing/2014/main" id="{8EC3B6BB-E785-49EB-8E3E-F3928A783D0C}"/>
              </a:ext>
            </a:extLst>
          </p:cNvPr>
          <p:cNvSpPr>
            <a:spLocks xmlns:a="http://schemas.openxmlformats.org/drawingml/2006/main" noGrp="1"/>
          </p:cNvSpPr>
          <p:nvPr/>
        </p:nvSpPr>
        <p:spPr>
          <a:xfrm xmlns:a="http://schemas.openxmlformats.org/drawingml/2006/main">
            <a:off x="3352800" y="173355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Authorized DRRM Administrators create Barangay accounts and issue system-generated credentials.</a:t>
            </a:r>
          </a:p>
        </p:txBody>
      </p:sp>
      <p:sp>
        <p:nvSpPr>
          <p:cNvPr id="12" name="">
            <a:extLst xmlns:a="http://schemas.openxmlformats.org/drawingml/2006/main">
              <a:ext uri="{FF2B5EF4-FFF2-40B4-BE49-F238E27FC236}">
                <a16:creationId xmlns:a16="http://schemas.microsoft.com/office/drawing/2014/main" id="{D57F5086-28AC-408A-874F-B974B9FD0442}"/>
              </a:ext>
            </a:extLst>
          </p:cNvPr>
          <p:cNvSpPr>
            <a:spLocks xmlns:a="http://schemas.openxmlformats.org/drawingml/2006/main" noGrp="1"/>
          </p:cNvSpPr>
          <p:nvPr/>
        </p:nvSpPr>
        <p:spPr>
          <a:xfrm xmlns:a="http://schemas.openxmlformats.org/drawingml/2006/main">
            <a:off x="8343900" y="1733550"/>
            <a:ext cx="276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Keeps account creation under the level responsible for citywide user administration.</a:t>
            </a:r>
          </a:p>
        </p:txBody>
      </p:sp>
      <p:sp>
        <p:nvSpPr>
          <p:cNvPr id="13" name="">
            <a:extLst xmlns:a="http://schemas.openxmlformats.org/drawingml/2006/main">
              <a:ext uri="{FF2B5EF4-FFF2-40B4-BE49-F238E27FC236}">
                <a16:creationId xmlns:a16="http://schemas.microsoft.com/office/drawing/2014/main" id="{55DCF4A1-16F8-4EAB-A02C-EACBDFDFAE50}"/>
              </a:ext>
            </a:extLst>
          </p:cNvPr>
          <p:cNvSpPr>
            <a:spLocks xmlns:a="http://schemas.openxmlformats.org/drawingml/2006/main" noGrp="1"/>
          </p:cNvSpPr>
          <p:nvPr/>
        </p:nvSpPr>
        <p:spPr>
          <a:xfrm xmlns:a="http://schemas.openxmlformats.org/drawingml/2006/main">
            <a:off x="933450" y="3000375"/>
            <a:ext cx="102298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4" name="">
            <a:extLst xmlns:a="http://schemas.openxmlformats.org/drawingml/2006/main">
              <a:ext uri="{FF2B5EF4-FFF2-40B4-BE49-F238E27FC236}">
                <a16:creationId xmlns:a16="http://schemas.microsoft.com/office/drawing/2014/main" id="{E11022E4-E56F-4B62-A282-BB5AD22EE997}"/>
              </a:ext>
            </a:extLst>
          </p:cNvPr>
          <p:cNvSpPr>
            <a:spLocks xmlns:a="http://schemas.openxmlformats.org/drawingml/2006/main" noGrp="1"/>
          </p:cNvSpPr>
          <p:nvPr/>
        </p:nvSpPr>
        <p:spPr>
          <a:xfrm xmlns:a="http://schemas.openxmlformats.org/drawingml/2006/main">
            <a:off x="933450" y="3105150"/>
            <a:ext cx="21526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Barangay Profile Creation</a:t>
            </a:r>
          </a:p>
        </p:txBody>
      </p:sp>
      <p:sp>
        <p:nvSpPr>
          <p:cNvPr id="15" name="">
            <a:extLst xmlns:a="http://schemas.openxmlformats.org/drawingml/2006/main">
              <a:ext uri="{FF2B5EF4-FFF2-40B4-BE49-F238E27FC236}">
                <a16:creationId xmlns:a16="http://schemas.microsoft.com/office/drawing/2014/main" id="{AC9BD21F-A1DA-4309-B647-9A6FBD797AE0}"/>
              </a:ext>
            </a:extLst>
          </p:cNvPr>
          <p:cNvSpPr>
            <a:spLocks xmlns:a="http://schemas.openxmlformats.org/drawingml/2006/main" noGrp="1"/>
          </p:cNvSpPr>
          <p:nvPr/>
        </p:nvSpPr>
        <p:spPr>
          <a:xfrm xmlns:a="http://schemas.openxmlformats.org/drawingml/2006/main">
            <a:off x="3352800" y="310515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Consolidate verified Purok profile records into the Barangay profile.</a:t>
            </a:r>
          </a:p>
        </p:txBody>
      </p:sp>
      <p:sp>
        <p:nvSpPr>
          <p:cNvPr id="16" name="">
            <a:extLst xmlns:a="http://schemas.openxmlformats.org/drawingml/2006/main">
              <a:ext uri="{FF2B5EF4-FFF2-40B4-BE49-F238E27FC236}">
                <a16:creationId xmlns:a16="http://schemas.microsoft.com/office/drawing/2014/main" id="{D761BF80-8E97-49F3-A146-FC5CF7FFC5D1}"/>
              </a:ext>
            </a:extLst>
          </p:cNvPr>
          <p:cNvSpPr>
            <a:spLocks xmlns:a="http://schemas.openxmlformats.org/drawingml/2006/main" noGrp="1"/>
          </p:cNvSpPr>
          <p:nvPr/>
        </p:nvSpPr>
        <p:spPr>
          <a:xfrm xmlns:a="http://schemas.openxmlformats.org/drawingml/2006/main">
            <a:off x="8343900" y="3105150"/>
            <a:ext cx="276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Builds the higher-level baseline from its constituent Purok data instead of re-entering it.</a:t>
            </a:r>
          </a:p>
        </p:txBody>
      </p:sp>
      <p:sp>
        <p:nvSpPr>
          <p:cNvPr id="17" name="">
            <a:extLst xmlns:a="http://schemas.openxmlformats.org/drawingml/2006/main">
              <a:ext uri="{FF2B5EF4-FFF2-40B4-BE49-F238E27FC236}">
                <a16:creationId xmlns:a16="http://schemas.microsoft.com/office/drawing/2014/main" id="{06C318E2-9D6A-49FC-B1C1-E9900DF43F97}"/>
              </a:ext>
            </a:extLst>
          </p:cNvPr>
          <p:cNvSpPr>
            <a:spLocks xmlns:a="http://schemas.openxmlformats.org/drawingml/2006/main" noGrp="1"/>
          </p:cNvSpPr>
          <p:nvPr/>
        </p:nvSpPr>
        <p:spPr>
          <a:xfrm xmlns:a="http://schemas.openxmlformats.org/drawingml/2006/main">
            <a:off x="933450" y="4371975"/>
            <a:ext cx="102298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8" name="">
            <a:extLst xmlns:a="http://schemas.openxmlformats.org/drawingml/2006/main">
              <a:ext uri="{FF2B5EF4-FFF2-40B4-BE49-F238E27FC236}">
                <a16:creationId xmlns:a16="http://schemas.microsoft.com/office/drawing/2014/main" id="{8D981A6B-5680-4C4A-9FE2-534261DC1E14}"/>
              </a:ext>
            </a:extLst>
          </p:cNvPr>
          <p:cNvSpPr>
            <a:spLocks xmlns:a="http://schemas.openxmlformats.org/drawingml/2006/main" noGrp="1"/>
          </p:cNvSpPr>
          <p:nvPr/>
        </p:nvSpPr>
        <p:spPr>
          <a:xfrm xmlns:a="http://schemas.openxmlformats.org/drawingml/2006/main">
            <a:off x="933450" y="4476750"/>
            <a:ext cx="21526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Barangay Profile Verification</a:t>
            </a:r>
          </a:p>
        </p:txBody>
      </p:sp>
      <p:sp>
        <p:nvSpPr>
          <p:cNvPr id="19" name="">
            <a:extLst xmlns:a="http://schemas.openxmlformats.org/drawingml/2006/main">
              <a:ext uri="{FF2B5EF4-FFF2-40B4-BE49-F238E27FC236}">
                <a16:creationId xmlns:a16="http://schemas.microsoft.com/office/drawing/2014/main" id="{26717125-ECEF-4576-87BF-E1380C2D0A86}"/>
              </a:ext>
            </a:extLst>
          </p:cNvPr>
          <p:cNvSpPr>
            <a:spLocks xmlns:a="http://schemas.openxmlformats.org/drawingml/2006/main" noGrp="1"/>
          </p:cNvSpPr>
          <p:nvPr/>
        </p:nvSpPr>
        <p:spPr>
          <a:xfrm xmlns:a="http://schemas.openxmlformats.org/drawingml/2006/main">
            <a:off x="3352800" y="447675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An authorized DRRM reviewer checks the consolidated profile against references and records the decision.</a:t>
            </a:r>
          </a:p>
        </p:txBody>
      </p:sp>
      <p:sp>
        <p:nvSpPr>
          <p:cNvPr id="20" name="">
            <a:extLst xmlns:a="http://schemas.openxmlformats.org/drawingml/2006/main">
              <a:ext uri="{FF2B5EF4-FFF2-40B4-BE49-F238E27FC236}">
                <a16:creationId xmlns:a16="http://schemas.microsoft.com/office/drawing/2014/main" id="{59D665DE-1E82-4631-A043-5C79ADA497A3}"/>
              </a:ext>
            </a:extLst>
          </p:cNvPr>
          <p:cNvSpPr>
            <a:spLocks xmlns:a="http://schemas.openxmlformats.org/drawingml/2006/main" noGrp="1"/>
          </p:cNvSpPr>
          <p:nvPr/>
        </p:nvSpPr>
        <p:spPr>
          <a:xfrm xmlns:a="http://schemas.openxmlformats.org/drawingml/2006/main">
            <a:off x="8343900" y="4476750"/>
            <a:ext cx="276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Adds a higher-level review before the Barangay profile is treated as verified.</a:t>
            </a:r>
          </a:p>
        </p:txBody>
      </p:sp>
    </p:spTree>
    <p:extLst>
      <p:ext uri="{BB962C8B-B14F-4D97-AF65-F5344CB8AC3E}">
        <p14:creationId xmlns:p14="http://schemas.microsoft.com/office/powerpoint/2010/main" val="1339250079"/>
      </p:ext>
    </p:extLst>
  </p:cSld>
</p:sld>
</file>

<file path=ppt/slides/slide22.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7890085E-78FD-4A1E-B1DA-7BCD6BBA349E}"/>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BFE890E-2187-4439-A808-A3A66B6CC849}"/>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PROPOSED SYSTEM MODULES: DETAILED</a:t>
            </a:r>
          </a:p>
        </p:txBody>
      </p:sp>
      <p:sp>
        <p:nvSpPr>
          <p:cNvPr id="3" name="">
            <a:extLst xmlns:a="http://schemas.openxmlformats.org/drawingml/2006/main">
              <a:ext uri="{FF2B5EF4-FFF2-40B4-BE49-F238E27FC236}">
                <a16:creationId xmlns:a16="http://schemas.microsoft.com/office/drawing/2014/main" id="{45B2BF23-6C38-4A9C-A386-C20F36ABC35B}"/>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Barangay incident reporting modules</a:t>
            </a:r>
          </a:p>
        </p:txBody>
      </p:sp>
      <p:sp>
        <p:nvSpPr>
          <p:cNvPr id="4" name="">
            <a:extLst xmlns:a="http://schemas.openxmlformats.org/drawingml/2006/main">
              <a:ext uri="{FF2B5EF4-FFF2-40B4-BE49-F238E27FC236}">
                <a16:creationId xmlns:a16="http://schemas.microsoft.com/office/drawing/2014/main" id="{0BB22617-C53E-4BF9-9DCB-99A689222B30}"/>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4FC617B7-E9B9-46A3-96E8-2B495E15CDE1}"/>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Specific Objectives 312–314 and Table 3</a:t>
            </a:r>
          </a:p>
        </p:txBody>
      </p:sp>
      <p:sp>
        <p:nvSpPr>
          <p:cNvPr id="6" name="">
            <a:extLst xmlns:a="http://schemas.openxmlformats.org/drawingml/2006/main">
              <a:ext uri="{FF2B5EF4-FFF2-40B4-BE49-F238E27FC236}">
                <a16:creationId xmlns:a16="http://schemas.microsoft.com/office/drawing/2014/main" id="{1D68EDA3-A6D4-4D8D-9B43-6B983768BEB1}"/>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22</a:t>
            </a:r>
          </a:p>
        </p:txBody>
      </p:sp>
      <p:sp>
        <p:nvSpPr>
          <p:cNvPr id="7" name="">
            <a:extLst xmlns:a="http://schemas.openxmlformats.org/drawingml/2006/main">
              <a:ext uri="{FF2B5EF4-FFF2-40B4-BE49-F238E27FC236}">
                <a16:creationId xmlns:a16="http://schemas.microsoft.com/office/drawing/2014/main" id="{5D7DC783-18B4-4073-9804-CE5750F4E0FD}"/>
              </a:ext>
            </a:extLst>
          </p:cNvPr>
          <p:cNvSpPr>
            <a:spLocks xmlns:a="http://schemas.openxmlformats.org/drawingml/2006/main" noGrp="1"/>
          </p:cNvSpPr>
          <p:nvPr/>
        </p:nvSpPr>
        <p:spPr>
          <a:xfrm xmlns:a="http://schemas.openxmlformats.org/drawingml/2006/main">
            <a:off x="933450" y="13239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MODULE</a:t>
            </a:r>
          </a:p>
        </p:txBody>
      </p:sp>
      <p:sp>
        <p:nvSpPr>
          <p:cNvPr id="8" name="">
            <a:extLst xmlns:a="http://schemas.openxmlformats.org/drawingml/2006/main">
              <a:ext uri="{FF2B5EF4-FFF2-40B4-BE49-F238E27FC236}">
                <a16:creationId xmlns:a16="http://schemas.microsoft.com/office/drawing/2014/main" id="{0F5275FE-30FE-422C-B778-BF74481144F8}"/>
              </a:ext>
            </a:extLst>
          </p:cNvPr>
          <p:cNvSpPr>
            <a:spLocks xmlns:a="http://schemas.openxmlformats.org/drawingml/2006/main" noGrp="1"/>
          </p:cNvSpPr>
          <p:nvPr/>
        </p:nvSpPr>
        <p:spPr>
          <a:xfrm xmlns:a="http://schemas.openxmlformats.org/drawingml/2006/main">
            <a:off x="3352800" y="1323975"/>
            <a:ext cx="4743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HOW IT WORKS</a:t>
            </a:r>
          </a:p>
        </p:txBody>
      </p:sp>
      <p:sp>
        <p:nvSpPr>
          <p:cNvPr id="9" name="">
            <a:extLst xmlns:a="http://schemas.openxmlformats.org/drawingml/2006/main">
              <a:ext uri="{FF2B5EF4-FFF2-40B4-BE49-F238E27FC236}">
                <a16:creationId xmlns:a16="http://schemas.microsoft.com/office/drawing/2014/main" id="{48C42012-9678-471C-8021-87C2E5A83AD5}"/>
              </a:ext>
            </a:extLst>
          </p:cNvPr>
          <p:cNvSpPr>
            <a:spLocks xmlns:a="http://schemas.openxmlformats.org/drawingml/2006/main" noGrp="1"/>
          </p:cNvSpPr>
          <p:nvPr/>
        </p:nvSpPr>
        <p:spPr>
          <a:xfrm xmlns:a="http://schemas.openxmlformats.org/drawingml/2006/main">
            <a:off x="8343900" y="1323975"/>
            <a:ext cx="276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WHY IT EXISTS</a:t>
            </a:r>
          </a:p>
        </p:txBody>
      </p:sp>
      <p:sp>
        <p:nvSpPr>
          <p:cNvPr id="10" name="">
            <a:extLst xmlns:a="http://schemas.openxmlformats.org/drawingml/2006/main">
              <a:ext uri="{FF2B5EF4-FFF2-40B4-BE49-F238E27FC236}">
                <a16:creationId xmlns:a16="http://schemas.microsoft.com/office/drawing/2014/main" id="{93138039-76D7-479C-86B1-9F7DBA80C358}"/>
              </a:ext>
            </a:extLst>
          </p:cNvPr>
          <p:cNvSpPr>
            <a:spLocks xmlns:a="http://schemas.openxmlformats.org/drawingml/2006/main" noGrp="1"/>
          </p:cNvSpPr>
          <p:nvPr/>
        </p:nvSpPr>
        <p:spPr>
          <a:xfrm xmlns:a="http://schemas.openxmlformats.org/drawingml/2006/main">
            <a:off x="933450" y="1733550"/>
            <a:ext cx="21526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Barangay Incident Reporting</a:t>
            </a:r>
          </a:p>
        </p:txBody>
      </p:sp>
      <p:sp>
        <p:nvSpPr>
          <p:cNvPr id="11" name="">
            <a:extLst xmlns:a="http://schemas.openxmlformats.org/drawingml/2006/main">
              <a:ext uri="{FF2B5EF4-FFF2-40B4-BE49-F238E27FC236}">
                <a16:creationId xmlns:a16="http://schemas.microsoft.com/office/drawing/2014/main" id="{0966F284-4A51-4169-AA4E-AD8A4FAE11ED}"/>
              </a:ext>
            </a:extLst>
          </p:cNvPr>
          <p:cNvSpPr>
            <a:spLocks xmlns:a="http://schemas.openxmlformats.org/drawingml/2006/main" noGrp="1"/>
          </p:cNvSpPr>
          <p:nvPr/>
        </p:nvSpPr>
        <p:spPr>
          <a:xfrm xmlns:a="http://schemas.openxmlformats.org/drawingml/2006/main">
            <a:off x="3352800" y="173355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Consolidate eligible verified Purok reports, add Barangay-level assessment, and return unverified source reports for correction.</a:t>
            </a:r>
          </a:p>
        </p:txBody>
      </p:sp>
      <p:sp>
        <p:nvSpPr>
          <p:cNvPr id="12" name="">
            <a:extLst xmlns:a="http://schemas.openxmlformats.org/drawingml/2006/main">
              <a:ext uri="{FF2B5EF4-FFF2-40B4-BE49-F238E27FC236}">
                <a16:creationId xmlns:a16="http://schemas.microsoft.com/office/drawing/2014/main" id="{0F19A4FD-99B4-4021-B176-D00DD25D64E7}"/>
              </a:ext>
            </a:extLst>
          </p:cNvPr>
          <p:cNvSpPr>
            <a:spLocks xmlns:a="http://schemas.openxmlformats.org/drawingml/2006/main" noGrp="1"/>
          </p:cNvSpPr>
          <p:nvPr/>
        </p:nvSpPr>
        <p:spPr>
          <a:xfrm xmlns:a="http://schemas.openxmlformats.org/drawingml/2006/main">
            <a:off x="8343900" y="1733550"/>
            <a:ext cx="276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Produces a multi-Purok incident account with more aggregated effects.</a:t>
            </a:r>
          </a:p>
        </p:txBody>
      </p:sp>
      <p:sp>
        <p:nvSpPr>
          <p:cNvPr id="13" name="">
            <a:extLst xmlns:a="http://schemas.openxmlformats.org/drawingml/2006/main">
              <a:ext uri="{FF2B5EF4-FFF2-40B4-BE49-F238E27FC236}">
                <a16:creationId xmlns:a16="http://schemas.microsoft.com/office/drawing/2014/main" id="{02DD6CCE-80E6-4159-939F-BEC82A07E040}"/>
              </a:ext>
            </a:extLst>
          </p:cNvPr>
          <p:cNvSpPr>
            <a:spLocks xmlns:a="http://schemas.openxmlformats.org/drawingml/2006/main" noGrp="1"/>
          </p:cNvSpPr>
          <p:nvPr/>
        </p:nvSpPr>
        <p:spPr>
          <a:xfrm xmlns:a="http://schemas.openxmlformats.org/drawingml/2006/main">
            <a:off x="933450" y="3000375"/>
            <a:ext cx="102298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4" name="">
            <a:extLst xmlns:a="http://schemas.openxmlformats.org/drawingml/2006/main">
              <a:ext uri="{FF2B5EF4-FFF2-40B4-BE49-F238E27FC236}">
                <a16:creationId xmlns:a16="http://schemas.microsoft.com/office/drawing/2014/main" id="{A7A55DDC-FEE7-45C7-A845-FA689A33801F}"/>
              </a:ext>
            </a:extLst>
          </p:cNvPr>
          <p:cNvSpPr>
            <a:spLocks xmlns:a="http://schemas.openxmlformats.org/drawingml/2006/main" noGrp="1"/>
          </p:cNvSpPr>
          <p:nvPr/>
        </p:nvSpPr>
        <p:spPr>
          <a:xfrm xmlns:a="http://schemas.openxmlformats.org/drawingml/2006/main">
            <a:off x="933450" y="3105150"/>
            <a:ext cx="21526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Barangay Incident Report Verification</a:t>
            </a:r>
          </a:p>
        </p:txBody>
      </p:sp>
      <p:sp>
        <p:nvSpPr>
          <p:cNvPr id="15" name="">
            <a:extLst xmlns:a="http://schemas.openxmlformats.org/drawingml/2006/main">
              <a:ext uri="{FF2B5EF4-FFF2-40B4-BE49-F238E27FC236}">
                <a16:creationId xmlns:a16="http://schemas.microsoft.com/office/drawing/2014/main" id="{BFC2F014-095D-4C6D-B40A-99076EBF73CB}"/>
              </a:ext>
            </a:extLst>
          </p:cNvPr>
          <p:cNvSpPr>
            <a:spLocks xmlns:a="http://schemas.openxmlformats.org/drawingml/2006/main" noGrp="1"/>
          </p:cNvSpPr>
          <p:nvPr/>
        </p:nvSpPr>
        <p:spPr>
          <a:xfrm xmlns:a="http://schemas.openxmlformats.org/drawingml/2006/main">
            <a:off x="3352800" y="310515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DRRM reviewers check new or modified submissions, compare sources, flag conflicts, and verify, partially verify, return or reject with a reason.</a:t>
            </a:r>
          </a:p>
        </p:txBody>
      </p:sp>
      <p:sp>
        <p:nvSpPr>
          <p:cNvPr id="16" name="">
            <a:extLst xmlns:a="http://schemas.openxmlformats.org/drawingml/2006/main">
              <a:ext uri="{FF2B5EF4-FFF2-40B4-BE49-F238E27FC236}">
                <a16:creationId xmlns:a16="http://schemas.microsoft.com/office/drawing/2014/main" id="{6B8ED728-727D-4F96-A2BA-F2823B36928B}"/>
              </a:ext>
            </a:extLst>
          </p:cNvPr>
          <p:cNvSpPr>
            <a:spLocks xmlns:a="http://schemas.openxmlformats.org/drawingml/2006/main" noGrp="1"/>
          </p:cNvSpPr>
          <p:nvPr/>
        </p:nvSpPr>
        <p:spPr>
          <a:xfrm xmlns:a="http://schemas.openxmlformats.org/drawingml/2006/main">
            <a:off x="8343900" y="3105150"/>
            <a:ext cx="276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Only reviewed Barangay reports are eligible for SitRep consolidation.</a:t>
            </a:r>
          </a:p>
        </p:txBody>
      </p:sp>
      <p:sp>
        <p:nvSpPr>
          <p:cNvPr id="17" name="">
            <a:extLst xmlns:a="http://schemas.openxmlformats.org/drawingml/2006/main">
              <a:ext uri="{FF2B5EF4-FFF2-40B4-BE49-F238E27FC236}">
                <a16:creationId xmlns:a16="http://schemas.microsoft.com/office/drawing/2014/main" id="{A755A9B7-C430-4233-959B-62451005A301}"/>
              </a:ext>
            </a:extLst>
          </p:cNvPr>
          <p:cNvSpPr>
            <a:spLocks xmlns:a="http://schemas.openxmlformats.org/drawingml/2006/main" noGrp="1"/>
          </p:cNvSpPr>
          <p:nvPr/>
        </p:nvSpPr>
        <p:spPr>
          <a:xfrm xmlns:a="http://schemas.openxmlformats.org/drawingml/2006/main">
            <a:off x="933450" y="4371975"/>
            <a:ext cx="102298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8" name="">
            <a:extLst xmlns:a="http://schemas.openxmlformats.org/drawingml/2006/main">
              <a:ext uri="{FF2B5EF4-FFF2-40B4-BE49-F238E27FC236}">
                <a16:creationId xmlns:a16="http://schemas.microsoft.com/office/drawing/2014/main" id="{0DECE4C7-3930-41C0-B949-FEEEEEE1ECE1}"/>
              </a:ext>
            </a:extLst>
          </p:cNvPr>
          <p:cNvSpPr>
            <a:spLocks xmlns:a="http://schemas.openxmlformats.org/drawingml/2006/main" noGrp="1"/>
          </p:cNvSpPr>
          <p:nvPr/>
        </p:nvSpPr>
        <p:spPr>
          <a:xfrm xmlns:a="http://schemas.openxmlformats.org/drawingml/2006/main">
            <a:off x="933450" y="4476750"/>
            <a:ext cx="21526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Barangay Incident Report History</a:t>
            </a:r>
          </a:p>
        </p:txBody>
      </p:sp>
      <p:sp>
        <p:nvSpPr>
          <p:cNvPr id="19" name="">
            <a:extLst xmlns:a="http://schemas.openxmlformats.org/drawingml/2006/main">
              <a:ext uri="{FF2B5EF4-FFF2-40B4-BE49-F238E27FC236}">
                <a16:creationId xmlns:a16="http://schemas.microsoft.com/office/drawing/2014/main" id="{784B3847-27BE-4342-836F-A65532B558F3}"/>
              </a:ext>
            </a:extLst>
          </p:cNvPr>
          <p:cNvSpPr>
            <a:spLocks xmlns:a="http://schemas.openxmlformats.org/drawingml/2006/main" noGrp="1"/>
          </p:cNvSpPr>
          <p:nvPr/>
        </p:nvSpPr>
        <p:spPr>
          <a:xfrm xmlns:a="http://schemas.openxmlformats.org/drawingml/2006/main">
            <a:off x="3352800" y="447675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Retrieve current and earlier versions of consolidated Barangay reports.</a:t>
            </a:r>
          </a:p>
        </p:txBody>
      </p:sp>
      <p:sp>
        <p:nvSpPr>
          <p:cNvPr id="20" name="">
            <a:extLst xmlns:a="http://schemas.openxmlformats.org/drawingml/2006/main">
              <a:ext uri="{FF2B5EF4-FFF2-40B4-BE49-F238E27FC236}">
                <a16:creationId xmlns:a16="http://schemas.microsoft.com/office/drawing/2014/main" id="{F198E234-4021-4548-B377-79F11AE25791}"/>
              </a:ext>
            </a:extLst>
          </p:cNvPr>
          <p:cNvSpPr>
            <a:spLocks xmlns:a="http://schemas.openxmlformats.org/drawingml/2006/main" noGrp="1"/>
          </p:cNvSpPr>
          <p:nvPr/>
        </p:nvSpPr>
        <p:spPr>
          <a:xfrm xmlns:a="http://schemas.openxmlformats.org/drawingml/2006/main">
            <a:off x="8343900" y="4476750"/>
            <a:ext cx="276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Supports review, correction and tracing of SitRep source data over time.</a:t>
            </a:r>
          </a:p>
        </p:txBody>
      </p:sp>
    </p:spTree>
    <p:extLst>
      <p:ext uri="{BB962C8B-B14F-4D97-AF65-F5344CB8AC3E}">
        <p14:creationId xmlns:p14="http://schemas.microsoft.com/office/powerpoint/2010/main" val="1665592985"/>
      </p:ext>
    </p:extLst>
  </p:cSld>
</p:sld>
</file>

<file path=ppt/slides/slide23.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3E7D6722-1439-4880-BFF1-7A841C559727}"/>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37D271A-3E57-48C4-9B92-B123CD093B4E}"/>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PROPOSED SYSTEM MODULES: DETAILED</a:t>
            </a:r>
          </a:p>
        </p:txBody>
      </p:sp>
      <p:sp>
        <p:nvSpPr>
          <p:cNvPr id="3" name="">
            <a:extLst xmlns:a="http://schemas.openxmlformats.org/drawingml/2006/main">
              <a:ext uri="{FF2B5EF4-FFF2-40B4-BE49-F238E27FC236}">
                <a16:creationId xmlns:a16="http://schemas.microsoft.com/office/drawing/2014/main" id="{E9068B42-E2BC-4836-9BF0-5C74AA5F95F3}"/>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DRRM administration and hazard modules</a:t>
            </a:r>
          </a:p>
        </p:txBody>
      </p:sp>
      <p:sp>
        <p:nvSpPr>
          <p:cNvPr id="4" name="">
            <a:extLst xmlns:a="http://schemas.openxmlformats.org/drawingml/2006/main">
              <a:ext uri="{FF2B5EF4-FFF2-40B4-BE49-F238E27FC236}">
                <a16:creationId xmlns:a16="http://schemas.microsoft.com/office/drawing/2014/main" id="{654E9439-C5B4-4FBE-A4C9-64DD52684E5E}"/>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892C0615-2C89-4006-B91C-A0B6130F8902}"/>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Specific Objectives 316–317 and Table 3</a:t>
            </a:r>
          </a:p>
        </p:txBody>
      </p:sp>
      <p:sp>
        <p:nvSpPr>
          <p:cNvPr id="6" name="">
            <a:extLst xmlns:a="http://schemas.openxmlformats.org/drawingml/2006/main">
              <a:ext uri="{FF2B5EF4-FFF2-40B4-BE49-F238E27FC236}">
                <a16:creationId xmlns:a16="http://schemas.microsoft.com/office/drawing/2014/main" id="{AFB886CC-E83D-4E30-BAAA-4511A48A132B}"/>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23</a:t>
            </a:r>
          </a:p>
        </p:txBody>
      </p:sp>
      <p:sp>
        <p:nvSpPr>
          <p:cNvPr id="7" name="">
            <a:extLst xmlns:a="http://schemas.openxmlformats.org/drawingml/2006/main">
              <a:ext uri="{FF2B5EF4-FFF2-40B4-BE49-F238E27FC236}">
                <a16:creationId xmlns:a16="http://schemas.microsoft.com/office/drawing/2014/main" id="{BC43FA67-4346-4DD8-BAE9-DA94CF05311F}"/>
              </a:ext>
            </a:extLst>
          </p:cNvPr>
          <p:cNvSpPr>
            <a:spLocks xmlns:a="http://schemas.openxmlformats.org/drawingml/2006/main" noGrp="1"/>
          </p:cNvSpPr>
          <p:nvPr/>
        </p:nvSpPr>
        <p:spPr>
          <a:xfrm xmlns:a="http://schemas.openxmlformats.org/drawingml/2006/main">
            <a:off x="933450" y="13239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MODULE</a:t>
            </a:r>
          </a:p>
        </p:txBody>
      </p:sp>
      <p:sp>
        <p:nvSpPr>
          <p:cNvPr id="8" name="">
            <a:extLst xmlns:a="http://schemas.openxmlformats.org/drawingml/2006/main">
              <a:ext uri="{FF2B5EF4-FFF2-40B4-BE49-F238E27FC236}">
                <a16:creationId xmlns:a16="http://schemas.microsoft.com/office/drawing/2014/main" id="{825975EE-9E60-4ABB-8443-3C8AFD2964FF}"/>
              </a:ext>
            </a:extLst>
          </p:cNvPr>
          <p:cNvSpPr>
            <a:spLocks xmlns:a="http://schemas.openxmlformats.org/drawingml/2006/main" noGrp="1"/>
          </p:cNvSpPr>
          <p:nvPr/>
        </p:nvSpPr>
        <p:spPr>
          <a:xfrm xmlns:a="http://schemas.openxmlformats.org/drawingml/2006/main">
            <a:off x="3352800" y="1323975"/>
            <a:ext cx="4743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HOW IT WORKS</a:t>
            </a:r>
          </a:p>
        </p:txBody>
      </p:sp>
      <p:sp>
        <p:nvSpPr>
          <p:cNvPr id="9" name="">
            <a:extLst xmlns:a="http://schemas.openxmlformats.org/drawingml/2006/main">
              <a:ext uri="{FF2B5EF4-FFF2-40B4-BE49-F238E27FC236}">
                <a16:creationId xmlns:a16="http://schemas.microsoft.com/office/drawing/2014/main" id="{F8A17AEF-4C47-495E-8464-B4E044213531}"/>
              </a:ext>
            </a:extLst>
          </p:cNvPr>
          <p:cNvSpPr>
            <a:spLocks xmlns:a="http://schemas.openxmlformats.org/drawingml/2006/main" noGrp="1"/>
          </p:cNvSpPr>
          <p:nvPr/>
        </p:nvSpPr>
        <p:spPr>
          <a:xfrm xmlns:a="http://schemas.openxmlformats.org/drawingml/2006/main">
            <a:off x="8343900" y="1323975"/>
            <a:ext cx="276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WHY IT EXISTS</a:t>
            </a:r>
          </a:p>
        </p:txBody>
      </p:sp>
      <p:sp>
        <p:nvSpPr>
          <p:cNvPr id="10" name="">
            <a:extLst xmlns:a="http://schemas.openxmlformats.org/drawingml/2006/main">
              <a:ext uri="{FF2B5EF4-FFF2-40B4-BE49-F238E27FC236}">
                <a16:creationId xmlns:a16="http://schemas.microsoft.com/office/drawing/2014/main" id="{48C8BFEC-1478-488F-A122-1E2C23261AF5}"/>
              </a:ext>
            </a:extLst>
          </p:cNvPr>
          <p:cNvSpPr>
            <a:spLocks xmlns:a="http://schemas.openxmlformats.org/drawingml/2006/main" noGrp="1"/>
          </p:cNvSpPr>
          <p:nvPr/>
        </p:nvSpPr>
        <p:spPr>
          <a:xfrm xmlns:a="http://schemas.openxmlformats.org/drawingml/2006/main">
            <a:off x="933450" y="1733550"/>
            <a:ext cx="2152650" cy="1781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System User Management</a:t>
            </a:r>
          </a:p>
        </p:txBody>
      </p:sp>
      <p:sp>
        <p:nvSpPr>
          <p:cNvPr id="11" name="">
            <a:extLst xmlns:a="http://schemas.openxmlformats.org/drawingml/2006/main">
              <a:ext uri="{FF2B5EF4-FFF2-40B4-BE49-F238E27FC236}">
                <a16:creationId xmlns:a16="http://schemas.microsoft.com/office/drawing/2014/main" id="{F291E78F-086B-4C9E-BE22-CD36D6EF9ABD}"/>
              </a:ext>
            </a:extLst>
          </p:cNvPr>
          <p:cNvSpPr>
            <a:spLocks xmlns:a="http://schemas.openxmlformats.org/drawingml/2006/main" noGrp="1"/>
          </p:cNvSpPr>
          <p:nvPr/>
        </p:nvSpPr>
        <p:spPr>
          <a:xfrm xmlns:a="http://schemas.openxmlformats.org/drawingml/2006/main">
            <a:off x="3352800" y="1733550"/>
            <a:ext cx="4667250" cy="1781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DRRM Administrators view, edit, activate or suspend accounts across all three levels.</a:t>
            </a:r>
          </a:p>
        </p:txBody>
      </p:sp>
      <p:sp>
        <p:nvSpPr>
          <p:cNvPr id="12" name="">
            <a:extLst xmlns:a="http://schemas.openxmlformats.org/drawingml/2006/main">
              <a:ext uri="{FF2B5EF4-FFF2-40B4-BE49-F238E27FC236}">
                <a16:creationId xmlns:a16="http://schemas.microsoft.com/office/drawing/2014/main" id="{DDE3E903-5D1B-4F6A-9F42-8DC452522235}"/>
              </a:ext>
            </a:extLst>
          </p:cNvPr>
          <p:cNvSpPr>
            <a:spLocks xmlns:a="http://schemas.openxmlformats.org/drawingml/2006/main" noGrp="1"/>
          </p:cNvSpPr>
          <p:nvPr/>
        </p:nvSpPr>
        <p:spPr>
          <a:xfrm xmlns:a="http://schemas.openxmlformats.org/drawingml/2006/main">
            <a:off x="8343900" y="1733550"/>
            <a:ext cx="2762250" cy="1781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Controls access while preserving authorship and approval history when an account changes.</a:t>
            </a:r>
          </a:p>
        </p:txBody>
      </p:sp>
      <p:sp>
        <p:nvSpPr>
          <p:cNvPr id="13" name="">
            <a:extLst xmlns:a="http://schemas.openxmlformats.org/drawingml/2006/main">
              <a:ext uri="{FF2B5EF4-FFF2-40B4-BE49-F238E27FC236}">
                <a16:creationId xmlns:a16="http://schemas.microsoft.com/office/drawing/2014/main" id="{44BAC672-4A34-44E9-9E05-96A30DCDE56A}"/>
              </a:ext>
            </a:extLst>
          </p:cNvPr>
          <p:cNvSpPr>
            <a:spLocks xmlns:a="http://schemas.openxmlformats.org/drawingml/2006/main" noGrp="1"/>
          </p:cNvSpPr>
          <p:nvPr/>
        </p:nvSpPr>
        <p:spPr>
          <a:xfrm xmlns:a="http://schemas.openxmlformats.org/drawingml/2006/main">
            <a:off x="933450" y="3638550"/>
            <a:ext cx="102298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4" name="">
            <a:extLst xmlns:a="http://schemas.openxmlformats.org/drawingml/2006/main">
              <a:ext uri="{FF2B5EF4-FFF2-40B4-BE49-F238E27FC236}">
                <a16:creationId xmlns:a16="http://schemas.microsoft.com/office/drawing/2014/main" id="{2F561D9B-7BD2-4688-9F84-F09F74D3F8AD}"/>
              </a:ext>
            </a:extLst>
          </p:cNvPr>
          <p:cNvSpPr>
            <a:spLocks xmlns:a="http://schemas.openxmlformats.org/drawingml/2006/main" noGrp="1"/>
          </p:cNvSpPr>
          <p:nvPr/>
        </p:nvSpPr>
        <p:spPr>
          <a:xfrm xmlns:a="http://schemas.openxmlformats.org/drawingml/2006/main">
            <a:off x="933450" y="3743325"/>
            <a:ext cx="2152650" cy="1781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Hazard Creation</a:t>
            </a:r>
          </a:p>
        </p:txBody>
      </p:sp>
      <p:sp>
        <p:nvSpPr>
          <p:cNvPr id="15" name="">
            <a:extLst xmlns:a="http://schemas.openxmlformats.org/drawingml/2006/main">
              <a:ext uri="{FF2B5EF4-FFF2-40B4-BE49-F238E27FC236}">
                <a16:creationId xmlns:a16="http://schemas.microsoft.com/office/drawing/2014/main" id="{937AFAD8-18B7-42E4-B225-93215F43AA0F}"/>
              </a:ext>
            </a:extLst>
          </p:cNvPr>
          <p:cNvSpPr>
            <a:spLocks xmlns:a="http://schemas.openxmlformats.org/drawingml/2006/main" noGrp="1"/>
          </p:cNvSpPr>
          <p:nvPr/>
        </p:nvSpPr>
        <p:spPr>
          <a:xfrm xmlns:a="http://schemas.openxmlformats.org/drawingml/2006/main">
            <a:off x="3352800" y="3743325"/>
            <a:ext cx="4667250" cy="1781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Authorized users record hazard details and classify entries against the participating organization's CDRA types, adding a type when needed.</a:t>
            </a:r>
          </a:p>
        </p:txBody>
      </p:sp>
      <p:sp>
        <p:nvSpPr>
          <p:cNvPr id="16" name="">
            <a:extLst xmlns:a="http://schemas.openxmlformats.org/drawingml/2006/main">
              <a:ext uri="{FF2B5EF4-FFF2-40B4-BE49-F238E27FC236}">
                <a16:creationId xmlns:a16="http://schemas.microsoft.com/office/drawing/2014/main" id="{A142F604-62BF-4CEA-8D18-022DC892F2D7}"/>
              </a:ext>
            </a:extLst>
          </p:cNvPr>
          <p:cNvSpPr>
            <a:spLocks xmlns:a="http://schemas.openxmlformats.org/drawingml/2006/main" noGrp="1"/>
          </p:cNvSpPr>
          <p:nvPr/>
        </p:nvSpPr>
        <p:spPr>
          <a:xfrm xmlns:a="http://schemas.openxmlformats.org/drawingml/2006/main">
            <a:off x="8343900" y="3743325"/>
            <a:ext cx="2762250" cy="1781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Keeps hazard terminology consistent with local assessment practice. The system records the chosen type and does not independently classify events.</a:t>
            </a:r>
          </a:p>
        </p:txBody>
      </p:sp>
    </p:spTree>
    <p:extLst>
      <p:ext uri="{BB962C8B-B14F-4D97-AF65-F5344CB8AC3E}">
        <p14:creationId xmlns:p14="http://schemas.microsoft.com/office/powerpoint/2010/main" val="784684292"/>
      </p:ext>
    </p:extLst>
  </p:cSld>
</p:sld>
</file>

<file path=ppt/slides/slide24.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97E6813E-E07C-4F50-81A2-2C4C45F47B4F}"/>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BACA5D1-C1A8-4315-A17A-9CADDA897A25}"/>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PROPOSED SYSTEM MODULES: DETAILED</a:t>
            </a:r>
          </a:p>
        </p:txBody>
      </p:sp>
      <p:sp>
        <p:nvSpPr>
          <p:cNvPr id="3" name="">
            <a:extLst xmlns:a="http://schemas.openxmlformats.org/drawingml/2006/main">
              <a:ext uri="{FF2B5EF4-FFF2-40B4-BE49-F238E27FC236}">
                <a16:creationId xmlns:a16="http://schemas.microsoft.com/office/drawing/2014/main" id="{8D6BFD58-838A-406B-8363-E15A403F1C6C}"/>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DRRM reporting and analytics modules</a:t>
            </a:r>
          </a:p>
        </p:txBody>
      </p:sp>
      <p:sp>
        <p:nvSpPr>
          <p:cNvPr id="4" name="">
            <a:extLst xmlns:a="http://schemas.openxmlformats.org/drawingml/2006/main">
              <a:ext uri="{FF2B5EF4-FFF2-40B4-BE49-F238E27FC236}">
                <a16:creationId xmlns:a16="http://schemas.microsoft.com/office/drawing/2014/main" id="{F8D1A250-962B-4003-A3E3-EDD7A0F0F8F3}"/>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2239E2F1-0CCE-42A9-9C80-0167D44A0AA8}"/>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Specific Objectives 318–320 and Table 3</a:t>
            </a:r>
          </a:p>
        </p:txBody>
      </p:sp>
      <p:sp>
        <p:nvSpPr>
          <p:cNvPr id="6" name="">
            <a:extLst xmlns:a="http://schemas.openxmlformats.org/drawingml/2006/main">
              <a:ext uri="{FF2B5EF4-FFF2-40B4-BE49-F238E27FC236}">
                <a16:creationId xmlns:a16="http://schemas.microsoft.com/office/drawing/2014/main" id="{FF4E64F8-A6AD-40A9-B056-23D5F927AD19}"/>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24</a:t>
            </a:r>
          </a:p>
        </p:txBody>
      </p:sp>
      <p:sp>
        <p:nvSpPr>
          <p:cNvPr id="7" name="">
            <a:extLst xmlns:a="http://schemas.openxmlformats.org/drawingml/2006/main">
              <a:ext uri="{FF2B5EF4-FFF2-40B4-BE49-F238E27FC236}">
                <a16:creationId xmlns:a16="http://schemas.microsoft.com/office/drawing/2014/main" id="{8952E489-DAC7-4DD2-8D56-C648B6974E2D}"/>
              </a:ext>
            </a:extLst>
          </p:cNvPr>
          <p:cNvSpPr>
            <a:spLocks xmlns:a="http://schemas.openxmlformats.org/drawingml/2006/main" noGrp="1"/>
          </p:cNvSpPr>
          <p:nvPr/>
        </p:nvSpPr>
        <p:spPr>
          <a:xfrm xmlns:a="http://schemas.openxmlformats.org/drawingml/2006/main">
            <a:off x="933450" y="13239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MODULE</a:t>
            </a:r>
          </a:p>
        </p:txBody>
      </p:sp>
      <p:sp>
        <p:nvSpPr>
          <p:cNvPr id="8" name="">
            <a:extLst xmlns:a="http://schemas.openxmlformats.org/drawingml/2006/main">
              <a:ext uri="{FF2B5EF4-FFF2-40B4-BE49-F238E27FC236}">
                <a16:creationId xmlns:a16="http://schemas.microsoft.com/office/drawing/2014/main" id="{AB8FAFF9-A466-4FE8-AF26-BBBE309B96D9}"/>
              </a:ext>
            </a:extLst>
          </p:cNvPr>
          <p:cNvSpPr>
            <a:spLocks xmlns:a="http://schemas.openxmlformats.org/drawingml/2006/main" noGrp="1"/>
          </p:cNvSpPr>
          <p:nvPr/>
        </p:nvSpPr>
        <p:spPr>
          <a:xfrm xmlns:a="http://schemas.openxmlformats.org/drawingml/2006/main">
            <a:off x="3352800" y="1323975"/>
            <a:ext cx="4743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HOW IT WORKS</a:t>
            </a:r>
          </a:p>
        </p:txBody>
      </p:sp>
      <p:sp>
        <p:nvSpPr>
          <p:cNvPr id="9" name="">
            <a:extLst xmlns:a="http://schemas.openxmlformats.org/drawingml/2006/main">
              <a:ext uri="{FF2B5EF4-FFF2-40B4-BE49-F238E27FC236}">
                <a16:creationId xmlns:a16="http://schemas.microsoft.com/office/drawing/2014/main" id="{97C92388-FF17-4D4D-9814-0B6C6148C8E6}"/>
              </a:ext>
            </a:extLst>
          </p:cNvPr>
          <p:cNvSpPr>
            <a:spLocks xmlns:a="http://schemas.openxmlformats.org/drawingml/2006/main" noGrp="1"/>
          </p:cNvSpPr>
          <p:nvPr/>
        </p:nvSpPr>
        <p:spPr>
          <a:xfrm xmlns:a="http://schemas.openxmlformats.org/drawingml/2006/main">
            <a:off x="8343900" y="1323975"/>
            <a:ext cx="276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WHY IT EXISTS</a:t>
            </a:r>
          </a:p>
        </p:txBody>
      </p:sp>
      <p:sp>
        <p:nvSpPr>
          <p:cNvPr id="10" name="">
            <a:extLst xmlns:a="http://schemas.openxmlformats.org/drawingml/2006/main">
              <a:ext uri="{FF2B5EF4-FFF2-40B4-BE49-F238E27FC236}">
                <a16:creationId xmlns:a16="http://schemas.microsoft.com/office/drawing/2014/main" id="{56EF561C-40C9-48EC-ACD8-773970C63BA3}"/>
              </a:ext>
            </a:extLst>
          </p:cNvPr>
          <p:cNvSpPr>
            <a:spLocks xmlns:a="http://schemas.openxmlformats.org/drawingml/2006/main" noGrp="1"/>
          </p:cNvSpPr>
          <p:nvPr/>
        </p:nvSpPr>
        <p:spPr>
          <a:xfrm xmlns:a="http://schemas.openxmlformats.org/drawingml/2006/main">
            <a:off x="933450" y="1733550"/>
            <a:ext cx="21526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Situation Report Generation</a:t>
            </a:r>
          </a:p>
        </p:txBody>
      </p:sp>
      <p:sp>
        <p:nvSpPr>
          <p:cNvPr id="11" name="">
            <a:extLst xmlns:a="http://schemas.openxmlformats.org/drawingml/2006/main">
              <a:ext uri="{FF2B5EF4-FFF2-40B4-BE49-F238E27FC236}">
                <a16:creationId xmlns:a16="http://schemas.microsoft.com/office/drawing/2014/main" id="{F65B8BE8-16D4-411D-83E4-DB6FD26D5D72}"/>
              </a:ext>
            </a:extLst>
          </p:cNvPr>
          <p:cNvSpPr>
            <a:spLocks xmlns:a="http://schemas.openxmlformats.org/drawingml/2006/main" noGrp="1"/>
          </p:cNvSpPr>
          <p:nvPr/>
        </p:nvSpPr>
        <p:spPr>
          <a:xfrm xmlns:a="http://schemas.openxmlformats.org/drawingml/2006/main">
            <a:off x="3352800" y="173355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Select an incident and cutoff, retrieve verified Barangay reports, build an editable template-based draft, then route it for authorized review, approval and export.</a:t>
            </a:r>
          </a:p>
        </p:txBody>
      </p:sp>
      <p:sp>
        <p:nvSpPr>
          <p:cNvPr id="12" name="">
            <a:extLst xmlns:a="http://schemas.openxmlformats.org/drawingml/2006/main">
              <a:ext uri="{FF2B5EF4-FFF2-40B4-BE49-F238E27FC236}">
                <a16:creationId xmlns:a16="http://schemas.microsoft.com/office/drawing/2014/main" id="{28B45402-33E2-44D3-B2F1-6C62AD2C373D}"/>
              </a:ext>
            </a:extLst>
          </p:cNvPr>
          <p:cNvSpPr>
            <a:spLocks xmlns:a="http://schemas.openxmlformats.org/drawingml/2006/main" noGrp="1"/>
          </p:cNvSpPr>
          <p:nvPr/>
        </p:nvSpPr>
        <p:spPr>
          <a:xfrm xmlns:a="http://schemas.openxmlformats.org/drawingml/2006/main">
            <a:off x="8343900" y="1733550"/>
            <a:ext cx="276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Reduces repeated summarization while retaining source attribution and human authority.</a:t>
            </a:r>
          </a:p>
        </p:txBody>
      </p:sp>
      <p:sp>
        <p:nvSpPr>
          <p:cNvPr id="13" name="">
            <a:extLst xmlns:a="http://schemas.openxmlformats.org/drawingml/2006/main">
              <a:ext uri="{FF2B5EF4-FFF2-40B4-BE49-F238E27FC236}">
                <a16:creationId xmlns:a16="http://schemas.microsoft.com/office/drawing/2014/main" id="{D731C551-ECD4-4E2E-9E4C-633763F76A12}"/>
              </a:ext>
            </a:extLst>
          </p:cNvPr>
          <p:cNvSpPr>
            <a:spLocks xmlns:a="http://schemas.openxmlformats.org/drawingml/2006/main" noGrp="1"/>
          </p:cNvSpPr>
          <p:nvPr/>
        </p:nvSpPr>
        <p:spPr>
          <a:xfrm xmlns:a="http://schemas.openxmlformats.org/drawingml/2006/main">
            <a:off x="933450" y="3000375"/>
            <a:ext cx="102298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4" name="">
            <a:extLst xmlns:a="http://schemas.openxmlformats.org/drawingml/2006/main">
              <a:ext uri="{FF2B5EF4-FFF2-40B4-BE49-F238E27FC236}">
                <a16:creationId xmlns:a16="http://schemas.microsoft.com/office/drawing/2014/main" id="{7B73022F-A1EF-42C9-B3E0-D0248235FDA7}"/>
              </a:ext>
            </a:extLst>
          </p:cNvPr>
          <p:cNvSpPr>
            <a:spLocks xmlns:a="http://schemas.openxmlformats.org/drawingml/2006/main" noGrp="1"/>
          </p:cNvSpPr>
          <p:nvPr/>
        </p:nvSpPr>
        <p:spPr>
          <a:xfrm xmlns:a="http://schemas.openxmlformats.org/drawingml/2006/main">
            <a:off x="933450" y="3105150"/>
            <a:ext cx="21526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Situation Report Historical Catalog</a:t>
            </a:r>
          </a:p>
        </p:txBody>
      </p:sp>
      <p:sp>
        <p:nvSpPr>
          <p:cNvPr id="15" name="">
            <a:extLst xmlns:a="http://schemas.openxmlformats.org/drawingml/2006/main">
              <a:ext uri="{FF2B5EF4-FFF2-40B4-BE49-F238E27FC236}">
                <a16:creationId xmlns:a16="http://schemas.microsoft.com/office/drawing/2014/main" id="{43B28902-D3D3-4928-ACB3-0F93820EAEF4}"/>
              </a:ext>
            </a:extLst>
          </p:cNvPr>
          <p:cNvSpPr>
            <a:spLocks xmlns:a="http://schemas.openxmlformats.org/drawingml/2006/main" noGrp="1"/>
          </p:cNvSpPr>
          <p:nvPr/>
        </p:nvSpPr>
        <p:spPr>
          <a:xfrm xmlns:a="http://schemas.openxmlformats.org/drawingml/2006/main">
            <a:off x="3352800" y="310515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Search, filter, compare, export, correct or supersede reports while retaining prior approved versions and record controls.</a:t>
            </a:r>
          </a:p>
        </p:txBody>
      </p:sp>
      <p:sp>
        <p:nvSpPr>
          <p:cNvPr id="16" name="">
            <a:extLst xmlns:a="http://schemas.openxmlformats.org/drawingml/2006/main">
              <a:ext uri="{FF2B5EF4-FFF2-40B4-BE49-F238E27FC236}">
                <a16:creationId xmlns:a16="http://schemas.microsoft.com/office/drawing/2014/main" id="{67EF26C2-D0E6-4D4A-AA32-21B47088423F}"/>
              </a:ext>
            </a:extLst>
          </p:cNvPr>
          <p:cNvSpPr>
            <a:spLocks xmlns:a="http://schemas.openxmlformats.org/drawingml/2006/main" noGrp="1"/>
          </p:cNvSpPr>
          <p:nvPr/>
        </p:nvSpPr>
        <p:spPr>
          <a:xfrm xmlns:a="http://schemas.openxmlformats.org/drawingml/2006/main">
            <a:off x="8343900" y="3105150"/>
            <a:ext cx="276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Preserves continuity and supports audit, retention and later retrieval.</a:t>
            </a:r>
          </a:p>
        </p:txBody>
      </p:sp>
      <p:sp>
        <p:nvSpPr>
          <p:cNvPr id="17" name="">
            <a:extLst xmlns:a="http://schemas.openxmlformats.org/drawingml/2006/main">
              <a:ext uri="{FF2B5EF4-FFF2-40B4-BE49-F238E27FC236}">
                <a16:creationId xmlns:a16="http://schemas.microsoft.com/office/drawing/2014/main" id="{25DDA360-AE8F-4718-B172-9167E2B7825E}"/>
              </a:ext>
            </a:extLst>
          </p:cNvPr>
          <p:cNvSpPr>
            <a:spLocks xmlns:a="http://schemas.openxmlformats.org/drawingml/2006/main" noGrp="1"/>
          </p:cNvSpPr>
          <p:nvPr/>
        </p:nvSpPr>
        <p:spPr>
          <a:xfrm xmlns:a="http://schemas.openxmlformats.org/drawingml/2006/main">
            <a:off x="933450" y="4371975"/>
            <a:ext cx="102298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8" name="">
            <a:extLst xmlns:a="http://schemas.openxmlformats.org/drawingml/2006/main">
              <a:ext uri="{FF2B5EF4-FFF2-40B4-BE49-F238E27FC236}">
                <a16:creationId xmlns:a16="http://schemas.microsoft.com/office/drawing/2014/main" id="{9D8596A9-48D8-4C3D-9F9F-1EF60F139E64}"/>
              </a:ext>
            </a:extLst>
          </p:cNvPr>
          <p:cNvSpPr>
            <a:spLocks xmlns:a="http://schemas.openxmlformats.org/drawingml/2006/main" noGrp="1"/>
          </p:cNvSpPr>
          <p:nvPr/>
        </p:nvSpPr>
        <p:spPr>
          <a:xfrm xmlns:a="http://schemas.openxmlformats.org/drawingml/2006/main">
            <a:off x="933450" y="4476750"/>
            <a:ext cx="21526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System Dashboard</a:t>
            </a:r>
          </a:p>
        </p:txBody>
      </p:sp>
      <p:sp>
        <p:nvSpPr>
          <p:cNvPr id="19" name="">
            <a:extLst xmlns:a="http://schemas.openxmlformats.org/drawingml/2006/main">
              <a:ext uri="{FF2B5EF4-FFF2-40B4-BE49-F238E27FC236}">
                <a16:creationId xmlns:a16="http://schemas.microsoft.com/office/drawing/2014/main" id="{FE18D6CE-DDD4-499B-806B-B4DF19087196}"/>
              </a:ext>
            </a:extLst>
          </p:cNvPr>
          <p:cNvSpPr>
            <a:spLocks xmlns:a="http://schemas.openxmlformats.org/drawingml/2006/main" noGrp="1"/>
          </p:cNvSpPr>
          <p:nvPr/>
        </p:nvSpPr>
        <p:spPr>
          <a:xfrm xmlns:a="http://schemas.openxmlformats.org/drawingml/2006/main">
            <a:off x="3352800" y="447675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Show role-specific incident, population, report-status, verification, SitRep-coverage and processing summaries, with filters and last-update time.</a:t>
            </a:r>
          </a:p>
        </p:txBody>
      </p:sp>
      <p:sp>
        <p:nvSpPr>
          <p:cNvPr id="20" name="">
            <a:extLst xmlns:a="http://schemas.openxmlformats.org/drawingml/2006/main">
              <a:ext uri="{FF2B5EF4-FFF2-40B4-BE49-F238E27FC236}">
                <a16:creationId xmlns:a16="http://schemas.microsoft.com/office/drawing/2014/main" id="{6B002873-E41C-4F9E-AF35-EC80C767E7A0}"/>
              </a:ext>
            </a:extLst>
          </p:cNvPr>
          <p:cNvSpPr>
            <a:spLocks xmlns:a="http://schemas.openxmlformats.org/drawingml/2006/main" noGrp="1"/>
          </p:cNvSpPr>
          <p:nvPr/>
        </p:nvSpPr>
        <p:spPr>
          <a:xfrm xmlns:a="http://schemas.openxmlformats.org/drawingml/2006/main">
            <a:off x="8343900" y="4476750"/>
            <a:ext cx="276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Gives each level relevant operational visibility and distinguishes provisional from verified data.</a:t>
            </a:r>
          </a:p>
        </p:txBody>
      </p:sp>
    </p:spTree>
    <p:extLst>
      <p:ext uri="{BB962C8B-B14F-4D97-AF65-F5344CB8AC3E}">
        <p14:creationId xmlns:p14="http://schemas.microsoft.com/office/powerpoint/2010/main" val="2033498728"/>
      </p:ext>
    </p:extLst>
  </p:cSld>
</p:sld>
</file>

<file path=ppt/slides/slide25.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2966AB6D-CA51-4CA6-9843-7D535C578E9A}"/>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B06EB22-1BAB-4F54-8AEC-1EA7ED6EC3FD}"/>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DATA FLOW DIAGRAM</a:t>
            </a:r>
          </a:p>
        </p:txBody>
      </p:sp>
      <p:sp>
        <p:nvSpPr>
          <p:cNvPr id="3" name="">
            <a:extLst xmlns:a="http://schemas.openxmlformats.org/drawingml/2006/main">
              <a:ext uri="{FF2B5EF4-FFF2-40B4-BE49-F238E27FC236}">
                <a16:creationId xmlns:a16="http://schemas.microsoft.com/office/drawing/2014/main" id="{42077374-44CF-4A79-8EB4-C0B63E5E842C}"/>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Level 0 separates three actors and seventeen processes</a:t>
            </a:r>
          </a:p>
        </p:txBody>
      </p:sp>
      <p:sp>
        <p:nvSpPr>
          <p:cNvPr id="4" name="">
            <a:extLst xmlns:a="http://schemas.openxmlformats.org/drawingml/2006/main">
              <a:ext uri="{FF2B5EF4-FFF2-40B4-BE49-F238E27FC236}">
                <a16:creationId xmlns:a16="http://schemas.microsoft.com/office/drawing/2014/main" id="{4EA074C8-EA91-4865-98C9-87C8F623B40C}"/>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D3644C59-DF90-4DBC-AA32-9E7F66CCAFDA}"/>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Figure 27</a:t>
            </a:r>
          </a:p>
        </p:txBody>
      </p:sp>
      <p:sp>
        <p:nvSpPr>
          <p:cNvPr id="6" name="">
            <a:extLst xmlns:a="http://schemas.openxmlformats.org/drawingml/2006/main">
              <a:ext uri="{FF2B5EF4-FFF2-40B4-BE49-F238E27FC236}">
                <a16:creationId xmlns:a16="http://schemas.microsoft.com/office/drawing/2014/main" id="{4CF92DAC-8CC9-4E88-8578-765CD6A35161}"/>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25</a:t>
            </a:r>
          </a:p>
        </p:txBody>
      </p:sp>
      <p:sp>
        <p:nvSpPr>
          <p:cNvPr id="7" name="">
            <a:extLst xmlns:a="http://schemas.openxmlformats.org/drawingml/2006/main">
              <a:ext uri="{FF2B5EF4-FFF2-40B4-BE49-F238E27FC236}">
                <a16:creationId xmlns:a16="http://schemas.microsoft.com/office/drawing/2014/main" id="{4977B10F-7C6A-427A-B2E5-8D68F3BC245B}"/>
              </a:ext>
            </a:extLst>
          </p:cNvPr>
          <p:cNvSpPr>
            <a:spLocks xmlns:a="http://schemas.openxmlformats.org/drawingml/2006/main" noGrp="1"/>
          </p:cNvSpPr>
          <p:nvPr/>
        </p:nvSpPr>
        <p:spPr>
          <a:xfrm xmlns:a="http://schemas.openxmlformats.org/drawingml/2006/main">
            <a:off x="952500" y="1409700"/>
            <a:ext cx="1524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PUROK</a:t>
            </a:r>
          </a:p>
        </p:txBody>
      </p:sp>
      <p:sp>
        <p:nvSpPr>
          <p:cNvPr id="8" name="">
            <a:extLst xmlns:a="http://schemas.openxmlformats.org/drawingml/2006/main">
              <a:ext uri="{FF2B5EF4-FFF2-40B4-BE49-F238E27FC236}">
                <a16:creationId xmlns:a16="http://schemas.microsoft.com/office/drawing/2014/main" id="{5F19310E-F745-4EA4-A3FE-6B94705304DA}"/>
              </a:ext>
            </a:extLst>
          </p:cNvPr>
          <p:cNvSpPr>
            <a:spLocks xmlns:a="http://schemas.openxmlformats.org/drawingml/2006/main" noGrp="1"/>
          </p:cNvSpPr>
          <p:nvPr/>
        </p:nvSpPr>
        <p:spPr>
          <a:xfrm xmlns:a="http://schemas.openxmlformats.org/drawingml/2006/main">
            <a:off x="2647950" y="1409700"/>
            <a:ext cx="8591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Creates aggregate profile data and initial incident reports. Barangay verification produces a review state and correction path.</a:t>
            </a:r>
          </a:p>
        </p:txBody>
      </p:sp>
      <p:sp>
        <p:nvSpPr>
          <p:cNvPr id="9" name="">
            <a:extLst xmlns:a="http://schemas.openxmlformats.org/drawingml/2006/main">
              <a:ext uri="{FF2B5EF4-FFF2-40B4-BE49-F238E27FC236}">
                <a16:creationId xmlns:a16="http://schemas.microsoft.com/office/drawing/2014/main" id="{FE761AB9-4E05-4B54-B996-0CBEC9EBB2CD}"/>
              </a:ext>
            </a:extLst>
          </p:cNvPr>
          <p:cNvSpPr>
            <a:spLocks xmlns:a="http://schemas.openxmlformats.org/drawingml/2006/main" noGrp="1"/>
          </p:cNvSpPr>
          <p:nvPr/>
        </p:nvSpPr>
        <p:spPr>
          <a:xfrm xmlns:a="http://schemas.openxmlformats.org/drawingml/2006/main">
            <a:off x="952500" y="2133600"/>
            <a:ext cx="1524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BARANGAY</a:t>
            </a:r>
          </a:p>
        </p:txBody>
      </p:sp>
      <p:sp>
        <p:nvSpPr>
          <p:cNvPr id="10" name="">
            <a:extLst xmlns:a="http://schemas.openxmlformats.org/drawingml/2006/main">
              <a:ext uri="{FF2B5EF4-FFF2-40B4-BE49-F238E27FC236}">
                <a16:creationId xmlns:a16="http://schemas.microsoft.com/office/drawing/2014/main" id="{8242942D-D070-4F92-BDDE-B8E4CD245302}"/>
              </a:ext>
            </a:extLst>
          </p:cNvPr>
          <p:cNvSpPr>
            <a:spLocks xmlns:a="http://schemas.openxmlformats.org/drawingml/2006/main" noGrp="1"/>
          </p:cNvSpPr>
          <p:nvPr/>
        </p:nvSpPr>
        <p:spPr>
          <a:xfrm xmlns:a="http://schemas.openxmlformats.org/drawingml/2006/main">
            <a:off x="2647950" y="2133600"/>
            <a:ext cx="8591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Verifies Purok submissions, consolidates verified records and submits the Barangay incident report to DRRM.</a:t>
            </a:r>
          </a:p>
        </p:txBody>
      </p:sp>
      <p:sp>
        <p:nvSpPr>
          <p:cNvPr id="11" name="">
            <a:extLst xmlns:a="http://schemas.openxmlformats.org/drawingml/2006/main">
              <a:ext uri="{FF2B5EF4-FFF2-40B4-BE49-F238E27FC236}">
                <a16:creationId xmlns:a16="http://schemas.microsoft.com/office/drawing/2014/main" id="{922F8C70-C405-4DEE-9236-5EA394135EDB}"/>
              </a:ext>
            </a:extLst>
          </p:cNvPr>
          <p:cNvSpPr>
            <a:spLocks xmlns:a="http://schemas.openxmlformats.org/drawingml/2006/main" noGrp="1"/>
          </p:cNvSpPr>
          <p:nvPr/>
        </p:nvSpPr>
        <p:spPr>
          <a:xfrm xmlns:a="http://schemas.openxmlformats.org/drawingml/2006/main">
            <a:off x="952500" y="2857500"/>
            <a:ext cx="1524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DRRM</a:t>
            </a:r>
          </a:p>
        </p:txBody>
      </p:sp>
      <p:sp>
        <p:nvSpPr>
          <p:cNvPr id="12" name="">
            <a:extLst xmlns:a="http://schemas.openxmlformats.org/drawingml/2006/main">
              <a:ext uri="{FF2B5EF4-FFF2-40B4-BE49-F238E27FC236}">
                <a16:creationId xmlns:a16="http://schemas.microsoft.com/office/drawing/2014/main" id="{D8907898-7A9D-4AD8-A4FF-7A6F503FB800}"/>
              </a:ext>
            </a:extLst>
          </p:cNvPr>
          <p:cNvSpPr>
            <a:spLocks xmlns:a="http://schemas.openxmlformats.org/drawingml/2006/main" noGrp="1"/>
          </p:cNvSpPr>
          <p:nvPr/>
        </p:nvSpPr>
        <p:spPr>
          <a:xfrm xmlns:a="http://schemas.openxmlformats.org/drawingml/2006/main">
            <a:off x="2647950" y="2857500"/>
            <a:ext cx="8591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Manages system users and hazards, verifies Barangay reports, and generates and stores Situation Reports.</a:t>
            </a:r>
          </a:p>
        </p:txBody>
      </p:sp>
      <p:sp>
        <p:nvSpPr>
          <p:cNvPr id="13" name="">
            <a:extLst xmlns:a="http://schemas.openxmlformats.org/drawingml/2006/main">
              <a:ext uri="{FF2B5EF4-FFF2-40B4-BE49-F238E27FC236}">
                <a16:creationId xmlns:a16="http://schemas.microsoft.com/office/drawing/2014/main" id="{3F337912-986F-4958-BE4B-1495F95FC6F8}"/>
              </a:ext>
            </a:extLst>
          </p:cNvPr>
          <p:cNvSpPr>
            <a:spLocks xmlns:a="http://schemas.openxmlformats.org/drawingml/2006/main" noGrp="1"/>
          </p:cNvSpPr>
          <p:nvPr/>
        </p:nvSpPr>
        <p:spPr>
          <a:xfrm xmlns:a="http://schemas.openxmlformats.org/drawingml/2006/main">
            <a:off x="952500" y="3609975"/>
            <a:ext cx="10248900" cy="0"/>
          </a:xfrm>
          <a:prstGeom xmlns:a="http://schemas.openxmlformats.org/drawingml/2006/main" prst="line">
            <a:avLst/>
          </a:prstGeom>
          <a:noFill xmlns:a="http://schemas.openxmlformats.org/drawingml/2006/main"/>
          <a:ln xmlns:a="http://schemas.openxmlformats.org/drawingml/2006/main" w="19050">
            <a:solidFill>
              <a:srgbClr val="276E6B"/>
            </a:solidFill>
          </a:ln>
        </p:spPr>
      </p:sp>
      <p:sp>
        <p:nvSpPr>
          <p:cNvPr id="14" name="">
            <a:extLst xmlns:a="http://schemas.openxmlformats.org/drawingml/2006/main">
              <a:ext uri="{FF2B5EF4-FFF2-40B4-BE49-F238E27FC236}">
                <a16:creationId xmlns:a16="http://schemas.microsoft.com/office/drawing/2014/main" id="{7423BE1E-2455-43FB-80ED-C37C449D01F9}"/>
              </a:ext>
            </a:extLst>
          </p:cNvPr>
          <p:cNvSpPr>
            <a:spLocks xmlns:a="http://schemas.openxmlformats.org/drawingml/2006/main" noGrp="1"/>
          </p:cNvSpPr>
          <p:nvPr/>
        </p:nvSpPr>
        <p:spPr>
          <a:xfrm xmlns:a="http://schemas.openxmlformats.org/drawingml/2006/main">
            <a:off x="933450" y="3914775"/>
            <a:ext cx="133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238" b="1">
                <a:solidFill>
                  <a:srgbClr val="252D30"/>
                </a:solidFill>
                <a:latin typeface="Source Sans 3"/>
                <a:ea typeface="Source Sans 3"/>
                <a:cs typeface="Source Sans 3"/>
              </a:defRPr>
            </a:pPr>
            <a:r>
              <a:rPr sz="1238" b="1">
                <a:solidFill>
                  <a:srgbClr val="252D30"/>
                </a:solidFill>
                <a:latin typeface="Source Sans 3"/>
                <a:ea typeface="Source Sans 3"/>
                <a:cs typeface="Source Sans 3"/>
              </a:rPr>
              <a:t>Accounts</a:t>
            </a:r>
          </a:p>
        </p:txBody>
      </p:sp>
      <p:sp>
        <p:nvSpPr>
          <p:cNvPr id="15" name="">
            <a:extLst xmlns:a="http://schemas.openxmlformats.org/drawingml/2006/main">
              <a:ext uri="{FF2B5EF4-FFF2-40B4-BE49-F238E27FC236}">
                <a16:creationId xmlns:a16="http://schemas.microsoft.com/office/drawing/2014/main" id="{8333ACEA-5F97-4952-A8ED-80291D7723AE}"/>
              </a:ext>
            </a:extLst>
          </p:cNvPr>
          <p:cNvSpPr>
            <a:spLocks xmlns:a="http://schemas.openxmlformats.org/drawingml/2006/main" noGrp="1"/>
          </p:cNvSpPr>
          <p:nvPr/>
        </p:nvSpPr>
        <p:spPr>
          <a:xfrm xmlns:a="http://schemas.openxmlformats.org/drawingml/2006/main">
            <a:off x="933450" y="4352925"/>
            <a:ext cx="1333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013" b="0">
                <a:solidFill>
                  <a:srgbClr val="7C898B"/>
                </a:solidFill>
                <a:latin typeface="Lexend"/>
                <a:ea typeface="Lexend"/>
                <a:cs typeface="Lexend"/>
              </a:defRPr>
            </a:pPr>
            <a:r>
              <a:rPr sz="1013" b="0">
                <a:solidFill>
                  <a:srgbClr val="7C898B"/>
                </a:solidFill>
                <a:latin typeface="Lexend"/>
                <a:ea typeface="Lexend"/>
                <a:cs typeface="Lexend"/>
              </a:rPr>
              <a:t>DATA STORE</a:t>
            </a:r>
          </a:p>
        </p:txBody>
      </p:sp>
      <p:sp>
        <p:nvSpPr>
          <p:cNvPr id="16" name="">
            <a:extLst xmlns:a="http://schemas.openxmlformats.org/drawingml/2006/main">
              <a:ext uri="{FF2B5EF4-FFF2-40B4-BE49-F238E27FC236}">
                <a16:creationId xmlns:a16="http://schemas.microsoft.com/office/drawing/2014/main" id="{693FDCF7-6B79-461B-BB02-C66C1E91645C}"/>
              </a:ext>
            </a:extLst>
          </p:cNvPr>
          <p:cNvSpPr>
            <a:spLocks xmlns:a="http://schemas.openxmlformats.org/drawingml/2006/main" noGrp="1"/>
          </p:cNvSpPr>
          <p:nvPr/>
        </p:nvSpPr>
        <p:spPr>
          <a:xfrm xmlns:a="http://schemas.openxmlformats.org/drawingml/2006/main">
            <a:off x="2305050" y="4019550"/>
            <a:ext cx="66675"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7" name="">
            <a:extLst xmlns:a="http://schemas.openxmlformats.org/drawingml/2006/main">
              <a:ext uri="{FF2B5EF4-FFF2-40B4-BE49-F238E27FC236}">
                <a16:creationId xmlns:a16="http://schemas.microsoft.com/office/drawing/2014/main" id="{8FCDEC7A-8ECC-448A-9664-125DE3F7C1BB}"/>
              </a:ext>
            </a:extLst>
          </p:cNvPr>
          <p:cNvSpPr>
            <a:spLocks xmlns:a="http://schemas.openxmlformats.org/drawingml/2006/main" noGrp="1"/>
          </p:cNvSpPr>
          <p:nvPr/>
        </p:nvSpPr>
        <p:spPr>
          <a:xfrm xmlns:a="http://schemas.openxmlformats.org/drawingml/2006/main">
            <a:off x="2400300" y="3914775"/>
            <a:ext cx="133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238" b="1">
                <a:solidFill>
                  <a:srgbClr val="252D30"/>
                </a:solidFill>
                <a:latin typeface="Source Sans 3"/>
                <a:ea typeface="Source Sans 3"/>
                <a:cs typeface="Source Sans 3"/>
              </a:defRPr>
            </a:pPr>
            <a:r>
              <a:rPr sz="1238" b="1">
                <a:solidFill>
                  <a:srgbClr val="252D30"/>
                </a:solidFill>
                <a:latin typeface="Source Sans 3"/>
                <a:ea typeface="Source Sans 3"/>
                <a:cs typeface="Source Sans 3"/>
              </a:rPr>
              <a:t>Purok Profile</a:t>
            </a:r>
          </a:p>
        </p:txBody>
      </p:sp>
      <p:sp>
        <p:nvSpPr>
          <p:cNvPr id="18" name="">
            <a:extLst xmlns:a="http://schemas.openxmlformats.org/drawingml/2006/main">
              <a:ext uri="{FF2B5EF4-FFF2-40B4-BE49-F238E27FC236}">
                <a16:creationId xmlns:a16="http://schemas.microsoft.com/office/drawing/2014/main" id="{415D7809-EDC5-447B-A17B-0651D0A6D65D}"/>
              </a:ext>
            </a:extLst>
          </p:cNvPr>
          <p:cNvSpPr>
            <a:spLocks xmlns:a="http://schemas.openxmlformats.org/drawingml/2006/main" noGrp="1"/>
          </p:cNvSpPr>
          <p:nvPr/>
        </p:nvSpPr>
        <p:spPr>
          <a:xfrm xmlns:a="http://schemas.openxmlformats.org/drawingml/2006/main">
            <a:off x="2400300" y="4352925"/>
            <a:ext cx="1333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013" b="0">
                <a:solidFill>
                  <a:srgbClr val="7C898B"/>
                </a:solidFill>
                <a:latin typeface="Lexend"/>
                <a:ea typeface="Lexend"/>
                <a:cs typeface="Lexend"/>
              </a:defRPr>
            </a:pPr>
            <a:r>
              <a:rPr sz="1013" b="0">
                <a:solidFill>
                  <a:srgbClr val="7C898B"/>
                </a:solidFill>
                <a:latin typeface="Lexend"/>
                <a:ea typeface="Lexend"/>
                <a:cs typeface="Lexend"/>
              </a:rPr>
              <a:t>DATA STORE</a:t>
            </a:r>
          </a:p>
        </p:txBody>
      </p:sp>
      <p:sp>
        <p:nvSpPr>
          <p:cNvPr id="19" name="">
            <a:extLst xmlns:a="http://schemas.openxmlformats.org/drawingml/2006/main">
              <a:ext uri="{FF2B5EF4-FFF2-40B4-BE49-F238E27FC236}">
                <a16:creationId xmlns:a16="http://schemas.microsoft.com/office/drawing/2014/main" id="{4E6877DB-0543-413D-970F-C1F967851761}"/>
              </a:ext>
            </a:extLst>
          </p:cNvPr>
          <p:cNvSpPr>
            <a:spLocks xmlns:a="http://schemas.openxmlformats.org/drawingml/2006/main" noGrp="1"/>
          </p:cNvSpPr>
          <p:nvPr/>
        </p:nvSpPr>
        <p:spPr>
          <a:xfrm xmlns:a="http://schemas.openxmlformats.org/drawingml/2006/main">
            <a:off x="3771900" y="4019550"/>
            <a:ext cx="66675"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0" name="">
            <a:extLst xmlns:a="http://schemas.openxmlformats.org/drawingml/2006/main">
              <a:ext uri="{FF2B5EF4-FFF2-40B4-BE49-F238E27FC236}">
                <a16:creationId xmlns:a16="http://schemas.microsoft.com/office/drawing/2014/main" id="{DB7AAF62-0A45-4DC4-AC0A-10897BA140B5}"/>
              </a:ext>
            </a:extLst>
          </p:cNvPr>
          <p:cNvSpPr>
            <a:spLocks xmlns:a="http://schemas.openxmlformats.org/drawingml/2006/main" noGrp="1"/>
          </p:cNvSpPr>
          <p:nvPr/>
        </p:nvSpPr>
        <p:spPr>
          <a:xfrm xmlns:a="http://schemas.openxmlformats.org/drawingml/2006/main">
            <a:off x="3867150" y="3914775"/>
            <a:ext cx="133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238" b="1">
                <a:solidFill>
                  <a:srgbClr val="252D30"/>
                </a:solidFill>
                <a:latin typeface="Source Sans 3"/>
                <a:ea typeface="Source Sans 3"/>
                <a:cs typeface="Source Sans 3"/>
              </a:defRPr>
            </a:pPr>
            <a:r>
              <a:rPr sz="1238" b="1">
                <a:solidFill>
                  <a:srgbClr val="252D30"/>
                </a:solidFill>
                <a:latin typeface="Source Sans 3"/>
                <a:ea typeface="Source Sans 3"/>
                <a:cs typeface="Source Sans 3"/>
              </a:rPr>
              <a:t>Barangay Profile</a:t>
            </a:r>
          </a:p>
        </p:txBody>
      </p:sp>
      <p:sp>
        <p:nvSpPr>
          <p:cNvPr id="21" name="">
            <a:extLst xmlns:a="http://schemas.openxmlformats.org/drawingml/2006/main">
              <a:ext uri="{FF2B5EF4-FFF2-40B4-BE49-F238E27FC236}">
                <a16:creationId xmlns:a16="http://schemas.microsoft.com/office/drawing/2014/main" id="{AF455077-B69B-4D14-A450-7C75102A7B4C}"/>
              </a:ext>
            </a:extLst>
          </p:cNvPr>
          <p:cNvSpPr>
            <a:spLocks xmlns:a="http://schemas.openxmlformats.org/drawingml/2006/main" noGrp="1"/>
          </p:cNvSpPr>
          <p:nvPr/>
        </p:nvSpPr>
        <p:spPr>
          <a:xfrm xmlns:a="http://schemas.openxmlformats.org/drawingml/2006/main">
            <a:off x="3867150" y="4352925"/>
            <a:ext cx="1333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013" b="0">
                <a:solidFill>
                  <a:srgbClr val="7C898B"/>
                </a:solidFill>
                <a:latin typeface="Lexend"/>
                <a:ea typeface="Lexend"/>
                <a:cs typeface="Lexend"/>
              </a:defRPr>
            </a:pPr>
            <a:r>
              <a:rPr sz="1013" b="0">
                <a:solidFill>
                  <a:srgbClr val="7C898B"/>
                </a:solidFill>
                <a:latin typeface="Lexend"/>
                <a:ea typeface="Lexend"/>
                <a:cs typeface="Lexend"/>
              </a:rPr>
              <a:t>DATA STORE</a:t>
            </a:r>
          </a:p>
        </p:txBody>
      </p:sp>
      <p:sp>
        <p:nvSpPr>
          <p:cNvPr id="22" name="">
            <a:extLst xmlns:a="http://schemas.openxmlformats.org/drawingml/2006/main">
              <a:ext uri="{FF2B5EF4-FFF2-40B4-BE49-F238E27FC236}">
                <a16:creationId xmlns:a16="http://schemas.microsoft.com/office/drawing/2014/main" id="{D5A4D31F-0739-4520-8C34-5052F22912EA}"/>
              </a:ext>
            </a:extLst>
          </p:cNvPr>
          <p:cNvSpPr>
            <a:spLocks xmlns:a="http://schemas.openxmlformats.org/drawingml/2006/main" noGrp="1"/>
          </p:cNvSpPr>
          <p:nvPr/>
        </p:nvSpPr>
        <p:spPr>
          <a:xfrm xmlns:a="http://schemas.openxmlformats.org/drawingml/2006/main">
            <a:off x="5238750" y="4019550"/>
            <a:ext cx="66675"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3" name="">
            <a:extLst xmlns:a="http://schemas.openxmlformats.org/drawingml/2006/main">
              <a:ext uri="{FF2B5EF4-FFF2-40B4-BE49-F238E27FC236}">
                <a16:creationId xmlns:a16="http://schemas.microsoft.com/office/drawing/2014/main" id="{F4330CDB-EDE7-44F5-A744-E9568DB076D9}"/>
              </a:ext>
            </a:extLst>
          </p:cNvPr>
          <p:cNvSpPr>
            <a:spLocks xmlns:a="http://schemas.openxmlformats.org/drawingml/2006/main" noGrp="1"/>
          </p:cNvSpPr>
          <p:nvPr/>
        </p:nvSpPr>
        <p:spPr>
          <a:xfrm xmlns:a="http://schemas.openxmlformats.org/drawingml/2006/main">
            <a:off x="5334000" y="3914775"/>
            <a:ext cx="133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238" b="1">
                <a:solidFill>
                  <a:srgbClr val="252D30"/>
                </a:solidFill>
                <a:latin typeface="Source Sans 3"/>
                <a:ea typeface="Source Sans 3"/>
                <a:cs typeface="Source Sans 3"/>
              </a:defRPr>
            </a:pPr>
            <a:r>
              <a:rPr sz="1238" b="1">
                <a:solidFill>
                  <a:srgbClr val="252D30"/>
                </a:solidFill>
                <a:latin typeface="Source Sans 3"/>
                <a:ea typeface="Source Sans 3"/>
                <a:cs typeface="Source Sans 3"/>
              </a:rPr>
              <a:t>Hazards</a:t>
            </a:r>
          </a:p>
        </p:txBody>
      </p:sp>
      <p:sp>
        <p:nvSpPr>
          <p:cNvPr id="24" name="">
            <a:extLst xmlns:a="http://schemas.openxmlformats.org/drawingml/2006/main">
              <a:ext uri="{FF2B5EF4-FFF2-40B4-BE49-F238E27FC236}">
                <a16:creationId xmlns:a16="http://schemas.microsoft.com/office/drawing/2014/main" id="{2D3BE705-0771-4504-A57F-F43EFAD6D067}"/>
              </a:ext>
            </a:extLst>
          </p:cNvPr>
          <p:cNvSpPr>
            <a:spLocks xmlns:a="http://schemas.openxmlformats.org/drawingml/2006/main" noGrp="1"/>
          </p:cNvSpPr>
          <p:nvPr/>
        </p:nvSpPr>
        <p:spPr>
          <a:xfrm xmlns:a="http://schemas.openxmlformats.org/drawingml/2006/main">
            <a:off x="5334000" y="4352925"/>
            <a:ext cx="1333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013" b="0">
                <a:solidFill>
                  <a:srgbClr val="7C898B"/>
                </a:solidFill>
                <a:latin typeface="Lexend"/>
                <a:ea typeface="Lexend"/>
                <a:cs typeface="Lexend"/>
              </a:defRPr>
            </a:pPr>
            <a:r>
              <a:rPr sz="1013" b="0">
                <a:solidFill>
                  <a:srgbClr val="7C898B"/>
                </a:solidFill>
                <a:latin typeface="Lexend"/>
                <a:ea typeface="Lexend"/>
                <a:cs typeface="Lexend"/>
              </a:rPr>
              <a:t>DATA STORE</a:t>
            </a:r>
          </a:p>
        </p:txBody>
      </p:sp>
      <p:sp>
        <p:nvSpPr>
          <p:cNvPr id="25" name="">
            <a:extLst xmlns:a="http://schemas.openxmlformats.org/drawingml/2006/main">
              <a:ext uri="{FF2B5EF4-FFF2-40B4-BE49-F238E27FC236}">
                <a16:creationId xmlns:a16="http://schemas.microsoft.com/office/drawing/2014/main" id="{CC4CE12D-6DA5-44CC-A68C-FF5D0455E954}"/>
              </a:ext>
            </a:extLst>
          </p:cNvPr>
          <p:cNvSpPr>
            <a:spLocks xmlns:a="http://schemas.openxmlformats.org/drawingml/2006/main" noGrp="1"/>
          </p:cNvSpPr>
          <p:nvPr/>
        </p:nvSpPr>
        <p:spPr>
          <a:xfrm xmlns:a="http://schemas.openxmlformats.org/drawingml/2006/main">
            <a:off x="6705600" y="4019550"/>
            <a:ext cx="66675"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6" name="">
            <a:extLst xmlns:a="http://schemas.openxmlformats.org/drawingml/2006/main">
              <a:ext uri="{FF2B5EF4-FFF2-40B4-BE49-F238E27FC236}">
                <a16:creationId xmlns:a16="http://schemas.microsoft.com/office/drawing/2014/main" id="{7F112632-2E03-4D3F-9260-AFEE3906FEDF}"/>
              </a:ext>
            </a:extLst>
          </p:cNvPr>
          <p:cNvSpPr>
            <a:spLocks xmlns:a="http://schemas.openxmlformats.org/drawingml/2006/main" noGrp="1"/>
          </p:cNvSpPr>
          <p:nvPr/>
        </p:nvSpPr>
        <p:spPr>
          <a:xfrm xmlns:a="http://schemas.openxmlformats.org/drawingml/2006/main">
            <a:off x="6800850" y="3914775"/>
            <a:ext cx="133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238" b="1">
                <a:solidFill>
                  <a:srgbClr val="252D30"/>
                </a:solidFill>
                <a:latin typeface="Source Sans 3"/>
                <a:ea typeface="Source Sans 3"/>
                <a:cs typeface="Source Sans 3"/>
              </a:defRPr>
            </a:pPr>
            <a:r>
              <a:rPr sz="1238" b="1">
                <a:solidFill>
                  <a:srgbClr val="252D30"/>
                </a:solidFill>
                <a:latin typeface="Source Sans 3"/>
                <a:ea typeface="Source Sans 3"/>
                <a:cs typeface="Source Sans 3"/>
              </a:rPr>
              <a:t>Purok Incident</a:t>
            </a:r>
          </a:p>
        </p:txBody>
      </p:sp>
      <p:sp>
        <p:nvSpPr>
          <p:cNvPr id="27" name="">
            <a:extLst xmlns:a="http://schemas.openxmlformats.org/drawingml/2006/main">
              <a:ext uri="{FF2B5EF4-FFF2-40B4-BE49-F238E27FC236}">
                <a16:creationId xmlns:a16="http://schemas.microsoft.com/office/drawing/2014/main" id="{C8D3EC70-1D3B-46BC-A900-5D471B75EF28}"/>
              </a:ext>
            </a:extLst>
          </p:cNvPr>
          <p:cNvSpPr>
            <a:spLocks xmlns:a="http://schemas.openxmlformats.org/drawingml/2006/main" noGrp="1"/>
          </p:cNvSpPr>
          <p:nvPr/>
        </p:nvSpPr>
        <p:spPr>
          <a:xfrm xmlns:a="http://schemas.openxmlformats.org/drawingml/2006/main">
            <a:off x="6800850" y="4352925"/>
            <a:ext cx="1333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013" b="0">
                <a:solidFill>
                  <a:srgbClr val="7C898B"/>
                </a:solidFill>
                <a:latin typeface="Lexend"/>
                <a:ea typeface="Lexend"/>
                <a:cs typeface="Lexend"/>
              </a:defRPr>
            </a:pPr>
            <a:r>
              <a:rPr sz="1013" b="0">
                <a:solidFill>
                  <a:srgbClr val="7C898B"/>
                </a:solidFill>
                <a:latin typeface="Lexend"/>
                <a:ea typeface="Lexend"/>
                <a:cs typeface="Lexend"/>
              </a:rPr>
              <a:t>DATA STORE</a:t>
            </a:r>
          </a:p>
        </p:txBody>
      </p:sp>
      <p:sp>
        <p:nvSpPr>
          <p:cNvPr id="28" name="">
            <a:extLst xmlns:a="http://schemas.openxmlformats.org/drawingml/2006/main">
              <a:ext uri="{FF2B5EF4-FFF2-40B4-BE49-F238E27FC236}">
                <a16:creationId xmlns:a16="http://schemas.microsoft.com/office/drawing/2014/main" id="{277B01A6-30B2-40BE-B8A4-9BFFE9D06371}"/>
              </a:ext>
            </a:extLst>
          </p:cNvPr>
          <p:cNvSpPr>
            <a:spLocks xmlns:a="http://schemas.openxmlformats.org/drawingml/2006/main" noGrp="1"/>
          </p:cNvSpPr>
          <p:nvPr/>
        </p:nvSpPr>
        <p:spPr>
          <a:xfrm xmlns:a="http://schemas.openxmlformats.org/drawingml/2006/main">
            <a:off x="8172450" y="4019550"/>
            <a:ext cx="66675"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9" name="">
            <a:extLst xmlns:a="http://schemas.openxmlformats.org/drawingml/2006/main">
              <a:ext uri="{FF2B5EF4-FFF2-40B4-BE49-F238E27FC236}">
                <a16:creationId xmlns:a16="http://schemas.microsoft.com/office/drawing/2014/main" id="{E0F1AE00-18E3-4C22-B064-431C483A5EFD}"/>
              </a:ext>
            </a:extLst>
          </p:cNvPr>
          <p:cNvSpPr>
            <a:spLocks xmlns:a="http://schemas.openxmlformats.org/drawingml/2006/main" noGrp="1"/>
          </p:cNvSpPr>
          <p:nvPr/>
        </p:nvSpPr>
        <p:spPr>
          <a:xfrm xmlns:a="http://schemas.openxmlformats.org/drawingml/2006/main">
            <a:off x="8267700" y="3914775"/>
            <a:ext cx="133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238" b="1">
                <a:solidFill>
                  <a:srgbClr val="252D30"/>
                </a:solidFill>
                <a:latin typeface="Source Sans 3"/>
                <a:ea typeface="Source Sans 3"/>
                <a:cs typeface="Source Sans 3"/>
              </a:defRPr>
            </a:pPr>
            <a:r>
              <a:rPr sz="1238" b="1">
                <a:solidFill>
                  <a:srgbClr val="252D30"/>
                </a:solidFill>
                <a:latin typeface="Source Sans 3"/>
                <a:ea typeface="Source Sans 3"/>
                <a:cs typeface="Source Sans 3"/>
              </a:rPr>
              <a:t>Barangay Incident</a:t>
            </a:r>
          </a:p>
        </p:txBody>
      </p:sp>
      <p:sp>
        <p:nvSpPr>
          <p:cNvPr id="30" name="">
            <a:extLst xmlns:a="http://schemas.openxmlformats.org/drawingml/2006/main">
              <a:ext uri="{FF2B5EF4-FFF2-40B4-BE49-F238E27FC236}">
                <a16:creationId xmlns:a16="http://schemas.microsoft.com/office/drawing/2014/main" id="{C2030E54-7C81-49B9-93D4-A9523719E502}"/>
              </a:ext>
            </a:extLst>
          </p:cNvPr>
          <p:cNvSpPr>
            <a:spLocks xmlns:a="http://schemas.openxmlformats.org/drawingml/2006/main" noGrp="1"/>
          </p:cNvSpPr>
          <p:nvPr/>
        </p:nvSpPr>
        <p:spPr>
          <a:xfrm xmlns:a="http://schemas.openxmlformats.org/drawingml/2006/main">
            <a:off x="8267700" y="4352925"/>
            <a:ext cx="1333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013" b="0">
                <a:solidFill>
                  <a:srgbClr val="7C898B"/>
                </a:solidFill>
                <a:latin typeface="Lexend"/>
                <a:ea typeface="Lexend"/>
                <a:cs typeface="Lexend"/>
              </a:defRPr>
            </a:pPr>
            <a:r>
              <a:rPr sz="1013" b="0">
                <a:solidFill>
                  <a:srgbClr val="7C898B"/>
                </a:solidFill>
                <a:latin typeface="Lexend"/>
                <a:ea typeface="Lexend"/>
                <a:cs typeface="Lexend"/>
              </a:rPr>
              <a:t>DATA STORE</a:t>
            </a:r>
          </a:p>
        </p:txBody>
      </p:sp>
      <p:sp>
        <p:nvSpPr>
          <p:cNvPr id="31" name="">
            <a:extLst xmlns:a="http://schemas.openxmlformats.org/drawingml/2006/main">
              <a:ext uri="{FF2B5EF4-FFF2-40B4-BE49-F238E27FC236}">
                <a16:creationId xmlns:a16="http://schemas.microsoft.com/office/drawing/2014/main" id="{C4369F66-45C0-457B-9C05-BB40B3C41F20}"/>
              </a:ext>
            </a:extLst>
          </p:cNvPr>
          <p:cNvSpPr>
            <a:spLocks xmlns:a="http://schemas.openxmlformats.org/drawingml/2006/main" noGrp="1"/>
          </p:cNvSpPr>
          <p:nvPr/>
        </p:nvSpPr>
        <p:spPr>
          <a:xfrm xmlns:a="http://schemas.openxmlformats.org/drawingml/2006/main">
            <a:off x="9639300" y="4019550"/>
            <a:ext cx="66675"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32" name="">
            <a:extLst xmlns:a="http://schemas.openxmlformats.org/drawingml/2006/main">
              <a:ext uri="{FF2B5EF4-FFF2-40B4-BE49-F238E27FC236}">
                <a16:creationId xmlns:a16="http://schemas.microsoft.com/office/drawing/2014/main" id="{7152F779-07C6-4893-9ECD-C041EF2CC3B7}"/>
              </a:ext>
            </a:extLst>
          </p:cNvPr>
          <p:cNvSpPr>
            <a:spLocks xmlns:a="http://schemas.openxmlformats.org/drawingml/2006/main" noGrp="1"/>
          </p:cNvSpPr>
          <p:nvPr/>
        </p:nvSpPr>
        <p:spPr>
          <a:xfrm xmlns:a="http://schemas.openxmlformats.org/drawingml/2006/main">
            <a:off x="9734550" y="3914775"/>
            <a:ext cx="133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238" b="1">
                <a:solidFill>
                  <a:srgbClr val="252D30"/>
                </a:solidFill>
                <a:latin typeface="Source Sans 3"/>
                <a:ea typeface="Source Sans 3"/>
                <a:cs typeface="Source Sans 3"/>
              </a:defRPr>
            </a:pPr>
            <a:r>
              <a:rPr sz="1238" b="1">
                <a:solidFill>
                  <a:srgbClr val="252D30"/>
                </a:solidFill>
                <a:latin typeface="Source Sans 3"/>
                <a:ea typeface="Source Sans 3"/>
                <a:cs typeface="Source Sans 3"/>
              </a:rPr>
              <a:t>Situation Report</a:t>
            </a:r>
          </a:p>
        </p:txBody>
      </p:sp>
      <p:sp>
        <p:nvSpPr>
          <p:cNvPr id="33" name="">
            <a:extLst xmlns:a="http://schemas.openxmlformats.org/drawingml/2006/main">
              <a:ext uri="{FF2B5EF4-FFF2-40B4-BE49-F238E27FC236}">
                <a16:creationId xmlns:a16="http://schemas.microsoft.com/office/drawing/2014/main" id="{5D48A40A-4F32-47F8-ABF8-2EDE8662969F}"/>
              </a:ext>
            </a:extLst>
          </p:cNvPr>
          <p:cNvSpPr>
            <a:spLocks xmlns:a="http://schemas.openxmlformats.org/drawingml/2006/main" noGrp="1"/>
          </p:cNvSpPr>
          <p:nvPr/>
        </p:nvSpPr>
        <p:spPr>
          <a:xfrm xmlns:a="http://schemas.openxmlformats.org/drawingml/2006/main">
            <a:off x="9734550" y="4352925"/>
            <a:ext cx="1333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013" b="0">
                <a:solidFill>
                  <a:srgbClr val="7C898B"/>
                </a:solidFill>
                <a:latin typeface="Lexend"/>
                <a:ea typeface="Lexend"/>
                <a:cs typeface="Lexend"/>
              </a:defRPr>
            </a:pPr>
            <a:r>
              <a:rPr sz="1013" b="0">
                <a:solidFill>
                  <a:srgbClr val="7C898B"/>
                </a:solidFill>
                <a:latin typeface="Lexend"/>
                <a:ea typeface="Lexend"/>
                <a:cs typeface="Lexend"/>
              </a:rPr>
              <a:t>DATA STORE</a:t>
            </a:r>
          </a:p>
        </p:txBody>
      </p:sp>
      <p:sp>
        <p:nvSpPr>
          <p:cNvPr id="34" name="">
            <a:extLst xmlns:a="http://schemas.openxmlformats.org/drawingml/2006/main">
              <a:ext uri="{FF2B5EF4-FFF2-40B4-BE49-F238E27FC236}">
                <a16:creationId xmlns:a16="http://schemas.microsoft.com/office/drawing/2014/main" id="{FE57B3ED-1E39-4C0A-89D8-8181BF46202D}"/>
              </a:ext>
            </a:extLst>
          </p:cNvPr>
          <p:cNvSpPr>
            <a:spLocks xmlns:a="http://schemas.openxmlformats.org/drawingml/2006/main" noGrp="1"/>
          </p:cNvSpPr>
          <p:nvPr/>
        </p:nvSpPr>
        <p:spPr>
          <a:xfrm xmlns:a="http://schemas.openxmlformats.org/drawingml/2006/main">
            <a:off x="952500" y="4924425"/>
            <a:ext cx="10248900" cy="704850"/>
          </a:xfrm>
          <a:prstGeom xmlns:a="http://schemas.openxmlformats.org/drawingml/2006/main" prst="rect">
            <a:avLst/>
          </a:prstGeom>
          <a:solidFill xmlns:a="http://schemas.openxmlformats.org/drawingml/2006/main">
            <a:srgbClr val="E4EFEC"/>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F7AC9A8B-FFDF-40E9-A152-9BBA409F3B02}"/>
              </a:ext>
            </a:extLst>
          </p:cNvPr>
          <p:cNvSpPr>
            <a:spLocks xmlns:a="http://schemas.openxmlformats.org/drawingml/2006/main" noGrp="1"/>
          </p:cNvSpPr>
          <p:nvPr/>
        </p:nvSpPr>
        <p:spPr>
          <a:xfrm xmlns:a="http://schemas.openxmlformats.org/drawingml/2006/main">
            <a:off x="1162050" y="5048250"/>
            <a:ext cx="9829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0">
                <a:solidFill>
                  <a:srgbClr val="252D30"/>
                </a:solidFill>
                <a:latin typeface="Source Sans 3"/>
                <a:ea typeface="Source Sans 3"/>
                <a:cs typeface="Source Sans 3"/>
              </a:defRPr>
            </a:pPr>
            <a:r>
              <a:rPr sz="1350" b="0">
                <a:solidFill>
                  <a:srgbClr val="252D30"/>
                </a:solidFill>
                <a:latin typeface="Source Sans 3"/>
                <a:ea typeface="Source Sans 3"/>
                <a:cs typeface="Source Sans 3"/>
              </a:rPr>
              <a:t>Interpretation: the DFD shows what data each process receives and returns. It does not by itself specify the relational keys or database constraints.</a:t>
            </a:r>
          </a:p>
        </p:txBody>
      </p:sp>
    </p:spTree>
    <p:extLst>
      <p:ext uri="{BB962C8B-B14F-4D97-AF65-F5344CB8AC3E}">
        <p14:creationId xmlns:p14="http://schemas.microsoft.com/office/powerpoint/2010/main" val="1874333295"/>
      </p:ext>
    </p:extLst>
  </p:cSld>
</p:sld>
</file>

<file path=ppt/slides/slide26.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5C390C96-A6C2-47CA-8B7C-B2DD1FEF33A7}"/>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EB3FEEB-48CC-4ACF-87DC-A420818B2201}"/>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ENTITY RELATIONSHIP DIAGRAM</a:t>
            </a:r>
          </a:p>
        </p:txBody>
      </p:sp>
      <p:sp>
        <p:nvSpPr>
          <p:cNvPr id="3" name="">
            <a:extLst xmlns:a="http://schemas.openxmlformats.org/drawingml/2006/main">
              <a:ext uri="{FF2B5EF4-FFF2-40B4-BE49-F238E27FC236}">
                <a16:creationId xmlns:a16="http://schemas.microsoft.com/office/drawing/2014/main" id="{2DE2EAA1-F9C1-4B88-890D-F1263B88CB8A}"/>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The ERD separates account roles and operational record families</a:t>
            </a:r>
          </a:p>
        </p:txBody>
      </p:sp>
      <p:sp>
        <p:nvSpPr>
          <p:cNvPr id="4" name="">
            <a:extLst xmlns:a="http://schemas.openxmlformats.org/drawingml/2006/main">
              <a:ext uri="{FF2B5EF4-FFF2-40B4-BE49-F238E27FC236}">
                <a16:creationId xmlns:a16="http://schemas.microsoft.com/office/drawing/2014/main" id="{510AEF11-D919-423D-9845-AC41CE160F2A}"/>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148A8752-6271-4D38-9226-7A9CC6B65B4F}"/>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Figure 40 and the ERD convention discussed in the project</a:t>
            </a:r>
          </a:p>
        </p:txBody>
      </p:sp>
      <p:sp>
        <p:nvSpPr>
          <p:cNvPr id="6" name="">
            <a:extLst xmlns:a="http://schemas.openxmlformats.org/drawingml/2006/main">
              <a:ext uri="{FF2B5EF4-FFF2-40B4-BE49-F238E27FC236}">
                <a16:creationId xmlns:a16="http://schemas.microsoft.com/office/drawing/2014/main" id="{85248507-5F59-45EF-A477-3ABF7BAC3C8E}"/>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26</a:t>
            </a:r>
          </a:p>
        </p:txBody>
      </p:sp>
      <p:sp>
        <p:nvSpPr>
          <p:cNvPr id="7" name="">
            <a:extLst xmlns:a="http://schemas.openxmlformats.org/drawingml/2006/main">
              <a:ext uri="{FF2B5EF4-FFF2-40B4-BE49-F238E27FC236}">
                <a16:creationId xmlns:a16="http://schemas.microsoft.com/office/drawing/2014/main" id="{AC2596FF-6A64-41D1-A1A1-4F21BEDA1209}"/>
              </a:ext>
            </a:extLst>
          </p:cNvPr>
          <p:cNvSpPr>
            <a:spLocks xmlns:a="http://schemas.openxmlformats.org/drawingml/2006/main" noGrp="1"/>
          </p:cNvSpPr>
          <p:nvPr/>
        </p:nvSpPr>
        <p:spPr>
          <a:xfrm xmlns:a="http://schemas.openxmlformats.org/drawingml/2006/main">
            <a:off x="933450" y="1466850"/>
            <a:ext cx="23526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IDENTITY</a:t>
            </a:r>
          </a:p>
        </p:txBody>
      </p:sp>
      <p:sp>
        <p:nvSpPr>
          <p:cNvPr id="8" name="">
            <a:extLst xmlns:a="http://schemas.openxmlformats.org/drawingml/2006/main">
              <a:ext uri="{FF2B5EF4-FFF2-40B4-BE49-F238E27FC236}">
                <a16:creationId xmlns:a16="http://schemas.microsoft.com/office/drawing/2014/main" id="{CB17FAE7-2133-4602-BC44-58FE71CAFF2C}"/>
              </a:ext>
            </a:extLst>
          </p:cNvPr>
          <p:cNvSpPr>
            <a:spLocks xmlns:a="http://schemas.openxmlformats.org/drawingml/2006/main" noGrp="1"/>
          </p:cNvSpPr>
          <p:nvPr/>
        </p:nvSpPr>
        <p:spPr>
          <a:xfrm xmlns:a="http://schemas.openxmlformats.org/drawingml/2006/main">
            <a:off x="933450" y="1828800"/>
            <a:ext cx="2324100" cy="0"/>
          </a:xfrm>
          <a:prstGeom xmlns:a="http://schemas.openxmlformats.org/drawingml/2006/main" prst="line">
            <a:avLst/>
          </a:prstGeom>
          <a:noFill xmlns:a="http://schemas.openxmlformats.org/drawingml/2006/main"/>
          <a:ln xmlns:a="http://schemas.openxmlformats.org/drawingml/2006/main" w="19050">
            <a:solidFill>
              <a:srgbClr val="276E6B"/>
            </a:solidFill>
          </a:ln>
        </p:spPr>
      </p:sp>
      <p:sp>
        <p:nvSpPr>
          <p:cNvPr id="9" name="">
            <a:extLst xmlns:a="http://schemas.openxmlformats.org/drawingml/2006/main">
              <a:ext uri="{FF2B5EF4-FFF2-40B4-BE49-F238E27FC236}">
                <a16:creationId xmlns:a16="http://schemas.microsoft.com/office/drawing/2014/main" id="{08AFDB9D-47E8-498D-A6EF-96480B7C6455}"/>
              </a:ext>
            </a:extLst>
          </p:cNvPr>
          <p:cNvSpPr>
            <a:spLocks xmlns:a="http://schemas.openxmlformats.org/drawingml/2006/main" noGrp="1"/>
          </p:cNvSpPr>
          <p:nvPr/>
        </p:nvSpPr>
        <p:spPr>
          <a:xfrm xmlns:a="http://schemas.openxmlformats.org/drawingml/2006/main">
            <a:off x="933450" y="2038350"/>
            <a:ext cx="2333625" cy="1924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Account</a:t>
            </a:r>
          </a:p>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Purok account</a:t>
            </a:r>
          </a:p>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Barangay account</a:t>
            </a:r>
          </a:p>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DRRM account</a:t>
            </a:r>
          </a:p>
        </p:txBody>
      </p:sp>
      <p:sp>
        <p:nvSpPr>
          <p:cNvPr id="10" name="">
            <a:extLst xmlns:a="http://schemas.openxmlformats.org/drawingml/2006/main">
              <a:ext uri="{FF2B5EF4-FFF2-40B4-BE49-F238E27FC236}">
                <a16:creationId xmlns:a16="http://schemas.microsoft.com/office/drawing/2014/main" id="{D30B7CDA-64D2-461C-B07D-AA74D8D7578B}"/>
              </a:ext>
            </a:extLst>
          </p:cNvPr>
          <p:cNvSpPr>
            <a:spLocks xmlns:a="http://schemas.openxmlformats.org/drawingml/2006/main" noGrp="1"/>
          </p:cNvSpPr>
          <p:nvPr/>
        </p:nvSpPr>
        <p:spPr>
          <a:xfrm xmlns:a="http://schemas.openxmlformats.org/drawingml/2006/main">
            <a:off x="3581400" y="1466850"/>
            <a:ext cx="23526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PROFILES</a:t>
            </a:r>
          </a:p>
        </p:txBody>
      </p:sp>
      <p:sp>
        <p:nvSpPr>
          <p:cNvPr id="11" name="">
            <a:extLst xmlns:a="http://schemas.openxmlformats.org/drawingml/2006/main">
              <a:ext uri="{FF2B5EF4-FFF2-40B4-BE49-F238E27FC236}">
                <a16:creationId xmlns:a16="http://schemas.microsoft.com/office/drawing/2014/main" id="{CDE40F60-2B3D-4070-9992-9F8BFB3CCCDD}"/>
              </a:ext>
            </a:extLst>
          </p:cNvPr>
          <p:cNvSpPr>
            <a:spLocks xmlns:a="http://schemas.openxmlformats.org/drawingml/2006/main" noGrp="1"/>
          </p:cNvSpPr>
          <p:nvPr/>
        </p:nvSpPr>
        <p:spPr>
          <a:xfrm xmlns:a="http://schemas.openxmlformats.org/drawingml/2006/main">
            <a:off x="3581400" y="1828800"/>
            <a:ext cx="2324100" cy="0"/>
          </a:xfrm>
          <a:prstGeom xmlns:a="http://schemas.openxmlformats.org/drawingml/2006/main" prst="line">
            <a:avLst/>
          </a:prstGeom>
          <a:noFill xmlns:a="http://schemas.openxmlformats.org/drawingml/2006/main"/>
          <a:ln xmlns:a="http://schemas.openxmlformats.org/drawingml/2006/main" w="19050">
            <a:solidFill>
              <a:srgbClr val="276E6B"/>
            </a:solidFill>
          </a:ln>
        </p:spPr>
      </p:sp>
      <p:sp>
        <p:nvSpPr>
          <p:cNvPr id="12" name="">
            <a:extLst xmlns:a="http://schemas.openxmlformats.org/drawingml/2006/main">
              <a:ext uri="{FF2B5EF4-FFF2-40B4-BE49-F238E27FC236}">
                <a16:creationId xmlns:a16="http://schemas.microsoft.com/office/drawing/2014/main" id="{3182BBC0-CF4D-4B53-B8C2-7DDECF492026}"/>
              </a:ext>
            </a:extLst>
          </p:cNvPr>
          <p:cNvSpPr>
            <a:spLocks xmlns:a="http://schemas.openxmlformats.org/drawingml/2006/main" noGrp="1"/>
          </p:cNvSpPr>
          <p:nvPr/>
        </p:nvSpPr>
        <p:spPr>
          <a:xfrm xmlns:a="http://schemas.openxmlformats.org/drawingml/2006/main">
            <a:off x="3581400" y="2038350"/>
            <a:ext cx="2333625" cy="1924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Purok profile</a:t>
            </a:r>
          </a:p>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Barangay profile</a:t>
            </a:r>
          </a:p>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Housing summary</a:t>
            </a:r>
          </a:p>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Hazard exposure</a:t>
            </a:r>
          </a:p>
        </p:txBody>
      </p:sp>
      <p:sp>
        <p:nvSpPr>
          <p:cNvPr id="13" name="">
            <a:extLst xmlns:a="http://schemas.openxmlformats.org/drawingml/2006/main">
              <a:ext uri="{FF2B5EF4-FFF2-40B4-BE49-F238E27FC236}">
                <a16:creationId xmlns:a16="http://schemas.microsoft.com/office/drawing/2014/main" id="{494B764B-63BE-4159-B357-E9B75D0E4AD8}"/>
              </a:ext>
            </a:extLst>
          </p:cNvPr>
          <p:cNvSpPr>
            <a:spLocks xmlns:a="http://schemas.openxmlformats.org/drawingml/2006/main" noGrp="1"/>
          </p:cNvSpPr>
          <p:nvPr/>
        </p:nvSpPr>
        <p:spPr>
          <a:xfrm xmlns:a="http://schemas.openxmlformats.org/drawingml/2006/main">
            <a:off x="6229350" y="1466850"/>
            <a:ext cx="23526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INCIDENTS</a:t>
            </a:r>
          </a:p>
        </p:txBody>
      </p:sp>
      <p:sp>
        <p:nvSpPr>
          <p:cNvPr id="14" name="">
            <a:extLst xmlns:a="http://schemas.openxmlformats.org/drawingml/2006/main">
              <a:ext uri="{FF2B5EF4-FFF2-40B4-BE49-F238E27FC236}">
                <a16:creationId xmlns:a16="http://schemas.microsoft.com/office/drawing/2014/main" id="{69AEE21D-B12E-48E2-98FC-70B24D2A2E9E}"/>
              </a:ext>
            </a:extLst>
          </p:cNvPr>
          <p:cNvSpPr>
            <a:spLocks xmlns:a="http://schemas.openxmlformats.org/drawingml/2006/main" noGrp="1"/>
          </p:cNvSpPr>
          <p:nvPr/>
        </p:nvSpPr>
        <p:spPr>
          <a:xfrm xmlns:a="http://schemas.openxmlformats.org/drawingml/2006/main">
            <a:off x="6229350" y="1828800"/>
            <a:ext cx="2324100" cy="0"/>
          </a:xfrm>
          <a:prstGeom xmlns:a="http://schemas.openxmlformats.org/drawingml/2006/main" prst="line">
            <a:avLst/>
          </a:prstGeom>
          <a:noFill xmlns:a="http://schemas.openxmlformats.org/drawingml/2006/main"/>
          <a:ln xmlns:a="http://schemas.openxmlformats.org/drawingml/2006/main" w="19050">
            <a:solidFill>
              <a:srgbClr val="276E6B"/>
            </a:solidFill>
          </a:ln>
        </p:spPr>
      </p:sp>
      <p:sp>
        <p:nvSpPr>
          <p:cNvPr id="15" name="">
            <a:extLst xmlns:a="http://schemas.openxmlformats.org/drawingml/2006/main">
              <a:ext uri="{FF2B5EF4-FFF2-40B4-BE49-F238E27FC236}">
                <a16:creationId xmlns:a16="http://schemas.microsoft.com/office/drawing/2014/main" id="{A5DF725F-6A31-4444-9D52-839EB57EC63D}"/>
              </a:ext>
            </a:extLst>
          </p:cNvPr>
          <p:cNvSpPr>
            <a:spLocks xmlns:a="http://schemas.openxmlformats.org/drawingml/2006/main" noGrp="1"/>
          </p:cNvSpPr>
          <p:nvPr/>
        </p:nvSpPr>
        <p:spPr>
          <a:xfrm xmlns:a="http://schemas.openxmlformats.org/drawingml/2006/main">
            <a:off x="6229350" y="2038350"/>
            <a:ext cx="2333625" cy="1924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Hazard</a:t>
            </a:r>
          </a:p>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Incident report</a:t>
            </a:r>
          </a:p>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Report version</a:t>
            </a:r>
          </a:p>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Affected population</a:t>
            </a:r>
          </a:p>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Casualty and damage</a:t>
            </a:r>
          </a:p>
        </p:txBody>
      </p:sp>
      <p:sp>
        <p:nvSpPr>
          <p:cNvPr id="16" name="">
            <a:extLst xmlns:a="http://schemas.openxmlformats.org/drawingml/2006/main">
              <a:ext uri="{FF2B5EF4-FFF2-40B4-BE49-F238E27FC236}">
                <a16:creationId xmlns:a16="http://schemas.microsoft.com/office/drawing/2014/main" id="{1140C634-31CB-4A17-9D4E-252305012A18}"/>
              </a:ext>
            </a:extLst>
          </p:cNvPr>
          <p:cNvSpPr>
            <a:spLocks xmlns:a="http://schemas.openxmlformats.org/drawingml/2006/main" noGrp="1"/>
          </p:cNvSpPr>
          <p:nvPr/>
        </p:nvSpPr>
        <p:spPr>
          <a:xfrm xmlns:a="http://schemas.openxmlformats.org/drawingml/2006/main">
            <a:off x="8877300" y="1466850"/>
            <a:ext cx="23526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SITUATION REPORT</a:t>
            </a:r>
          </a:p>
        </p:txBody>
      </p:sp>
      <p:sp>
        <p:nvSpPr>
          <p:cNvPr id="17" name="">
            <a:extLst xmlns:a="http://schemas.openxmlformats.org/drawingml/2006/main">
              <a:ext uri="{FF2B5EF4-FFF2-40B4-BE49-F238E27FC236}">
                <a16:creationId xmlns:a16="http://schemas.microsoft.com/office/drawing/2014/main" id="{A1C319CD-5E30-4CCC-BC28-0DEAED0AF848}"/>
              </a:ext>
            </a:extLst>
          </p:cNvPr>
          <p:cNvSpPr>
            <a:spLocks xmlns:a="http://schemas.openxmlformats.org/drawingml/2006/main" noGrp="1"/>
          </p:cNvSpPr>
          <p:nvPr/>
        </p:nvSpPr>
        <p:spPr>
          <a:xfrm xmlns:a="http://schemas.openxmlformats.org/drawingml/2006/main">
            <a:off x="8877300" y="1828800"/>
            <a:ext cx="2324100" cy="0"/>
          </a:xfrm>
          <a:prstGeom xmlns:a="http://schemas.openxmlformats.org/drawingml/2006/main" prst="line">
            <a:avLst/>
          </a:prstGeom>
          <a:noFill xmlns:a="http://schemas.openxmlformats.org/drawingml/2006/main"/>
          <a:ln xmlns:a="http://schemas.openxmlformats.org/drawingml/2006/main" w="19050">
            <a:solidFill>
              <a:srgbClr val="276E6B"/>
            </a:solidFill>
          </a:ln>
        </p:spPr>
      </p:sp>
      <p:sp>
        <p:nvSpPr>
          <p:cNvPr id="18" name="">
            <a:extLst xmlns:a="http://schemas.openxmlformats.org/drawingml/2006/main">
              <a:ext uri="{FF2B5EF4-FFF2-40B4-BE49-F238E27FC236}">
                <a16:creationId xmlns:a16="http://schemas.microsoft.com/office/drawing/2014/main" id="{B90AFABA-EBB9-4CB2-8F92-B6C9F204F25F}"/>
              </a:ext>
            </a:extLst>
          </p:cNvPr>
          <p:cNvSpPr>
            <a:spLocks xmlns:a="http://schemas.openxmlformats.org/drawingml/2006/main" noGrp="1"/>
          </p:cNvSpPr>
          <p:nvPr/>
        </p:nvSpPr>
        <p:spPr>
          <a:xfrm xmlns:a="http://schemas.openxmlformats.org/drawingml/2006/main">
            <a:off x="8877300" y="2038350"/>
            <a:ext cx="2333625" cy="1924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Situation report</a:t>
            </a:r>
          </a:p>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Report version</a:t>
            </a:r>
          </a:p>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Response actions</a:t>
            </a:r>
          </a:p>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Issues and recommendations</a:t>
            </a:r>
          </a:p>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Effects and assistance</a:t>
            </a:r>
          </a:p>
        </p:txBody>
      </p:sp>
      <p:sp>
        <p:nvSpPr>
          <p:cNvPr id="19" name="">
            <a:extLst xmlns:a="http://schemas.openxmlformats.org/drawingml/2006/main">
              <a:ext uri="{FF2B5EF4-FFF2-40B4-BE49-F238E27FC236}">
                <a16:creationId xmlns:a16="http://schemas.microsoft.com/office/drawing/2014/main" id="{3517C072-0F6D-4CFF-883E-5EC02F564FB8}"/>
              </a:ext>
            </a:extLst>
          </p:cNvPr>
          <p:cNvSpPr>
            <a:spLocks xmlns:a="http://schemas.openxmlformats.org/drawingml/2006/main" noGrp="1"/>
          </p:cNvSpPr>
          <p:nvPr/>
        </p:nvSpPr>
        <p:spPr>
          <a:xfrm xmlns:a="http://schemas.openxmlformats.org/drawingml/2006/main">
            <a:off x="933450" y="4352925"/>
            <a:ext cx="10267950" cy="1047750"/>
          </a:xfrm>
          <a:prstGeom xmlns:a="http://schemas.openxmlformats.org/drawingml/2006/main" prst="rect">
            <a:avLst/>
          </a:prstGeom>
          <a:solidFill xmlns:a="http://schemas.openxmlformats.org/drawingml/2006/main">
            <a:srgbClr val="E4EFEC"/>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6B6D9EBE-31C2-4810-9DEB-FB8205E134E6}"/>
              </a:ext>
            </a:extLst>
          </p:cNvPr>
          <p:cNvSpPr>
            <a:spLocks xmlns:a="http://schemas.openxmlformats.org/drawingml/2006/main" noGrp="1"/>
          </p:cNvSpPr>
          <p:nvPr/>
        </p:nvSpPr>
        <p:spPr>
          <a:xfrm xmlns:a="http://schemas.openxmlformats.org/drawingml/2006/main">
            <a:off x="1162050" y="4505325"/>
            <a:ext cx="171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ERD convention</a:t>
            </a:r>
          </a:p>
        </p:txBody>
      </p:sp>
      <p:sp>
        <p:nvSpPr>
          <p:cNvPr id="21" name="">
            <a:extLst xmlns:a="http://schemas.openxmlformats.org/drawingml/2006/main">
              <a:ext uri="{FF2B5EF4-FFF2-40B4-BE49-F238E27FC236}">
                <a16:creationId xmlns:a16="http://schemas.microsoft.com/office/drawing/2014/main" id="{6D9A0916-7AA3-45DB-B432-F5E8E4047AA1}"/>
              </a:ext>
            </a:extLst>
          </p:cNvPr>
          <p:cNvSpPr>
            <a:spLocks xmlns:a="http://schemas.openxmlformats.org/drawingml/2006/main" noGrp="1"/>
          </p:cNvSpPr>
          <p:nvPr/>
        </p:nvSpPr>
        <p:spPr>
          <a:xfrm xmlns:a="http://schemas.openxmlformats.org/drawingml/2006/main">
            <a:off x="3048000" y="4438650"/>
            <a:ext cx="78295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Account is modeled as a supertype. Purok, Barangay and DRRM are role subtypes. Primary identifiers are underlined. Relationships are shown without adding FK attributes to the conceptual ERD.</a:t>
            </a:r>
          </a:p>
        </p:txBody>
      </p:sp>
    </p:spTree>
    <p:extLst>
      <p:ext uri="{BB962C8B-B14F-4D97-AF65-F5344CB8AC3E}">
        <p14:creationId xmlns:p14="http://schemas.microsoft.com/office/powerpoint/2010/main" val="957702750"/>
      </p:ext>
    </p:extLst>
  </p:cSld>
</p:sld>
</file>

<file path=ppt/slides/slide27.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5B76B55-7189-489B-8DEC-9A1968942C5F}"/>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79EED24-720D-4134-B3D8-EE612763C71C}"/>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RELATIONAL DATA MODEL</a:t>
            </a:r>
          </a:p>
        </p:txBody>
      </p:sp>
      <p:sp>
        <p:nvSpPr>
          <p:cNvPr id="3" name="">
            <a:extLst xmlns:a="http://schemas.openxmlformats.org/drawingml/2006/main">
              <a:ext uri="{FF2B5EF4-FFF2-40B4-BE49-F238E27FC236}">
                <a16:creationId xmlns:a16="http://schemas.microsoft.com/office/drawing/2014/main" id="{7F2D7243-5669-4CC9-9EC2-837B140271EB}"/>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The RDM maps entities into connected relations</a:t>
            </a:r>
          </a:p>
        </p:txBody>
      </p:sp>
      <p:sp>
        <p:nvSpPr>
          <p:cNvPr id="4" name="">
            <a:extLst xmlns:a="http://schemas.openxmlformats.org/drawingml/2006/main">
              <a:ext uri="{FF2B5EF4-FFF2-40B4-BE49-F238E27FC236}">
                <a16:creationId xmlns:a16="http://schemas.microsoft.com/office/drawing/2014/main" id="{0E73A36C-73D2-4BD2-8D77-D5DA983CFAB8}"/>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8B48EACE-8F24-4FB6-9F1B-DCC24EC474BE}"/>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Figure 41 and database design</a:t>
            </a:r>
          </a:p>
        </p:txBody>
      </p:sp>
      <p:sp>
        <p:nvSpPr>
          <p:cNvPr id="6" name="">
            <a:extLst xmlns:a="http://schemas.openxmlformats.org/drawingml/2006/main">
              <a:ext uri="{FF2B5EF4-FFF2-40B4-BE49-F238E27FC236}">
                <a16:creationId xmlns:a16="http://schemas.microsoft.com/office/drawing/2014/main" id="{21B0D293-B170-4389-BDBA-A1B6C32BE943}"/>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27</a:t>
            </a:r>
          </a:p>
        </p:txBody>
      </p:sp>
      <p:sp>
        <p:nvSpPr>
          <p:cNvPr id="7" name="">
            <a:extLst xmlns:a="http://schemas.openxmlformats.org/drawingml/2006/main">
              <a:ext uri="{FF2B5EF4-FFF2-40B4-BE49-F238E27FC236}">
                <a16:creationId xmlns:a16="http://schemas.microsoft.com/office/drawing/2014/main" id="{F751F7BB-A33B-4B90-BA17-7A22F3FFD796}"/>
              </a:ext>
            </a:extLst>
          </p:cNvPr>
          <p:cNvSpPr>
            <a:spLocks xmlns:a="http://schemas.openxmlformats.org/drawingml/2006/main" noGrp="1"/>
          </p:cNvSpPr>
          <p:nvPr/>
        </p:nvSpPr>
        <p:spPr>
          <a:xfrm xmlns:a="http://schemas.openxmlformats.org/drawingml/2006/main">
            <a:off x="933450" y="1400175"/>
            <a:ext cx="2705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ACCOUNT AND JURISDICTION</a:t>
            </a:r>
          </a:p>
        </p:txBody>
      </p:sp>
      <p:sp>
        <p:nvSpPr>
          <p:cNvPr id="8" name="">
            <a:extLst xmlns:a="http://schemas.openxmlformats.org/drawingml/2006/main">
              <a:ext uri="{FF2B5EF4-FFF2-40B4-BE49-F238E27FC236}">
                <a16:creationId xmlns:a16="http://schemas.microsoft.com/office/drawing/2014/main" id="{A4BDC3B4-7A6D-489B-B090-266DE8B91F8D}"/>
              </a:ext>
            </a:extLst>
          </p:cNvPr>
          <p:cNvSpPr>
            <a:spLocks xmlns:a="http://schemas.openxmlformats.org/drawingml/2006/main" noGrp="1"/>
          </p:cNvSpPr>
          <p:nvPr/>
        </p:nvSpPr>
        <p:spPr>
          <a:xfrm xmlns:a="http://schemas.openxmlformats.org/drawingml/2006/main">
            <a:off x="3857625" y="1381125"/>
            <a:ext cx="714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0">
                <a:solidFill>
                  <a:srgbClr val="252D30"/>
                </a:solidFill>
                <a:latin typeface="Source Sans 3"/>
                <a:ea typeface="Source Sans 3"/>
                <a:cs typeface="Source Sans 3"/>
              </a:defRPr>
            </a:pPr>
            <a:r>
              <a:rPr sz="1500" b="0">
                <a:solidFill>
                  <a:srgbClr val="252D30"/>
                </a:solidFill>
                <a:latin typeface="Source Sans 3"/>
                <a:ea typeface="Source Sans 3"/>
                <a:cs typeface="Source Sans 3"/>
              </a:rPr>
              <a:t>Account identity and its Purok, Barangay or DRRM role records. Jurisdiction links support routing and access scope.</a:t>
            </a:r>
          </a:p>
        </p:txBody>
      </p:sp>
      <p:sp>
        <p:nvSpPr>
          <p:cNvPr id="9" name="">
            <a:extLst xmlns:a="http://schemas.openxmlformats.org/drawingml/2006/main">
              <a:ext uri="{FF2B5EF4-FFF2-40B4-BE49-F238E27FC236}">
                <a16:creationId xmlns:a16="http://schemas.microsoft.com/office/drawing/2014/main" id="{FBEB7DAE-A3D7-4FDF-83F3-948B628A662B}"/>
              </a:ext>
            </a:extLst>
          </p:cNvPr>
          <p:cNvSpPr>
            <a:spLocks xmlns:a="http://schemas.openxmlformats.org/drawingml/2006/main" noGrp="1"/>
          </p:cNvSpPr>
          <p:nvPr/>
        </p:nvSpPr>
        <p:spPr>
          <a:xfrm xmlns:a="http://schemas.openxmlformats.org/drawingml/2006/main">
            <a:off x="933450" y="2238375"/>
            <a:ext cx="102489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0" name="">
            <a:extLst xmlns:a="http://schemas.openxmlformats.org/drawingml/2006/main">
              <a:ext uri="{FF2B5EF4-FFF2-40B4-BE49-F238E27FC236}">
                <a16:creationId xmlns:a16="http://schemas.microsoft.com/office/drawing/2014/main" id="{1CED5B4A-E93B-46C3-80BE-16C66EFC06B1}"/>
              </a:ext>
            </a:extLst>
          </p:cNvPr>
          <p:cNvSpPr>
            <a:spLocks xmlns:a="http://schemas.openxmlformats.org/drawingml/2006/main" noGrp="1"/>
          </p:cNvSpPr>
          <p:nvPr/>
        </p:nvSpPr>
        <p:spPr>
          <a:xfrm xmlns:a="http://schemas.openxmlformats.org/drawingml/2006/main">
            <a:off x="933450" y="2562225"/>
            <a:ext cx="2705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PROFILE AND HAZARD</a:t>
            </a:r>
          </a:p>
        </p:txBody>
      </p:sp>
      <p:sp>
        <p:nvSpPr>
          <p:cNvPr id="11" name="">
            <a:extLst xmlns:a="http://schemas.openxmlformats.org/drawingml/2006/main">
              <a:ext uri="{FF2B5EF4-FFF2-40B4-BE49-F238E27FC236}">
                <a16:creationId xmlns:a16="http://schemas.microsoft.com/office/drawing/2014/main" id="{E7EC01BB-762A-4229-932E-5E310FC86549}"/>
              </a:ext>
            </a:extLst>
          </p:cNvPr>
          <p:cNvSpPr>
            <a:spLocks xmlns:a="http://schemas.openxmlformats.org/drawingml/2006/main" noGrp="1"/>
          </p:cNvSpPr>
          <p:nvPr/>
        </p:nvSpPr>
        <p:spPr>
          <a:xfrm xmlns:a="http://schemas.openxmlformats.org/drawingml/2006/main">
            <a:off x="3857625" y="2543175"/>
            <a:ext cx="714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0">
                <a:solidFill>
                  <a:srgbClr val="252D30"/>
                </a:solidFill>
                <a:latin typeface="Source Sans 3"/>
                <a:ea typeface="Source Sans 3"/>
                <a:cs typeface="Source Sans 3"/>
              </a:defRPr>
            </a:pPr>
            <a:r>
              <a:rPr sz="1500" b="0">
                <a:solidFill>
                  <a:srgbClr val="252D30"/>
                </a:solidFill>
                <a:latin typeface="Source Sans 3"/>
                <a:ea typeface="Source Sans 3"/>
                <a:cs typeface="Source Sans 3"/>
              </a:rPr>
              <a:t>Purok and Barangay profile records, supporting exposure summaries, hazard data and configured CDRA types.</a:t>
            </a:r>
          </a:p>
        </p:txBody>
      </p:sp>
      <p:sp>
        <p:nvSpPr>
          <p:cNvPr id="12" name="">
            <a:extLst xmlns:a="http://schemas.openxmlformats.org/drawingml/2006/main">
              <a:ext uri="{FF2B5EF4-FFF2-40B4-BE49-F238E27FC236}">
                <a16:creationId xmlns:a16="http://schemas.microsoft.com/office/drawing/2014/main" id="{C01698B0-A198-4938-8070-BE4C7B953087}"/>
              </a:ext>
            </a:extLst>
          </p:cNvPr>
          <p:cNvSpPr>
            <a:spLocks xmlns:a="http://schemas.openxmlformats.org/drawingml/2006/main" noGrp="1"/>
          </p:cNvSpPr>
          <p:nvPr/>
        </p:nvSpPr>
        <p:spPr>
          <a:xfrm xmlns:a="http://schemas.openxmlformats.org/drawingml/2006/main">
            <a:off x="933450" y="3400425"/>
            <a:ext cx="102489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3" name="">
            <a:extLst xmlns:a="http://schemas.openxmlformats.org/drawingml/2006/main">
              <a:ext uri="{FF2B5EF4-FFF2-40B4-BE49-F238E27FC236}">
                <a16:creationId xmlns:a16="http://schemas.microsoft.com/office/drawing/2014/main" id="{0DA7B624-3A4C-4176-83F8-68BA07D98069}"/>
              </a:ext>
            </a:extLst>
          </p:cNvPr>
          <p:cNvSpPr>
            <a:spLocks xmlns:a="http://schemas.openxmlformats.org/drawingml/2006/main" noGrp="1"/>
          </p:cNvSpPr>
          <p:nvPr/>
        </p:nvSpPr>
        <p:spPr>
          <a:xfrm xmlns:a="http://schemas.openxmlformats.org/drawingml/2006/main">
            <a:off x="933450" y="3724275"/>
            <a:ext cx="2705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INCIDENT AND SITREP</a:t>
            </a:r>
          </a:p>
        </p:txBody>
      </p:sp>
      <p:sp>
        <p:nvSpPr>
          <p:cNvPr id="14" name="">
            <a:extLst xmlns:a="http://schemas.openxmlformats.org/drawingml/2006/main">
              <a:ext uri="{FF2B5EF4-FFF2-40B4-BE49-F238E27FC236}">
                <a16:creationId xmlns:a16="http://schemas.microsoft.com/office/drawing/2014/main" id="{3131607A-1D30-4A25-A2FC-77208C945952}"/>
              </a:ext>
            </a:extLst>
          </p:cNvPr>
          <p:cNvSpPr>
            <a:spLocks xmlns:a="http://schemas.openxmlformats.org/drawingml/2006/main" noGrp="1"/>
          </p:cNvSpPr>
          <p:nvPr/>
        </p:nvSpPr>
        <p:spPr>
          <a:xfrm xmlns:a="http://schemas.openxmlformats.org/drawingml/2006/main">
            <a:off x="3857625" y="3705225"/>
            <a:ext cx="714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0">
                <a:solidFill>
                  <a:srgbClr val="252D30"/>
                </a:solidFill>
                <a:latin typeface="Source Sans 3"/>
                <a:ea typeface="Source Sans 3"/>
                <a:cs typeface="Source Sans 3"/>
              </a:defRPr>
            </a:pPr>
            <a:r>
              <a:rPr sz="1500" b="0">
                <a:solidFill>
                  <a:srgbClr val="252D30"/>
                </a:solidFill>
                <a:latin typeface="Source Sans 3"/>
                <a:ea typeface="Source Sans 3"/>
                <a:cs typeface="Source Sans 3"/>
              </a:rPr>
              <a:t>Incident versions and verification history, linked to affected-population, casualty, damage and Situation Report records.</a:t>
            </a:r>
          </a:p>
        </p:txBody>
      </p:sp>
      <p:sp>
        <p:nvSpPr>
          <p:cNvPr id="15" name="">
            <a:extLst xmlns:a="http://schemas.openxmlformats.org/drawingml/2006/main">
              <a:ext uri="{FF2B5EF4-FFF2-40B4-BE49-F238E27FC236}">
                <a16:creationId xmlns:a16="http://schemas.microsoft.com/office/drawing/2014/main" id="{94D18257-F072-4133-807A-23FAF9348A28}"/>
              </a:ext>
            </a:extLst>
          </p:cNvPr>
          <p:cNvSpPr>
            <a:spLocks xmlns:a="http://schemas.openxmlformats.org/drawingml/2006/main" noGrp="1"/>
          </p:cNvSpPr>
          <p:nvPr/>
        </p:nvSpPr>
        <p:spPr>
          <a:xfrm xmlns:a="http://schemas.openxmlformats.org/drawingml/2006/main">
            <a:off x="933450" y="5162550"/>
            <a:ext cx="102298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Read Figure 40 for the entity view. Read Figure 41 for the connected relational tables and key structure.</a:t>
            </a:r>
          </a:p>
        </p:txBody>
      </p:sp>
    </p:spTree>
    <p:extLst>
      <p:ext uri="{BB962C8B-B14F-4D97-AF65-F5344CB8AC3E}">
        <p14:creationId xmlns:p14="http://schemas.microsoft.com/office/powerpoint/2010/main" val="1348649228"/>
      </p:ext>
    </p:extLst>
  </p:cSld>
</p:sld>
</file>

<file path=ppt/slides/slide28.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8B293C7C-DF27-43D0-B900-E07799E53DC0}"/>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9AAFACE-9018-488E-BB10-DC2169972F31}"/>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USER FLOW</a:t>
            </a:r>
          </a:p>
        </p:txBody>
      </p:sp>
      <p:sp>
        <p:nvSpPr>
          <p:cNvPr id="3" name="">
            <a:extLst xmlns:a="http://schemas.openxmlformats.org/drawingml/2006/main">
              <a:ext uri="{FF2B5EF4-FFF2-40B4-BE49-F238E27FC236}">
                <a16:creationId xmlns:a16="http://schemas.microsoft.com/office/drawing/2014/main" id="{38B0BA45-5E83-4230-A075-2F299AE90AAE}"/>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Purok user flow</a:t>
            </a:r>
          </a:p>
        </p:txBody>
      </p:sp>
      <p:sp>
        <p:nvSpPr>
          <p:cNvPr id="4" name="">
            <a:extLst xmlns:a="http://schemas.openxmlformats.org/drawingml/2006/main">
              <a:ext uri="{FF2B5EF4-FFF2-40B4-BE49-F238E27FC236}">
                <a16:creationId xmlns:a16="http://schemas.microsoft.com/office/drawing/2014/main" id="{B25D3C6A-7BC1-4EB7-B1F3-6B1B386E4BE7}"/>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22B90ACE-7972-4E9B-B1F1-1E06E3EEF163}"/>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Purok module flowcharts and role scope</a:t>
            </a:r>
          </a:p>
        </p:txBody>
      </p:sp>
      <p:sp>
        <p:nvSpPr>
          <p:cNvPr id="6" name="">
            <a:extLst xmlns:a="http://schemas.openxmlformats.org/drawingml/2006/main">
              <a:ext uri="{FF2B5EF4-FFF2-40B4-BE49-F238E27FC236}">
                <a16:creationId xmlns:a16="http://schemas.microsoft.com/office/drawing/2014/main" id="{A6C4176D-CE7D-4DB6-B1CE-47B0F0B2A235}"/>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28</a:t>
            </a:r>
          </a:p>
        </p:txBody>
      </p:sp>
      <p:sp>
        <p:nvSpPr>
          <p:cNvPr id="7" name="">
            <a:extLst xmlns:a="http://schemas.openxmlformats.org/drawingml/2006/main">
              <a:ext uri="{FF2B5EF4-FFF2-40B4-BE49-F238E27FC236}">
                <a16:creationId xmlns:a16="http://schemas.microsoft.com/office/drawing/2014/main" id="{D8A7A488-CEED-44A0-9949-9E51519C0AD7}"/>
              </a:ext>
            </a:extLst>
          </p:cNvPr>
          <p:cNvSpPr>
            <a:spLocks xmlns:a="http://schemas.openxmlformats.org/drawingml/2006/main" noGrp="1"/>
          </p:cNvSpPr>
          <p:nvPr/>
        </p:nvSpPr>
        <p:spPr>
          <a:xfrm xmlns:a="http://schemas.openxmlformats.org/drawingml/2006/main">
            <a:off x="933450" y="16002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01</a:t>
            </a:r>
          </a:p>
        </p:txBody>
      </p:sp>
      <p:sp>
        <p:nvSpPr>
          <p:cNvPr id="8" name="">
            <a:extLst xmlns:a="http://schemas.openxmlformats.org/drawingml/2006/main">
              <a:ext uri="{FF2B5EF4-FFF2-40B4-BE49-F238E27FC236}">
                <a16:creationId xmlns:a16="http://schemas.microsoft.com/office/drawing/2014/main" id="{C6883C68-3A24-4161-8A9B-BE1086EB083F}"/>
              </a:ext>
            </a:extLst>
          </p:cNvPr>
          <p:cNvSpPr>
            <a:spLocks xmlns:a="http://schemas.openxmlformats.org/drawingml/2006/main" noGrp="1"/>
          </p:cNvSpPr>
          <p:nvPr/>
        </p:nvSpPr>
        <p:spPr>
          <a:xfrm xmlns:a="http://schemas.openxmlformats.org/drawingml/2006/main">
            <a:off x="933450" y="1943100"/>
            <a:ext cx="32575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Sign in with credentials issued by an authorized higher-level user</a:t>
            </a:r>
          </a:p>
        </p:txBody>
      </p:sp>
      <p:sp>
        <p:nvSpPr>
          <p:cNvPr id="9" name="">
            <a:extLst xmlns:a="http://schemas.openxmlformats.org/drawingml/2006/main">
              <a:ext uri="{FF2B5EF4-FFF2-40B4-BE49-F238E27FC236}">
                <a16:creationId xmlns:a16="http://schemas.microsoft.com/office/drawing/2014/main" id="{9F7631ED-D34C-49E1-8DD3-08DCE46CD864}"/>
              </a:ext>
            </a:extLst>
          </p:cNvPr>
          <p:cNvSpPr>
            <a:spLocks xmlns:a="http://schemas.openxmlformats.org/drawingml/2006/main" noGrp="1"/>
          </p:cNvSpPr>
          <p:nvPr/>
        </p:nvSpPr>
        <p:spPr>
          <a:xfrm xmlns:a="http://schemas.openxmlformats.org/drawingml/2006/main">
            <a:off x="4438650" y="16002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02</a:t>
            </a:r>
          </a:p>
        </p:txBody>
      </p:sp>
      <p:sp>
        <p:nvSpPr>
          <p:cNvPr id="10" name="">
            <a:extLst xmlns:a="http://schemas.openxmlformats.org/drawingml/2006/main">
              <a:ext uri="{FF2B5EF4-FFF2-40B4-BE49-F238E27FC236}">
                <a16:creationId xmlns:a16="http://schemas.microsoft.com/office/drawing/2014/main" id="{9723A0BB-FF8C-491E-B1F7-53546B9FBD61}"/>
              </a:ext>
            </a:extLst>
          </p:cNvPr>
          <p:cNvSpPr>
            <a:spLocks xmlns:a="http://schemas.openxmlformats.org/drawingml/2006/main" noGrp="1"/>
          </p:cNvSpPr>
          <p:nvPr/>
        </p:nvSpPr>
        <p:spPr>
          <a:xfrm xmlns:a="http://schemas.openxmlformats.org/drawingml/2006/main">
            <a:off x="4438650" y="1943100"/>
            <a:ext cx="32575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Review the current verified monthly profile</a:t>
            </a:r>
          </a:p>
        </p:txBody>
      </p:sp>
      <p:sp>
        <p:nvSpPr>
          <p:cNvPr id="11" name="">
            <a:extLst xmlns:a="http://schemas.openxmlformats.org/drawingml/2006/main">
              <a:ext uri="{FF2B5EF4-FFF2-40B4-BE49-F238E27FC236}">
                <a16:creationId xmlns:a16="http://schemas.microsoft.com/office/drawing/2014/main" id="{5FC5DEE4-33CA-49D7-8851-F3C207AB041E}"/>
              </a:ext>
            </a:extLst>
          </p:cNvPr>
          <p:cNvSpPr>
            <a:spLocks xmlns:a="http://schemas.openxmlformats.org/drawingml/2006/main" noGrp="1"/>
          </p:cNvSpPr>
          <p:nvPr/>
        </p:nvSpPr>
        <p:spPr>
          <a:xfrm xmlns:a="http://schemas.openxmlformats.org/drawingml/2006/main">
            <a:off x="7943850" y="16002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03</a:t>
            </a:r>
          </a:p>
        </p:txBody>
      </p:sp>
      <p:sp>
        <p:nvSpPr>
          <p:cNvPr id="12" name="">
            <a:extLst xmlns:a="http://schemas.openxmlformats.org/drawingml/2006/main">
              <a:ext uri="{FF2B5EF4-FFF2-40B4-BE49-F238E27FC236}">
                <a16:creationId xmlns:a16="http://schemas.microsoft.com/office/drawing/2014/main" id="{2B49D1C5-161D-4662-94DC-712DA0D083D2}"/>
              </a:ext>
            </a:extLst>
          </p:cNvPr>
          <p:cNvSpPr>
            <a:spLocks xmlns:a="http://schemas.openxmlformats.org/drawingml/2006/main" noGrp="1"/>
          </p:cNvSpPr>
          <p:nvPr/>
        </p:nvSpPr>
        <p:spPr>
          <a:xfrm xmlns:a="http://schemas.openxmlformats.org/drawingml/2006/main">
            <a:off x="7943850" y="1943100"/>
            <a:ext cx="32575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Enter aggregate population, housing, vulnerability and hazard-exposure values</a:t>
            </a:r>
          </a:p>
        </p:txBody>
      </p:sp>
      <p:sp>
        <p:nvSpPr>
          <p:cNvPr id="13" name="">
            <a:extLst xmlns:a="http://schemas.openxmlformats.org/drawingml/2006/main">
              <a:ext uri="{FF2B5EF4-FFF2-40B4-BE49-F238E27FC236}">
                <a16:creationId xmlns:a16="http://schemas.microsoft.com/office/drawing/2014/main" id="{84098166-319A-45B2-B923-4A540421E5A8}"/>
              </a:ext>
            </a:extLst>
          </p:cNvPr>
          <p:cNvSpPr>
            <a:spLocks xmlns:a="http://schemas.openxmlformats.org/drawingml/2006/main" noGrp="1"/>
          </p:cNvSpPr>
          <p:nvPr/>
        </p:nvSpPr>
        <p:spPr>
          <a:xfrm xmlns:a="http://schemas.openxmlformats.org/drawingml/2006/main">
            <a:off x="933450" y="30480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04</a:t>
            </a:r>
          </a:p>
        </p:txBody>
      </p:sp>
      <p:sp>
        <p:nvSpPr>
          <p:cNvPr id="14" name="">
            <a:extLst xmlns:a="http://schemas.openxmlformats.org/drawingml/2006/main">
              <a:ext uri="{FF2B5EF4-FFF2-40B4-BE49-F238E27FC236}">
                <a16:creationId xmlns:a16="http://schemas.microsoft.com/office/drawing/2014/main" id="{6A9A308D-7FF9-4474-ACF9-5E5024A68242}"/>
              </a:ext>
            </a:extLst>
          </p:cNvPr>
          <p:cNvSpPr>
            <a:spLocks xmlns:a="http://schemas.openxmlformats.org/drawingml/2006/main" noGrp="1"/>
          </p:cNvSpPr>
          <p:nvPr/>
        </p:nvSpPr>
        <p:spPr>
          <a:xfrm xmlns:a="http://schemas.openxmlformats.org/drawingml/2006/main">
            <a:off x="933450" y="3390900"/>
            <a:ext cx="32575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Submit the profile to Barangay review and correct it if returned</a:t>
            </a:r>
          </a:p>
        </p:txBody>
      </p:sp>
      <p:sp>
        <p:nvSpPr>
          <p:cNvPr id="15" name="">
            <a:extLst xmlns:a="http://schemas.openxmlformats.org/drawingml/2006/main">
              <a:ext uri="{FF2B5EF4-FFF2-40B4-BE49-F238E27FC236}">
                <a16:creationId xmlns:a16="http://schemas.microsoft.com/office/drawing/2014/main" id="{4DC511B0-3600-462B-BD7B-8F399AED6EE4}"/>
              </a:ext>
            </a:extLst>
          </p:cNvPr>
          <p:cNvSpPr>
            <a:spLocks xmlns:a="http://schemas.openxmlformats.org/drawingml/2006/main" noGrp="1"/>
          </p:cNvSpPr>
          <p:nvPr/>
        </p:nvSpPr>
        <p:spPr>
          <a:xfrm xmlns:a="http://schemas.openxmlformats.org/drawingml/2006/main">
            <a:off x="4438650" y="30480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05</a:t>
            </a:r>
          </a:p>
        </p:txBody>
      </p:sp>
      <p:sp>
        <p:nvSpPr>
          <p:cNvPr id="16" name="">
            <a:extLst xmlns:a="http://schemas.openxmlformats.org/drawingml/2006/main">
              <a:ext uri="{FF2B5EF4-FFF2-40B4-BE49-F238E27FC236}">
                <a16:creationId xmlns:a16="http://schemas.microsoft.com/office/drawing/2014/main" id="{5132B8C7-0839-49E1-A56E-3B5725E384D6}"/>
              </a:ext>
            </a:extLst>
          </p:cNvPr>
          <p:cNvSpPr>
            <a:spLocks xmlns:a="http://schemas.openxmlformats.org/drawingml/2006/main" noGrp="1"/>
          </p:cNvSpPr>
          <p:nvPr/>
        </p:nvSpPr>
        <p:spPr>
          <a:xfrm xmlns:a="http://schemas.openxmlformats.org/drawingml/2006/main">
            <a:off x="4438650" y="3390900"/>
            <a:ext cx="32575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For an incident, submit hazard, location, date and time, initial situation and affected or exposure counts</a:t>
            </a:r>
          </a:p>
        </p:txBody>
      </p:sp>
      <p:sp>
        <p:nvSpPr>
          <p:cNvPr id="17" name="">
            <a:extLst xmlns:a="http://schemas.openxmlformats.org/drawingml/2006/main">
              <a:ext uri="{FF2B5EF4-FFF2-40B4-BE49-F238E27FC236}">
                <a16:creationId xmlns:a16="http://schemas.microsoft.com/office/drawing/2014/main" id="{BDFBFE19-73C5-49BA-A83F-69080C8CB865}"/>
              </a:ext>
            </a:extLst>
          </p:cNvPr>
          <p:cNvSpPr>
            <a:spLocks xmlns:a="http://schemas.openxmlformats.org/drawingml/2006/main" noGrp="1"/>
          </p:cNvSpPr>
          <p:nvPr/>
        </p:nvSpPr>
        <p:spPr>
          <a:xfrm xmlns:a="http://schemas.openxmlformats.org/drawingml/2006/main">
            <a:off x="7943850" y="30480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06</a:t>
            </a:r>
          </a:p>
        </p:txBody>
      </p:sp>
      <p:sp>
        <p:nvSpPr>
          <p:cNvPr id="18" name="">
            <a:extLst xmlns:a="http://schemas.openxmlformats.org/drawingml/2006/main">
              <a:ext uri="{FF2B5EF4-FFF2-40B4-BE49-F238E27FC236}">
                <a16:creationId xmlns:a16="http://schemas.microsoft.com/office/drawing/2014/main" id="{38932192-210F-4882-8CA2-DC5191E11363}"/>
              </a:ext>
            </a:extLst>
          </p:cNvPr>
          <p:cNvSpPr>
            <a:spLocks xmlns:a="http://schemas.openxmlformats.org/drawingml/2006/main" noGrp="1"/>
          </p:cNvSpPr>
          <p:nvPr/>
        </p:nvSpPr>
        <p:spPr>
          <a:xfrm xmlns:a="http://schemas.openxmlformats.org/drawingml/2006/main">
            <a:off x="7943850" y="3390900"/>
            <a:ext cx="32575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Update the report as information changes and review status and prior versions</a:t>
            </a:r>
          </a:p>
        </p:txBody>
      </p:sp>
      <p:sp>
        <p:nvSpPr>
          <p:cNvPr id="19" name="">
            <a:extLst xmlns:a="http://schemas.openxmlformats.org/drawingml/2006/main">
              <a:ext uri="{FF2B5EF4-FFF2-40B4-BE49-F238E27FC236}">
                <a16:creationId xmlns:a16="http://schemas.microsoft.com/office/drawing/2014/main" id="{831C736B-D096-4877-9527-A4F9DE52CDEB}"/>
              </a:ext>
            </a:extLst>
          </p:cNvPr>
          <p:cNvSpPr>
            <a:spLocks xmlns:a="http://schemas.openxmlformats.org/drawingml/2006/main" noGrp="1"/>
          </p:cNvSpPr>
          <p:nvPr/>
        </p:nvSpPr>
        <p:spPr>
          <a:xfrm xmlns:a="http://schemas.openxmlformats.org/drawingml/2006/main">
            <a:off x="933450" y="4953000"/>
            <a:ext cx="10248900" cy="742950"/>
          </a:xfrm>
          <a:prstGeom xmlns:a="http://schemas.openxmlformats.org/drawingml/2006/main" prst="rect">
            <a:avLst/>
          </a:prstGeom>
          <a:solidFill xmlns:a="http://schemas.openxmlformats.org/drawingml/2006/main">
            <a:srgbClr val="E4EFEC"/>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A01B0754-B8DC-4203-A3E7-9D7520E12737}"/>
              </a:ext>
            </a:extLst>
          </p:cNvPr>
          <p:cNvSpPr>
            <a:spLocks xmlns:a="http://schemas.openxmlformats.org/drawingml/2006/main" noGrp="1"/>
          </p:cNvSpPr>
          <p:nvPr/>
        </p:nvSpPr>
        <p:spPr>
          <a:xfrm xmlns:a="http://schemas.openxmlformats.org/drawingml/2006/main">
            <a:off x="1143000" y="5057775"/>
            <a:ext cx="98393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0">
                <a:solidFill>
                  <a:srgbClr val="252D30"/>
                </a:solidFill>
                <a:latin typeface="Source Sans 3"/>
                <a:ea typeface="Source Sans 3"/>
                <a:cs typeface="Source Sans 3"/>
              </a:defRPr>
            </a:pPr>
            <a:r>
              <a:rPr sz="1350" b="0">
                <a:solidFill>
                  <a:srgbClr val="252D30"/>
                </a:solidFill>
                <a:latin typeface="Source Sans 3"/>
                <a:ea typeface="Source Sans 3"/>
                <a:cs typeface="Source Sans 3"/>
              </a:rPr>
              <a:t>Purok input is deliberately an initial, aggregate report. It does not require named household records or a complete city-level damage assessment.</a:t>
            </a:r>
          </a:p>
        </p:txBody>
      </p:sp>
    </p:spTree>
    <p:extLst>
      <p:ext uri="{BB962C8B-B14F-4D97-AF65-F5344CB8AC3E}">
        <p14:creationId xmlns:p14="http://schemas.microsoft.com/office/powerpoint/2010/main" val="406686690"/>
      </p:ext>
    </p:extLst>
  </p:cSld>
</p:sld>
</file>

<file path=ppt/slides/slide29.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4FF3AF62-E7E4-4513-A1D0-C4E80BFA86C7}"/>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EAD964D-82FB-4984-9B04-DFECF92E1B90}"/>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USER FLOW</a:t>
            </a:r>
          </a:p>
        </p:txBody>
      </p:sp>
      <p:sp>
        <p:nvSpPr>
          <p:cNvPr id="3" name="">
            <a:extLst xmlns:a="http://schemas.openxmlformats.org/drawingml/2006/main">
              <a:ext uri="{FF2B5EF4-FFF2-40B4-BE49-F238E27FC236}">
                <a16:creationId xmlns:a16="http://schemas.microsoft.com/office/drawing/2014/main" id="{124ED663-8904-4A5E-A891-B797926AF5A6}"/>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Barangay user flow</a:t>
            </a:r>
          </a:p>
        </p:txBody>
      </p:sp>
      <p:sp>
        <p:nvSpPr>
          <p:cNvPr id="4" name="">
            <a:extLst xmlns:a="http://schemas.openxmlformats.org/drawingml/2006/main">
              <a:ext uri="{FF2B5EF4-FFF2-40B4-BE49-F238E27FC236}">
                <a16:creationId xmlns:a16="http://schemas.microsoft.com/office/drawing/2014/main" id="{5CCE7167-D30F-4A14-8A4F-1A6848FB7457}"/>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59E1B95D-4439-498F-8385-CD97201306BE}"/>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Barangay module flowcharts and role scope</a:t>
            </a:r>
          </a:p>
        </p:txBody>
      </p:sp>
      <p:sp>
        <p:nvSpPr>
          <p:cNvPr id="6" name="">
            <a:extLst xmlns:a="http://schemas.openxmlformats.org/drawingml/2006/main">
              <a:ext uri="{FF2B5EF4-FFF2-40B4-BE49-F238E27FC236}">
                <a16:creationId xmlns:a16="http://schemas.microsoft.com/office/drawing/2014/main" id="{ABF71D47-8A67-40E3-9945-8A9064161ED0}"/>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29</a:t>
            </a:r>
          </a:p>
        </p:txBody>
      </p:sp>
      <p:sp>
        <p:nvSpPr>
          <p:cNvPr id="7" name="">
            <a:extLst xmlns:a="http://schemas.openxmlformats.org/drawingml/2006/main">
              <a:ext uri="{FF2B5EF4-FFF2-40B4-BE49-F238E27FC236}">
                <a16:creationId xmlns:a16="http://schemas.microsoft.com/office/drawing/2014/main" id="{84C1CBAC-D4C6-480B-805B-DC9829766250}"/>
              </a:ext>
            </a:extLst>
          </p:cNvPr>
          <p:cNvSpPr>
            <a:spLocks xmlns:a="http://schemas.openxmlformats.org/drawingml/2006/main" noGrp="1"/>
          </p:cNvSpPr>
          <p:nvPr/>
        </p:nvSpPr>
        <p:spPr>
          <a:xfrm xmlns:a="http://schemas.openxmlformats.org/drawingml/2006/main">
            <a:off x="933450" y="16002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01</a:t>
            </a:r>
          </a:p>
        </p:txBody>
      </p:sp>
      <p:sp>
        <p:nvSpPr>
          <p:cNvPr id="8" name="">
            <a:extLst xmlns:a="http://schemas.openxmlformats.org/drawingml/2006/main">
              <a:ext uri="{FF2B5EF4-FFF2-40B4-BE49-F238E27FC236}">
                <a16:creationId xmlns:a16="http://schemas.microsoft.com/office/drawing/2014/main" id="{3A98D89F-A70F-4186-8462-18ABBF4CD3DB}"/>
              </a:ext>
            </a:extLst>
          </p:cNvPr>
          <p:cNvSpPr>
            <a:spLocks xmlns:a="http://schemas.openxmlformats.org/drawingml/2006/main" noGrp="1"/>
          </p:cNvSpPr>
          <p:nvPr/>
        </p:nvSpPr>
        <p:spPr>
          <a:xfrm xmlns:a="http://schemas.openxmlformats.org/drawingml/2006/main">
            <a:off x="933450" y="1943100"/>
            <a:ext cx="32575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Sign in and open the Purok profile and incident review queues</a:t>
            </a:r>
          </a:p>
        </p:txBody>
      </p:sp>
      <p:sp>
        <p:nvSpPr>
          <p:cNvPr id="9" name="">
            <a:extLst xmlns:a="http://schemas.openxmlformats.org/drawingml/2006/main">
              <a:ext uri="{FF2B5EF4-FFF2-40B4-BE49-F238E27FC236}">
                <a16:creationId xmlns:a16="http://schemas.microsoft.com/office/drawing/2014/main" id="{0E791037-31B3-4986-9699-1B50E5B25BF1}"/>
              </a:ext>
            </a:extLst>
          </p:cNvPr>
          <p:cNvSpPr>
            <a:spLocks xmlns:a="http://schemas.openxmlformats.org/drawingml/2006/main" noGrp="1"/>
          </p:cNvSpPr>
          <p:nvPr/>
        </p:nvSpPr>
        <p:spPr>
          <a:xfrm xmlns:a="http://schemas.openxmlformats.org/drawingml/2006/main">
            <a:off x="4438650" y="16002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02</a:t>
            </a:r>
          </a:p>
        </p:txBody>
      </p:sp>
      <p:sp>
        <p:nvSpPr>
          <p:cNvPr id="10" name="">
            <a:extLst xmlns:a="http://schemas.openxmlformats.org/drawingml/2006/main">
              <a:ext uri="{FF2B5EF4-FFF2-40B4-BE49-F238E27FC236}">
                <a16:creationId xmlns:a16="http://schemas.microsoft.com/office/drawing/2014/main" id="{4B5A5B8B-FD65-47FD-B547-435EF35F1955}"/>
              </a:ext>
            </a:extLst>
          </p:cNvPr>
          <p:cNvSpPr>
            <a:spLocks xmlns:a="http://schemas.openxmlformats.org/drawingml/2006/main" noGrp="1"/>
          </p:cNvSpPr>
          <p:nvPr/>
        </p:nvSpPr>
        <p:spPr>
          <a:xfrm xmlns:a="http://schemas.openxmlformats.org/drawingml/2006/main">
            <a:off x="4438650" y="1943100"/>
            <a:ext cx="32575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Compare submitted information with available references</a:t>
            </a:r>
          </a:p>
        </p:txBody>
      </p:sp>
      <p:sp>
        <p:nvSpPr>
          <p:cNvPr id="11" name="">
            <a:extLst xmlns:a="http://schemas.openxmlformats.org/drawingml/2006/main">
              <a:ext uri="{FF2B5EF4-FFF2-40B4-BE49-F238E27FC236}">
                <a16:creationId xmlns:a16="http://schemas.microsoft.com/office/drawing/2014/main" id="{8295A834-9FDF-4CBA-889F-19D1BA02E28B}"/>
              </a:ext>
            </a:extLst>
          </p:cNvPr>
          <p:cNvSpPr>
            <a:spLocks xmlns:a="http://schemas.openxmlformats.org/drawingml/2006/main" noGrp="1"/>
          </p:cNvSpPr>
          <p:nvPr/>
        </p:nvSpPr>
        <p:spPr>
          <a:xfrm xmlns:a="http://schemas.openxmlformats.org/drawingml/2006/main">
            <a:off x="7943850" y="16002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03</a:t>
            </a:r>
          </a:p>
        </p:txBody>
      </p:sp>
      <p:sp>
        <p:nvSpPr>
          <p:cNvPr id="12" name="">
            <a:extLst xmlns:a="http://schemas.openxmlformats.org/drawingml/2006/main">
              <a:ext uri="{FF2B5EF4-FFF2-40B4-BE49-F238E27FC236}">
                <a16:creationId xmlns:a16="http://schemas.microsoft.com/office/drawing/2014/main" id="{BD2F97DB-C88E-4B6D-8F5F-092DD43A99E5}"/>
              </a:ext>
            </a:extLst>
          </p:cNvPr>
          <p:cNvSpPr>
            <a:spLocks xmlns:a="http://schemas.openxmlformats.org/drawingml/2006/main" noGrp="1"/>
          </p:cNvSpPr>
          <p:nvPr/>
        </p:nvSpPr>
        <p:spPr>
          <a:xfrm xmlns:a="http://schemas.openxmlformats.org/drawingml/2006/main">
            <a:off x="7943850" y="1943100"/>
            <a:ext cx="32575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Verify or return Purok profile and incident records with a recorded reason</a:t>
            </a:r>
          </a:p>
        </p:txBody>
      </p:sp>
      <p:sp>
        <p:nvSpPr>
          <p:cNvPr id="13" name="">
            <a:extLst xmlns:a="http://schemas.openxmlformats.org/drawingml/2006/main">
              <a:ext uri="{FF2B5EF4-FFF2-40B4-BE49-F238E27FC236}">
                <a16:creationId xmlns:a16="http://schemas.microsoft.com/office/drawing/2014/main" id="{99C1391E-D735-4793-8661-7D38B1FC05ED}"/>
              </a:ext>
            </a:extLst>
          </p:cNvPr>
          <p:cNvSpPr>
            <a:spLocks xmlns:a="http://schemas.openxmlformats.org/drawingml/2006/main" noGrp="1"/>
          </p:cNvSpPr>
          <p:nvPr/>
        </p:nvSpPr>
        <p:spPr>
          <a:xfrm xmlns:a="http://schemas.openxmlformats.org/drawingml/2006/main">
            <a:off x="933450" y="30480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04</a:t>
            </a:r>
          </a:p>
        </p:txBody>
      </p:sp>
      <p:sp>
        <p:nvSpPr>
          <p:cNvPr id="14" name="">
            <a:extLst xmlns:a="http://schemas.openxmlformats.org/drawingml/2006/main">
              <a:ext uri="{FF2B5EF4-FFF2-40B4-BE49-F238E27FC236}">
                <a16:creationId xmlns:a16="http://schemas.microsoft.com/office/drawing/2014/main" id="{5B16F6BC-325E-4CD8-B352-96D78E2E0A05}"/>
              </a:ext>
            </a:extLst>
          </p:cNvPr>
          <p:cNvSpPr>
            <a:spLocks xmlns:a="http://schemas.openxmlformats.org/drawingml/2006/main" noGrp="1"/>
          </p:cNvSpPr>
          <p:nvPr/>
        </p:nvSpPr>
        <p:spPr>
          <a:xfrm xmlns:a="http://schemas.openxmlformats.org/drawingml/2006/main">
            <a:off x="933450" y="3390900"/>
            <a:ext cx="32575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Build the Barangay profile from verified Purok profile data</a:t>
            </a:r>
          </a:p>
        </p:txBody>
      </p:sp>
      <p:sp>
        <p:nvSpPr>
          <p:cNvPr id="15" name="">
            <a:extLst xmlns:a="http://schemas.openxmlformats.org/drawingml/2006/main">
              <a:ext uri="{FF2B5EF4-FFF2-40B4-BE49-F238E27FC236}">
                <a16:creationId xmlns:a16="http://schemas.microsoft.com/office/drawing/2014/main" id="{AE1A3558-6CAB-4AD2-86D9-62DBAA93E195}"/>
              </a:ext>
            </a:extLst>
          </p:cNvPr>
          <p:cNvSpPr>
            <a:spLocks xmlns:a="http://schemas.openxmlformats.org/drawingml/2006/main" noGrp="1"/>
          </p:cNvSpPr>
          <p:nvPr/>
        </p:nvSpPr>
        <p:spPr>
          <a:xfrm xmlns:a="http://schemas.openxmlformats.org/drawingml/2006/main">
            <a:off x="4438650" y="30480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05</a:t>
            </a:r>
          </a:p>
        </p:txBody>
      </p:sp>
      <p:sp>
        <p:nvSpPr>
          <p:cNvPr id="16" name="">
            <a:extLst xmlns:a="http://schemas.openxmlformats.org/drawingml/2006/main">
              <a:ext uri="{FF2B5EF4-FFF2-40B4-BE49-F238E27FC236}">
                <a16:creationId xmlns:a16="http://schemas.microsoft.com/office/drawing/2014/main" id="{CA97C7F7-BFB8-4C37-8078-76FB1A19F232}"/>
              </a:ext>
            </a:extLst>
          </p:cNvPr>
          <p:cNvSpPr>
            <a:spLocks xmlns:a="http://schemas.openxmlformats.org/drawingml/2006/main" noGrp="1"/>
          </p:cNvSpPr>
          <p:nvPr/>
        </p:nvSpPr>
        <p:spPr>
          <a:xfrm xmlns:a="http://schemas.openxmlformats.org/drawingml/2006/main">
            <a:off x="4438650" y="3390900"/>
            <a:ext cx="32575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Consolidate verified Purok incident reports and add Barangay-level affected-population, casualty and damage assessment</a:t>
            </a:r>
          </a:p>
        </p:txBody>
      </p:sp>
      <p:sp>
        <p:nvSpPr>
          <p:cNvPr id="17" name="">
            <a:extLst xmlns:a="http://schemas.openxmlformats.org/drawingml/2006/main">
              <a:ext uri="{FF2B5EF4-FFF2-40B4-BE49-F238E27FC236}">
                <a16:creationId xmlns:a16="http://schemas.microsoft.com/office/drawing/2014/main" id="{8C56D680-76DD-4B5F-8F93-2D94F634F02B}"/>
              </a:ext>
            </a:extLst>
          </p:cNvPr>
          <p:cNvSpPr>
            <a:spLocks xmlns:a="http://schemas.openxmlformats.org/drawingml/2006/main" noGrp="1"/>
          </p:cNvSpPr>
          <p:nvPr/>
        </p:nvSpPr>
        <p:spPr>
          <a:xfrm xmlns:a="http://schemas.openxmlformats.org/drawingml/2006/main">
            <a:off x="7943850" y="30480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06</a:t>
            </a:r>
          </a:p>
        </p:txBody>
      </p:sp>
      <p:sp>
        <p:nvSpPr>
          <p:cNvPr id="18" name="">
            <a:extLst xmlns:a="http://schemas.openxmlformats.org/drawingml/2006/main">
              <a:ext uri="{FF2B5EF4-FFF2-40B4-BE49-F238E27FC236}">
                <a16:creationId xmlns:a16="http://schemas.microsoft.com/office/drawing/2014/main" id="{7ABD4C80-C738-4DCE-A827-3D5BD28734A2}"/>
              </a:ext>
            </a:extLst>
          </p:cNvPr>
          <p:cNvSpPr>
            <a:spLocks xmlns:a="http://schemas.openxmlformats.org/drawingml/2006/main" noGrp="1"/>
          </p:cNvSpPr>
          <p:nvPr/>
        </p:nvSpPr>
        <p:spPr>
          <a:xfrm xmlns:a="http://schemas.openxmlformats.org/drawingml/2006/main">
            <a:off x="7943850" y="3390900"/>
            <a:ext cx="32575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Submit the Barangay report to DRRM and consult status and report history</a:t>
            </a:r>
          </a:p>
        </p:txBody>
      </p:sp>
      <p:sp>
        <p:nvSpPr>
          <p:cNvPr id="19" name="">
            <a:extLst xmlns:a="http://schemas.openxmlformats.org/drawingml/2006/main">
              <a:ext uri="{FF2B5EF4-FFF2-40B4-BE49-F238E27FC236}">
                <a16:creationId xmlns:a16="http://schemas.microsoft.com/office/drawing/2014/main" id="{AFDD3764-320D-45D5-ACFD-70EDBFAAD9F5}"/>
              </a:ext>
            </a:extLst>
          </p:cNvPr>
          <p:cNvSpPr>
            <a:spLocks xmlns:a="http://schemas.openxmlformats.org/drawingml/2006/main" noGrp="1"/>
          </p:cNvSpPr>
          <p:nvPr/>
        </p:nvSpPr>
        <p:spPr>
          <a:xfrm xmlns:a="http://schemas.openxmlformats.org/drawingml/2006/main">
            <a:off x="933450" y="4953000"/>
            <a:ext cx="10248900" cy="742950"/>
          </a:xfrm>
          <a:prstGeom xmlns:a="http://schemas.openxmlformats.org/drawingml/2006/main" prst="rect">
            <a:avLst/>
          </a:prstGeom>
          <a:solidFill xmlns:a="http://schemas.openxmlformats.org/drawingml/2006/main">
            <a:srgbClr val="E4EFEC"/>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5EC09EE0-4576-41F7-9ADB-0B3A7F2FD5A4}"/>
              </a:ext>
            </a:extLst>
          </p:cNvPr>
          <p:cNvSpPr>
            <a:spLocks xmlns:a="http://schemas.openxmlformats.org/drawingml/2006/main" noGrp="1"/>
          </p:cNvSpPr>
          <p:nvPr/>
        </p:nvSpPr>
        <p:spPr>
          <a:xfrm xmlns:a="http://schemas.openxmlformats.org/drawingml/2006/main">
            <a:off x="1143000" y="5057775"/>
            <a:ext cx="98393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0">
                <a:solidFill>
                  <a:srgbClr val="252D30"/>
                </a:solidFill>
                <a:latin typeface="Source Sans 3"/>
                <a:ea typeface="Source Sans 3"/>
                <a:cs typeface="Source Sans 3"/>
              </a:defRPr>
            </a:pPr>
            <a:r>
              <a:rPr sz="1350" b="0">
                <a:solidFill>
                  <a:srgbClr val="252D30"/>
                </a:solidFill>
                <a:latin typeface="Source Sans 3"/>
                <a:ea typeface="Source Sans 3"/>
                <a:cs typeface="Source Sans 3"/>
              </a:rPr>
              <a:t>Barangay reporting increases aggregation and assessment detail. The system should keep the Purok source and the Barangay contribution distinguishable to reduce double counting and preserve provenance.</a:t>
            </a:r>
          </a:p>
        </p:txBody>
      </p:sp>
    </p:spTree>
    <p:extLst>
      <p:ext uri="{BB962C8B-B14F-4D97-AF65-F5344CB8AC3E}">
        <p14:creationId xmlns:p14="http://schemas.microsoft.com/office/powerpoint/2010/main" val="1909462130"/>
      </p:ext>
    </p:extLst>
  </p:cSld>
</p:sld>
</file>

<file path=ppt/slides/slide30.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ABFBB868-EA52-431D-BF39-37AB33C74CAB}"/>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B9D957A-3897-4043-8D31-7CC49162A662}"/>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USER FLOW</a:t>
            </a:r>
          </a:p>
        </p:txBody>
      </p:sp>
      <p:sp>
        <p:nvSpPr>
          <p:cNvPr id="3" name="">
            <a:extLst xmlns:a="http://schemas.openxmlformats.org/drawingml/2006/main">
              <a:ext uri="{FF2B5EF4-FFF2-40B4-BE49-F238E27FC236}">
                <a16:creationId xmlns:a16="http://schemas.microsoft.com/office/drawing/2014/main" id="{921CA3A4-E83E-4B04-A181-C2179B546F9B}"/>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DRRM Administrator user flow</a:t>
            </a:r>
          </a:p>
        </p:txBody>
      </p:sp>
      <p:sp>
        <p:nvSpPr>
          <p:cNvPr id="4" name="">
            <a:extLst xmlns:a="http://schemas.openxmlformats.org/drawingml/2006/main">
              <a:ext uri="{FF2B5EF4-FFF2-40B4-BE49-F238E27FC236}">
                <a16:creationId xmlns:a16="http://schemas.microsoft.com/office/drawing/2014/main" id="{2EED9FC2-F416-4D83-B77C-65A1E82E8B48}"/>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5ECBE172-067E-47D8-A96E-130E1B437CB4}"/>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System User Management, Hazard Creation and Situation Report modules</a:t>
            </a:r>
          </a:p>
        </p:txBody>
      </p:sp>
      <p:sp>
        <p:nvSpPr>
          <p:cNvPr id="6" name="">
            <a:extLst xmlns:a="http://schemas.openxmlformats.org/drawingml/2006/main">
              <a:ext uri="{FF2B5EF4-FFF2-40B4-BE49-F238E27FC236}">
                <a16:creationId xmlns:a16="http://schemas.microsoft.com/office/drawing/2014/main" id="{919907BE-079F-4767-8EBC-42BAB37605CD}"/>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30</a:t>
            </a:r>
          </a:p>
        </p:txBody>
      </p:sp>
      <p:sp>
        <p:nvSpPr>
          <p:cNvPr id="7" name="">
            <a:extLst xmlns:a="http://schemas.openxmlformats.org/drawingml/2006/main">
              <a:ext uri="{FF2B5EF4-FFF2-40B4-BE49-F238E27FC236}">
                <a16:creationId xmlns:a16="http://schemas.microsoft.com/office/drawing/2014/main" id="{DFCB5842-973C-4FB1-9FC0-143CF6D0CEFE}"/>
              </a:ext>
            </a:extLst>
          </p:cNvPr>
          <p:cNvSpPr>
            <a:spLocks xmlns:a="http://schemas.openxmlformats.org/drawingml/2006/main" noGrp="1"/>
          </p:cNvSpPr>
          <p:nvPr/>
        </p:nvSpPr>
        <p:spPr>
          <a:xfrm xmlns:a="http://schemas.openxmlformats.org/drawingml/2006/main">
            <a:off x="933450" y="16002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01</a:t>
            </a:r>
          </a:p>
        </p:txBody>
      </p:sp>
      <p:sp>
        <p:nvSpPr>
          <p:cNvPr id="8" name="">
            <a:extLst xmlns:a="http://schemas.openxmlformats.org/drawingml/2006/main">
              <a:ext uri="{FF2B5EF4-FFF2-40B4-BE49-F238E27FC236}">
                <a16:creationId xmlns:a16="http://schemas.microsoft.com/office/drawing/2014/main" id="{5AF37AF6-F87A-446D-A6F3-3C5322105207}"/>
              </a:ext>
            </a:extLst>
          </p:cNvPr>
          <p:cNvSpPr>
            <a:spLocks xmlns:a="http://schemas.openxmlformats.org/drawingml/2006/main" noGrp="1"/>
          </p:cNvSpPr>
          <p:nvPr/>
        </p:nvSpPr>
        <p:spPr>
          <a:xfrm xmlns:a="http://schemas.openxmlformats.org/drawingml/2006/main">
            <a:off x="933450" y="1943100"/>
            <a:ext cx="24955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Sign in to the administrative workspace</a:t>
            </a:r>
          </a:p>
        </p:txBody>
      </p:sp>
      <p:sp>
        <p:nvSpPr>
          <p:cNvPr id="9" name="">
            <a:extLst xmlns:a="http://schemas.openxmlformats.org/drawingml/2006/main">
              <a:ext uri="{FF2B5EF4-FFF2-40B4-BE49-F238E27FC236}">
                <a16:creationId xmlns:a16="http://schemas.microsoft.com/office/drawing/2014/main" id="{AB15B006-8775-45B7-9D21-CBCD045C75B7}"/>
              </a:ext>
            </a:extLst>
          </p:cNvPr>
          <p:cNvSpPr>
            <a:spLocks xmlns:a="http://schemas.openxmlformats.org/drawingml/2006/main" noGrp="1"/>
          </p:cNvSpPr>
          <p:nvPr/>
        </p:nvSpPr>
        <p:spPr>
          <a:xfrm xmlns:a="http://schemas.openxmlformats.org/drawingml/2006/main">
            <a:off x="3619500" y="16002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02</a:t>
            </a:r>
          </a:p>
        </p:txBody>
      </p:sp>
      <p:sp>
        <p:nvSpPr>
          <p:cNvPr id="10" name="">
            <a:extLst xmlns:a="http://schemas.openxmlformats.org/drawingml/2006/main">
              <a:ext uri="{FF2B5EF4-FFF2-40B4-BE49-F238E27FC236}">
                <a16:creationId xmlns:a16="http://schemas.microsoft.com/office/drawing/2014/main" id="{BD8DBBFD-CA97-44F6-BE2C-902E9C809C8C}"/>
              </a:ext>
            </a:extLst>
          </p:cNvPr>
          <p:cNvSpPr>
            <a:spLocks xmlns:a="http://schemas.openxmlformats.org/drawingml/2006/main" noGrp="1"/>
          </p:cNvSpPr>
          <p:nvPr/>
        </p:nvSpPr>
        <p:spPr>
          <a:xfrm xmlns:a="http://schemas.openxmlformats.org/drawingml/2006/main">
            <a:off x="3619500" y="1943100"/>
            <a:ext cx="24955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Create or maintain Purok, Barangay and administrator accounts</a:t>
            </a:r>
          </a:p>
        </p:txBody>
      </p:sp>
      <p:sp>
        <p:nvSpPr>
          <p:cNvPr id="11" name="">
            <a:extLst xmlns:a="http://schemas.openxmlformats.org/drawingml/2006/main">
              <a:ext uri="{FF2B5EF4-FFF2-40B4-BE49-F238E27FC236}">
                <a16:creationId xmlns:a16="http://schemas.microsoft.com/office/drawing/2014/main" id="{D04B4DC6-2E3E-45C1-B4B4-417A7D6420A1}"/>
              </a:ext>
            </a:extLst>
          </p:cNvPr>
          <p:cNvSpPr>
            <a:spLocks xmlns:a="http://schemas.openxmlformats.org/drawingml/2006/main" noGrp="1"/>
          </p:cNvSpPr>
          <p:nvPr/>
        </p:nvSpPr>
        <p:spPr>
          <a:xfrm xmlns:a="http://schemas.openxmlformats.org/drawingml/2006/main">
            <a:off x="6305550" y="16002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03</a:t>
            </a:r>
          </a:p>
        </p:txBody>
      </p:sp>
      <p:sp>
        <p:nvSpPr>
          <p:cNvPr id="12" name="">
            <a:extLst xmlns:a="http://schemas.openxmlformats.org/drawingml/2006/main">
              <a:ext uri="{FF2B5EF4-FFF2-40B4-BE49-F238E27FC236}">
                <a16:creationId xmlns:a16="http://schemas.microsoft.com/office/drawing/2014/main" id="{44B03580-D801-4448-8CDC-A08A95E131AC}"/>
              </a:ext>
            </a:extLst>
          </p:cNvPr>
          <p:cNvSpPr>
            <a:spLocks xmlns:a="http://schemas.openxmlformats.org/drawingml/2006/main" noGrp="1"/>
          </p:cNvSpPr>
          <p:nvPr/>
        </p:nvSpPr>
        <p:spPr>
          <a:xfrm xmlns:a="http://schemas.openxmlformats.org/drawingml/2006/main">
            <a:off x="6305550" y="1943100"/>
            <a:ext cx="24955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Configure hazard types according to the participating organization's CDRA</a:t>
            </a:r>
          </a:p>
        </p:txBody>
      </p:sp>
      <p:sp>
        <p:nvSpPr>
          <p:cNvPr id="13" name="">
            <a:extLst xmlns:a="http://schemas.openxmlformats.org/drawingml/2006/main">
              <a:ext uri="{FF2B5EF4-FFF2-40B4-BE49-F238E27FC236}">
                <a16:creationId xmlns:a16="http://schemas.microsoft.com/office/drawing/2014/main" id="{F685EF4A-C4F3-407F-B823-32EFF775F5A6}"/>
              </a:ext>
            </a:extLst>
          </p:cNvPr>
          <p:cNvSpPr>
            <a:spLocks xmlns:a="http://schemas.openxmlformats.org/drawingml/2006/main" noGrp="1"/>
          </p:cNvSpPr>
          <p:nvPr/>
        </p:nvSpPr>
        <p:spPr>
          <a:xfrm xmlns:a="http://schemas.openxmlformats.org/drawingml/2006/main">
            <a:off x="8991600" y="16002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04</a:t>
            </a:r>
          </a:p>
        </p:txBody>
      </p:sp>
      <p:sp>
        <p:nvSpPr>
          <p:cNvPr id="14" name="">
            <a:extLst xmlns:a="http://schemas.openxmlformats.org/drawingml/2006/main">
              <a:ext uri="{FF2B5EF4-FFF2-40B4-BE49-F238E27FC236}">
                <a16:creationId xmlns:a16="http://schemas.microsoft.com/office/drawing/2014/main" id="{CEBCA345-CC07-489B-A56C-816F40A17A2C}"/>
              </a:ext>
            </a:extLst>
          </p:cNvPr>
          <p:cNvSpPr>
            <a:spLocks xmlns:a="http://schemas.openxmlformats.org/drawingml/2006/main" noGrp="1"/>
          </p:cNvSpPr>
          <p:nvPr/>
        </p:nvSpPr>
        <p:spPr>
          <a:xfrm xmlns:a="http://schemas.openxmlformats.org/drawingml/2006/main">
            <a:off x="8991600" y="1943100"/>
            <a:ext cx="24955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Review Barangay profiles and incident reports, then verify or return with a reason</a:t>
            </a:r>
          </a:p>
        </p:txBody>
      </p:sp>
      <p:sp>
        <p:nvSpPr>
          <p:cNvPr id="15" name="">
            <a:extLst xmlns:a="http://schemas.openxmlformats.org/drawingml/2006/main">
              <a:ext uri="{FF2B5EF4-FFF2-40B4-BE49-F238E27FC236}">
                <a16:creationId xmlns:a16="http://schemas.microsoft.com/office/drawing/2014/main" id="{7FA6E35F-100D-4E2D-9494-C22063FB55E2}"/>
              </a:ext>
            </a:extLst>
          </p:cNvPr>
          <p:cNvSpPr>
            <a:spLocks xmlns:a="http://schemas.openxmlformats.org/drawingml/2006/main" noGrp="1"/>
          </p:cNvSpPr>
          <p:nvPr/>
        </p:nvSpPr>
        <p:spPr>
          <a:xfrm xmlns:a="http://schemas.openxmlformats.org/drawingml/2006/main">
            <a:off x="933450" y="30480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05</a:t>
            </a:r>
          </a:p>
        </p:txBody>
      </p:sp>
      <p:sp>
        <p:nvSpPr>
          <p:cNvPr id="16" name="">
            <a:extLst xmlns:a="http://schemas.openxmlformats.org/drawingml/2006/main">
              <a:ext uri="{FF2B5EF4-FFF2-40B4-BE49-F238E27FC236}">
                <a16:creationId xmlns:a16="http://schemas.microsoft.com/office/drawing/2014/main" id="{95B18690-B19F-49D1-A94F-C995E94541AF}"/>
              </a:ext>
            </a:extLst>
          </p:cNvPr>
          <p:cNvSpPr>
            <a:spLocks xmlns:a="http://schemas.openxmlformats.org/drawingml/2006/main" noGrp="1"/>
          </p:cNvSpPr>
          <p:nvPr/>
        </p:nvSpPr>
        <p:spPr>
          <a:xfrm xmlns:a="http://schemas.openxmlformats.org/drawingml/2006/main">
            <a:off x="933450" y="3390900"/>
            <a:ext cx="24955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Select an incident and reporting cutoff to retrieve eligible verified Barangay reports</a:t>
            </a:r>
          </a:p>
        </p:txBody>
      </p:sp>
      <p:sp>
        <p:nvSpPr>
          <p:cNvPr id="17" name="">
            <a:extLst xmlns:a="http://schemas.openxmlformats.org/drawingml/2006/main">
              <a:ext uri="{FF2B5EF4-FFF2-40B4-BE49-F238E27FC236}">
                <a16:creationId xmlns:a16="http://schemas.microsoft.com/office/drawing/2014/main" id="{09E69881-3DFE-472A-9490-460CB818A867}"/>
              </a:ext>
            </a:extLst>
          </p:cNvPr>
          <p:cNvSpPr>
            <a:spLocks xmlns:a="http://schemas.openxmlformats.org/drawingml/2006/main" noGrp="1"/>
          </p:cNvSpPr>
          <p:nvPr/>
        </p:nvSpPr>
        <p:spPr>
          <a:xfrm xmlns:a="http://schemas.openxmlformats.org/drawingml/2006/main">
            <a:off x="3619500" y="30480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06</a:t>
            </a:r>
          </a:p>
        </p:txBody>
      </p:sp>
      <p:sp>
        <p:nvSpPr>
          <p:cNvPr id="18" name="">
            <a:extLst xmlns:a="http://schemas.openxmlformats.org/drawingml/2006/main">
              <a:ext uri="{FF2B5EF4-FFF2-40B4-BE49-F238E27FC236}">
                <a16:creationId xmlns:a16="http://schemas.microsoft.com/office/drawing/2014/main" id="{94A54926-4F64-45B5-8789-776E0E23E4A9}"/>
              </a:ext>
            </a:extLst>
          </p:cNvPr>
          <p:cNvSpPr>
            <a:spLocks xmlns:a="http://schemas.openxmlformats.org/drawingml/2006/main" noGrp="1"/>
          </p:cNvSpPr>
          <p:nvPr/>
        </p:nvSpPr>
        <p:spPr>
          <a:xfrm xmlns:a="http://schemas.openxmlformats.org/drawingml/2006/main">
            <a:off x="3619500" y="3390900"/>
            <a:ext cx="24955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Prepare and edit the SitRep draft, route it for authorized review and approval, then export</a:t>
            </a:r>
          </a:p>
        </p:txBody>
      </p:sp>
      <p:sp>
        <p:nvSpPr>
          <p:cNvPr id="19" name="">
            <a:extLst xmlns:a="http://schemas.openxmlformats.org/drawingml/2006/main">
              <a:ext uri="{FF2B5EF4-FFF2-40B4-BE49-F238E27FC236}">
                <a16:creationId xmlns:a16="http://schemas.microsoft.com/office/drawing/2014/main" id="{B566D5ED-F3C0-440E-A2E5-40F18992CEFF}"/>
              </a:ext>
            </a:extLst>
          </p:cNvPr>
          <p:cNvSpPr>
            <a:spLocks xmlns:a="http://schemas.openxmlformats.org/drawingml/2006/main" noGrp="1"/>
          </p:cNvSpPr>
          <p:nvPr/>
        </p:nvSpPr>
        <p:spPr>
          <a:xfrm xmlns:a="http://schemas.openxmlformats.org/drawingml/2006/main">
            <a:off x="6305550" y="30480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07</a:t>
            </a:r>
          </a:p>
        </p:txBody>
      </p:sp>
      <p:sp>
        <p:nvSpPr>
          <p:cNvPr id="20" name="">
            <a:extLst xmlns:a="http://schemas.openxmlformats.org/drawingml/2006/main">
              <a:ext uri="{FF2B5EF4-FFF2-40B4-BE49-F238E27FC236}">
                <a16:creationId xmlns:a16="http://schemas.microsoft.com/office/drawing/2014/main" id="{1C13075B-B1D7-460A-BA04-1CB2F83BB132}"/>
              </a:ext>
            </a:extLst>
          </p:cNvPr>
          <p:cNvSpPr>
            <a:spLocks xmlns:a="http://schemas.openxmlformats.org/drawingml/2006/main" noGrp="1"/>
          </p:cNvSpPr>
          <p:nvPr/>
        </p:nvSpPr>
        <p:spPr>
          <a:xfrm xmlns:a="http://schemas.openxmlformats.org/drawingml/2006/main">
            <a:off x="6305550" y="3390900"/>
            <a:ext cx="24955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Use the dashboard and historical catalog to monitor status and retrieve prior versions</a:t>
            </a:r>
          </a:p>
        </p:txBody>
      </p:sp>
      <p:sp>
        <p:nvSpPr>
          <p:cNvPr id="21" name="">
            <a:extLst xmlns:a="http://schemas.openxmlformats.org/drawingml/2006/main">
              <a:ext uri="{FF2B5EF4-FFF2-40B4-BE49-F238E27FC236}">
                <a16:creationId xmlns:a16="http://schemas.microsoft.com/office/drawing/2014/main" id="{F6B9CFFE-EBDF-443D-B119-BDC5480F9B9F}"/>
              </a:ext>
            </a:extLst>
          </p:cNvPr>
          <p:cNvSpPr>
            <a:spLocks xmlns:a="http://schemas.openxmlformats.org/drawingml/2006/main" noGrp="1"/>
          </p:cNvSpPr>
          <p:nvPr/>
        </p:nvSpPr>
        <p:spPr>
          <a:xfrm xmlns:a="http://schemas.openxmlformats.org/drawingml/2006/main">
            <a:off x="933450" y="4953000"/>
            <a:ext cx="10248900" cy="742950"/>
          </a:xfrm>
          <a:prstGeom xmlns:a="http://schemas.openxmlformats.org/drawingml/2006/main" prst="rect">
            <a:avLst/>
          </a:prstGeom>
          <a:solidFill xmlns:a="http://schemas.openxmlformats.org/drawingml/2006/main">
            <a:srgbClr val="E4EFEC"/>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61C54FF2-80BD-48C4-88FA-F52FA28D244B}"/>
              </a:ext>
            </a:extLst>
          </p:cNvPr>
          <p:cNvSpPr>
            <a:spLocks xmlns:a="http://schemas.openxmlformats.org/drawingml/2006/main" noGrp="1"/>
          </p:cNvSpPr>
          <p:nvPr/>
        </p:nvSpPr>
        <p:spPr>
          <a:xfrm xmlns:a="http://schemas.openxmlformats.org/drawingml/2006/main">
            <a:off x="1143000" y="5057775"/>
            <a:ext cx="98393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0">
                <a:solidFill>
                  <a:srgbClr val="252D30"/>
                </a:solidFill>
                <a:latin typeface="Source Sans 3"/>
                <a:ea typeface="Source Sans 3"/>
                <a:cs typeface="Source Sans 3"/>
              </a:defRPr>
            </a:pPr>
            <a:r>
              <a:rPr sz="1350" b="0">
                <a:solidFill>
                  <a:srgbClr val="252D30"/>
                </a:solidFill>
                <a:latin typeface="Source Sans 3"/>
                <a:ea typeface="Source Sans 3"/>
                <a:cs typeface="Source Sans 3"/>
              </a:rPr>
              <a:t>The user-flow description does not assume that the same administrator must prepare and approve a SitRep. The paper assigns both actions to authorized personnel and the implementing organization should define its separation of duties.</a:t>
            </a:r>
          </a:p>
        </p:txBody>
      </p:sp>
    </p:spTree>
    <p:extLst>
      <p:ext uri="{BB962C8B-B14F-4D97-AF65-F5344CB8AC3E}">
        <p14:creationId xmlns:p14="http://schemas.microsoft.com/office/powerpoint/2010/main" val="587485589"/>
      </p:ext>
    </p:extLst>
  </p:cSld>
</p:sld>
</file>

<file path=ppt/slides/slide31.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13A9E27E-7285-4F2F-98EC-06A6497D93E2}"/>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9277BF3-045B-47DA-825B-1D904DAD37B2}"/>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OVERVIEW OF THE DEVELOPMENT PLAN</a:t>
            </a:r>
          </a:p>
        </p:txBody>
      </p:sp>
      <p:sp>
        <p:nvSpPr>
          <p:cNvPr id="3" name="">
            <a:extLst xmlns:a="http://schemas.openxmlformats.org/drawingml/2006/main">
              <a:ext uri="{FF2B5EF4-FFF2-40B4-BE49-F238E27FC236}">
                <a16:creationId xmlns:a16="http://schemas.microsoft.com/office/drawing/2014/main" id="{8E2880EF-D417-407A-B19F-E697656189E3}"/>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The proposal uses iterative development and staged evaluation</a:t>
            </a:r>
          </a:p>
        </p:txBody>
      </p:sp>
      <p:sp>
        <p:nvSpPr>
          <p:cNvPr id="4" name="">
            <a:extLst xmlns:a="http://schemas.openxmlformats.org/drawingml/2006/main">
              <a:ext uri="{FF2B5EF4-FFF2-40B4-BE49-F238E27FC236}">
                <a16:creationId xmlns:a16="http://schemas.microsoft.com/office/drawing/2014/main" id="{E6C65F9C-2AED-4DB8-ADAB-8139C399A667}"/>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DE56E7D9-9DF4-4B1E-ABBD-2443E1C70543}"/>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Chapter 3, Development Methodology and Testing</a:t>
            </a:r>
          </a:p>
        </p:txBody>
      </p:sp>
      <p:sp>
        <p:nvSpPr>
          <p:cNvPr id="6" name="">
            <a:extLst xmlns:a="http://schemas.openxmlformats.org/drawingml/2006/main">
              <a:ext uri="{FF2B5EF4-FFF2-40B4-BE49-F238E27FC236}">
                <a16:creationId xmlns:a16="http://schemas.microsoft.com/office/drawing/2014/main" id="{991DEA35-7F5E-41C7-B512-151DDB1B9A44}"/>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31</a:t>
            </a:r>
          </a:p>
        </p:txBody>
      </p:sp>
      <p:sp>
        <p:nvSpPr>
          <p:cNvPr id="7" name="">
            <a:extLst xmlns:a="http://schemas.openxmlformats.org/drawingml/2006/main">
              <a:ext uri="{FF2B5EF4-FFF2-40B4-BE49-F238E27FC236}">
                <a16:creationId xmlns:a16="http://schemas.microsoft.com/office/drawing/2014/main" id="{DC14492A-B91C-44FD-A366-95EE8C61360D}"/>
              </a:ext>
            </a:extLst>
          </p:cNvPr>
          <p:cNvSpPr>
            <a:spLocks xmlns:a="http://schemas.openxmlformats.org/drawingml/2006/main" noGrp="1"/>
          </p:cNvSpPr>
          <p:nvPr/>
        </p:nvSpPr>
        <p:spPr>
          <a:xfrm xmlns:a="http://schemas.openxmlformats.org/drawingml/2006/main">
            <a:off x="952500" y="137160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01</a:t>
            </a:r>
          </a:p>
        </p:txBody>
      </p:sp>
      <p:sp>
        <p:nvSpPr>
          <p:cNvPr id="8" name="">
            <a:extLst xmlns:a="http://schemas.openxmlformats.org/drawingml/2006/main">
              <a:ext uri="{FF2B5EF4-FFF2-40B4-BE49-F238E27FC236}">
                <a16:creationId xmlns:a16="http://schemas.microsoft.com/office/drawing/2014/main" id="{60F90FCE-1006-415B-A06C-ABF631E20C0C}"/>
              </a:ext>
            </a:extLst>
          </p:cNvPr>
          <p:cNvSpPr>
            <a:spLocks xmlns:a="http://schemas.openxmlformats.org/drawingml/2006/main" noGrp="1"/>
          </p:cNvSpPr>
          <p:nvPr/>
        </p:nvSpPr>
        <p:spPr>
          <a:xfrm xmlns:a="http://schemas.openxmlformats.org/drawingml/2006/main">
            <a:off x="1571625" y="1371600"/>
            <a:ext cx="2000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500" b="1">
                <a:solidFill>
                  <a:srgbClr val="252D30"/>
                </a:solidFill>
                <a:latin typeface="Lexend"/>
                <a:ea typeface="Lexend"/>
                <a:cs typeface="Lexend"/>
              </a:defRPr>
            </a:pPr>
            <a:r>
              <a:rPr sz="1500" b="1">
                <a:solidFill>
                  <a:srgbClr val="252D30"/>
                </a:solidFill>
                <a:latin typeface="Lexend"/>
                <a:ea typeface="Lexend"/>
                <a:cs typeface="Lexend"/>
              </a:rPr>
              <a:t>Requirements</a:t>
            </a:r>
          </a:p>
        </p:txBody>
      </p:sp>
      <p:sp>
        <p:nvSpPr>
          <p:cNvPr id="9" name="">
            <a:extLst xmlns:a="http://schemas.openxmlformats.org/drawingml/2006/main">
              <a:ext uri="{FF2B5EF4-FFF2-40B4-BE49-F238E27FC236}">
                <a16:creationId xmlns:a16="http://schemas.microsoft.com/office/drawing/2014/main" id="{2EFAB8C7-55CA-47A6-9899-0FDC18512E1B}"/>
              </a:ext>
            </a:extLst>
          </p:cNvPr>
          <p:cNvSpPr>
            <a:spLocks xmlns:a="http://schemas.openxmlformats.org/drawingml/2006/main" noGrp="1"/>
          </p:cNvSpPr>
          <p:nvPr/>
        </p:nvSpPr>
        <p:spPr>
          <a:xfrm xmlns:a="http://schemas.openxmlformats.org/drawingml/2006/main">
            <a:off x="3790950" y="1371600"/>
            <a:ext cx="7191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59676A"/>
                </a:solidFill>
                <a:latin typeface="Source Sans 3"/>
                <a:ea typeface="Source Sans 3"/>
                <a:cs typeface="Source Sans 3"/>
              </a:defRPr>
            </a:pPr>
            <a:r>
              <a:rPr sz="1425" b="0">
                <a:solidFill>
                  <a:srgbClr val="59676A"/>
                </a:solidFill>
                <a:latin typeface="Source Sans 3"/>
                <a:ea typeface="Source Sans 3"/>
                <a:cs typeface="Source Sans 3"/>
              </a:rPr>
              <a:t>Confirm roles, reporting fields, authority and mandated templates.</a:t>
            </a:r>
          </a:p>
        </p:txBody>
      </p:sp>
      <p:sp>
        <p:nvSpPr>
          <p:cNvPr id="10" name="">
            <a:extLst xmlns:a="http://schemas.openxmlformats.org/drawingml/2006/main">
              <a:ext uri="{FF2B5EF4-FFF2-40B4-BE49-F238E27FC236}">
                <a16:creationId xmlns:a16="http://schemas.microsoft.com/office/drawing/2014/main" id="{5329ACE1-8903-4933-9FE0-7119AD2C8F7F}"/>
              </a:ext>
            </a:extLst>
          </p:cNvPr>
          <p:cNvSpPr>
            <a:spLocks xmlns:a="http://schemas.openxmlformats.org/drawingml/2006/main" noGrp="1"/>
          </p:cNvSpPr>
          <p:nvPr/>
        </p:nvSpPr>
        <p:spPr>
          <a:xfrm xmlns:a="http://schemas.openxmlformats.org/drawingml/2006/main">
            <a:off x="1571625" y="2009775"/>
            <a:ext cx="9420225"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1" name="">
            <a:extLst xmlns:a="http://schemas.openxmlformats.org/drawingml/2006/main">
              <a:ext uri="{FF2B5EF4-FFF2-40B4-BE49-F238E27FC236}">
                <a16:creationId xmlns:a16="http://schemas.microsoft.com/office/drawing/2014/main" id="{788F946A-F323-4E86-8812-4FF6ED55E5DF}"/>
              </a:ext>
            </a:extLst>
          </p:cNvPr>
          <p:cNvSpPr>
            <a:spLocks xmlns:a="http://schemas.openxmlformats.org/drawingml/2006/main" noGrp="1"/>
          </p:cNvSpPr>
          <p:nvPr/>
        </p:nvSpPr>
        <p:spPr>
          <a:xfrm xmlns:a="http://schemas.openxmlformats.org/drawingml/2006/main">
            <a:off x="952500" y="2238375"/>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02</a:t>
            </a:r>
          </a:p>
        </p:txBody>
      </p:sp>
      <p:sp>
        <p:nvSpPr>
          <p:cNvPr id="12" name="">
            <a:extLst xmlns:a="http://schemas.openxmlformats.org/drawingml/2006/main">
              <a:ext uri="{FF2B5EF4-FFF2-40B4-BE49-F238E27FC236}">
                <a16:creationId xmlns:a16="http://schemas.microsoft.com/office/drawing/2014/main" id="{D8D8EF6A-69BE-476C-B9A4-B721C1E826AF}"/>
              </a:ext>
            </a:extLst>
          </p:cNvPr>
          <p:cNvSpPr>
            <a:spLocks xmlns:a="http://schemas.openxmlformats.org/drawingml/2006/main" noGrp="1"/>
          </p:cNvSpPr>
          <p:nvPr/>
        </p:nvSpPr>
        <p:spPr>
          <a:xfrm xmlns:a="http://schemas.openxmlformats.org/drawingml/2006/main">
            <a:off x="1571625" y="2238375"/>
            <a:ext cx="2000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500" b="1">
                <a:solidFill>
                  <a:srgbClr val="252D30"/>
                </a:solidFill>
                <a:latin typeface="Lexend"/>
                <a:ea typeface="Lexend"/>
                <a:cs typeface="Lexend"/>
              </a:defRPr>
            </a:pPr>
            <a:r>
              <a:rPr sz="1500" b="1">
                <a:solidFill>
                  <a:srgbClr val="252D30"/>
                </a:solidFill>
                <a:latin typeface="Lexend"/>
                <a:ea typeface="Lexend"/>
                <a:cs typeface="Lexend"/>
              </a:rPr>
              <a:t>Design</a:t>
            </a:r>
          </a:p>
        </p:txBody>
      </p:sp>
      <p:sp>
        <p:nvSpPr>
          <p:cNvPr id="13" name="">
            <a:extLst xmlns:a="http://schemas.openxmlformats.org/drawingml/2006/main">
              <a:ext uri="{FF2B5EF4-FFF2-40B4-BE49-F238E27FC236}">
                <a16:creationId xmlns:a16="http://schemas.microsoft.com/office/drawing/2014/main" id="{5EEB261B-2E16-4B1D-B6D9-3E30838AE67C}"/>
              </a:ext>
            </a:extLst>
          </p:cNvPr>
          <p:cNvSpPr>
            <a:spLocks xmlns:a="http://schemas.openxmlformats.org/drawingml/2006/main" noGrp="1"/>
          </p:cNvSpPr>
          <p:nvPr/>
        </p:nvSpPr>
        <p:spPr>
          <a:xfrm xmlns:a="http://schemas.openxmlformats.org/drawingml/2006/main">
            <a:off x="3790950" y="2238375"/>
            <a:ext cx="7191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59676A"/>
                </a:solidFill>
                <a:latin typeface="Source Sans 3"/>
                <a:ea typeface="Source Sans 3"/>
                <a:cs typeface="Source Sans 3"/>
              </a:defRPr>
            </a:pPr>
            <a:r>
              <a:rPr sz="1425" b="0">
                <a:solidFill>
                  <a:srgbClr val="59676A"/>
                </a:solidFill>
                <a:latin typeface="Source Sans 3"/>
                <a:ea typeface="Source Sans 3"/>
                <a:cs typeface="Source Sans 3"/>
              </a:rPr>
              <a:t>Finalize workflows, data model, access and interface prototypes.</a:t>
            </a:r>
          </a:p>
        </p:txBody>
      </p:sp>
      <p:sp>
        <p:nvSpPr>
          <p:cNvPr id="14" name="">
            <a:extLst xmlns:a="http://schemas.openxmlformats.org/drawingml/2006/main">
              <a:ext uri="{FF2B5EF4-FFF2-40B4-BE49-F238E27FC236}">
                <a16:creationId xmlns:a16="http://schemas.microsoft.com/office/drawing/2014/main" id="{4DF648BA-1351-4CC9-A232-FF8640664B37}"/>
              </a:ext>
            </a:extLst>
          </p:cNvPr>
          <p:cNvSpPr>
            <a:spLocks xmlns:a="http://schemas.openxmlformats.org/drawingml/2006/main" noGrp="1"/>
          </p:cNvSpPr>
          <p:nvPr/>
        </p:nvSpPr>
        <p:spPr>
          <a:xfrm xmlns:a="http://schemas.openxmlformats.org/drawingml/2006/main">
            <a:off x="1571625" y="2876550"/>
            <a:ext cx="9420225"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5" name="">
            <a:extLst xmlns:a="http://schemas.openxmlformats.org/drawingml/2006/main">
              <a:ext uri="{FF2B5EF4-FFF2-40B4-BE49-F238E27FC236}">
                <a16:creationId xmlns:a16="http://schemas.microsoft.com/office/drawing/2014/main" id="{20BE0C52-3844-40C8-BFDD-6443C91E5F0D}"/>
              </a:ext>
            </a:extLst>
          </p:cNvPr>
          <p:cNvSpPr>
            <a:spLocks xmlns:a="http://schemas.openxmlformats.org/drawingml/2006/main" noGrp="1"/>
          </p:cNvSpPr>
          <p:nvPr/>
        </p:nvSpPr>
        <p:spPr>
          <a:xfrm xmlns:a="http://schemas.openxmlformats.org/drawingml/2006/main">
            <a:off x="952500" y="310515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03</a:t>
            </a:r>
          </a:p>
        </p:txBody>
      </p:sp>
      <p:sp>
        <p:nvSpPr>
          <p:cNvPr id="16" name="">
            <a:extLst xmlns:a="http://schemas.openxmlformats.org/drawingml/2006/main">
              <a:ext uri="{FF2B5EF4-FFF2-40B4-BE49-F238E27FC236}">
                <a16:creationId xmlns:a16="http://schemas.microsoft.com/office/drawing/2014/main" id="{ED5410B7-EAC9-4AFC-8957-EA5DAF900E74}"/>
              </a:ext>
            </a:extLst>
          </p:cNvPr>
          <p:cNvSpPr>
            <a:spLocks xmlns:a="http://schemas.openxmlformats.org/drawingml/2006/main" noGrp="1"/>
          </p:cNvSpPr>
          <p:nvPr/>
        </p:nvSpPr>
        <p:spPr>
          <a:xfrm xmlns:a="http://schemas.openxmlformats.org/drawingml/2006/main">
            <a:off x="1571625" y="3105150"/>
            <a:ext cx="2000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500" b="1">
                <a:solidFill>
                  <a:srgbClr val="252D30"/>
                </a:solidFill>
                <a:latin typeface="Lexend"/>
                <a:ea typeface="Lexend"/>
                <a:cs typeface="Lexend"/>
              </a:defRPr>
            </a:pPr>
            <a:r>
              <a:rPr sz="1500" b="1">
                <a:solidFill>
                  <a:srgbClr val="252D30"/>
                </a:solidFill>
                <a:latin typeface="Lexend"/>
                <a:ea typeface="Lexend"/>
                <a:cs typeface="Lexend"/>
              </a:rPr>
              <a:t>Build</a:t>
            </a:r>
          </a:p>
        </p:txBody>
      </p:sp>
      <p:sp>
        <p:nvSpPr>
          <p:cNvPr id="17" name="">
            <a:extLst xmlns:a="http://schemas.openxmlformats.org/drawingml/2006/main">
              <a:ext uri="{FF2B5EF4-FFF2-40B4-BE49-F238E27FC236}">
                <a16:creationId xmlns:a16="http://schemas.microsoft.com/office/drawing/2014/main" id="{153C3447-0116-4016-88CB-1117C64324CF}"/>
              </a:ext>
            </a:extLst>
          </p:cNvPr>
          <p:cNvSpPr>
            <a:spLocks xmlns:a="http://schemas.openxmlformats.org/drawingml/2006/main" noGrp="1"/>
          </p:cNvSpPr>
          <p:nvPr/>
        </p:nvSpPr>
        <p:spPr>
          <a:xfrm xmlns:a="http://schemas.openxmlformats.org/drawingml/2006/main">
            <a:off x="3790950" y="3105150"/>
            <a:ext cx="7191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59676A"/>
                </a:solidFill>
                <a:latin typeface="Source Sans 3"/>
                <a:ea typeface="Source Sans 3"/>
                <a:cs typeface="Source Sans 3"/>
              </a:defRPr>
            </a:pPr>
            <a:r>
              <a:rPr sz="1425" b="0">
                <a:solidFill>
                  <a:srgbClr val="59676A"/>
                </a:solidFill>
                <a:latin typeface="Source Sans 3"/>
                <a:ea typeface="Source Sans 3"/>
                <a:cs typeface="Source Sans 3"/>
              </a:rPr>
              <a:t>Implement role-specific modules and integrate shared records.</a:t>
            </a:r>
          </a:p>
        </p:txBody>
      </p:sp>
      <p:sp>
        <p:nvSpPr>
          <p:cNvPr id="18" name="">
            <a:extLst xmlns:a="http://schemas.openxmlformats.org/drawingml/2006/main">
              <a:ext uri="{FF2B5EF4-FFF2-40B4-BE49-F238E27FC236}">
                <a16:creationId xmlns:a16="http://schemas.microsoft.com/office/drawing/2014/main" id="{F69F8B10-198B-4DAB-BB21-DF84648CCBE9}"/>
              </a:ext>
            </a:extLst>
          </p:cNvPr>
          <p:cNvSpPr>
            <a:spLocks xmlns:a="http://schemas.openxmlformats.org/drawingml/2006/main" noGrp="1"/>
          </p:cNvSpPr>
          <p:nvPr/>
        </p:nvSpPr>
        <p:spPr>
          <a:xfrm xmlns:a="http://schemas.openxmlformats.org/drawingml/2006/main">
            <a:off x="1571625" y="3743325"/>
            <a:ext cx="9420225"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9" name="">
            <a:extLst xmlns:a="http://schemas.openxmlformats.org/drawingml/2006/main">
              <a:ext uri="{FF2B5EF4-FFF2-40B4-BE49-F238E27FC236}">
                <a16:creationId xmlns:a16="http://schemas.microsoft.com/office/drawing/2014/main" id="{8D1882C6-4CB7-4204-A82A-37D7459DD30A}"/>
              </a:ext>
            </a:extLst>
          </p:cNvPr>
          <p:cNvSpPr>
            <a:spLocks xmlns:a="http://schemas.openxmlformats.org/drawingml/2006/main" noGrp="1"/>
          </p:cNvSpPr>
          <p:nvPr/>
        </p:nvSpPr>
        <p:spPr>
          <a:xfrm xmlns:a="http://schemas.openxmlformats.org/drawingml/2006/main">
            <a:off x="952500" y="3971925"/>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04</a:t>
            </a:r>
          </a:p>
        </p:txBody>
      </p:sp>
      <p:sp>
        <p:nvSpPr>
          <p:cNvPr id="20" name="">
            <a:extLst xmlns:a="http://schemas.openxmlformats.org/drawingml/2006/main">
              <a:ext uri="{FF2B5EF4-FFF2-40B4-BE49-F238E27FC236}">
                <a16:creationId xmlns:a16="http://schemas.microsoft.com/office/drawing/2014/main" id="{987BF8EE-ECE5-454A-AE19-51B31DCAD4CE}"/>
              </a:ext>
            </a:extLst>
          </p:cNvPr>
          <p:cNvSpPr>
            <a:spLocks xmlns:a="http://schemas.openxmlformats.org/drawingml/2006/main" noGrp="1"/>
          </p:cNvSpPr>
          <p:nvPr/>
        </p:nvSpPr>
        <p:spPr>
          <a:xfrm xmlns:a="http://schemas.openxmlformats.org/drawingml/2006/main">
            <a:off x="1571625" y="3971925"/>
            <a:ext cx="2000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500" b="1">
                <a:solidFill>
                  <a:srgbClr val="252D30"/>
                </a:solidFill>
                <a:latin typeface="Lexend"/>
                <a:ea typeface="Lexend"/>
                <a:cs typeface="Lexend"/>
              </a:defRPr>
            </a:pPr>
            <a:r>
              <a:rPr sz="1500" b="1">
                <a:solidFill>
                  <a:srgbClr val="252D30"/>
                </a:solidFill>
                <a:latin typeface="Lexend"/>
                <a:ea typeface="Lexend"/>
                <a:cs typeface="Lexend"/>
              </a:rPr>
              <a:t>Alpha</a:t>
            </a:r>
          </a:p>
        </p:txBody>
      </p:sp>
      <p:sp>
        <p:nvSpPr>
          <p:cNvPr id="21" name="">
            <a:extLst xmlns:a="http://schemas.openxmlformats.org/drawingml/2006/main">
              <a:ext uri="{FF2B5EF4-FFF2-40B4-BE49-F238E27FC236}">
                <a16:creationId xmlns:a16="http://schemas.microsoft.com/office/drawing/2014/main" id="{0A2FD710-6A43-4E60-9FEB-C1169FC9C1F4}"/>
              </a:ext>
            </a:extLst>
          </p:cNvPr>
          <p:cNvSpPr>
            <a:spLocks xmlns:a="http://schemas.openxmlformats.org/drawingml/2006/main" noGrp="1"/>
          </p:cNvSpPr>
          <p:nvPr/>
        </p:nvSpPr>
        <p:spPr>
          <a:xfrm xmlns:a="http://schemas.openxmlformats.org/drawingml/2006/main">
            <a:off x="3790950" y="3971925"/>
            <a:ext cx="7191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59676A"/>
                </a:solidFill>
                <a:latin typeface="Source Sans 3"/>
                <a:ea typeface="Source Sans 3"/>
                <a:cs typeface="Source Sans 3"/>
              </a:defRPr>
            </a:pPr>
            <a:r>
              <a:rPr sz="1425" b="0">
                <a:solidFill>
                  <a:srgbClr val="59676A"/>
                </a:solidFill>
                <a:latin typeface="Source Sans 3"/>
                <a:ea typeface="Source Sans 3"/>
                <a:cs typeface="Source Sans 3"/>
              </a:rPr>
              <a:t>Run unit, integration, system and security tests.</a:t>
            </a:r>
          </a:p>
        </p:txBody>
      </p:sp>
      <p:sp>
        <p:nvSpPr>
          <p:cNvPr id="22" name="">
            <a:extLst xmlns:a="http://schemas.openxmlformats.org/drawingml/2006/main">
              <a:ext uri="{FF2B5EF4-FFF2-40B4-BE49-F238E27FC236}">
                <a16:creationId xmlns:a16="http://schemas.microsoft.com/office/drawing/2014/main" id="{1394EF6F-2BCE-4A6D-A6C4-B78C6A257EFC}"/>
              </a:ext>
            </a:extLst>
          </p:cNvPr>
          <p:cNvSpPr>
            <a:spLocks xmlns:a="http://schemas.openxmlformats.org/drawingml/2006/main" noGrp="1"/>
          </p:cNvSpPr>
          <p:nvPr/>
        </p:nvSpPr>
        <p:spPr>
          <a:xfrm xmlns:a="http://schemas.openxmlformats.org/drawingml/2006/main">
            <a:off x="1571625" y="4610100"/>
            <a:ext cx="9420225"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3" name="">
            <a:extLst xmlns:a="http://schemas.openxmlformats.org/drawingml/2006/main">
              <a:ext uri="{FF2B5EF4-FFF2-40B4-BE49-F238E27FC236}">
                <a16:creationId xmlns:a16="http://schemas.microsoft.com/office/drawing/2014/main" id="{6221E360-85F2-4AE8-A0D6-EC1C1154EF5A}"/>
              </a:ext>
            </a:extLst>
          </p:cNvPr>
          <p:cNvSpPr>
            <a:spLocks xmlns:a="http://schemas.openxmlformats.org/drawingml/2006/main" noGrp="1"/>
          </p:cNvSpPr>
          <p:nvPr/>
        </p:nvSpPr>
        <p:spPr>
          <a:xfrm xmlns:a="http://schemas.openxmlformats.org/drawingml/2006/main">
            <a:off x="952500" y="483870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05</a:t>
            </a:r>
          </a:p>
        </p:txBody>
      </p:sp>
      <p:sp>
        <p:nvSpPr>
          <p:cNvPr id="24" name="">
            <a:extLst xmlns:a="http://schemas.openxmlformats.org/drawingml/2006/main">
              <a:ext uri="{FF2B5EF4-FFF2-40B4-BE49-F238E27FC236}">
                <a16:creationId xmlns:a16="http://schemas.microsoft.com/office/drawing/2014/main" id="{B166A64F-60B8-4AA4-99FD-BEB1B257FB89}"/>
              </a:ext>
            </a:extLst>
          </p:cNvPr>
          <p:cNvSpPr>
            <a:spLocks xmlns:a="http://schemas.openxmlformats.org/drawingml/2006/main" noGrp="1"/>
          </p:cNvSpPr>
          <p:nvPr/>
        </p:nvSpPr>
        <p:spPr>
          <a:xfrm xmlns:a="http://schemas.openxmlformats.org/drawingml/2006/main">
            <a:off x="1571625" y="4838700"/>
            <a:ext cx="2000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500" b="1">
                <a:solidFill>
                  <a:srgbClr val="252D30"/>
                </a:solidFill>
                <a:latin typeface="Lexend"/>
                <a:ea typeface="Lexend"/>
                <a:cs typeface="Lexend"/>
              </a:defRPr>
            </a:pPr>
            <a:r>
              <a:rPr sz="1500" b="1">
                <a:solidFill>
                  <a:srgbClr val="252D30"/>
                </a:solidFill>
                <a:latin typeface="Lexend"/>
                <a:ea typeface="Lexend"/>
                <a:cs typeface="Lexend"/>
              </a:rPr>
              <a:t>Beta and refine</a:t>
            </a:r>
          </a:p>
        </p:txBody>
      </p:sp>
      <p:sp>
        <p:nvSpPr>
          <p:cNvPr id="25" name="">
            <a:extLst xmlns:a="http://schemas.openxmlformats.org/drawingml/2006/main">
              <a:ext uri="{FF2B5EF4-FFF2-40B4-BE49-F238E27FC236}">
                <a16:creationId xmlns:a16="http://schemas.microsoft.com/office/drawing/2014/main" id="{D30E267A-E65D-426D-B62F-F0F78B9CEEDE}"/>
              </a:ext>
            </a:extLst>
          </p:cNvPr>
          <p:cNvSpPr>
            <a:spLocks xmlns:a="http://schemas.openxmlformats.org/drawingml/2006/main" noGrp="1"/>
          </p:cNvSpPr>
          <p:nvPr/>
        </p:nvSpPr>
        <p:spPr>
          <a:xfrm xmlns:a="http://schemas.openxmlformats.org/drawingml/2006/main">
            <a:off x="3790950" y="4838700"/>
            <a:ext cx="7191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59676A"/>
                </a:solidFill>
                <a:latin typeface="Source Sans 3"/>
                <a:ea typeface="Source Sans 3"/>
                <a:cs typeface="Source Sans 3"/>
              </a:defRPr>
            </a:pPr>
            <a:r>
              <a:rPr sz="1425" b="0">
                <a:solidFill>
                  <a:srgbClr val="59676A"/>
                </a:solidFill>
                <a:latin typeface="Source Sans 3"/>
                <a:ea typeface="Source Sans 3"/>
                <a:cs typeface="Source Sans 3"/>
              </a:rPr>
              <a:t>Evaluate acceptance and usability, then address findings.</a:t>
            </a:r>
          </a:p>
        </p:txBody>
      </p:sp>
      <p:sp>
        <p:nvSpPr>
          <p:cNvPr id="26" name="">
            <a:extLst xmlns:a="http://schemas.openxmlformats.org/drawingml/2006/main">
              <a:ext uri="{FF2B5EF4-FFF2-40B4-BE49-F238E27FC236}">
                <a16:creationId xmlns:a16="http://schemas.microsoft.com/office/drawing/2014/main" id="{2427A74B-BD83-4944-98FC-9637D1AD0CCF}"/>
              </a:ext>
            </a:extLst>
          </p:cNvPr>
          <p:cNvSpPr>
            <a:spLocks xmlns:a="http://schemas.openxmlformats.org/drawingml/2006/main" noGrp="1"/>
          </p:cNvSpPr>
          <p:nvPr/>
        </p:nvSpPr>
        <p:spPr>
          <a:xfrm xmlns:a="http://schemas.openxmlformats.org/drawingml/2006/main">
            <a:off x="952500" y="5724525"/>
            <a:ext cx="10172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00" b="0">
                <a:solidFill>
                  <a:srgbClr val="7C898B"/>
                </a:solidFill>
                <a:latin typeface="Source Sans 3"/>
                <a:ea typeface="Source Sans 3"/>
                <a:cs typeface="Source Sans 3"/>
              </a:defRPr>
            </a:pPr>
            <a:r>
              <a:rPr sz="1200" b="0">
                <a:solidFill>
                  <a:srgbClr val="7C898B"/>
                </a:solidFill>
                <a:latin typeface="Source Sans 3"/>
                <a:ea typeface="Source Sans 3"/>
                <a:cs typeface="Source Sans 3"/>
              </a:rPr>
              <a:t>The paper names an iterative method but does not specify sprint duration or release dates.</a:t>
            </a:r>
          </a:p>
        </p:txBody>
      </p:sp>
    </p:spTree>
    <p:extLst>
      <p:ext uri="{BB962C8B-B14F-4D97-AF65-F5344CB8AC3E}">
        <p14:creationId xmlns:p14="http://schemas.microsoft.com/office/powerpoint/2010/main" val="594806754"/>
      </p:ext>
    </p:extLst>
  </p:cSld>
</p:sld>
</file>

<file path=ppt/slides/slide32.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868C94E9-16FF-4395-8531-75A6B7807954}"/>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FD33D9F-9682-43CC-9E85-349663530EBA}"/>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TECHNICALITIES: TECHNOLOGY STACK</a:t>
            </a:r>
          </a:p>
        </p:txBody>
      </p:sp>
      <p:sp>
        <p:nvSpPr>
          <p:cNvPr id="3" name="">
            <a:extLst xmlns:a="http://schemas.openxmlformats.org/drawingml/2006/main">
              <a:ext uri="{FF2B5EF4-FFF2-40B4-BE49-F238E27FC236}">
                <a16:creationId xmlns:a16="http://schemas.microsoft.com/office/drawing/2014/main" id="{D9A4EF97-BA94-46AE-9CB0-1C5ED0D6772B}"/>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The proposed stack centers on a browser client and PostgreSQL</a:t>
            </a:r>
          </a:p>
        </p:txBody>
      </p:sp>
      <p:sp>
        <p:nvSpPr>
          <p:cNvPr id="4" name="">
            <a:extLst xmlns:a="http://schemas.openxmlformats.org/drawingml/2006/main">
              <a:ext uri="{FF2B5EF4-FFF2-40B4-BE49-F238E27FC236}">
                <a16:creationId xmlns:a16="http://schemas.microsoft.com/office/drawing/2014/main" id="{C8912D3E-5879-4699-87C2-9DF8E344FA8C}"/>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24C32A49-6C09-4B46-A792-8B25C93080C2}"/>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Scope and Limitations and Technical Requirements</a:t>
            </a:r>
          </a:p>
        </p:txBody>
      </p:sp>
      <p:sp>
        <p:nvSpPr>
          <p:cNvPr id="6" name="">
            <a:extLst xmlns:a="http://schemas.openxmlformats.org/drawingml/2006/main">
              <a:ext uri="{FF2B5EF4-FFF2-40B4-BE49-F238E27FC236}">
                <a16:creationId xmlns:a16="http://schemas.microsoft.com/office/drawing/2014/main" id="{A697360B-BD9E-4817-8311-AD0A2F04B8DB}"/>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32</a:t>
            </a:r>
          </a:p>
        </p:txBody>
      </p:sp>
      <p:sp>
        <p:nvSpPr>
          <p:cNvPr id="7" name="">
            <a:extLst xmlns:a="http://schemas.openxmlformats.org/drawingml/2006/main">
              <a:ext uri="{FF2B5EF4-FFF2-40B4-BE49-F238E27FC236}">
                <a16:creationId xmlns:a16="http://schemas.microsoft.com/office/drawing/2014/main" id="{56AB4887-472D-4F81-95AC-2301481D5F2B}"/>
              </a:ext>
            </a:extLst>
          </p:cNvPr>
          <p:cNvSpPr>
            <a:spLocks xmlns:a="http://schemas.openxmlformats.org/drawingml/2006/main" noGrp="1"/>
          </p:cNvSpPr>
          <p:nvPr/>
        </p:nvSpPr>
        <p:spPr>
          <a:xfrm xmlns:a="http://schemas.openxmlformats.org/drawingml/2006/main">
            <a:off x="933450" y="1381125"/>
            <a:ext cx="209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Frontend</a:t>
            </a:r>
          </a:p>
        </p:txBody>
      </p:sp>
      <p:sp>
        <p:nvSpPr>
          <p:cNvPr id="8" name="">
            <a:extLst xmlns:a="http://schemas.openxmlformats.org/drawingml/2006/main">
              <a:ext uri="{FF2B5EF4-FFF2-40B4-BE49-F238E27FC236}">
                <a16:creationId xmlns:a16="http://schemas.microsoft.com/office/drawing/2014/main" id="{8DA1F023-EF5D-4288-B345-A31818F3C4E9}"/>
              </a:ext>
            </a:extLst>
          </p:cNvPr>
          <p:cNvSpPr>
            <a:spLocks xmlns:a="http://schemas.openxmlformats.org/drawingml/2006/main" noGrp="1"/>
          </p:cNvSpPr>
          <p:nvPr/>
        </p:nvSpPr>
        <p:spPr>
          <a:xfrm xmlns:a="http://schemas.openxmlformats.org/drawingml/2006/main">
            <a:off x="3200400" y="1381125"/>
            <a:ext cx="802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0">
                <a:solidFill>
                  <a:srgbClr val="252D30"/>
                </a:solidFill>
                <a:latin typeface="Source Sans 3"/>
                <a:ea typeface="Source Sans 3"/>
                <a:cs typeface="Source Sans 3"/>
              </a:defRPr>
            </a:pPr>
            <a:r>
              <a:rPr sz="1500" b="0">
                <a:solidFill>
                  <a:srgbClr val="252D30"/>
                </a:solidFill>
                <a:latin typeface="Source Sans 3"/>
                <a:ea typeface="Source Sans 3"/>
                <a:cs typeface="Source Sans 3"/>
              </a:rPr>
              <a:t>React.js, Next.js, HTML, Tailwind CSS</a:t>
            </a:r>
          </a:p>
        </p:txBody>
      </p:sp>
      <p:sp>
        <p:nvSpPr>
          <p:cNvPr id="9" name="">
            <a:extLst xmlns:a="http://schemas.openxmlformats.org/drawingml/2006/main">
              <a:ext uri="{FF2B5EF4-FFF2-40B4-BE49-F238E27FC236}">
                <a16:creationId xmlns:a16="http://schemas.microsoft.com/office/drawing/2014/main" id="{5E2BF8C7-8E58-40A8-8C34-1C06A9E4C93D}"/>
              </a:ext>
            </a:extLst>
          </p:cNvPr>
          <p:cNvSpPr>
            <a:spLocks xmlns:a="http://schemas.openxmlformats.org/drawingml/2006/main" noGrp="1"/>
          </p:cNvSpPr>
          <p:nvPr/>
        </p:nvSpPr>
        <p:spPr>
          <a:xfrm xmlns:a="http://schemas.openxmlformats.org/drawingml/2006/main">
            <a:off x="933450" y="1914525"/>
            <a:ext cx="1026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0" name="">
            <a:extLst xmlns:a="http://schemas.openxmlformats.org/drawingml/2006/main">
              <a:ext uri="{FF2B5EF4-FFF2-40B4-BE49-F238E27FC236}">
                <a16:creationId xmlns:a16="http://schemas.microsoft.com/office/drawing/2014/main" id="{AB6FAEF5-946F-47CF-83C8-5DCEBB96F808}"/>
              </a:ext>
            </a:extLst>
          </p:cNvPr>
          <p:cNvSpPr>
            <a:spLocks xmlns:a="http://schemas.openxmlformats.org/drawingml/2006/main" noGrp="1"/>
          </p:cNvSpPr>
          <p:nvPr/>
        </p:nvSpPr>
        <p:spPr>
          <a:xfrm xmlns:a="http://schemas.openxmlformats.org/drawingml/2006/main">
            <a:off x="933450" y="2057400"/>
            <a:ext cx="209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Backend and API</a:t>
            </a:r>
          </a:p>
        </p:txBody>
      </p:sp>
      <p:sp>
        <p:nvSpPr>
          <p:cNvPr id="11" name="">
            <a:extLst xmlns:a="http://schemas.openxmlformats.org/drawingml/2006/main">
              <a:ext uri="{FF2B5EF4-FFF2-40B4-BE49-F238E27FC236}">
                <a16:creationId xmlns:a16="http://schemas.microsoft.com/office/drawing/2014/main" id="{22D678D4-F5EA-4B48-AA76-9316096C8946}"/>
              </a:ext>
            </a:extLst>
          </p:cNvPr>
          <p:cNvSpPr>
            <a:spLocks xmlns:a="http://schemas.openxmlformats.org/drawingml/2006/main" noGrp="1"/>
          </p:cNvSpPr>
          <p:nvPr/>
        </p:nvSpPr>
        <p:spPr>
          <a:xfrm xmlns:a="http://schemas.openxmlformats.org/drawingml/2006/main">
            <a:off x="3200400" y="2057400"/>
            <a:ext cx="802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0">
                <a:solidFill>
                  <a:srgbClr val="252D30"/>
                </a:solidFill>
                <a:latin typeface="Source Sans 3"/>
                <a:ea typeface="Source Sans 3"/>
                <a:cs typeface="Source Sans 3"/>
              </a:defRPr>
            </a:pPr>
            <a:r>
              <a:rPr sz="1500" b="0">
                <a:solidFill>
                  <a:srgbClr val="252D30"/>
                </a:solidFill>
                <a:latin typeface="Source Sans 3"/>
                <a:ea typeface="Source Sans 3"/>
                <a:cs typeface="Source Sans 3"/>
              </a:rPr>
              <a:t>Node.js, PostgREST, REST API over HTTPS</a:t>
            </a:r>
          </a:p>
        </p:txBody>
      </p:sp>
      <p:sp>
        <p:nvSpPr>
          <p:cNvPr id="12" name="">
            <a:extLst xmlns:a="http://schemas.openxmlformats.org/drawingml/2006/main">
              <a:ext uri="{FF2B5EF4-FFF2-40B4-BE49-F238E27FC236}">
                <a16:creationId xmlns:a16="http://schemas.microsoft.com/office/drawing/2014/main" id="{36C55669-2C9D-4F7F-A077-F7B3F59DE135}"/>
              </a:ext>
            </a:extLst>
          </p:cNvPr>
          <p:cNvSpPr>
            <a:spLocks xmlns:a="http://schemas.openxmlformats.org/drawingml/2006/main" noGrp="1"/>
          </p:cNvSpPr>
          <p:nvPr/>
        </p:nvSpPr>
        <p:spPr>
          <a:xfrm xmlns:a="http://schemas.openxmlformats.org/drawingml/2006/main">
            <a:off x="933450" y="2590800"/>
            <a:ext cx="1026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3" name="">
            <a:extLst xmlns:a="http://schemas.openxmlformats.org/drawingml/2006/main">
              <a:ext uri="{FF2B5EF4-FFF2-40B4-BE49-F238E27FC236}">
                <a16:creationId xmlns:a16="http://schemas.microsoft.com/office/drawing/2014/main" id="{CBCEAEAD-5F5D-46F5-BEE2-18C050FEA2CE}"/>
              </a:ext>
            </a:extLst>
          </p:cNvPr>
          <p:cNvSpPr>
            <a:spLocks xmlns:a="http://schemas.openxmlformats.org/drawingml/2006/main" noGrp="1"/>
          </p:cNvSpPr>
          <p:nvPr/>
        </p:nvSpPr>
        <p:spPr>
          <a:xfrm xmlns:a="http://schemas.openxmlformats.org/drawingml/2006/main">
            <a:off x="933450" y="2733675"/>
            <a:ext cx="209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Authentication</a:t>
            </a:r>
          </a:p>
        </p:txBody>
      </p:sp>
      <p:sp>
        <p:nvSpPr>
          <p:cNvPr id="14" name="">
            <a:extLst xmlns:a="http://schemas.openxmlformats.org/drawingml/2006/main">
              <a:ext uri="{FF2B5EF4-FFF2-40B4-BE49-F238E27FC236}">
                <a16:creationId xmlns:a16="http://schemas.microsoft.com/office/drawing/2014/main" id="{F87919AB-F7EB-4B37-8A44-43702574E909}"/>
              </a:ext>
            </a:extLst>
          </p:cNvPr>
          <p:cNvSpPr>
            <a:spLocks xmlns:a="http://schemas.openxmlformats.org/drawingml/2006/main" noGrp="1"/>
          </p:cNvSpPr>
          <p:nvPr/>
        </p:nvSpPr>
        <p:spPr>
          <a:xfrm xmlns:a="http://schemas.openxmlformats.org/drawingml/2006/main">
            <a:off x="3200400" y="2733675"/>
            <a:ext cx="802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0">
                <a:solidFill>
                  <a:srgbClr val="252D30"/>
                </a:solidFill>
                <a:latin typeface="Source Sans 3"/>
                <a:ea typeface="Source Sans 3"/>
                <a:cs typeface="Source Sans 3"/>
              </a:defRPr>
            </a:pPr>
            <a:r>
              <a:rPr sz="1500" b="0">
                <a:solidFill>
                  <a:srgbClr val="252D30"/>
                </a:solidFill>
                <a:latin typeface="Source Sans 3"/>
                <a:ea typeface="Source Sans 3"/>
                <a:cs typeface="Source Sans 3"/>
              </a:rPr>
              <a:t>OpenAuth</a:t>
            </a:r>
          </a:p>
        </p:txBody>
      </p:sp>
      <p:sp>
        <p:nvSpPr>
          <p:cNvPr id="15" name="">
            <a:extLst xmlns:a="http://schemas.openxmlformats.org/drawingml/2006/main">
              <a:ext uri="{FF2B5EF4-FFF2-40B4-BE49-F238E27FC236}">
                <a16:creationId xmlns:a16="http://schemas.microsoft.com/office/drawing/2014/main" id="{B42D7AD2-03EB-41C8-91DB-0E9018A0E4C4}"/>
              </a:ext>
            </a:extLst>
          </p:cNvPr>
          <p:cNvSpPr>
            <a:spLocks xmlns:a="http://schemas.openxmlformats.org/drawingml/2006/main" noGrp="1"/>
          </p:cNvSpPr>
          <p:nvPr/>
        </p:nvSpPr>
        <p:spPr>
          <a:xfrm xmlns:a="http://schemas.openxmlformats.org/drawingml/2006/main">
            <a:off x="933450" y="3267075"/>
            <a:ext cx="1026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6" name="">
            <a:extLst xmlns:a="http://schemas.openxmlformats.org/drawingml/2006/main">
              <a:ext uri="{FF2B5EF4-FFF2-40B4-BE49-F238E27FC236}">
                <a16:creationId xmlns:a16="http://schemas.microsoft.com/office/drawing/2014/main" id="{4038F8F3-A9DA-4B96-9777-39257E45FC1A}"/>
              </a:ext>
            </a:extLst>
          </p:cNvPr>
          <p:cNvSpPr>
            <a:spLocks xmlns:a="http://schemas.openxmlformats.org/drawingml/2006/main" noGrp="1"/>
          </p:cNvSpPr>
          <p:nvPr/>
        </p:nvSpPr>
        <p:spPr>
          <a:xfrm xmlns:a="http://schemas.openxmlformats.org/drawingml/2006/main">
            <a:off x="933450" y="3409950"/>
            <a:ext cx="209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Database</a:t>
            </a:r>
          </a:p>
        </p:txBody>
      </p:sp>
      <p:sp>
        <p:nvSpPr>
          <p:cNvPr id="17" name="">
            <a:extLst xmlns:a="http://schemas.openxmlformats.org/drawingml/2006/main">
              <a:ext uri="{FF2B5EF4-FFF2-40B4-BE49-F238E27FC236}">
                <a16:creationId xmlns:a16="http://schemas.microsoft.com/office/drawing/2014/main" id="{4D4B4326-33B0-4300-9244-CD946364476C}"/>
              </a:ext>
            </a:extLst>
          </p:cNvPr>
          <p:cNvSpPr>
            <a:spLocks xmlns:a="http://schemas.openxmlformats.org/drawingml/2006/main" noGrp="1"/>
          </p:cNvSpPr>
          <p:nvPr/>
        </p:nvSpPr>
        <p:spPr>
          <a:xfrm xmlns:a="http://schemas.openxmlformats.org/drawingml/2006/main">
            <a:off x="3200400" y="3409950"/>
            <a:ext cx="802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0">
                <a:solidFill>
                  <a:srgbClr val="252D30"/>
                </a:solidFill>
                <a:latin typeface="Source Sans 3"/>
                <a:ea typeface="Source Sans 3"/>
                <a:cs typeface="Source Sans 3"/>
              </a:defRPr>
            </a:pPr>
            <a:r>
              <a:rPr sz="1500" b="0">
                <a:solidFill>
                  <a:srgbClr val="252D30"/>
                </a:solidFill>
                <a:latin typeface="Source Sans 3"/>
                <a:ea typeface="Source Sans 3"/>
                <a:cs typeface="Source Sans 3"/>
              </a:rPr>
              <a:t>PostgreSQL, centralized storage</a:t>
            </a:r>
          </a:p>
        </p:txBody>
      </p:sp>
      <p:sp>
        <p:nvSpPr>
          <p:cNvPr id="18" name="">
            <a:extLst xmlns:a="http://schemas.openxmlformats.org/drawingml/2006/main">
              <a:ext uri="{FF2B5EF4-FFF2-40B4-BE49-F238E27FC236}">
                <a16:creationId xmlns:a16="http://schemas.microsoft.com/office/drawing/2014/main" id="{6627214C-C4B8-487B-98E6-D47BE103BAFD}"/>
              </a:ext>
            </a:extLst>
          </p:cNvPr>
          <p:cNvSpPr>
            <a:spLocks xmlns:a="http://schemas.openxmlformats.org/drawingml/2006/main" noGrp="1"/>
          </p:cNvSpPr>
          <p:nvPr/>
        </p:nvSpPr>
        <p:spPr>
          <a:xfrm xmlns:a="http://schemas.openxmlformats.org/drawingml/2006/main">
            <a:off x="933450" y="3943350"/>
            <a:ext cx="1026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9" name="">
            <a:extLst xmlns:a="http://schemas.openxmlformats.org/drawingml/2006/main">
              <a:ext uri="{FF2B5EF4-FFF2-40B4-BE49-F238E27FC236}">
                <a16:creationId xmlns:a16="http://schemas.microsoft.com/office/drawing/2014/main" id="{8ECF8DDA-04A2-4F18-B172-AC72278D1C32}"/>
              </a:ext>
            </a:extLst>
          </p:cNvPr>
          <p:cNvSpPr>
            <a:spLocks xmlns:a="http://schemas.openxmlformats.org/drawingml/2006/main" noGrp="1"/>
          </p:cNvSpPr>
          <p:nvPr/>
        </p:nvSpPr>
        <p:spPr>
          <a:xfrm xmlns:a="http://schemas.openxmlformats.org/drawingml/2006/main">
            <a:off x="933450" y="4086225"/>
            <a:ext cx="209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Deployment</a:t>
            </a:r>
          </a:p>
        </p:txBody>
      </p:sp>
      <p:sp>
        <p:nvSpPr>
          <p:cNvPr id="20" name="">
            <a:extLst xmlns:a="http://schemas.openxmlformats.org/drawingml/2006/main">
              <a:ext uri="{FF2B5EF4-FFF2-40B4-BE49-F238E27FC236}">
                <a16:creationId xmlns:a16="http://schemas.microsoft.com/office/drawing/2014/main" id="{CCAF969D-6B91-4693-8C8A-569C42318423}"/>
              </a:ext>
            </a:extLst>
          </p:cNvPr>
          <p:cNvSpPr>
            <a:spLocks xmlns:a="http://schemas.openxmlformats.org/drawingml/2006/main" noGrp="1"/>
          </p:cNvSpPr>
          <p:nvPr/>
        </p:nvSpPr>
        <p:spPr>
          <a:xfrm xmlns:a="http://schemas.openxmlformats.org/drawingml/2006/main">
            <a:off x="3200400" y="4086225"/>
            <a:ext cx="802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0">
                <a:solidFill>
                  <a:srgbClr val="252D30"/>
                </a:solidFill>
                <a:latin typeface="Source Sans 3"/>
                <a:ea typeface="Source Sans 3"/>
                <a:cs typeface="Source Sans 3"/>
              </a:defRPr>
            </a:pPr>
            <a:r>
              <a:rPr sz="1500" b="0">
                <a:solidFill>
                  <a:srgbClr val="252D30"/>
                </a:solidFill>
                <a:latin typeface="Source Sans 3"/>
                <a:ea typeface="Source Sans 3"/>
                <a:cs typeface="Source Sans 3"/>
              </a:rPr>
              <a:t>Virtual Private Server with Content Delivery Network</a:t>
            </a:r>
          </a:p>
        </p:txBody>
      </p:sp>
      <p:sp>
        <p:nvSpPr>
          <p:cNvPr id="21" name="">
            <a:extLst xmlns:a="http://schemas.openxmlformats.org/drawingml/2006/main">
              <a:ext uri="{FF2B5EF4-FFF2-40B4-BE49-F238E27FC236}">
                <a16:creationId xmlns:a16="http://schemas.microsoft.com/office/drawing/2014/main" id="{81C46328-9C77-4E50-B8B7-D99A10337E82}"/>
              </a:ext>
            </a:extLst>
          </p:cNvPr>
          <p:cNvSpPr>
            <a:spLocks xmlns:a="http://schemas.openxmlformats.org/drawingml/2006/main" noGrp="1"/>
          </p:cNvSpPr>
          <p:nvPr/>
        </p:nvSpPr>
        <p:spPr>
          <a:xfrm xmlns:a="http://schemas.openxmlformats.org/drawingml/2006/main">
            <a:off x="933450" y="4619625"/>
            <a:ext cx="1026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2" name="">
            <a:extLst xmlns:a="http://schemas.openxmlformats.org/drawingml/2006/main">
              <a:ext uri="{FF2B5EF4-FFF2-40B4-BE49-F238E27FC236}">
                <a16:creationId xmlns:a16="http://schemas.microsoft.com/office/drawing/2014/main" id="{A0A7B49B-3280-4717-8FCB-00611D8AEE94}"/>
              </a:ext>
            </a:extLst>
          </p:cNvPr>
          <p:cNvSpPr>
            <a:spLocks xmlns:a="http://schemas.openxmlformats.org/drawingml/2006/main" noGrp="1"/>
          </p:cNvSpPr>
          <p:nvPr/>
        </p:nvSpPr>
        <p:spPr>
          <a:xfrm xmlns:a="http://schemas.openxmlformats.org/drawingml/2006/main">
            <a:off x="933450" y="4762500"/>
            <a:ext cx="209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Access</a:t>
            </a:r>
          </a:p>
        </p:txBody>
      </p:sp>
      <p:sp>
        <p:nvSpPr>
          <p:cNvPr id="23" name="">
            <a:extLst xmlns:a="http://schemas.openxmlformats.org/drawingml/2006/main">
              <a:ext uri="{FF2B5EF4-FFF2-40B4-BE49-F238E27FC236}">
                <a16:creationId xmlns:a16="http://schemas.microsoft.com/office/drawing/2014/main" id="{140780DC-B39D-4EBA-996C-7407EF8050D5}"/>
              </a:ext>
            </a:extLst>
          </p:cNvPr>
          <p:cNvSpPr>
            <a:spLocks xmlns:a="http://schemas.openxmlformats.org/drawingml/2006/main" noGrp="1"/>
          </p:cNvSpPr>
          <p:nvPr/>
        </p:nvSpPr>
        <p:spPr>
          <a:xfrm xmlns:a="http://schemas.openxmlformats.org/drawingml/2006/main">
            <a:off x="3200400" y="4762500"/>
            <a:ext cx="802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0">
                <a:solidFill>
                  <a:srgbClr val="252D30"/>
                </a:solidFill>
                <a:latin typeface="Source Sans 3"/>
                <a:ea typeface="Source Sans 3"/>
                <a:cs typeface="Source Sans 3"/>
              </a:defRPr>
            </a:pPr>
            <a:r>
              <a:rPr sz="1500" b="0">
                <a:solidFill>
                  <a:srgbClr val="252D30"/>
                </a:solidFill>
                <a:latin typeface="Source Sans 3"/>
                <a:ea typeface="Source Sans 3"/>
                <a:cs typeface="Source Sans 3"/>
              </a:rPr>
              <a:t>Responsive web browser on desktop, laptop and mobile devices</a:t>
            </a:r>
          </a:p>
        </p:txBody>
      </p:sp>
    </p:spTree>
    <p:extLst>
      <p:ext uri="{BB962C8B-B14F-4D97-AF65-F5344CB8AC3E}">
        <p14:creationId xmlns:p14="http://schemas.microsoft.com/office/powerpoint/2010/main" val="1427633834"/>
      </p:ext>
    </p:extLst>
  </p:cSld>
</p:sld>
</file>

<file path=ppt/slides/slide33.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BA846F3-5AA6-4D8F-9616-8B1C240BB462}"/>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8F33926-BD2E-48BA-9E6C-1878B8427832}"/>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TECHNICALITIES: TESTING</a:t>
            </a:r>
          </a:p>
        </p:txBody>
      </p:sp>
      <p:sp>
        <p:nvSpPr>
          <p:cNvPr id="3" name="">
            <a:extLst xmlns:a="http://schemas.openxmlformats.org/drawingml/2006/main">
              <a:ext uri="{FF2B5EF4-FFF2-40B4-BE49-F238E27FC236}">
                <a16:creationId xmlns:a16="http://schemas.microsoft.com/office/drawing/2014/main" id="{6833229F-C545-456E-8C83-690F6F0E2C75}"/>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Testing is planned before external deployment</a:t>
            </a:r>
          </a:p>
        </p:txBody>
      </p:sp>
      <p:sp>
        <p:nvSpPr>
          <p:cNvPr id="4" name="">
            <a:extLst xmlns:a="http://schemas.openxmlformats.org/drawingml/2006/main">
              <a:ext uri="{FF2B5EF4-FFF2-40B4-BE49-F238E27FC236}">
                <a16:creationId xmlns:a16="http://schemas.microsoft.com/office/drawing/2014/main" id="{822CFEF2-3252-4DB5-BF25-7FE664C7478C}"/>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E367E69F-6EA4-4B17-A06F-9F3482EE27E7}"/>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Alpha and Beta Testing, Tables 4–6</a:t>
            </a:r>
          </a:p>
        </p:txBody>
      </p:sp>
      <p:sp>
        <p:nvSpPr>
          <p:cNvPr id="6" name="">
            <a:extLst xmlns:a="http://schemas.openxmlformats.org/drawingml/2006/main">
              <a:ext uri="{FF2B5EF4-FFF2-40B4-BE49-F238E27FC236}">
                <a16:creationId xmlns:a16="http://schemas.microsoft.com/office/drawing/2014/main" id="{0150E681-350E-4710-8DD8-81FE127776C3}"/>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33</a:t>
            </a:r>
          </a:p>
        </p:txBody>
      </p:sp>
      <p:sp>
        <p:nvSpPr>
          <p:cNvPr id="7" name="">
            <a:extLst xmlns:a="http://schemas.openxmlformats.org/drawingml/2006/main">
              <a:ext uri="{FF2B5EF4-FFF2-40B4-BE49-F238E27FC236}">
                <a16:creationId xmlns:a16="http://schemas.microsoft.com/office/drawing/2014/main" id="{25D08F66-5C22-462E-9583-71416A9AC9B5}"/>
              </a:ext>
            </a:extLst>
          </p:cNvPr>
          <p:cNvSpPr>
            <a:spLocks xmlns:a="http://schemas.openxmlformats.org/drawingml/2006/main" noGrp="1"/>
          </p:cNvSpPr>
          <p:nvPr/>
        </p:nvSpPr>
        <p:spPr>
          <a:xfrm xmlns:a="http://schemas.openxmlformats.org/drawingml/2006/main">
            <a:off x="933450" y="1438275"/>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ALPHA TESTING</a:t>
            </a:r>
          </a:p>
        </p:txBody>
      </p:sp>
      <p:sp>
        <p:nvSpPr>
          <p:cNvPr id="8" name="">
            <a:extLst xmlns:a="http://schemas.openxmlformats.org/drawingml/2006/main">
              <a:ext uri="{FF2B5EF4-FFF2-40B4-BE49-F238E27FC236}">
                <a16:creationId xmlns:a16="http://schemas.microsoft.com/office/drawing/2014/main" id="{BBB4EAFA-2A29-4E28-9CEA-9681656E049F}"/>
              </a:ext>
            </a:extLst>
          </p:cNvPr>
          <p:cNvSpPr>
            <a:spLocks xmlns:a="http://schemas.openxmlformats.org/drawingml/2006/main" noGrp="1"/>
          </p:cNvSpPr>
          <p:nvPr/>
        </p:nvSpPr>
        <p:spPr>
          <a:xfrm xmlns:a="http://schemas.openxmlformats.org/drawingml/2006/main">
            <a:off x="933450" y="1866900"/>
            <a:ext cx="400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01</a:t>
            </a:r>
          </a:p>
        </p:txBody>
      </p:sp>
      <p:sp>
        <p:nvSpPr>
          <p:cNvPr id="9" name="">
            <a:extLst xmlns:a="http://schemas.openxmlformats.org/drawingml/2006/main">
              <a:ext uri="{FF2B5EF4-FFF2-40B4-BE49-F238E27FC236}">
                <a16:creationId xmlns:a16="http://schemas.microsoft.com/office/drawing/2014/main" id="{9443B0B3-5D6E-497A-8DBE-4E91F1AE4F58}"/>
              </a:ext>
            </a:extLst>
          </p:cNvPr>
          <p:cNvSpPr>
            <a:spLocks xmlns:a="http://schemas.openxmlformats.org/drawingml/2006/main" noGrp="1"/>
          </p:cNvSpPr>
          <p:nvPr/>
        </p:nvSpPr>
        <p:spPr>
          <a:xfrm xmlns:a="http://schemas.openxmlformats.org/drawingml/2006/main">
            <a:off x="1390650" y="1866900"/>
            <a:ext cx="43053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Unit and component checks: Jest</a:t>
            </a:r>
          </a:p>
        </p:txBody>
      </p:sp>
      <p:sp>
        <p:nvSpPr>
          <p:cNvPr id="10" name="">
            <a:extLst xmlns:a="http://schemas.openxmlformats.org/drawingml/2006/main">
              <a:ext uri="{FF2B5EF4-FFF2-40B4-BE49-F238E27FC236}">
                <a16:creationId xmlns:a16="http://schemas.microsoft.com/office/drawing/2014/main" id="{E5406834-1099-41A9-8BF7-D2CBDC709191}"/>
              </a:ext>
            </a:extLst>
          </p:cNvPr>
          <p:cNvSpPr>
            <a:spLocks xmlns:a="http://schemas.openxmlformats.org/drawingml/2006/main" noGrp="1"/>
          </p:cNvSpPr>
          <p:nvPr/>
        </p:nvSpPr>
        <p:spPr>
          <a:xfrm xmlns:a="http://schemas.openxmlformats.org/drawingml/2006/main">
            <a:off x="1390650" y="2495550"/>
            <a:ext cx="4305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1" name="">
            <a:extLst xmlns:a="http://schemas.openxmlformats.org/drawingml/2006/main">
              <a:ext uri="{FF2B5EF4-FFF2-40B4-BE49-F238E27FC236}">
                <a16:creationId xmlns:a16="http://schemas.microsoft.com/office/drawing/2014/main" id="{FF8CC2A4-2AA3-4617-AE00-87857BDC344F}"/>
              </a:ext>
            </a:extLst>
          </p:cNvPr>
          <p:cNvSpPr>
            <a:spLocks xmlns:a="http://schemas.openxmlformats.org/drawingml/2006/main" noGrp="1"/>
          </p:cNvSpPr>
          <p:nvPr/>
        </p:nvSpPr>
        <p:spPr>
          <a:xfrm xmlns:a="http://schemas.openxmlformats.org/drawingml/2006/main">
            <a:off x="933450" y="2562225"/>
            <a:ext cx="400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02</a:t>
            </a:r>
          </a:p>
        </p:txBody>
      </p:sp>
      <p:sp>
        <p:nvSpPr>
          <p:cNvPr id="12" name="">
            <a:extLst xmlns:a="http://schemas.openxmlformats.org/drawingml/2006/main">
              <a:ext uri="{FF2B5EF4-FFF2-40B4-BE49-F238E27FC236}">
                <a16:creationId xmlns:a16="http://schemas.microsoft.com/office/drawing/2014/main" id="{3A5D3E73-03CB-4467-9DBC-29023EFFB7EE}"/>
              </a:ext>
            </a:extLst>
          </p:cNvPr>
          <p:cNvSpPr>
            <a:spLocks xmlns:a="http://schemas.openxmlformats.org/drawingml/2006/main" noGrp="1"/>
          </p:cNvSpPr>
          <p:nvPr/>
        </p:nvSpPr>
        <p:spPr>
          <a:xfrm xmlns:a="http://schemas.openxmlformats.org/drawingml/2006/main">
            <a:off x="1390650" y="2562225"/>
            <a:ext cx="43053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Backend API checks: Jest and Supertest</a:t>
            </a:r>
          </a:p>
        </p:txBody>
      </p:sp>
      <p:sp>
        <p:nvSpPr>
          <p:cNvPr id="13" name="">
            <a:extLst xmlns:a="http://schemas.openxmlformats.org/drawingml/2006/main">
              <a:ext uri="{FF2B5EF4-FFF2-40B4-BE49-F238E27FC236}">
                <a16:creationId xmlns:a16="http://schemas.microsoft.com/office/drawing/2014/main" id="{49D7B339-AB47-4D13-B361-49B75959FE0A}"/>
              </a:ext>
            </a:extLst>
          </p:cNvPr>
          <p:cNvSpPr>
            <a:spLocks xmlns:a="http://schemas.openxmlformats.org/drawingml/2006/main" noGrp="1"/>
          </p:cNvSpPr>
          <p:nvPr/>
        </p:nvSpPr>
        <p:spPr>
          <a:xfrm xmlns:a="http://schemas.openxmlformats.org/drawingml/2006/main">
            <a:off x="1390650" y="3190875"/>
            <a:ext cx="4305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4" name="">
            <a:extLst xmlns:a="http://schemas.openxmlformats.org/drawingml/2006/main">
              <a:ext uri="{FF2B5EF4-FFF2-40B4-BE49-F238E27FC236}">
                <a16:creationId xmlns:a16="http://schemas.microsoft.com/office/drawing/2014/main" id="{0345927E-E709-4461-A09A-B32A34BD2C92}"/>
              </a:ext>
            </a:extLst>
          </p:cNvPr>
          <p:cNvSpPr>
            <a:spLocks xmlns:a="http://schemas.openxmlformats.org/drawingml/2006/main" noGrp="1"/>
          </p:cNvSpPr>
          <p:nvPr/>
        </p:nvSpPr>
        <p:spPr>
          <a:xfrm xmlns:a="http://schemas.openxmlformats.org/drawingml/2006/main">
            <a:off x="933450" y="3257550"/>
            <a:ext cx="400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03</a:t>
            </a:r>
          </a:p>
        </p:txBody>
      </p:sp>
      <p:sp>
        <p:nvSpPr>
          <p:cNvPr id="15" name="">
            <a:extLst xmlns:a="http://schemas.openxmlformats.org/drawingml/2006/main">
              <a:ext uri="{FF2B5EF4-FFF2-40B4-BE49-F238E27FC236}">
                <a16:creationId xmlns:a16="http://schemas.microsoft.com/office/drawing/2014/main" id="{A998DC02-C73F-45CA-9793-64692BDAB913}"/>
              </a:ext>
            </a:extLst>
          </p:cNvPr>
          <p:cNvSpPr>
            <a:spLocks xmlns:a="http://schemas.openxmlformats.org/drawingml/2006/main" noGrp="1"/>
          </p:cNvSpPr>
          <p:nvPr/>
        </p:nvSpPr>
        <p:spPr>
          <a:xfrm xmlns:a="http://schemas.openxmlformats.org/drawingml/2006/main">
            <a:off x="1390650" y="3257550"/>
            <a:ext cx="43053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End-to-end responsive checks: Cypress</a:t>
            </a:r>
          </a:p>
        </p:txBody>
      </p:sp>
      <p:sp>
        <p:nvSpPr>
          <p:cNvPr id="16" name="">
            <a:extLst xmlns:a="http://schemas.openxmlformats.org/drawingml/2006/main">
              <a:ext uri="{FF2B5EF4-FFF2-40B4-BE49-F238E27FC236}">
                <a16:creationId xmlns:a16="http://schemas.microsoft.com/office/drawing/2014/main" id="{7228FD46-68B6-4638-BB86-B5C584F1546D}"/>
              </a:ext>
            </a:extLst>
          </p:cNvPr>
          <p:cNvSpPr>
            <a:spLocks xmlns:a="http://schemas.openxmlformats.org/drawingml/2006/main" noGrp="1"/>
          </p:cNvSpPr>
          <p:nvPr/>
        </p:nvSpPr>
        <p:spPr>
          <a:xfrm xmlns:a="http://schemas.openxmlformats.org/drawingml/2006/main">
            <a:off x="1390650" y="3886200"/>
            <a:ext cx="4305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7" name="">
            <a:extLst xmlns:a="http://schemas.openxmlformats.org/drawingml/2006/main">
              <a:ext uri="{FF2B5EF4-FFF2-40B4-BE49-F238E27FC236}">
                <a16:creationId xmlns:a16="http://schemas.microsoft.com/office/drawing/2014/main" id="{7CD63E87-8438-4E48-A165-DCD75883A9F0}"/>
              </a:ext>
            </a:extLst>
          </p:cNvPr>
          <p:cNvSpPr>
            <a:spLocks xmlns:a="http://schemas.openxmlformats.org/drawingml/2006/main" noGrp="1"/>
          </p:cNvSpPr>
          <p:nvPr/>
        </p:nvSpPr>
        <p:spPr>
          <a:xfrm xmlns:a="http://schemas.openxmlformats.org/drawingml/2006/main">
            <a:off x="933450" y="3952875"/>
            <a:ext cx="400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04</a:t>
            </a:r>
          </a:p>
        </p:txBody>
      </p:sp>
      <p:sp>
        <p:nvSpPr>
          <p:cNvPr id="18" name="">
            <a:extLst xmlns:a="http://schemas.openxmlformats.org/drawingml/2006/main">
              <a:ext uri="{FF2B5EF4-FFF2-40B4-BE49-F238E27FC236}">
                <a16:creationId xmlns:a16="http://schemas.microsoft.com/office/drawing/2014/main" id="{8BA4FFDB-6432-4A5F-A105-4C17DB00E838}"/>
              </a:ext>
            </a:extLst>
          </p:cNvPr>
          <p:cNvSpPr>
            <a:spLocks xmlns:a="http://schemas.openxmlformats.org/drawingml/2006/main" noGrp="1"/>
          </p:cNvSpPr>
          <p:nvPr/>
        </p:nvSpPr>
        <p:spPr>
          <a:xfrm xmlns:a="http://schemas.openxmlformats.org/drawingml/2006/main">
            <a:off x="1390650" y="3952875"/>
            <a:ext cx="43053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System integration and security testing</a:t>
            </a:r>
          </a:p>
        </p:txBody>
      </p:sp>
      <p:sp>
        <p:nvSpPr>
          <p:cNvPr id="19" name="">
            <a:extLst xmlns:a="http://schemas.openxmlformats.org/drawingml/2006/main">
              <a:ext uri="{FF2B5EF4-FFF2-40B4-BE49-F238E27FC236}">
                <a16:creationId xmlns:a16="http://schemas.microsoft.com/office/drawing/2014/main" id="{6867764C-6058-400F-8E0C-13DCB37CE56F}"/>
              </a:ext>
            </a:extLst>
          </p:cNvPr>
          <p:cNvSpPr>
            <a:spLocks xmlns:a="http://schemas.openxmlformats.org/drawingml/2006/main" noGrp="1"/>
          </p:cNvSpPr>
          <p:nvPr/>
        </p:nvSpPr>
        <p:spPr>
          <a:xfrm xmlns:a="http://schemas.openxmlformats.org/drawingml/2006/main">
            <a:off x="6057900" y="1438275"/>
            <a:ext cx="0" cy="3409950"/>
          </a:xfrm>
          <a:prstGeom xmlns:a="http://schemas.openxmlformats.org/drawingml/2006/main" prst="line">
            <a:avLst/>
          </a:prstGeom>
          <a:noFill xmlns:a="http://schemas.openxmlformats.org/drawingml/2006/main"/>
          <a:ln xmlns:a="http://schemas.openxmlformats.org/drawingml/2006/main" w="14288">
            <a:solidFill>
              <a:srgbClr val="D3DCDA"/>
            </a:solidFill>
          </a:ln>
        </p:spPr>
      </p:sp>
      <p:sp>
        <p:nvSpPr>
          <p:cNvPr id="20" name="">
            <a:extLst xmlns:a="http://schemas.openxmlformats.org/drawingml/2006/main">
              <a:ext uri="{FF2B5EF4-FFF2-40B4-BE49-F238E27FC236}">
                <a16:creationId xmlns:a16="http://schemas.microsoft.com/office/drawing/2014/main" id="{C325BED3-81F1-4234-B7CF-CD13CD3476F9}"/>
              </a:ext>
            </a:extLst>
          </p:cNvPr>
          <p:cNvSpPr>
            <a:spLocks xmlns:a="http://schemas.openxmlformats.org/drawingml/2006/main" noGrp="1"/>
          </p:cNvSpPr>
          <p:nvPr/>
        </p:nvSpPr>
        <p:spPr>
          <a:xfrm xmlns:a="http://schemas.openxmlformats.org/drawingml/2006/main">
            <a:off x="6486525" y="1438275"/>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BETA TESTING</a:t>
            </a:r>
          </a:p>
        </p:txBody>
      </p:sp>
      <p:sp>
        <p:nvSpPr>
          <p:cNvPr id="21" name="">
            <a:extLst xmlns:a="http://schemas.openxmlformats.org/drawingml/2006/main">
              <a:ext uri="{FF2B5EF4-FFF2-40B4-BE49-F238E27FC236}">
                <a16:creationId xmlns:a16="http://schemas.microsoft.com/office/drawing/2014/main" id="{2B5E6561-ECB6-4C3E-AB46-F7D0CCBDCAC8}"/>
              </a:ext>
            </a:extLst>
          </p:cNvPr>
          <p:cNvSpPr>
            <a:spLocks xmlns:a="http://schemas.openxmlformats.org/drawingml/2006/main" noGrp="1"/>
          </p:cNvSpPr>
          <p:nvPr/>
        </p:nvSpPr>
        <p:spPr>
          <a:xfrm xmlns:a="http://schemas.openxmlformats.org/drawingml/2006/main">
            <a:off x="6486525" y="1866900"/>
            <a:ext cx="400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01</a:t>
            </a:r>
          </a:p>
        </p:txBody>
      </p:sp>
      <p:sp>
        <p:nvSpPr>
          <p:cNvPr id="22" name="">
            <a:extLst xmlns:a="http://schemas.openxmlformats.org/drawingml/2006/main">
              <a:ext uri="{FF2B5EF4-FFF2-40B4-BE49-F238E27FC236}">
                <a16:creationId xmlns:a16="http://schemas.microsoft.com/office/drawing/2014/main" id="{89F905D4-060E-48F5-9D37-6B336702566E}"/>
              </a:ext>
            </a:extLst>
          </p:cNvPr>
          <p:cNvSpPr>
            <a:spLocks xmlns:a="http://schemas.openxmlformats.org/drawingml/2006/main" noGrp="1"/>
          </p:cNvSpPr>
          <p:nvPr/>
        </p:nvSpPr>
        <p:spPr>
          <a:xfrm xmlns:a="http://schemas.openxmlformats.org/drawingml/2006/main">
            <a:off x="6943725" y="1866900"/>
            <a:ext cx="4267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User acceptance with intended roles</a:t>
            </a:r>
          </a:p>
        </p:txBody>
      </p:sp>
      <p:sp>
        <p:nvSpPr>
          <p:cNvPr id="23" name="">
            <a:extLst xmlns:a="http://schemas.openxmlformats.org/drawingml/2006/main">
              <a:ext uri="{FF2B5EF4-FFF2-40B4-BE49-F238E27FC236}">
                <a16:creationId xmlns:a16="http://schemas.microsoft.com/office/drawing/2014/main" id="{61EBD6D9-2F36-4438-8551-03A3A941D675}"/>
              </a:ext>
            </a:extLst>
          </p:cNvPr>
          <p:cNvSpPr>
            <a:spLocks xmlns:a="http://schemas.openxmlformats.org/drawingml/2006/main" noGrp="1"/>
          </p:cNvSpPr>
          <p:nvPr/>
        </p:nvSpPr>
        <p:spPr>
          <a:xfrm xmlns:a="http://schemas.openxmlformats.org/drawingml/2006/main">
            <a:off x="6943725" y="2495550"/>
            <a:ext cx="42672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4" name="">
            <a:extLst xmlns:a="http://schemas.openxmlformats.org/drawingml/2006/main">
              <a:ext uri="{FF2B5EF4-FFF2-40B4-BE49-F238E27FC236}">
                <a16:creationId xmlns:a16="http://schemas.microsoft.com/office/drawing/2014/main" id="{8C651C68-9FE5-4CA0-A6FC-0D381CBCDE60}"/>
              </a:ext>
            </a:extLst>
          </p:cNvPr>
          <p:cNvSpPr>
            <a:spLocks xmlns:a="http://schemas.openxmlformats.org/drawingml/2006/main" noGrp="1"/>
          </p:cNvSpPr>
          <p:nvPr/>
        </p:nvSpPr>
        <p:spPr>
          <a:xfrm xmlns:a="http://schemas.openxmlformats.org/drawingml/2006/main">
            <a:off x="6486525" y="2562225"/>
            <a:ext cx="400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02</a:t>
            </a:r>
          </a:p>
        </p:txBody>
      </p:sp>
      <p:sp>
        <p:nvSpPr>
          <p:cNvPr id="25" name="">
            <a:extLst xmlns:a="http://schemas.openxmlformats.org/drawingml/2006/main">
              <a:ext uri="{FF2B5EF4-FFF2-40B4-BE49-F238E27FC236}">
                <a16:creationId xmlns:a16="http://schemas.microsoft.com/office/drawing/2014/main" id="{2E4C7590-DBE8-464A-822B-53533F907C0E}"/>
              </a:ext>
            </a:extLst>
          </p:cNvPr>
          <p:cNvSpPr>
            <a:spLocks xmlns:a="http://schemas.openxmlformats.org/drawingml/2006/main" noGrp="1"/>
          </p:cNvSpPr>
          <p:nvPr/>
        </p:nvSpPr>
        <p:spPr>
          <a:xfrm xmlns:a="http://schemas.openxmlformats.org/drawingml/2006/main">
            <a:off x="6943725" y="2562225"/>
            <a:ext cx="4267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10-item System Usability Scale</a:t>
            </a:r>
          </a:p>
        </p:txBody>
      </p:sp>
      <p:sp>
        <p:nvSpPr>
          <p:cNvPr id="26" name="">
            <a:extLst xmlns:a="http://schemas.openxmlformats.org/drawingml/2006/main">
              <a:ext uri="{FF2B5EF4-FFF2-40B4-BE49-F238E27FC236}">
                <a16:creationId xmlns:a16="http://schemas.microsoft.com/office/drawing/2014/main" id="{537653AA-840A-401B-B97F-6826F07915B3}"/>
              </a:ext>
            </a:extLst>
          </p:cNvPr>
          <p:cNvSpPr>
            <a:spLocks xmlns:a="http://schemas.openxmlformats.org/drawingml/2006/main" noGrp="1"/>
          </p:cNvSpPr>
          <p:nvPr/>
        </p:nvSpPr>
        <p:spPr>
          <a:xfrm xmlns:a="http://schemas.openxmlformats.org/drawingml/2006/main">
            <a:off x="6943725" y="3190875"/>
            <a:ext cx="42672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7" name="">
            <a:extLst xmlns:a="http://schemas.openxmlformats.org/drawingml/2006/main">
              <a:ext uri="{FF2B5EF4-FFF2-40B4-BE49-F238E27FC236}">
                <a16:creationId xmlns:a16="http://schemas.microsoft.com/office/drawing/2014/main" id="{BB16BE24-EDF2-4226-A753-36A040CA7438}"/>
              </a:ext>
            </a:extLst>
          </p:cNvPr>
          <p:cNvSpPr>
            <a:spLocks xmlns:a="http://schemas.openxmlformats.org/drawingml/2006/main" noGrp="1"/>
          </p:cNvSpPr>
          <p:nvPr/>
        </p:nvSpPr>
        <p:spPr>
          <a:xfrm xmlns:a="http://schemas.openxmlformats.org/drawingml/2006/main">
            <a:off x="6486525" y="3257550"/>
            <a:ext cx="400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03</a:t>
            </a:r>
          </a:p>
        </p:txBody>
      </p:sp>
      <p:sp>
        <p:nvSpPr>
          <p:cNvPr id="28" name="">
            <a:extLst xmlns:a="http://schemas.openxmlformats.org/drawingml/2006/main">
              <a:ext uri="{FF2B5EF4-FFF2-40B4-BE49-F238E27FC236}">
                <a16:creationId xmlns:a16="http://schemas.microsoft.com/office/drawing/2014/main" id="{B98CB1EA-94C8-4A11-A962-030BB8E02E44}"/>
              </a:ext>
            </a:extLst>
          </p:cNvPr>
          <p:cNvSpPr>
            <a:spLocks xmlns:a="http://schemas.openxmlformats.org/drawingml/2006/main" noGrp="1"/>
          </p:cNvSpPr>
          <p:nvPr/>
        </p:nvSpPr>
        <p:spPr>
          <a:xfrm xmlns:a="http://schemas.openxmlformats.org/drawingml/2006/main">
            <a:off x="6943725" y="3257550"/>
            <a:ext cx="4267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Proposed mean score target: 68 or higher</a:t>
            </a:r>
          </a:p>
        </p:txBody>
      </p:sp>
      <p:sp>
        <p:nvSpPr>
          <p:cNvPr id="29" name="">
            <a:extLst xmlns:a="http://schemas.openxmlformats.org/drawingml/2006/main">
              <a:ext uri="{FF2B5EF4-FFF2-40B4-BE49-F238E27FC236}">
                <a16:creationId xmlns:a16="http://schemas.microsoft.com/office/drawing/2014/main" id="{07F5CA81-E1BD-409D-81C6-4C8F835470B4}"/>
              </a:ext>
            </a:extLst>
          </p:cNvPr>
          <p:cNvSpPr>
            <a:spLocks xmlns:a="http://schemas.openxmlformats.org/drawingml/2006/main" noGrp="1"/>
          </p:cNvSpPr>
          <p:nvPr/>
        </p:nvSpPr>
        <p:spPr>
          <a:xfrm xmlns:a="http://schemas.openxmlformats.org/drawingml/2006/main">
            <a:off x="6943725" y="3886200"/>
            <a:ext cx="42672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30" name="">
            <a:extLst xmlns:a="http://schemas.openxmlformats.org/drawingml/2006/main">
              <a:ext uri="{FF2B5EF4-FFF2-40B4-BE49-F238E27FC236}">
                <a16:creationId xmlns:a16="http://schemas.microsoft.com/office/drawing/2014/main" id="{AAEA73A3-BAD2-4DD6-A06A-32A20812E5CF}"/>
              </a:ext>
            </a:extLst>
          </p:cNvPr>
          <p:cNvSpPr>
            <a:spLocks xmlns:a="http://schemas.openxmlformats.org/drawingml/2006/main" noGrp="1"/>
          </p:cNvSpPr>
          <p:nvPr/>
        </p:nvSpPr>
        <p:spPr>
          <a:xfrm xmlns:a="http://schemas.openxmlformats.org/drawingml/2006/main">
            <a:off x="6486525" y="3952875"/>
            <a:ext cx="400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04</a:t>
            </a:r>
          </a:p>
        </p:txBody>
      </p:sp>
      <p:sp>
        <p:nvSpPr>
          <p:cNvPr id="31" name="">
            <a:extLst xmlns:a="http://schemas.openxmlformats.org/drawingml/2006/main">
              <a:ext uri="{FF2B5EF4-FFF2-40B4-BE49-F238E27FC236}">
                <a16:creationId xmlns:a16="http://schemas.microsoft.com/office/drawing/2014/main" id="{1E19B61D-0BBE-4E55-AEFA-DA8C7DF00232}"/>
              </a:ext>
            </a:extLst>
          </p:cNvPr>
          <p:cNvSpPr>
            <a:spLocks xmlns:a="http://schemas.openxmlformats.org/drawingml/2006/main" noGrp="1"/>
          </p:cNvSpPr>
          <p:nvPr/>
        </p:nvSpPr>
        <p:spPr>
          <a:xfrm xmlns:a="http://schemas.openxmlformats.org/drawingml/2006/main">
            <a:off x="6943725" y="3952875"/>
            <a:ext cx="4267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Proposed exit: zero unhandled crashes or render failures on tested views</a:t>
            </a:r>
          </a:p>
        </p:txBody>
      </p:sp>
      <p:sp>
        <p:nvSpPr>
          <p:cNvPr id="32" name="">
            <a:extLst xmlns:a="http://schemas.openxmlformats.org/drawingml/2006/main">
              <a:ext uri="{FF2B5EF4-FFF2-40B4-BE49-F238E27FC236}">
                <a16:creationId xmlns:a16="http://schemas.microsoft.com/office/drawing/2014/main" id="{021483E6-B45C-4D55-804C-DC3682378CA4}"/>
              </a:ext>
            </a:extLst>
          </p:cNvPr>
          <p:cNvSpPr>
            <a:spLocks xmlns:a="http://schemas.openxmlformats.org/drawingml/2006/main" noGrp="1"/>
          </p:cNvSpPr>
          <p:nvPr/>
        </p:nvSpPr>
        <p:spPr>
          <a:xfrm xmlns:a="http://schemas.openxmlformats.org/drawingml/2006/main">
            <a:off x="933450" y="5048250"/>
            <a:ext cx="10267950" cy="609600"/>
          </a:xfrm>
          <a:prstGeom xmlns:a="http://schemas.openxmlformats.org/drawingml/2006/main" prst="rect">
            <a:avLst/>
          </a:prstGeom>
          <a:solidFill xmlns:a="http://schemas.openxmlformats.org/drawingml/2006/main">
            <a:srgbClr val="F3EBDD"/>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4CF6E6A7-6F2D-4156-A57E-C49B62876E18}"/>
              </a:ext>
            </a:extLst>
          </p:cNvPr>
          <p:cNvSpPr>
            <a:spLocks xmlns:a="http://schemas.openxmlformats.org/drawingml/2006/main" noGrp="1"/>
          </p:cNvSpPr>
          <p:nvPr/>
        </p:nvSpPr>
        <p:spPr>
          <a:xfrm xmlns:a="http://schemas.openxmlformats.org/drawingml/2006/main">
            <a:off x="1152525" y="5162550"/>
            <a:ext cx="981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425" b="1">
                <a:solidFill>
                  <a:srgbClr val="252D30"/>
                </a:solidFill>
                <a:latin typeface="Source Sans 3"/>
                <a:ea typeface="Source Sans 3"/>
                <a:cs typeface="Source Sans 3"/>
              </a:defRPr>
            </a:pPr>
            <a:r>
              <a:rPr sz="1425" b="1">
                <a:solidFill>
                  <a:srgbClr val="252D30"/>
                </a:solidFill>
                <a:latin typeface="Source Sans 3"/>
                <a:ea typeface="Source Sans 3"/>
                <a:cs typeface="Source Sans 3"/>
              </a:rPr>
              <a:t>The manuscript gives target criteria. It does not report completed test results.</a:t>
            </a:r>
          </a:p>
        </p:txBody>
      </p:sp>
    </p:spTree>
    <p:extLst>
      <p:ext uri="{BB962C8B-B14F-4D97-AF65-F5344CB8AC3E}">
        <p14:creationId xmlns:p14="http://schemas.microsoft.com/office/powerpoint/2010/main" val="1247503479"/>
      </p:ext>
    </p:extLst>
  </p:cSld>
</p:sld>
</file>

<file path=ppt/slides/slide34.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86EF1506-3E13-4A36-9398-4D8B9E11BC9D}"/>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3B0ACA6-C3DD-485B-A2AB-D547AE18263E}"/>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TECHNICALITIES: AI USAGE</a:t>
            </a:r>
          </a:p>
        </p:txBody>
      </p:sp>
      <p:sp>
        <p:nvSpPr>
          <p:cNvPr id="3" name="">
            <a:extLst xmlns:a="http://schemas.openxmlformats.org/drawingml/2006/main">
              <a:ext uri="{FF2B5EF4-FFF2-40B4-BE49-F238E27FC236}">
                <a16:creationId xmlns:a16="http://schemas.microsoft.com/office/drawing/2014/main" id="{7AC51B26-9F13-413D-8B52-4158555EFEE8}"/>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The current paper does not specify an AI feature</a:t>
            </a:r>
          </a:p>
        </p:txBody>
      </p:sp>
      <p:sp>
        <p:nvSpPr>
          <p:cNvPr id="4" name="">
            <a:extLst xmlns:a="http://schemas.openxmlformats.org/drawingml/2006/main">
              <a:ext uri="{FF2B5EF4-FFF2-40B4-BE49-F238E27FC236}">
                <a16:creationId xmlns:a16="http://schemas.microsoft.com/office/drawing/2014/main" id="{16884D45-DF38-4BCA-800F-08AB3C100991}"/>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906143FF-3194-4375-A943-B51AA8A4738B}"/>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review of the revised paper's objectives, scope, architecture and testing sections</a:t>
            </a:r>
          </a:p>
        </p:txBody>
      </p:sp>
      <p:sp>
        <p:nvSpPr>
          <p:cNvPr id="6" name="">
            <a:extLst xmlns:a="http://schemas.openxmlformats.org/drawingml/2006/main">
              <a:ext uri="{FF2B5EF4-FFF2-40B4-BE49-F238E27FC236}">
                <a16:creationId xmlns:a16="http://schemas.microsoft.com/office/drawing/2014/main" id="{1869A3BE-290B-47E1-AC41-0E11F3E5D872}"/>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34</a:t>
            </a:r>
          </a:p>
        </p:txBody>
      </p:sp>
      <p:sp>
        <p:nvSpPr>
          <p:cNvPr id="7" name="">
            <a:extLst xmlns:a="http://schemas.openxmlformats.org/drawingml/2006/main">
              <a:ext uri="{FF2B5EF4-FFF2-40B4-BE49-F238E27FC236}">
                <a16:creationId xmlns:a16="http://schemas.microsoft.com/office/drawing/2014/main" id="{C3A8287D-D826-46B9-A94E-F9B06E17CF78}"/>
              </a:ext>
            </a:extLst>
          </p:cNvPr>
          <p:cNvSpPr>
            <a:spLocks xmlns:a="http://schemas.openxmlformats.org/drawingml/2006/main" noGrp="1"/>
          </p:cNvSpPr>
          <p:nvPr/>
        </p:nvSpPr>
        <p:spPr>
          <a:xfrm xmlns:a="http://schemas.openxmlformats.org/drawingml/2006/main">
            <a:off x="952500" y="1581150"/>
            <a:ext cx="171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SYSTEM</a:t>
            </a:r>
          </a:p>
        </p:txBody>
      </p:sp>
      <p:sp>
        <p:nvSpPr>
          <p:cNvPr id="8" name="">
            <a:extLst xmlns:a="http://schemas.openxmlformats.org/drawingml/2006/main">
              <a:ext uri="{FF2B5EF4-FFF2-40B4-BE49-F238E27FC236}">
                <a16:creationId xmlns:a16="http://schemas.microsoft.com/office/drawing/2014/main" id="{B951B732-B834-4618-9791-95531F39006D}"/>
              </a:ext>
            </a:extLst>
          </p:cNvPr>
          <p:cNvSpPr>
            <a:spLocks xmlns:a="http://schemas.openxmlformats.org/drawingml/2006/main" noGrp="1"/>
          </p:cNvSpPr>
          <p:nvPr/>
        </p:nvSpPr>
        <p:spPr>
          <a:xfrm xmlns:a="http://schemas.openxmlformats.org/drawingml/2006/main">
            <a:off x="2838450" y="1581150"/>
            <a:ext cx="84010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75" b="0">
                <a:solidFill>
                  <a:srgbClr val="252D30"/>
                </a:solidFill>
                <a:latin typeface="Source Sans 3"/>
                <a:ea typeface="Source Sans 3"/>
                <a:cs typeface="Source Sans 3"/>
              </a:defRPr>
            </a:pPr>
            <a:r>
              <a:rPr sz="1575" b="0">
                <a:solidFill>
                  <a:srgbClr val="252D30"/>
                </a:solidFill>
                <a:latin typeface="Source Sans 3"/>
                <a:ea typeface="Source Sans 3"/>
                <a:cs typeface="Source Sans 3"/>
              </a:rPr>
              <a:t>No AI function is specified in the current proposal. Hazard classification follows the organization's CDRA and an authorized user's selection.</a:t>
            </a:r>
          </a:p>
        </p:txBody>
      </p:sp>
      <p:sp>
        <p:nvSpPr>
          <p:cNvPr id="9" name="">
            <a:extLst xmlns:a="http://schemas.openxmlformats.org/drawingml/2006/main">
              <a:ext uri="{FF2B5EF4-FFF2-40B4-BE49-F238E27FC236}">
                <a16:creationId xmlns:a16="http://schemas.microsoft.com/office/drawing/2014/main" id="{0FFC4591-AA61-442A-9C3A-CF9958A79199}"/>
              </a:ext>
            </a:extLst>
          </p:cNvPr>
          <p:cNvSpPr>
            <a:spLocks xmlns:a="http://schemas.openxmlformats.org/drawingml/2006/main" noGrp="1"/>
          </p:cNvSpPr>
          <p:nvPr/>
        </p:nvSpPr>
        <p:spPr>
          <a:xfrm xmlns:a="http://schemas.openxmlformats.org/drawingml/2006/main">
            <a:off x="952500" y="2638425"/>
            <a:ext cx="102489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0" name="">
            <a:extLst xmlns:a="http://schemas.openxmlformats.org/drawingml/2006/main">
              <a:ext uri="{FF2B5EF4-FFF2-40B4-BE49-F238E27FC236}">
                <a16:creationId xmlns:a16="http://schemas.microsoft.com/office/drawing/2014/main" id="{1024F2E7-2179-46C7-9DB0-D90D4B1EE0C4}"/>
              </a:ext>
            </a:extLst>
          </p:cNvPr>
          <p:cNvSpPr>
            <a:spLocks xmlns:a="http://schemas.openxmlformats.org/drawingml/2006/main" noGrp="1"/>
          </p:cNvSpPr>
          <p:nvPr/>
        </p:nvSpPr>
        <p:spPr>
          <a:xfrm xmlns:a="http://schemas.openxmlformats.org/drawingml/2006/main">
            <a:off x="952500" y="2971800"/>
            <a:ext cx="171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VALIDATION</a:t>
            </a:r>
          </a:p>
        </p:txBody>
      </p:sp>
      <p:sp>
        <p:nvSpPr>
          <p:cNvPr id="11" name="">
            <a:extLst xmlns:a="http://schemas.openxmlformats.org/drawingml/2006/main">
              <a:ext uri="{FF2B5EF4-FFF2-40B4-BE49-F238E27FC236}">
                <a16:creationId xmlns:a16="http://schemas.microsoft.com/office/drawing/2014/main" id="{4EF07168-03CE-46E2-8C6E-44F6B058E680}"/>
              </a:ext>
            </a:extLst>
          </p:cNvPr>
          <p:cNvSpPr>
            <a:spLocks xmlns:a="http://schemas.openxmlformats.org/drawingml/2006/main" noGrp="1"/>
          </p:cNvSpPr>
          <p:nvPr/>
        </p:nvSpPr>
        <p:spPr>
          <a:xfrm xmlns:a="http://schemas.openxmlformats.org/drawingml/2006/main">
            <a:off x="2838450" y="2971800"/>
            <a:ext cx="84010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75" b="0">
                <a:solidFill>
                  <a:srgbClr val="252D30"/>
                </a:solidFill>
                <a:latin typeface="Source Sans 3"/>
                <a:ea typeface="Source Sans 3"/>
                <a:cs typeface="Source Sans 3"/>
              </a:defRPr>
            </a:pPr>
            <a:r>
              <a:rPr sz="1575" b="0">
                <a:solidFill>
                  <a:srgbClr val="252D30"/>
                </a:solidFill>
                <a:latin typeface="Source Sans 3"/>
                <a:ea typeface="Source Sans 3"/>
                <a:cs typeface="Source Sans 3"/>
              </a:rPr>
              <a:t>Automated checks can flag missing, out-of-range, inconsistent or possibly duplicated information. They do not establish factual truth.</a:t>
            </a:r>
          </a:p>
        </p:txBody>
      </p:sp>
      <p:sp>
        <p:nvSpPr>
          <p:cNvPr id="12" name="">
            <a:extLst xmlns:a="http://schemas.openxmlformats.org/drawingml/2006/main">
              <a:ext uri="{FF2B5EF4-FFF2-40B4-BE49-F238E27FC236}">
                <a16:creationId xmlns:a16="http://schemas.microsoft.com/office/drawing/2014/main" id="{722158FD-B7A5-41E7-AF70-E432DBC875EA}"/>
              </a:ext>
            </a:extLst>
          </p:cNvPr>
          <p:cNvSpPr>
            <a:spLocks xmlns:a="http://schemas.openxmlformats.org/drawingml/2006/main" noGrp="1"/>
          </p:cNvSpPr>
          <p:nvPr/>
        </p:nvSpPr>
        <p:spPr>
          <a:xfrm xmlns:a="http://schemas.openxmlformats.org/drawingml/2006/main">
            <a:off x="952500" y="4048125"/>
            <a:ext cx="102489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3" name="">
            <a:extLst xmlns:a="http://schemas.openxmlformats.org/drawingml/2006/main">
              <a:ext uri="{FF2B5EF4-FFF2-40B4-BE49-F238E27FC236}">
                <a16:creationId xmlns:a16="http://schemas.microsoft.com/office/drawing/2014/main" id="{71359FDE-7059-4464-992B-FB4A47A6084E}"/>
              </a:ext>
            </a:extLst>
          </p:cNvPr>
          <p:cNvSpPr>
            <a:spLocks xmlns:a="http://schemas.openxmlformats.org/drawingml/2006/main" noGrp="1"/>
          </p:cNvSpPr>
          <p:nvPr/>
        </p:nvSpPr>
        <p:spPr>
          <a:xfrm xmlns:a="http://schemas.openxmlformats.org/drawingml/2006/main">
            <a:off x="952500" y="4391025"/>
            <a:ext cx="171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DISCLOSURE</a:t>
            </a:r>
          </a:p>
        </p:txBody>
      </p:sp>
      <p:sp>
        <p:nvSpPr>
          <p:cNvPr id="14" name="">
            <a:extLst xmlns:a="http://schemas.openxmlformats.org/drawingml/2006/main">
              <a:ext uri="{FF2B5EF4-FFF2-40B4-BE49-F238E27FC236}">
                <a16:creationId xmlns:a16="http://schemas.microsoft.com/office/drawing/2014/main" id="{807F85E6-54C0-4E65-A52E-59DEF3890A41}"/>
              </a:ext>
            </a:extLst>
          </p:cNvPr>
          <p:cNvSpPr>
            <a:spLocks xmlns:a="http://schemas.openxmlformats.org/drawingml/2006/main" noGrp="1"/>
          </p:cNvSpPr>
          <p:nvPr/>
        </p:nvSpPr>
        <p:spPr>
          <a:xfrm xmlns:a="http://schemas.openxmlformats.org/drawingml/2006/main">
            <a:off x="2838450" y="4391025"/>
            <a:ext cx="84010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75" b="0">
                <a:solidFill>
                  <a:srgbClr val="252D30"/>
                </a:solidFill>
                <a:latin typeface="Source Sans 3"/>
                <a:ea typeface="Source Sans 3"/>
                <a:cs typeface="Source Sans 3"/>
              </a:defRPr>
            </a:pPr>
            <a:r>
              <a:rPr sz="1575" b="0">
                <a:solidFill>
                  <a:srgbClr val="252D30"/>
                </a:solidFill>
                <a:latin typeface="Source Sans 3"/>
                <a:ea typeface="Source Sans 3"/>
                <a:cs typeface="Source Sans 3"/>
              </a:rPr>
              <a:t>Report any actual AI assistance in research or development according to institutional requirements. Do not imply a system AI capability that the paper does not contain.</a:t>
            </a:r>
          </a:p>
        </p:txBody>
      </p:sp>
    </p:spTree>
    <p:extLst>
      <p:ext uri="{BB962C8B-B14F-4D97-AF65-F5344CB8AC3E}">
        <p14:creationId xmlns:p14="http://schemas.microsoft.com/office/powerpoint/2010/main" val="1540122248"/>
      </p:ext>
    </p:extLst>
  </p:cSld>
</p:sld>
</file>

<file path=ppt/slides/slide35.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6808D9C-1C60-4208-B9A1-7C13E3C4E1C4}"/>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3B04E0A-493D-44A5-914A-3515346648B1}"/>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SIGNIFICANCE OF THE PROJECT</a:t>
            </a:r>
          </a:p>
        </p:txBody>
      </p:sp>
      <p:sp>
        <p:nvSpPr>
          <p:cNvPr id="3" name="">
            <a:extLst xmlns:a="http://schemas.openxmlformats.org/drawingml/2006/main">
              <a:ext uri="{FF2B5EF4-FFF2-40B4-BE49-F238E27FC236}">
                <a16:creationId xmlns:a16="http://schemas.microsoft.com/office/drawing/2014/main" id="{F2CBEEBF-06EA-403D-81BB-862935B5DDDA}"/>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The intended contribution is a traceable reporting process</a:t>
            </a:r>
          </a:p>
        </p:txBody>
      </p:sp>
      <p:sp>
        <p:nvSpPr>
          <p:cNvPr id="4" name="">
            <a:extLst xmlns:a="http://schemas.openxmlformats.org/drawingml/2006/main">
              <a:ext uri="{FF2B5EF4-FFF2-40B4-BE49-F238E27FC236}">
                <a16:creationId xmlns:a16="http://schemas.microsoft.com/office/drawing/2014/main" id="{9556D28B-562F-41BF-AAC9-4ACD25F92679}"/>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6D4D0F83-ECC7-4C99-9423-6171BCB38A71}"/>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Significance of the Project</a:t>
            </a:r>
          </a:p>
        </p:txBody>
      </p:sp>
      <p:sp>
        <p:nvSpPr>
          <p:cNvPr id="6" name="">
            <a:extLst xmlns:a="http://schemas.openxmlformats.org/drawingml/2006/main">
              <a:ext uri="{FF2B5EF4-FFF2-40B4-BE49-F238E27FC236}">
                <a16:creationId xmlns:a16="http://schemas.microsoft.com/office/drawing/2014/main" id="{46A41758-A426-4CE0-8214-4890532BF910}"/>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35</a:t>
            </a:r>
          </a:p>
        </p:txBody>
      </p:sp>
      <p:sp>
        <p:nvSpPr>
          <p:cNvPr id="7" name="">
            <a:extLst xmlns:a="http://schemas.openxmlformats.org/drawingml/2006/main">
              <a:ext uri="{FF2B5EF4-FFF2-40B4-BE49-F238E27FC236}">
                <a16:creationId xmlns:a16="http://schemas.microsoft.com/office/drawing/2014/main" id="{D55EB524-117D-4526-97FB-6D0FEC277325}"/>
              </a:ext>
            </a:extLst>
          </p:cNvPr>
          <p:cNvSpPr>
            <a:spLocks xmlns:a="http://schemas.openxmlformats.org/drawingml/2006/main" noGrp="1"/>
          </p:cNvSpPr>
          <p:nvPr/>
        </p:nvSpPr>
        <p:spPr>
          <a:xfrm xmlns:a="http://schemas.openxmlformats.org/drawingml/2006/main">
            <a:off x="952500" y="1419225"/>
            <a:ext cx="247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PUROK</a:t>
            </a:r>
          </a:p>
        </p:txBody>
      </p:sp>
      <p:sp>
        <p:nvSpPr>
          <p:cNvPr id="8" name="">
            <a:extLst xmlns:a="http://schemas.openxmlformats.org/drawingml/2006/main">
              <a:ext uri="{FF2B5EF4-FFF2-40B4-BE49-F238E27FC236}">
                <a16:creationId xmlns:a16="http://schemas.microsoft.com/office/drawing/2014/main" id="{D604C22A-BE0C-4124-BDBC-6189136F7E48}"/>
              </a:ext>
            </a:extLst>
          </p:cNvPr>
          <p:cNvSpPr>
            <a:spLocks xmlns:a="http://schemas.openxmlformats.org/drawingml/2006/main" noGrp="1"/>
          </p:cNvSpPr>
          <p:nvPr/>
        </p:nvSpPr>
        <p:spPr>
          <a:xfrm xmlns:a="http://schemas.openxmlformats.org/drawingml/2006/main">
            <a:off x="3648075" y="1409700"/>
            <a:ext cx="7429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75" b="0">
                <a:solidFill>
                  <a:srgbClr val="252D30"/>
                </a:solidFill>
                <a:latin typeface="Source Sans 3"/>
                <a:ea typeface="Source Sans 3"/>
                <a:cs typeface="Source Sans 3"/>
              </a:defRPr>
            </a:pPr>
            <a:r>
              <a:rPr sz="1575" b="0">
                <a:solidFill>
                  <a:srgbClr val="252D30"/>
                </a:solidFill>
                <a:latin typeface="Source Sans 3"/>
                <a:ea typeface="Source Sans 3"/>
                <a:cs typeface="Source Sans 3"/>
              </a:rPr>
              <a:t>A clearer path to submit aggregate community information and track its review.</a:t>
            </a:r>
          </a:p>
        </p:txBody>
      </p:sp>
      <p:sp>
        <p:nvSpPr>
          <p:cNvPr id="9" name="">
            <a:extLst xmlns:a="http://schemas.openxmlformats.org/drawingml/2006/main">
              <a:ext uri="{FF2B5EF4-FFF2-40B4-BE49-F238E27FC236}">
                <a16:creationId xmlns:a16="http://schemas.microsoft.com/office/drawing/2014/main" id="{18516087-FB27-4957-9C3B-FD7B3BC3A6A0}"/>
              </a:ext>
            </a:extLst>
          </p:cNvPr>
          <p:cNvSpPr>
            <a:spLocks xmlns:a="http://schemas.openxmlformats.org/drawingml/2006/main" noGrp="1"/>
          </p:cNvSpPr>
          <p:nvPr/>
        </p:nvSpPr>
        <p:spPr>
          <a:xfrm xmlns:a="http://schemas.openxmlformats.org/drawingml/2006/main">
            <a:off x="952500" y="2133600"/>
            <a:ext cx="10239375"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0" name="">
            <a:extLst xmlns:a="http://schemas.openxmlformats.org/drawingml/2006/main">
              <a:ext uri="{FF2B5EF4-FFF2-40B4-BE49-F238E27FC236}">
                <a16:creationId xmlns:a16="http://schemas.microsoft.com/office/drawing/2014/main" id="{6312A88A-C211-4559-B96A-8E55F58C2930}"/>
              </a:ext>
            </a:extLst>
          </p:cNvPr>
          <p:cNvSpPr>
            <a:spLocks xmlns:a="http://schemas.openxmlformats.org/drawingml/2006/main" noGrp="1"/>
          </p:cNvSpPr>
          <p:nvPr/>
        </p:nvSpPr>
        <p:spPr>
          <a:xfrm xmlns:a="http://schemas.openxmlformats.org/drawingml/2006/main">
            <a:off x="952500" y="2390775"/>
            <a:ext cx="247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BARANGAY</a:t>
            </a:r>
          </a:p>
        </p:txBody>
      </p:sp>
      <p:sp>
        <p:nvSpPr>
          <p:cNvPr id="11" name="">
            <a:extLst xmlns:a="http://schemas.openxmlformats.org/drawingml/2006/main">
              <a:ext uri="{FF2B5EF4-FFF2-40B4-BE49-F238E27FC236}">
                <a16:creationId xmlns:a16="http://schemas.microsoft.com/office/drawing/2014/main" id="{F0B2A38E-476E-42CC-BA11-3DDB818C1BCC}"/>
              </a:ext>
            </a:extLst>
          </p:cNvPr>
          <p:cNvSpPr>
            <a:spLocks xmlns:a="http://schemas.openxmlformats.org/drawingml/2006/main" noGrp="1"/>
          </p:cNvSpPr>
          <p:nvPr/>
        </p:nvSpPr>
        <p:spPr>
          <a:xfrm xmlns:a="http://schemas.openxmlformats.org/drawingml/2006/main">
            <a:off x="3648075" y="2381250"/>
            <a:ext cx="7429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75" b="0">
                <a:solidFill>
                  <a:srgbClr val="252D30"/>
                </a:solidFill>
                <a:latin typeface="Source Sans 3"/>
                <a:ea typeface="Source Sans 3"/>
                <a:cs typeface="Source Sans 3"/>
              </a:defRPr>
            </a:pPr>
            <a:r>
              <a:rPr sz="1575" b="0">
                <a:solidFill>
                  <a:srgbClr val="252D30"/>
                </a:solidFill>
                <a:latin typeface="Source Sans 3"/>
                <a:ea typeface="Source Sans 3"/>
                <a:cs typeface="Source Sans 3"/>
              </a:rPr>
              <a:t>A place to review source records and consolidate eligible Purok information.</a:t>
            </a:r>
          </a:p>
        </p:txBody>
      </p:sp>
      <p:sp>
        <p:nvSpPr>
          <p:cNvPr id="12" name="">
            <a:extLst xmlns:a="http://schemas.openxmlformats.org/drawingml/2006/main">
              <a:ext uri="{FF2B5EF4-FFF2-40B4-BE49-F238E27FC236}">
                <a16:creationId xmlns:a16="http://schemas.microsoft.com/office/drawing/2014/main" id="{DB284658-6044-450B-A651-C11CB9A10BCE}"/>
              </a:ext>
            </a:extLst>
          </p:cNvPr>
          <p:cNvSpPr>
            <a:spLocks xmlns:a="http://schemas.openxmlformats.org/drawingml/2006/main" noGrp="1"/>
          </p:cNvSpPr>
          <p:nvPr/>
        </p:nvSpPr>
        <p:spPr>
          <a:xfrm xmlns:a="http://schemas.openxmlformats.org/drawingml/2006/main">
            <a:off x="952500" y="3105150"/>
            <a:ext cx="10239375"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3" name="">
            <a:extLst xmlns:a="http://schemas.openxmlformats.org/drawingml/2006/main">
              <a:ext uri="{FF2B5EF4-FFF2-40B4-BE49-F238E27FC236}">
                <a16:creationId xmlns:a16="http://schemas.microsoft.com/office/drawing/2014/main" id="{8A053388-2151-4611-A560-92FF64615E07}"/>
              </a:ext>
            </a:extLst>
          </p:cNvPr>
          <p:cNvSpPr>
            <a:spLocks xmlns:a="http://schemas.openxmlformats.org/drawingml/2006/main" noGrp="1"/>
          </p:cNvSpPr>
          <p:nvPr/>
        </p:nvSpPr>
        <p:spPr>
          <a:xfrm xmlns:a="http://schemas.openxmlformats.org/drawingml/2006/main">
            <a:off x="952500" y="3362325"/>
            <a:ext cx="247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DRRM ORGANIZATION</a:t>
            </a:r>
          </a:p>
        </p:txBody>
      </p:sp>
      <p:sp>
        <p:nvSpPr>
          <p:cNvPr id="14" name="">
            <a:extLst xmlns:a="http://schemas.openxmlformats.org/drawingml/2006/main">
              <a:ext uri="{FF2B5EF4-FFF2-40B4-BE49-F238E27FC236}">
                <a16:creationId xmlns:a16="http://schemas.microsoft.com/office/drawing/2014/main" id="{DC79C2E0-CD90-4776-9C7B-1B3AE28EA031}"/>
              </a:ext>
            </a:extLst>
          </p:cNvPr>
          <p:cNvSpPr>
            <a:spLocks xmlns:a="http://schemas.openxmlformats.org/drawingml/2006/main" noGrp="1"/>
          </p:cNvSpPr>
          <p:nvPr/>
        </p:nvSpPr>
        <p:spPr>
          <a:xfrm xmlns:a="http://schemas.openxmlformats.org/drawingml/2006/main">
            <a:off x="3648075" y="3352800"/>
            <a:ext cx="7429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75" b="0">
                <a:solidFill>
                  <a:srgbClr val="252D30"/>
                </a:solidFill>
                <a:latin typeface="Source Sans 3"/>
                <a:ea typeface="Source Sans 3"/>
                <a:cs typeface="Source Sans 3"/>
              </a:defRPr>
            </a:pPr>
            <a:r>
              <a:rPr sz="1575" b="0">
                <a:solidFill>
                  <a:srgbClr val="252D30"/>
                </a:solidFill>
                <a:latin typeface="Source Sans 3"/>
                <a:ea typeface="Source Sans 3"/>
                <a:cs typeface="Source Sans 3"/>
              </a:rPr>
              <a:t>A structured source set for verification, operational monitoring and SitRep preparation.</a:t>
            </a:r>
          </a:p>
        </p:txBody>
      </p:sp>
      <p:sp>
        <p:nvSpPr>
          <p:cNvPr id="15" name="">
            <a:extLst xmlns:a="http://schemas.openxmlformats.org/drawingml/2006/main">
              <a:ext uri="{FF2B5EF4-FFF2-40B4-BE49-F238E27FC236}">
                <a16:creationId xmlns:a16="http://schemas.microsoft.com/office/drawing/2014/main" id="{DB01782D-9C27-46EB-BE6A-162196873B57}"/>
              </a:ext>
            </a:extLst>
          </p:cNvPr>
          <p:cNvSpPr>
            <a:spLocks xmlns:a="http://schemas.openxmlformats.org/drawingml/2006/main" noGrp="1"/>
          </p:cNvSpPr>
          <p:nvPr/>
        </p:nvSpPr>
        <p:spPr>
          <a:xfrm xmlns:a="http://schemas.openxmlformats.org/drawingml/2006/main">
            <a:off x="952500" y="4076700"/>
            <a:ext cx="10239375"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6" name="">
            <a:extLst xmlns:a="http://schemas.openxmlformats.org/drawingml/2006/main">
              <a:ext uri="{FF2B5EF4-FFF2-40B4-BE49-F238E27FC236}">
                <a16:creationId xmlns:a16="http://schemas.microsoft.com/office/drawing/2014/main" id="{80A20D36-08FC-41EC-ACEA-5787C84FDF2F}"/>
              </a:ext>
            </a:extLst>
          </p:cNvPr>
          <p:cNvSpPr>
            <a:spLocks xmlns:a="http://schemas.openxmlformats.org/drawingml/2006/main" noGrp="1"/>
          </p:cNvSpPr>
          <p:nvPr/>
        </p:nvSpPr>
        <p:spPr>
          <a:xfrm xmlns:a="http://schemas.openxmlformats.org/drawingml/2006/main">
            <a:off x="952500" y="4333875"/>
            <a:ext cx="247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RESEARCH</a:t>
            </a:r>
          </a:p>
        </p:txBody>
      </p:sp>
      <p:sp>
        <p:nvSpPr>
          <p:cNvPr id="17" name="">
            <a:extLst xmlns:a="http://schemas.openxmlformats.org/drawingml/2006/main">
              <a:ext uri="{FF2B5EF4-FFF2-40B4-BE49-F238E27FC236}">
                <a16:creationId xmlns:a16="http://schemas.microsoft.com/office/drawing/2014/main" id="{128B232F-28AC-46AC-A72A-DF41260DDD5E}"/>
              </a:ext>
            </a:extLst>
          </p:cNvPr>
          <p:cNvSpPr>
            <a:spLocks xmlns:a="http://schemas.openxmlformats.org/drawingml/2006/main" noGrp="1"/>
          </p:cNvSpPr>
          <p:nvPr/>
        </p:nvSpPr>
        <p:spPr>
          <a:xfrm xmlns:a="http://schemas.openxmlformats.org/drawingml/2006/main">
            <a:off x="3648075" y="4324350"/>
            <a:ext cx="7429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75" b="0">
                <a:solidFill>
                  <a:srgbClr val="252D30"/>
                </a:solidFill>
                <a:latin typeface="Source Sans 3"/>
                <a:ea typeface="Source Sans 3"/>
                <a:cs typeface="Source Sans 3"/>
              </a:defRPr>
            </a:pPr>
            <a:r>
              <a:rPr sz="1575" b="0">
                <a:solidFill>
                  <a:srgbClr val="252D30"/>
                </a:solidFill>
                <a:latin typeface="Source Sans 3"/>
                <a:ea typeface="Source Sans 3"/>
                <a:cs typeface="Source Sans 3"/>
              </a:rPr>
              <a:t>Versioned records may support later study of local DRRM information practices.</a:t>
            </a:r>
          </a:p>
        </p:txBody>
      </p:sp>
      <p:sp>
        <p:nvSpPr>
          <p:cNvPr id="18" name="">
            <a:extLst xmlns:a="http://schemas.openxmlformats.org/drawingml/2006/main">
              <a:ext uri="{FF2B5EF4-FFF2-40B4-BE49-F238E27FC236}">
                <a16:creationId xmlns:a16="http://schemas.microsoft.com/office/drawing/2014/main" id="{FE79B5A7-5D76-4AEE-96ED-D45722261F9C}"/>
              </a:ext>
            </a:extLst>
          </p:cNvPr>
          <p:cNvSpPr>
            <a:spLocks xmlns:a="http://schemas.openxmlformats.org/drawingml/2006/main" noGrp="1"/>
          </p:cNvSpPr>
          <p:nvPr/>
        </p:nvSpPr>
        <p:spPr>
          <a:xfrm xmlns:a="http://schemas.openxmlformats.org/drawingml/2006/main">
            <a:off x="952500" y="5524500"/>
            <a:ext cx="10144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A9782A"/>
                </a:solidFill>
                <a:latin typeface="Source Sans 3"/>
                <a:ea typeface="Source Sans 3"/>
                <a:cs typeface="Source Sans 3"/>
              </a:defRPr>
            </a:pPr>
            <a:r>
              <a:rPr sz="1350" b="1">
                <a:solidFill>
                  <a:srgbClr val="A9782A"/>
                </a:solidFill>
                <a:latin typeface="Source Sans 3"/>
                <a:ea typeface="Source Sans 3"/>
                <a:cs typeface="Source Sans 3"/>
              </a:rPr>
              <a:t>These benefits remain to be evaluated with intended users.</a:t>
            </a:r>
          </a:p>
        </p:txBody>
      </p:sp>
    </p:spTree>
    <p:extLst>
      <p:ext uri="{BB962C8B-B14F-4D97-AF65-F5344CB8AC3E}">
        <p14:creationId xmlns:p14="http://schemas.microsoft.com/office/powerpoint/2010/main" val="315365382"/>
      </p:ext>
    </p:extLst>
  </p:cSld>
</p:sld>
</file>

<file path=ppt/slides/slide36.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0F1D200-52CA-444B-A386-DE0F0DC6AB06}"/>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E175884-D430-45B2-AF61-47BCDCD27C8D}"/>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SUMMARY</a:t>
            </a:r>
          </a:p>
        </p:txBody>
      </p:sp>
      <p:sp>
        <p:nvSpPr>
          <p:cNvPr id="3" name="">
            <a:extLst xmlns:a="http://schemas.openxmlformats.org/drawingml/2006/main">
              <a:ext uri="{FF2B5EF4-FFF2-40B4-BE49-F238E27FC236}">
                <a16:creationId xmlns:a16="http://schemas.microsoft.com/office/drawing/2014/main" id="{B540D9B4-E297-4911-AFAC-4779609284BF}"/>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The proposal joins grassroots reports to controlled SitRep preparation</a:t>
            </a:r>
          </a:p>
        </p:txBody>
      </p:sp>
      <p:sp>
        <p:nvSpPr>
          <p:cNvPr id="4" name="">
            <a:extLst xmlns:a="http://schemas.openxmlformats.org/drawingml/2006/main">
              <a:ext uri="{FF2B5EF4-FFF2-40B4-BE49-F238E27FC236}">
                <a16:creationId xmlns:a16="http://schemas.microsoft.com/office/drawing/2014/main" id="{37B17535-8CA2-4C73-93AB-D0E15EF4E1BA}"/>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E3230685-A9B3-49E0-ADF4-8018200114F8}"/>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synthesis of the revised paper, Chapters 1–3</a:t>
            </a:r>
          </a:p>
        </p:txBody>
      </p:sp>
      <p:sp>
        <p:nvSpPr>
          <p:cNvPr id="6" name="">
            <a:extLst xmlns:a="http://schemas.openxmlformats.org/drawingml/2006/main">
              <a:ext uri="{FF2B5EF4-FFF2-40B4-BE49-F238E27FC236}">
                <a16:creationId xmlns:a16="http://schemas.microsoft.com/office/drawing/2014/main" id="{1ABCDA3D-5424-442C-9669-11AEEB6C639F}"/>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36</a:t>
            </a:r>
          </a:p>
        </p:txBody>
      </p:sp>
      <p:sp>
        <p:nvSpPr>
          <p:cNvPr id="7" name="">
            <a:extLst xmlns:a="http://schemas.openxmlformats.org/drawingml/2006/main">
              <a:ext uri="{FF2B5EF4-FFF2-40B4-BE49-F238E27FC236}">
                <a16:creationId xmlns:a16="http://schemas.microsoft.com/office/drawing/2014/main" id="{92B97BE7-5AA0-4BA4-A3E1-EDBD9B47F4FE}"/>
              </a:ext>
            </a:extLst>
          </p:cNvPr>
          <p:cNvSpPr>
            <a:spLocks xmlns:a="http://schemas.openxmlformats.org/drawingml/2006/main" noGrp="1"/>
          </p:cNvSpPr>
          <p:nvPr/>
        </p:nvSpPr>
        <p:spPr>
          <a:xfrm xmlns:a="http://schemas.openxmlformats.org/drawingml/2006/main">
            <a:off x="1162050" y="1619250"/>
            <a:ext cx="9858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2025" b="1">
                <a:solidFill>
                  <a:srgbClr val="252D30"/>
                </a:solidFill>
                <a:latin typeface="Lexend"/>
                <a:ea typeface="Lexend"/>
                <a:cs typeface="Lexend"/>
              </a:defRPr>
            </a:pPr>
            <a:r>
              <a:rPr sz="2025" b="1">
                <a:solidFill>
                  <a:srgbClr val="252D30"/>
                </a:solidFill>
                <a:latin typeface="Lexend"/>
                <a:ea typeface="Lexend"/>
                <a:cs typeface="Lexend"/>
              </a:rPr>
              <a:t>Purok submits an initial aggregate record.</a:t>
            </a:r>
          </a:p>
        </p:txBody>
      </p:sp>
      <p:sp>
        <p:nvSpPr>
          <p:cNvPr id="8" name="">
            <a:extLst xmlns:a="http://schemas.openxmlformats.org/drawingml/2006/main">
              <a:ext uri="{FF2B5EF4-FFF2-40B4-BE49-F238E27FC236}">
                <a16:creationId xmlns:a16="http://schemas.microsoft.com/office/drawing/2014/main" id="{82DE5F0E-CC67-486A-92BB-09121EB3CA7F}"/>
              </a:ext>
            </a:extLst>
          </p:cNvPr>
          <p:cNvSpPr>
            <a:spLocks xmlns:a="http://schemas.openxmlformats.org/drawingml/2006/main" noGrp="1"/>
          </p:cNvSpPr>
          <p:nvPr/>
        </p:nvSpPr>
        <p:spPr>
          <a:xfrm xmlns:a="http://schemas.openxmlformats.org/drawingml/2006/main">
            <a:off x="1162050" y="2486025"/>
            <a:ext cx="9858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2025" b="1">
                <a:solidFill>
                  <a:srgbClr val="252D30"/>
                </a:solidFill>
                <a:latin typeface="Lexend"/>
                <a:ea typeface="Lexend"/>
                <a:cs typeface="Lexend"/>
              </a:defRPr>
            </a:pPr>
            <a:r>
              <a:rPr sz="2025" b="1">
                <a:solidFill>
                  <a:srgbClr val="252D30"/>
                </a:solidFill>
                <a:latin typeface="Lexend"/>
                <a:ea typeface="Lexend"/>
                <a:cs typeface="Lexend"/>
              </a:rPr>
              <a:t>Barangay reviews and consolidates verified information.</a:t>
            </a:r>
          </a:p>
        </p:txBody>
      </p:sp>
      <p:sp>
        <p:nvSpPr>
          <p:cNvPr id="9" name="">
            <a:extLst xmlns:a="http://schemas.openxmlformats.org/drawingml/2006/main">
              <a:ext uri="{FF2B5EF4-FFF2-40B4-BE49-F238E27FC236}">
                <a16:creationId xmlns:a16="http://schemas.microsoft.com/office/drawing/2014/main" id="{60EA5B9F-9BB9-44EA-865D-7B260CBB4C90}"/>
              </a:ext>
            </a:extLst>
          </p:cNvPr>
          <p:cNvSpPr>
            <a:spLocks xmlns:a="http://schemas.openxmlformats.org/drawingml/2006/main" noGrp="1"/>
          </p:cNvSpPr>
          <p:nvPr/>
        </p:nvSpPr>
        <p:spPr>
          <a:xfrm xmlns:a="http://schemas.openxmlformats.org/drawingml/2006/main">
            <a:off x="1162050" y="3352800"/>
            <a:ext cx="9858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2025" b="1">
                <a:solidFill>
                  <a:srgbClr val="252D30"/>
                </a:solidFill>
                <a:latin typeface="Lexend"/>
                <a:ea typeface="Lexend"/>
                <a:cs typeface="Lexend"/>
              </a:defRPr>
            </a:pPr>
            <a:r>
              <a:rPr sz="2025" b="1">
                <a:solidFill>
                  <a:srgbClr val="252D30"/>
                </a:solidFill>
                <a:latin typeface="Lexend"/>
                <a:ea typeface="Lexend"/>
                <a:cs typeface="Lexend"/>
              </a:rPr>
              <a:t>DRRM personnel prepare and route a source-linked SitRep for authorized approval.</a:t>
            </a:r>
          </a:p>
        </p:txBody>
      </p:sp>
      <p:sp>
        <p:nvSpPr>
          <p:cNvPr id="10" name="">
            <a:extLst xmlns:a="http://schemas.openxmlformats.org/drawingml/2006/main">
              <a:ext uri="{FF2B5EF4-FFF2-40B4-BE49-F238E27FC236}">
                <a16:creationId xmlns:a16="http://schemas.microsoft.com/office/drawing/2014/main" id="{79A4A3DB-AA30-4874-8929-654DED9956E7}"/>
              </a:ext>
            </a:extLst>
          </p:cNvPr>
          <p:cNvSpPr>
            <a:spLocks xmlns:a="http://schemas.openxmlformats.org/drawingml/2006/main" noGrp="1"/>
          </p:cNvSpPr>
          <p:nvPr/>
        </p:nvSpPr>
        <p:spPr>
          <a:xfrm xmlns:a="http://schemas.openxmlformats.org/drawingml/2006/main">
            <a:off x="2619375" y="4286250"/>
            <a:ext cx="6943725" cy="0"/>
          </a:xfrm>
          <a:prstGeom xmlns:a="http://schemas.openxmlformats.org/drawingml/2006/main" prst="line">
            <a:avLst/>
          </a:prstGeom>
          <a:noFill xmlns:a="http://schemas.openxmlformats.org/drawingml/2006/main"/>
          <a:ln xmlns:a="http://schemas.openxmlformats.org/drawingml/2006/main" w="19050">
            <a:solidFill>
              <a:srgbClr val="276E6B"/>
            </a:solidFill>
          </a:ln>
        </p:spPr>
      </p:sp>
      <p:sp>
        <p:nvSpPr>
          <p:cNvPr id="11" name="">
            <a:extLst xmlns:a="http://schemas.openxmlformats.org/drawingml/2006/main">
              <a:ext uri="{FF2B5EF4-FFF2-40B4-BE49-F238E27FC236}">
                <a16:creationId xmlns:a16="http://schemas.microsoft.com/office/drawing/2014/main" id="{392FCF07-BBAA-40C2-A05F-E412FA3C32D0}"/>
              </a:ext>
            </a:extLst>
          </p:cNvPr>
          <p:cNvSpPr>
            <a:spLocks xmlns:a="http://schemas.openxmlformats.org/drawingml/2006/main" noGrp="1"/>
          </p:cNvSpPr>
          <p:nvPr/>
        </p:nvSpPr>
        <p:spPr>
          <a:xfrm xmlns:a="http://schemas.openxmlformats.org/drawingml/2006/main">
            <a:off x="1504950" y="4686300"/>
            <a:ext cx="91821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650" b="0">
                <a:solidFill>
                  <a:srgbClr val="59676A"/>
                </a:solidFill>
                <a:latin typeface="Source Sans 3"/>
                <a:ea typeface="Source Sans 3"/>
                <a:cs typeface="Source Sans 3"/>
              </a:defRPr>
            </a:pPr>
            <a:r>
              <a:rPr sz="1650" b="0">
                <a:solidFill>
                  <a:srgbClr val="59676A"/>
                </a:solidFill>
                <a:latin typeface="Source Sans 3"/>
                <a:ea typeface="Source Sans 3"/>
                <a:cs typeface="Source Sans 3"/>
              </a:rPr>
              <a:t>The system supports the process. Public officials retain the decisions.</a:t>
            </a:r>
          </a:p>
        </p:txBody>
      </p:sp>
    </p:spTree>
    <p:extLst>
      <p:ext uri="{BB962C8B-B14F-4D97-AF65-F5344CB8AC3E}">
        <p14:creationId xmlns:p14="http://schemas.microsoft.com/office/powerpoint/2010/main" val="1261326851"/>
      </p:ext>
    </p:extLst>
  </p:cSld>
</p:sld>
</file>

<file path=ppt/slides/slide37.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7FCAEB74-781D-4A53-961B-CB5783D0D686}"/>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268D030-31F3-4939-A3BC-367716D57804}"/>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REFERENCES</a:t>
            </a:r>
          </a:p>
        </p:txBody>
      </p:sp>
      <p:sp>
        <p:nvSpPr>
          <p:cNvPr id="3" name="">
            <a:extLst xmlns:a="http://schemas.openxmlformats.org/drawingml/2006/main">
              <a:ext uri="{FF2B5EF4-FFF2-40B4-BE49-F238E27FC236}">
                <a16:creationId xmlns:a16="http://schemas.microsoft.com/office/drawing/2014/main" id="{2FF3812E-61AD-4044-A7FE-AB9467410AA6}"/>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Selected authorities and studies cited in the revised paper</a:t>
            </a:r>
          </a:p>
        </p:txBody>
      </p:sp>
      <p:sp>
        <p:nvSpPr>
          <p:cNvPr id="4" name="">
            <a:extLst xmlns:a="http://schemas.openxmlformats.org/drawingml/2006/main">
              <a:ext uri="{FF2B5EF4-FFF2-40B4-BE49-F238E27FC236}">
                <a16:creationId xmlns:a16="http://schemas.microsoft.com/office/drawing/2014/main" id="{63E0472E-EC0A-4CBC-8AB1-8A11FD4C2714}"/>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5B82A0CC-3118-4383-9DE3-777123D51BAF}"/>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Full bibliographic details are in the revised manuscript's References section</a:t>
            </a:r>
          </a:p>
        </p:txBody>
      </p:sp>
      <p:sp>
        <p:nvSpPr>
          <p:cNvPr id="6" name="">
            <a:extLst xmlns:a="http://schemas.openxmlformats.org/drawingml/2006/main">
              <a:ext uri="{FF2B5EF4-FFF2-40B4-BE49-F238E27FC236}">
                <a16:creationId xmlns:a16="http://schemas.microsoft.com/office/drawing/2014/main" id="{534D1432-53D2-4208-B1CC-869380C35DA1}"/>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37</a:t>
            </a:r>
          </a:p>
        </p:txBody>
      </p:sp>
      <p:sp>
        <p:nvSpPr>
          <p:cNvPr id="7" name="">
            <a:extLst xmlns:a="http://schemas.openxmlformats.org/drawingml/2006/main">
              <a:ext uri="{FF2B5EF4-FFF2-40B4-BE49-F238E27FC236}">
                <a16:creationId xmlns:a16="http://schemas.microsoft.com/office/drawing/2014/main" id="{6A7B3E6A-8870-4EFA-9936-7F87B8703406}"/>
              </a:ext>
            </a:extLst>
          </p:cNvPr>
          <p:cNvSpPr>
            <a:spLocks xmlns:a="http://schemas.openxmlformats.org/drawingml/2006/main" noGrp="1"/>
          </p:cNvSpPr>
          <p:nvPr/>
        </p:nvSpPr>
        <p:spPr>
          <a:xfrm xmlns:a="http://schemas.openxmlformats.org/drawingml/2006/main">
            <a:off x="933450" y="1362075"/>
            <a:ext cx="4000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163" b="1">
                <a:solidFill>
                  <a:srgbClr val="276E6B"/>
                </a:solidFill>
                <a:latin typeface="Lexend"/>
                <a:ea typeface="Lexend"/>
                <a:cs typeface="Lexend"/>
              </a:defRPr>
            </a:pPr>
            <a:r>
              <a:rPr sz="1163" b="1">
                <a:solidFill>
                  <a:srgbClr val="276E6B"/>
                </a:solidFill>
                <a:latin typeface="Lexend"/>
                <a:ea typeface="Lexend"/>
                <a:cs typeface="Lexend"/>
              </a:rPr>
              <a:t>01</a:t>
            </a:r>
          </a:p>
        </p:txBody>
      </p:sp>
      <p:sp>
        <p:nvSpPr>
          <p:cNvPr id="8" name="">
            <a:extLst xmlns:a="http://schemas.openxmlformats.org/drawingml/2006/main">
              <a:ext uri="{FF2B5EF4-FFF2-40B4-BE49-F238E27FC236}">
                <a16:creationId xmlns:a16="http://schemas.microsoft.com/office/drawing/2014/main" id="{9B2FF67D-9A1B-4434-B86C-06BBAD292D35}"/>
              </a:ext>
            </a:extLst>
          </p:cNvPr>
          <p:cNvSpPr>
            <a:spLocks xmlns:a="http://schemas.openxmlformats.org/drawingml/2006/main" noGrp="1"/>
          </p:cNvSpPr>
          <p:nvPr/>
        </p:nvSpPr>
        <p:spPr>
          <a:xfrm xmlns:a="http://schemas.openxmlformats.org/drawingml/2006/main">
            <a:off x="1390650" y="1362075"/>
            <a:ext cx="9829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0">
                <a:solidFill>
                  <a:srgbClr val="252D30"/>
                </a:solidFill>
                <a:latin typeface="Source Sans 3"/>
                <a:ea typeface="Source Sans 3"/>
                <a:cs typeface="Source Sans 3"/>
              </a:defRPr>
            </a:pPr>
            <a:r>
              <a:rPr sz="1350" b="0">
                <a:solidFill>
                  <a:srgbClr val="252D30"/>
                </a:solidFill>
                <a:latin typeface="Source Sans 3"/>
                <a:ea typeface="Source Sans 3"/>
                <a:cs typeface="Source Sans 3"/>
              </a:rPr>
              <a:t>Republic Act No. 10121 (2010), Philippine Disaster Risk Reduction and Management Act, Section 12.</a:t>
            </a:r>
          </a:p>
        </p:txBody>
      </p:sp>
      <p:sp>
        <p:nvSpPr>
          <p:cNvPr id="9" name="">
            <a:extLst xmlns:a="http://schemas.openxmlformats.org/drawingml/2006/main">
              <a:ext uri="{FF2B5EF4-FFF2-40B4-BE49-F238E27FC236}">
                <a16:creationId xmlns:a16="http://schemas.microsoft.com/office/drawing/2014/main" id="{8B89BE7F-5645-479C-B7B1-FC82BA4F1913}"/>
              </a:ext>
            </a:extLst>
          </p:cNvPr>
          <p:cNvSpPr>
            <a:spLocks xmlns:a="http://schemas.openxmlformats.org/drawingml/2006/main" noGrp="1"/>
          </p:cNvSpPr>
          <p:nvPr/>
        </p:nvSpPr>
        <p:spPr>
          <a:xfrm xmlns:a="http://schemas.openxmlformats.org/drawingml/2006/main">
            <a:off x="1390650" y="1914525"/>
            <a:ext cx="98298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0" name="">
            <a:extLst xmlns:a="http://schemas.openxmlformats.org/drawingml/2006/main">
              <a:ext uri="{FF2B5EF4-FFF2-40B4-BE49-F238E27FC236}">
                <a16:creationId xmlns:a16="http://schemas.microsoft.com/office/drawing/2014/main" id="{A2B8656A-70E0-4C23-A9D0-8CAB8482F245}"/>
              </a:ext>
            </a:extLst>
          </p:cNvPr>
          <p:cNvSpPr>
            <a:spLocks xmlns:a="http://schemas.openxmlformats.org/drawingml/2006/main" noGrp="1"/>
          </p:cNvSpPr>
          <p:nvPr/>
        </p:nvSpPr>
        <p:spPr>
          <a:xfrm xmlns:a="http://schemas.openxmlformats.org/drawingml/2006/main">
            <a:off x="933450" y="1981200"/>
            <a:ext cx="4000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163" b="1">
                <a:solidFill>
                  <a:srgbClr val="276E6B"/>
                </a:solidFill>
                <a:latin typeface="Lexend"/>
                <a:ea typeface="Lexend"/>
                <a:cs typeface="Lexend"/>
              </a:defRPr>
            </a:pPr>
            <a:r>
              <a:rPr sz="1163" b="1">
                <a:solidFill>
                  <a:srgbClr val="276E6B"/>
                </a:solidFill>
                <a:latin typeface="Lexend"/>
                <a:ea typeface="Lexend"/>
                <a:cs typeface="Lexend"/>
              </a:rPr>
              <a:t>02</a:t>
            </a:r>
          </a:p>
        </p:txBody>
      </p:sp>
      <p:sp>
        <p:nvSpPr>
          <p:cNvPr id="11" name="">
            <a:extLst xmlns:a="http://schemas.openxmlformats.org/drawingml/2006/main">
              <a:ext uri="{FF2B5EF4-FFF2-40B4-BE49-F238E27FC236}">
                <a16:creationId xmlns:a16="http://schemas.microsoft.com/office/drawing/2014/main" id="{9CD9560A-B9E7-4D18-891B-6345C549CBC3}"/>
              </a:ext>
            </a:extLst>
          </p:cNvPr>
          <p:cNvSpPr>
            <a:spLocks xmlns:a="http://schemas.openxmlformats.org/drawingml/2006/main" noGrp="1"/>
          </p:cNvSpPr>
          <p:nvPr/>
        </p:nvSpPr>
        <p:spPr>
          <a:xfrm xmlns:a="http://schemas.openxmlformats.org/drawingml/2006/main">
            <a:off x="1390650" y="1981200"/>
            <a:ext cx="9829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0">
                <a:solidFill>
                  <a:srgbClr val="252D30"/>
                </a:solidFill>
                <a:latin typeface="Source Sans 3"/>
                <a:ea typeface="Source Sans 3"/>
                <a:cs typeface="Source Sans 3"/>
              </a:defRPr>
            </a:pPr>
            <a:r>
              <a:rPr sz="1350" b="0">
                <a:solidFill>
                  <a:srgbClr val="252D30"/>
                </a:solidFill>
                <a:latin typeface="Source Sans 3"/>
                <a:ea typeface="Source Sans 3"/>
                <a:cs typeface="Source Sans 3"/>
              </a:rPr>
              <a:t>NDRRMC. (2024). NDRRM Operations Center Standard Operating Procedures and Guidelines.</a:t>
            </a:r>
          </a:p>
        </p:txBody>
      </p:sp>
      <p:sp>
        <p:nvSpPr>
          <p:cNvPr id="12" name="">
            <a:extLst xmlns:a="http://schemas.openxmlformats.org/drawingml/2006/main">
              <a:ext uri="{FF2B5EF4-FFF2-40B4-BE49-F238E27FC236}">
                <a16:creationId xmlns:a16="http://schemas.microsoft.com/office/drawing/2014/main" id="{092DCEEC-B740-4880-9A05-27D1349E2991}"/>
              </a:ext>
            </a:extLst>
          </p:cNvPr>
          <p:cNvSpPr>
            <a:spLocks xmlns:a="http://schemas.openxmlformats.org/drawingml/2006/main" noGrp="1"/>
          </p:cNvSpPr>
          <p:nvPr/>
        </p:nvSpPr>
        <p:spPr>
          <a:xfrm xmlns:a="http://schemas.openxmlformats.org/drawingml/2006/main">
            <a:off x="1390650" y="2533650"/>
            <a:ext cx="98298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3" name="">
            <a:extLst xmlns:a="http://schemas.openxmlformats.org/drawingml/2006/main">
              <a:ext uri="{FF2B5EF4-FFF2-40B4-BE49-F238E27FC236}">
                <a16:creationId xmlns:a16="http://schemas.microsoft.com/office/drawing/2014/main" id="{54EF539F-18F5-4A26-ABE2-7066287CDCD0}"/>
              </a:ext>
            </a:extLst>
          </p:cNvPr>
          <p:cNvSpPr>
            <a:spLocks xmlns:a="http://schemas.openxmlformats.org/drawingml/2006/main" noGrp="1"/>
          </p:cNvSpPr>
          <p:nvPr/>
        </p:nvSpPr>
        <p:spPr>
          <a:xfrm xmlns:a="http://schemas.openxmlformats.org/drawingml/2006/main">
            <a:off x="933450" y="2600325"/>
            <a:ext cx="4000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163" b="1">
                <a:solidFill>
                  <a:srgbClr val="276E6B"/>
                </a:solidFill>
                <a:latin typeface="Lexend"/>
                <a:ea typeface="Lexend"/>
                <a:cs typeface="Lexend"/>
              </a:defRPr>
            </a:pPr>
            <a:r>
              <a:rPr sz="1163" b="1">
                <a:solidFill>
                  <a:srgbClr val="276E6B"/>
                </a:solidFill>
                <a:latin typeface="Lexend"/>
                <a:ea typeface="Lexend"/>
                <a:cs typeface="Lexend"/>
              </a:rPr>
              <a:t>03</a:t>
            </a:r>
          </a:p>
        </p:txBody>
      </p:sp>
      <p:sp>
        <p:nvSpPr>
          <p:cNvPr id="14" name="">
            <a:extLst xmlns:a="http://schemas.openxmlformats.org/drawingml/2006/main">
              <a:ext uri="{FF2B5EF4-FFF2-40B4-BE49-F238E27FC236}">
                <a16:creationId xmlns:a16="http://schemas.microsoft.com/office/drawing/2014/main" id="{BB44F4B4-645B-41EF-9B88-905D96A20FAD}"/>
              </a:ext>
            </a:extLst>
          </p:cNvPr>
          <p:cNvSpPr>
            <a:spLocks xmlns:a="http://schemas.openxmlformats.org/drawingml/2006/main" noGrp="1"/>
          </p:cNvSpPr>
          <p:nvPr/>
        </p:nvSpPr>
        <p:spPr>
          <a:xfrm xmlns:a="http://schemas.openxmlformats.org/drawingml/2006/main">
            <a:off x="1390650" y="2600325"/>
            <a:ext cx="9829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0">
                <a:solidFill>
                  <a:srgbClr val="252D30"/>
                </a:solidFill>
                <a:latin typeface="Source Sans 3"/>
                <a:ea typeface="Source Sans 3"/>
                <a:cs typeface="Source Sans 3"/>
              </a:defRPr>
            </a:pPr>
            <a:r>
              <a:rPr sz="1350" b="0">
                <a:solidFill>
                  <a:srgbClr val="252D30"/>
                </a:solidFill>
                <a:latin typeface="Source Sans 3"/>
                <a:ea typeface="Source Sans 3"/>
                <a:cs typeface="Source Sans 3"/>
              </a:rPr>
              <a:t>Republic Act No. 10173 (2012), Data Privacy Act, and its Implementing Rules and Regulations.</a:t>
            </a:r>
          </a:p>
        </p:txBody>
      </p:sp>
      <p:sp>
        <p:nvSpPr>
          <p:cNvPr id="15" name="">
            <a:extLst xmlns:a="http://schemas.openxmlformats.org/drawingml/2006/main">
              <a:ext uri="{FF2B5EF4-FFF2-40B4-BE49-F238E27FC236}">
                <a16:creationId xmlns:a16="http://schemas.microsoft.com/office/drawing/2014/main" id="{44E03788-22A2-4912-AD5C-AE20637241ED}"/>
              </a:ext>
            </a:extLst>
          </p:cNvPr>
          <p:cNvSpPr>
            <a:spLocks xmlns:a="http://schemas.openxmlformats.org/drawingml/2006/main" noGrp="1"/>
          </p:cNvSpPr>
          <p:nvPr/>
        </p:nvSpPr>
        <p:spPr>
          <a:xfrm xmlns:a="http://schemas.openxmlformats.org/drawingml/2006/main">
            <a:off x="1390650" y="3152775"/>
            <a:ext cx="98298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6" name="">
            <a:extLst xmlns:a="http://schemas.openxmlformats.org/drawingml/2006/main">
              <a:ext uri="{FF2B5EF4-FFF2-40B4-BE49-F238E27FC236}">
                <a16:creationId xmlns:a16="http://schemas.microsoft.com/office/drawing/2014/main" id="{ED8525FD-9962-4DFF-BF21-CC54204319F2}"/>
              </a:ext>
            </a:extLst>
          </p:cNvPr>
          <p:cNvSpPr>
            <a:spLocks xmlns:a="http://schemas.openxmlformats.org/drawingml/2006/main" noGrp="1"/>
          </p:cNvSpPr>
          <p:nvPr/>
        </p:nvSpPr>
        <p:spPr>
          <a:xfrm xmlns:a="http://schemas.openxmlformats.org/drawingml/2006/main">
            <a:off x="933450" y="3219450"/>
            <a:ext cx="4000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163" b="1">
                <a:solidFill>
                  <a:srgbClr val="276E6B"/>
                </a:solidFill>
                <a:latin typeface="Lexend"/>
                <a:ea typeface="Lexend"/>
                <a:cs typeface="Lexend"/>
              </a:defRPr>
            </a:pPr>
            <a:r>
              <a:rPr sz="1163" b="1">
                <a:solidFill>
                  <a:srgbClr val="276E6B"/>
                </a:solidFill>
                <a:latin typeface="Lexend"/>
                <a:ea typeface="Lexend"/>
                <a:cs typeface="Lexend"/>
              </a:rPr>
              <a:t>04</a:t>
            </a:r>
          </a:p>
        </p:txBody>
      </p:sp>
      <p:sp>
        <p:nvSpPr>
          <p:cNvPr id="17" name="">
            <a:extLst xmlns:a="http://schemas.openxmlformats.org/drawingml/2006/main">
              <a:ext uri="{FF2B5EF4-FFF2-40B4-BE49-F238E27FC236}">
                <a16:creationId xmlns:a16="http://schemas.microsoft.com/office/drawing/2014/main" id="{91493523-4486-4E7A-B645-3491009140E8}"/>
              </a:ext>
            </a:extLst>
          </p:cNvPr>
          <p:cNvSpPr>
            <a:spLocks xmlns:a="http://schemas.openxmlformats.org/drawingml/2006/main" noGrp="1"/>
          </p:cNvSpPr>
          <p:nvPr/>
        </p:nvSpPr>
        <p:spPr>
          <a:xfrm xmlns:a="http://schemas.openxmlformats.org/drawingml/2006/main">
            <a:off x="1390650" y="3219450"/>
            <a:ext cx="9829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0">
                <a:solidFill>
                  <a:srgbClr val="252D30"/>
                </a:solidFill>
                <a:latin typeface="Source Sans 3"/>
                <a:ea typeface="Source Sans 3"/>
                <a:cs typeface="Source Sans 3"/>
              </a:defRPr>
            </a:pPr>
            <a:r>
              <a:rPr sz="1350" b="0">
                <a:solidFill>
                  <a:srgbClr val="252D30"/>
                </a:solidFill>
                <a:latin typeface="Source Sans 3"/>
                <a:ea typeface="Source Sans 3"/>
                <a:cs typeface="Source Sans 3"/>
              </a:rPr>
              <a:t>Republic Act No. 9470 (2007), National Archives of the Philippines Act; Republic Act No. 12254 (2025), E-Governance Act.</a:t>
            </a:r>
          </a:p>
        </p:txBody>
      </p:sp>
      <p:sp>
        <p:nvSpPr>
          <p:cNvPr id="18" name="">
            <a:extLst xmlns:a="http://schemas.openxmlformats.org/drawingml/2006/main">
              <a:ext uri="{FF2B5EF4-FFF2-40B4-BE49-F238E27FC236}">
                <a16:creationId xmlns:a16="http://schemas.microsoft.com/office/drawing/2014/main" id="{4E131009-9FD7-4225-8984-FB8031DED38C}"/>
              </a:ext>
            </a:extLst>
          </p:cNvPr>
          <p:cNvSpPr>
            <a:spLocks xmlns:a="http://schemas.openxmlformats.org/drawingml/2006/main" noGrp="1"/>
          </p:cNvSpPr>
          <p:nvPr/>
        </p:nvSpPr>
        <p:spPr>
          <a:xfrm xmlns:a="http://schemas.openxmlformats.org/drawingml/2006/main">
            <a:off x="1390650" y="3771900"/>
            <a:ext cx="98298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9" name="">
            <a:extLst xmlns:a="http://schemas.openxmlformats.org/drawingml/2006/main">
              <a:ext uri="{FF2B5EF4-FFF2-40B4-BE49-F238E27FC236}">
                <a16:creationId xmlns:a16="http://schemas.microsoft.com/office/drawing/2014/main" id="{C51C057B-C848-4D3A-9E4E-3981B947D12A}"/>
              </a:ext>
            </a:extLst>
          </p:cNvPr>
          <p:cNvSpPr>
            <a:spLocks xmlns:a="http://schemas.openxmlformats.org/drawingml/2006/main" noGrp="1"/>
          </p:cNvSpPr>
          <p:nvPr/>
        </p:nvSpPr>
        <p:spPr>
          <a:xfrm xmlns:a="http://schemas.openxmlformats.org/drawingml/2006/main">
            <a:off x="933450" y="3838575"/>
            <a:ext cx="4000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163" b="1">
                <a:solidFill>
                  <a:srgbClr val="276E6B"/>
                </a:solidFill>
                <a:latin typeface="Lexend"/>
                <a:ea typeface="Lexend"/>
                <a:cs typeface="Lexend"/>
              </a:defRPr>
            </a:pPr>
            <a:r>
              <a:rPr sz="1163" b="1">
                <a:solidFill>
                  <a:srgbClr val="276E6B"/>
                </a:solidFill>
                <a:latin typeface="Lexend"/>
                <a:ea typeface="Lexend"/>
                <a:cs typeface="Lexend"/>
              </a:rPr>
              <a:t>05</a:t>
            </a:r>
          </a:p>
        </p:txBody>
      </p:sp>
      <p:sp>
        <p:nvSpPr>
          <p:cNvPr id="20" name="">
            <a:extLst xmlns:a="http://schemas.openxmlformats.org/drawingml/2006/main">
              <a:ext uri="{FF2B5EF4-FFF2-40B4-BE49-F238E27FC236}">
                <a16:creationId xmlns:a16="http://schemas.microsoft.com/office/drawing/2014/main" id="{95054797-C3DF-4AC5-92CA-C16B03F01548}"/>
              </a:ext>
            </a:extLst>
          </p:cNvPr>
          <p:cNvSpPr>
            <a:spLocks xmlns:a="http://schemas.openxmlformats.org/drawingml/2006/main" noGrp="1"/>
          </p:cNvSpPr>
          <p:nvPr/>
        </p:nvSpPr>
        <p:spPr>
          <a:xfrm xmlns:a="http://schemas.openxmlformats.org/drawingml/2006/main">
            <a:off x="1390650" y="3838575"/>
            <a:ext cx="9829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0">
                <a:solidFill>
                  <a:srgbClr val="252D30"/>
                </a:solidFill>
                <a:latin typeface="Source Sans 3"/>
                <a:ea typeface="Source Sans 3"/>
                <a:cs typeface="Source Sans 3"/>
              </a:defRPr>
            </a:pPr>
            <a:r>
              <a:rPr sz="1350" b="0">
                <a:solidFill>
                  <a:srgbClr val="252D30"/>
                </a:solidFill>
                <a:latin typeface="Source Sans 3"/>
                <a:ea typeface="Source Sans 3"/>
                <a:cs typeface="Source Sans 3"/>
              </a:rPr>
              <a:t>De Los Santos et al. (2020), Bandilyo App; Philippine Disaster Response Management Bureau (2024), AGAPP.</a:t>
            </a:r>
          </a:p>
        </p:txBody>
      </p:sp>
      <p:sp>
        <p:nvSpPr>
          <p:cNvPr id="21" name="">
            <a:extLst xmlns:a="http://schemas.openxmlformats.org/drawingml/2006/main">
              <a:ext uri="{FF2B5EF4-FFF2-40B4-BE49-F238E27FC236}">
                <a16:creationId xmlns:a16="http://schemas.microsoft.com/office/drawing/2014/main" id="{CF441D2F-4363-4313-86D4-2A3ED7CE0FB2}"/>
              </a:ext>
            </a:extLst>
          </p:cNvPr>
          <p:cNvSpPr>
            <a:spLocks xmlns:a="http://schemas.openxmlformats.org/drawingml/2006/main" noGrp="1"/>
          </p:cNvSpPr>
          <p:nvPr/>
        </p:nvSpPr>
        <p:spPr>
          <a:xfrm xmlns:a="http://schemas.openxmlformats.org/drawingml/2006/main">
            <a:off x="1390650" y="4391025"/>
            <a:ext cx="98298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2" name="">
            <a:extLst xmlns:a="http://schemas.openxmlformats.org/drawingml/2006/main">
              <a:ext uri="{FF2B5EF4-FFF2-40B4-BE49-F238E27FC236}">
                <a16:creationId xmlns:a16="http://schemas.microsoft.com/office/drawing/2014/main" id="{FE8165C5-18CA-4A50-AD5C-A898408DC928}"/>
              </a:ext>
            </a:extLst>
          </p:cNvPr>
          <p:cNvSpPr>
            <a:spLocks xmlns:a="http://schemas.openxmlformats.org/drawingml/2006/main" noGrp="1"/>
          </p:cNvSpPr>
          <p:nvPr/>
        </p:nvSpPr>
        <p:spPr>
          <a:xfrm xmlns:a="http://schemas.openxmlformats.org/drawingml/2006/main">
            <a:off x="933450" y="4457700"/>
            <a:ext cx="4000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163" b="1">
                <a:solidFill>
                  <a:srgbClr val="276E6B"/>
                </a:solidFill>
                <a:latin typeface="Lexend"/>
                <a:ea typeface="Lexend"/>
                <a:cs typeface="Lexend"/>
              </a:defRPr>
            </a:pPr>
            <a:r>
              <a:rPr sz="1163" b="1">
                <a:solidFill>
                  <a:srgbClr val="276E6B"/>
                </a:solidFill>
                <a:latin typeface="Lexend"/>
                <a:ea typeface="Lexend"/>
                <a:cs typeface="Lexend"/>
              </a:rPr>
              <a:t>06</a:t>
            </a:r>
          </a:p>
        </p:txBody>
      </p:sp>
      <p:sp>
        <p:nvSpPr>
          <p:cNvPr id="23" name="">
            <a:extLst xmlns:a="http://schemas.openxmlformats.org/drawingml/2006/main">
              <a:ext uri="{FF2B5EF4-FFF2-40B4-BE49-F238E27FC236}">
                <a16:creationId xmlns:a16="http://schemas.microsoft.com/office/drawing/2014/main" id="{9E5FE317-4E8B-411A-85FD-5A1D34C818EF}"/>
              </a:ext>
            </a:extLst>
          </p:cNvPr>
          <p:cNvSpPr>
            <a:spLocks xmlns:a="http://schemas.openxmlformats.org/drawingml/2006/main" noGrp="1"/>
          </p:cNvSpPr>
          <p:nvPr/>
        </p:nvSpPr>
        <p:spPr>
          <a:xfrm xmlns:a="http://schemas.openxmlformats.org/drawingml/2006/main">
            <a:off x="1390650" y="4457700"/>
            <a:ext cx="9829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0">
                <a:solidFill>
                  <a:srgbClr val="252D30"/>
                </a:solidFill>
                <a:latin typeface="Source Sans 3"/>
                <a:ea typeface="Source Sans 3"/>
                <a:cs typeface="Source Sans 3"/>
              </a:defRPr>
            </a:pPr>
            <a:r>
              <a:rPr sz="1350" b="0">
                <a:solidFill>
                  <a:srgbClr val="252D30"/>
                </a:solidFill>
                <a:latin typeface="Source Sans 3"/>
                <a:ea typeface="Source Sans 3"/>
                <a:cs typeface="Source Sans 3"/>
              </a:rPr>
              <a:t>Montefalcon et al. (2021), IRespondPH; Calanog et al. (2024), Mamamayan.</a:t>
            </a:r>
          </a:p>
        </p:txBody>
      </p:sp>
      <p:sp>
        <p:nvSpPr>
          <p:cNvPr id="24" name="">
            <a:extLst xmlns:a="http://schemas.openxmlformats.org/drawingml/2006/main">
              <a:ext uri="{FF2B5EF4-FFF2-40B4-BE49-F238E27FC236}">
                <a16:creationId xmlns:a16="http://schemas.microsoft.com/office/drawing/2014/main" id="{E8BE1073-8387-456C-9033-03023613E1EF}"/>
              </a:ext>
            </a:extLst>
          </p:cNvPr>
          <p:cNvSpPr>
            <a:spLocks xmlns:a="http://schemas.openxmlformats.org/drawingml/2006/main" noGrp="1"/>
          </p:cNvSpPr>
          <p:nvPr/>
        </p:nvSpPr>
        <p:spPr>
          <a:xfrm xmlns:a="http://schemas.openxmlformats.org/drawingml/2006/main">
            <a:off x="1390650" y="5010150"/>
            <a:ext cx="98298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5" name="">
            <a:extLst xmlns:a="http://schemas.openxmlformats.org/drawingml/2006/main">
              <a:ext uri="{FF2B5EF4-FFF2-40B4-BE49-F238E27FC236}">
                <a16:creationId xmlns:a16="http://schemas.microsoft.com/office/drawing/2014/main" id="{36D5C531-0569-4A4D-81A8-793DA3383C5E}"/>
              </a:ext>
            </a:extLst>
          </p:cNvPr>
          <p:cNvSpPr>
            <a:spLocks xmlns:a="http://schemas.openxmlformats.org/drawingml/2006/main" noGrp="1"/>
          </p:cNvSpPr>
          <p:nvPr/>
        </p:nvSpPr>
        <p:spPr>
          <a:xfrm xmlns:a="http://schemas.openxmlformats.org/drawingml/2006/main">
            <a:off x="933450" y="5076825"/>
            <a:ext cx="4000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163" b="1">
                <a:solidFill>
                  <a:srgbClr val="276E6B"/>
                </a:solidFill>
                <a:latin typeface="Lexend"/>
                <a:ea typeface="Lexend"/>
                <a:cs typeface="Lexend"/>
              </a:defRPr>
            </a:pPr>
            <a:r>
              <a:rPr sz="1163" b="1">
                <a:solidFill>
                  <a:srgbClr val="276E6B"/>
                </a:solidFill>
                <a:latin typeface="Lexend"/>
                <a:ea typeface="Lexend"/>
                <a:cs typeface="Lexend"/>
              </a:rPr>
              <a:t>07</a:t>
            </a:r>
          </a:p>
        </p:txBody>
      </p:sp>
      <p:sp>
        <p:nvSpPr>
          <p:cNvPr id="26" name="">
            <a:extLst xmlns:a="http://schemas.openxmlformats.org/drawingml/2006/main">
              <a:ext uri="{FF2B5EF4-FFF2-40B4-BE49-F238E27FC236}">
                <a16:creationId xmlns:a16="http://schemas.microsoft.com/office/drawing/2014/main" id="{CC2F6CE2-EACC-47B9-A0EA-BD4591677DFB}"/>
              </a:ext>
            </a:extLst>
          </p:cNvPr>
          <p:cNvSpPr>
            <a:spLocks xmlns:a="http://schemas.openxmlformats.org/drawingml/2006/main" noGrp="1"/>
          </p:cNvSpPr>
          <p:nvPr/>
        </p:nvSpPr>
        <p:spPr>
          <a:xfrm xmlns:a="http://schemas.openxmlformats.org/drawingml/2006/main">
            <a:off x="1390650" y="5076825"/>
            <a:ext cx="9829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0">
                <a:solidFill>
                  <a:srgbClr val="252D30"/>
                </a:solidFill>
                <a:latin typeface="Source Sans 3"/>
                <a:ea typeface="Source Sans 3"/>
                <a:cs typeface="Source Sans 3"/>
              </a:defRPr>
            </a:pPr>
            <a:r>
              <a:rPr sz="1350" b="0">
                <a:solidFill>
                  <a:srgbClr val="252D30"/>
                </a:solidFill>
                <a:latin typeface="Source Sans 3"/>
                <a:ea typeface="Source Sans 3"/>
                <a:cs typeface="Source Sans 3"/>
              </a:rPr>
              <a:t>A. Kanti, second ZCDRRMO interview, 26 March 2026, as reported in the revised manuscript.</a:t>
            </a:r>
          </a:p>
        </p:txBody>
      </p:sp>
    </p:spTree>
    <p:extLst>
      <p:ext uri="{BB962C8B-B14F-4D97-AF65-F5344CB8AC3E}">
        <p14:creationId xmlns:p14="http://schemas.microsoft.com/office/powerpoint/2010/main" val="966160064"/>
      </p:ext>
    </p:extLst>
  </p:cSld>
</p:sld>
</file>

<file path=ppt/slides/slide38.xml><?xml version="1.0" encoding="utf-8"?>
<p:sld xmlns:p="http://schemas.openxmlformats.org/presentationml/2006/main">
  <p:cSld>
    <p:bg>
      <p:bgPr>
        <a:solidFill xmlns:a="http://schemas.openxmlformats.org/drawingml/2006/main">
          <a:srgbClr val="20292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EC8AC91-6CC0-40A1-A19A-7ED6603F7FE9}"/>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1CFC16E-D81A-48E4-921A-6C1A0F4FFABB}"/>
              </a:ext>
            </a:extLst>
          </p:cNvPr>
          <p:cNvSpPr>
            <a:spLocks xmlns:a="http://schemas.openxmlformats.org/drawingml/2006/main" noGrp="1"/>
          </p:cNvSpPr>
          <p:nvPr/>
        </p:nvSpPr>
        <p:spPr>
          <a:xfrm xmlns:a="http://schemas.openxmlformats.org/drawingml/2006/main">
            <a:off x="819150" y="866775"/>
            <a:ext cx="1038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00" b="1">
                <a:solidFill>
                  <a:srgbClr val="9BC6C1"/>
                </a:solidFill>
                <a:latin typeface="Lexend"/>
                <a:ea typeface="Lexend"/>
                <a:cs typeface="Lexend"/>
              </a:defRPr>
            </a:pPr>
            <a:r>
              <a:rPr sz="1200" b="1">
                <a:solidFill>
                  <a:srgbClr val="9BC6C1"/>
                </a:solidFill>
                <a:latin typeface="Lexend"/>
                <a:ea typeface="Lexend"/>
                <a:cs typeface="Lexend"/>
              </a:rPr>
              <a:t>DISCUSSION</a:t>
            </a:r>
          </a:p>
        </p:txBody>
      </p:sp>
      <p:sp>
        <p:nvSpPr>
          <p:cNvPr id="3" name="">
            <a:extLst xmlns:a="http://schemas.openxmlformats.org/drawingml/2006/main">
              <a:ext uri="{FF2B5EF4-FFF2-40B4-BE49-F238E27FC236}">
                <a16:creationId xmlns:a16="http://schemas.microsoft.com/office/drawing/2014/main" id="{D271C1DB-4702-4159-931B-D25AB9FF1778}"/>
              </a:ext>
            </a:extLst>
          </p:cNvPr>
          <p:cNvSpPr>
            <a:spLocks xmlns:a="http://schemas.openxmlformats.org/drawingml/2006/main" noGrp="1"/>
          </p:cNvSpPr>
          <p:nvPr/>
        </p:nvSpPr>
        <p:spPr>
          <a:xfrm xmlns:a="http://schemas.openxmlformats.org/drawingml/2006/main">
            <a:off x="819150" y="1647825"/>
            <a:ext cx="10382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4050" b="1">
                <a:solidFill>
                  <a:srgbClr val="FFFFFF"/>
                </a:solidFill>
                <a:latin typeface="Lexend"/>
                <a:ea typeface="Lexend"/>
                <a:cs typeface="Lexend"/>
              </a:defRPr>
            </a:pPr>
            <a:r>
              <a:rPr sz="4050" b="1">
                <a:solidFill>
                  <a:srgbClr val="FFFFFF"/>
                </a:solidFill>
                <a:latin typeface="Lexend"/>
                <a:ea typeface="Lexend"/>
                <a:cs typeface="Lexend"/>
              </a:rPr>
              <a:t>Questions</a:t>
            </a:r>
          </a:p>
        </p:txBody>
      </p:sp>
      <p:sp>
        <p:nvSpPr>
          <p:cNvPr id="4" name="">
            <a:extLst xmlns:a="http://schemas.openxmlformats.org/drawingml/2006/main">
              <a:ext uri="{FF2B5EF4-FFF2-40B4-BE49-F238E27FC236}">
                <a16:creationId xmlns:a16="http://schemas.microsoft.com/office/drawing/2014/main" id="{69C5CC8B-C3C0-4F16-B4C3-73B2F132EE0E}"/>
              </a:ext>
            </a:extLst>
          </p:cNvPr>
          <p:cNvSpPr>
            <a:spLocks xmlns:a="http://schemas.openxmlformats.org/drawingml/2006/main" noGrp="1"/>
          </p:cNvSpPr>
          <p:nvPr/>
        </p:nvSpPr>
        <p:spPr>
          <a:xfrm xmlns:a="http://schemas.openxmlformats.org/drawingml/2006/main">
            <a:off x="819150" y="2686050"/>
            <a:ext cx="95726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725" b="0">
                <a:solidFill>
                  <a:srgbClr val="E0E7E5"/>
                </a:solidFill>
                <a:latin typeface="Source Sans 3"/>
                <a:ea typeface="Source Sans 3"/>
                <a:cs typeface="Source Sans 3"/>
              </a:defRPr>
            </a:pPr>
            <a:r>
              <a:rPr sz="1725" b="0">
                <a:solidFill>
                  <a:srgbClr val="E0E7E5"/>
                </a:solidFill>
                <a:latin typeface="Source Sans 3"/>
                <a:ea typeface="Source Sans 3"/>
                <a:cs typeface="Source Sans 3"/>
              </a:rPr>
              <a:t>Integrated Disaster Incident Record Management and Automated Situation Report Generation System</a:t>
            </a:r>
          </a:p>
        </p:txBody>
      </p:sp>
      <p:sp>
        <p:nvSpPr>
          <p:cNvPr id="5" name="">
            <a:extLst xmlns:a="http://schemas.openxmlformats.org/drawingml/2006/main">
              <a:ext uri="{FF2B5EF4-FFF2-40B4-BE49-F238E27FC236}">
                <a16:creationId xmlns:a16="http://schemas.microsoft.com/office/drawing/2014/main" id="{AF822A03-D023-4EA6-BBA2-5DAE45A47A07}"/>
              </a:ext>
            </a:extLst>
          </p:cNvPr>
          <p:cNvSpPr>
            <a:spLocks xmlns:a="http://schemas.openxmlformats.org/drawingml/2006/main" noGrp="1"/>
          </p:cNvSpPr>
          <p:nvPr/>
        </p:nvSpPr>
        <p:spPr>
          <a:xfrm xmlns:a="http://schemas.openxmlformats.org/drawingml/2006/main">
            <a:off x="819150" y="3990975"/>
            <a:ext cx="8801100" cy="0"/>
          </a:xfrm>
          <a:prstGeom xmlns:a="http://schemas.openxmlformats.org/drawingml/2006/main" prst="line">
            <a:avLst/>
          </a:prstGeom>
          <a:noFill xmlns:a="http://schemas.openxmlformats.org/drawingml/2006/main"/>
          <a:ln xmlns:a="http://schemas.openxmlformats.org/drawingml/2006/main" w="9525">
            <a:solidFill>
              <a:srgbClr val="586164"/>
            </a:solidFill>
          </a:ln>
        </p:spPr>
      </p:sp>
      <p:sp>
        <p:nvSpPr>
          <p:cNvPr id="6" name="">
            <a:extLst xmlns:a="http://schemas.openxmlformats.org/drawingml/2006/main">
              <a:ext uri="{FF2B5EF4-FFF2-40B4-BE49-F238E27FC236}">
                <a16:creationId xmlns:a16="http://schemas.microsoft.com/office/drawing/2014/main" id="{E2018689-99BF-49F8-B1DD-D4BAE5503D52}"/>
              </a:ext>
            </a:extLst>
          </p:cNvPr>
          <p:cNvSpPr>
            <a:spLocks xmlns:a="http://schemas.openxmlformats.org/drawingml/2006/main" noGrp="1"/>
          </p:cNvSpPr>
          <p:nvPr/>
        </p:nvSpPr>
        <p:spPr>
          <a:xfrm xmlns:a="http://schemas.openxmlformats.org/drawingml/2006/main">
            <a:off x="819150" y="4305300"/>
            <a:ext cx="8953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425" b="0">
                <a:solidFill>
                  <a:srgbClr val="E0E7E5"/>
                </a:solidFill>
                <a:latin typeface="Source Sans 3"/>
                <a:ea typeface="Source Sans 3"/>
                <a:cs typeface="Source Sans 3"/>
              </a:defRPr>
            </a:pPr>
            <a:r>
              <a:rPr sz="1425" b="0">
                <a:solidFill>
                  <a:srgbClr val="E0E7E5"/>
                </a:solidFill>
                <a:latin typeface="Source Sans 3"/>
                <a:ea typeface="Source Sans 3"/>
                <a:cs typeface="Source Sans 3"/>
              </a:rPr>
              <a:t>Katrina Mae D.G. Perez and RJ P. Somosa</a:t>
            </a:r>
          </a:p>
        </p:txBody>
      </p:sp>
      <p:sp>
        <p:nvSpPr>
          <p:cNvPr id="7" name="">
            <a:extLst xmlns:a="http://schemas.openxmlformats.org/drawingml/2006/main">
              <a:ext uri="{FF2B5EF4-FFF2-40B4-BE49-F238E27FC236}">
                <a16:creationId xmlns:a16="http://schemas.microsoft.com/office/drawing/2014/main" id="{9478F4D4-A67D-4935-B7EE-9173826F90F7}"/>
              </a:ext>
            </a:extLst>
          </p:cNvPr>
          <p:cNvSpPr>
            <a:spLocks xmlns:a="http://schemas.openxmlformats.org/drawingml/2006/main" noGrp="1"/>
          </p:cNvSpPr>
          <p:nvPr/>
        </p:nvSpPr>
        <p:spPr>
          <a:xfrm xmlns:a="http://schemas.openxmlformats.org/drawingml/2006/main">
            <a:off x="819150" y="47148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75" b="0">
                <a:solidFill>
                  <a:srgbClr val="ABB7B8"/>
                </a:solidFill>
                <a:latin typeface="Source Sans 3"/>
                <a:ea typeface="Source Sans 3"/>
                <a:cs typeface="Source Sans 3"/>
              </a:defRPr>
            </a:pPr>
            <a:r>
              <a:rPr sz="1275" b="0">
                <a:solidFill>
                  <a:srgbClr val="ABB7B8"/>
                </a:solidFill>
                <a:latin typeface="Source Sans 3"/>
                <a:ea typeface="Source Sans 3"/>
                <a:cs typeface="Source Sans 3"/>
              </a:rPr>
              <a:t>Capstone project proposal, September 2026</a:t>
            </a:r>
          </a:p>
        </p:txBody>
      </p:sp>
    </p:spTree>
    <p:extLst>
      <p:ext uri="{BB962C8B-B14F-4D97-AF65-F5344CB8AC3E}">
        <p14:creationId xmlns:p14="http://schemas.microsoft.com/office/powerpoint/2010/main" val="418557396"/>
      </p:ext>
    </p:extLst>
  </p:cSld>
</p:sld>
</file>

<file path=ppt/slides/slide39.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4E9D6BD-C002-4148-9D5F-26664F670A71}"/>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6F4B354-998C-4AD4-A69F-6D70F4C0495B}"/>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APPENDIX: SOURCE DIAGRAM</a:t>
            </a:r>
          </a:p>
        </p:txBody>
      </p:sp>
      <p:sp>
        <p:nvSpPr>
          <p:cNvPr id="3" name="">
            <a:extLst xmlns:a="http://schemas.openxmlformats.org/drawingml/2006/main">
              <a:ext uri="{FF2B5EF4-FFF2-40B4-BE49-F238E27FC236}">
                <a16:creationId xmlns:a16="http://schemas.microsoft.com/office/drawing/2014/main" id="{D57426D3-8CE1-46B8-A044-B6DFF421D3FE}"/>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Figure 2: Proposed System Flowchart</a:t>
            </a:r>
          </a:p>
        </p:txBody>
      </p:sp>
      <p:sp>
        <p:nvSpPr>
          <p:cNvPr id="4" name="">
            <a:extLst xmlns:a="http://schemas.openxmlformats.org/drawingml/2006/main">
              <a:ext uri="{FF2B5EF4-FFF2-40B4-BE49-F238E27FC236}">
                <a16:creationId xmlns:a16="http://schemas.microsoft.com/office/drawing/2014/main" id="{49D7AC7E-9284-4195-B8A1-55555FB211F9}"/>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9BE0D93B-805F-4845-9975-88C33ABC3965}"/>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Figure 2</a:t>
            </a:r>
          </a:p>
        </p:txBody>
      </p:sp>
      <p:sp>
        <p:nvSpPr>
          <p:cNvPr id="6" name="">
            <a:extLst xmlns:a="http://schemas.openxmlformats.org/drawingml/2006/main">
              <a:ext uri="{FF2B5EF4-FFF2-40B4-BE49-F238E27FC236}">
                <a16:creationId xmlns:a16="http://schemas.microsoft.com/office/drawing/2014/main" id="{E68CFCDB-DCA7-4C42-866C-9316A0EE693B}"/>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39</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dc53781e20044d9d"/>
          <a:stretch xmlns:a="http://schemas.openxmlformats.org/drawingml/2006/main"/>
        </p:blipFill>
        <p:spPr>
          <a:xfrm xmlns:a="http://schemas.openxmlformats.org/drawingml/2006/main">
            <a:off x="1991888" y="1266825"/>
            <a:ext cx="8208224" cy="4629150"/>
          </a:xfrm>
          <a:prstGeom xmlns:a="http://schemas.openxmlformats.org/drawingml/2006/main" prst="rect">
            <a:avLst/>
          </a:prstGeom>
        </p:spPr>
      </p:pic>
    </p:spTree>
    <p:extLst>
      <p:ext uri="{BB962C8B-B14F-4D97-AF65-F5344CB8AC3E}">
        <p14:creationId xmlns:p14="http://schemas.microsoft.com/office/powerpoint/2010/main" val="417369714"/>
      </p:ext>
    </p:extLst>
  </p:cSld>
</p:sld>
</file>

<file path=ppt/slides/slide40.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C41F1E2-B3A8-4E12-8576-3265AC39CDBF}"/>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0016ABE-CC6E-4B8D-BF78-F3D67E086955}"/>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APPENDIX: SOURCE DIAGRAM</a:t>
            </a:r>
          </a:p>
        </p:txBody>
      </p:sp>
      <p:sp>
        <p:nvSpPr>
          <p:cNvPr id="3" name="">
            <a:extLst xmlns:a="http://schemas.openxmlformats.org/drawingml/2006/main">
              <a:ext uri="{FF2B5EF4-FFF2-40B4-BE49-F238E27FC236}">
                <a16:creationId xmlns:a16="http://schemas.microsoft.com/office/drawing/2014/main" id="{B5C99188-50F6-429D-8C74-880E3B82A1CB}"/>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Figure 27: Level 0 Data Flow Diagram</a:t>
            </a:r>
          </a:p>
        </p:txBody>
      </p:sp>
      <p:sp>
        <p:nvSpPr>
          <p:cNvPr id="4" name="">
            <a:extLst xmlns:a="http://schemas.openxmlformats.org/drawingml/2006/main">
              <a:ext uri="{FF2B5EF4-FFF2-40B4-BE49-F238E27FC236}">
                <a16:creationId xmlns:a16="http://schemas.microsoft.com/office/drawing/2014/main" id="{7F006853-47A1-46CE-89AB-F007FA0BCA01}"/>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8F68A62B-0BFF-4A95-9B71-84EC18A0F6DE}"/>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Figure 27</a:t>
            </a:r>
          </a:p>
        </p:txBody>
      </p:sp>
      <p:sp>
        <p:nvSpPr>
          <p:cNvPr id="6" name="">
            <a:extLst xmlns:a="http://schemas.openxmlformats.org/drawingml/2006/main">
              <a:ext uri="{FF2B5EF4-FFF2-40B4-BE49-F238E27FC236}">
                <a16:creationId xmlns:a16="http://schemas.microsoft.com/office/drawing/2014/main" id="{CBC1A40D-067A-44D5-8563-F3B4518E4A36}"/>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40</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bc5a84b031e24e9e"/>
          <a:stretch xmlns:a="http://schemas.openxmlformats.org/drawingml/2006/main"/>
        </p:blipFill>
        <p:spPr>
          <a:xfrm xmlns:a="http://schemas.openxmlformats.org/drawingml/2006/main">
            <a:off x="2582101" y="1266825"/>
            <a:ext cx="7027798" cy="4629150"/>
          </a:xfrm>
          <a:prstGeom xmlns:a="http://schemas.openxmlformats.org/drawingml/2006/main" prst="rect">
            <a:avLst/>
          </a:prstGeom>
        </p:spPr>
      </p:pic>
    </p:spTree>
    <p:extLst>
      <p:ext uri="{BB962C8B-B14F-4D97-AF65-F5344CB8AC3E}">
        <p14:creationId xmlns:p14="http://schemas.microsoft.com/office/powerpoint/2010/main" val="1833463257"/>
      </p:ext>
    </p:extLst>
  </p:cSld>
</p:sld>
</file>

<file path=ppt/slides/slide41.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BF89FD2-F5CF-400C-982F-7E92210A3E1E}"/>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070B924-C630-4D23-AA35-F1C9A67965C1}"/>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APPENDIX: SOURCE DIAGRAM</a:t>
            </a:r>
          </a:p>
        </p:txBody>
      </p:sp>
      <p:sp>
        <p:nvSpPr>
          <p:cNvPr id="3" name="">
            <a:extLst xmlns:a="http://schemas.openxmlformats.org/drawingml/2006/main">
              <a:ext uri="{FF2B5EF4-FFF2-40B4-BE49-F238E27FC236}">
                <a16:creationId xmlns:a16="http://schemas.microsoft.com/office/drawing/2014/main" id="{4D0A130D-886A-4A72-9F18-AE11F015A749}"/>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Figure 40: Entity Relationship Diagram</a:t>
            </a:r>
          </a:p>
        </p:txBody>
      </p:sp>
      <p:sp>
        <p:nvSpPr>
          <p:cNvPr id="4" name="">
            <a:extLst xmlns:a="http://schemas.openxmlformats.org/drawingml/2006/main">
              <a:ext uri="{FF2B5EF4-FFF2-40B4-BE49-F238E27FC236}">
                <a16:creationId xmlns:a16="http://schemas.microsoft.com/office/drawing/2014/main" id="{27A57AE2-64C6-405D-BE88-2C83F3C7B1FD}"/>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5143F35E-20C6-4AE3-BD05-7D0DC1BF361F}"/>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Figure 40</a:t>
            </a:r>
          </a:p>
        </p:txBody>
      </p:sp>
      <p:sp>
        <p:nvSpPr>
          <p:cNvPr id="6" name="">
            <a:extLst xmlns:a="http://schemas.openxmlformats.org/drawingml/2006/main">
              <a:ext uri="{FF2B5EF4-FFF2-40B4-BE49-F238E27FC236}">
                <a16:creationId xmlns:a16="http://schemas.microsoft.com/office/drawing/2014/main" id="{39A387BE-6C71-478C-A311-0834E13F1B37}"/>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41</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dfa810ef09ac422d"/>
          <a:stretch xmlns:a="http://schemas.openxmlformats.org/drawingml/2006/main"/>
        </p:blipFill>
        <p:spPr>
          <a:xfrm xmlns:a="http://schemas.openxmlformats.org/drawingml/2006/main">
            <a:off x="2216909" y="1266825"/>
            <a:ext cx="7758183" cy="4629150"/>
          </a:xfrm>
          <a:prstGeom xmlns:a="http://schemas.openxmlformats.org/drawingml/2006/main" prst="rect">
            <a:avLst/>
          </a:prstGeom>
        </p:spPr>
      </p:pic>
    </p:spTree>
    <p:extLst>
      <p:ext uri="{BB962C8B-B14F-4D97-AF65-F5344CB8AC3E}">
        <p14:creationId xmlns:p14="http://schemas.microsoft.com/office/powerpoint/2010/main" val="461586140"/>
      </p:ext>
    </p:extLst>
  </p:cSld>
</p:sld>
</file>

<file path=ppt/slides/slide42.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7D489A8-9A18-46B5-BBC8-132C512E084F}"/>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722FE19-2CA0-4A2C-8BDA-2D547024DEA1}"/>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APPENDIX: SOURCE DIAGRAM</a:t>
            </a:r>
          </a:p>
        </p:txBody>
      </p:sp>
      <p:sp>
        <p:nvSpPr>
          <p:cNvPr id="3" name="">
            <a:extLst xmlns:a="http://schemas.openxmlformats.org/drawingml/2006/main">
              <a:ext uri="{FF2B5EF4-FFF2-40B4-BE49-F238E27FC236}">
                <a16:creationId xmlns:a16="http://schemas.microsoft.com/office/drawing/2014/main" id="{09E6447B-29DF-4C87-A1A7-A0C093F8A3F2}"/>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Figure 41: Relational Data Model</a:t>
            </a:r>
          </a:p>
        </p:txBody>
      </p:sp>
      <p:sp>
        <p:nvSpPr>
          <p:cNvPr id="4" name="">
            <a:extLst xmlns:a="http://schemas.openxmlformats.org/drawingml/2006/main">
              <a:ext uri="{FF2B5EF4-FFF2-40B4-BE49-F238E27FC236}">
                <a16:creationId xmlns:a16="http://schemas.microsoft.com/office/drawing/2014/main" id="{028AE429-90BB-489F-A216-DF3A1ADF2C39}"/>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EC864613-406F-4F22-9791-F2CC4204B6D1}"/>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Figure 41</a:t>
            </a:r>
          </a:p>
        </p:txBody>
      </p:sp>
      <p:sp>
        <p:nvSpPr>
          <p:cNvPr id="6" name="">
            <a:extLst xmlns:a="http://schemas.openxmlformats.org/drawingml/2006/main">
              <a:ext uri="{FF2B5EF4-FFF2-40B4-BE49-F238E27FC236}">
                <a16:creationId xmlns:a16="http://schemas.microsoft.com/office/drawing/2014/main" id="{F09DA3A5-6546-480E-B0EB-7A4648119F28}"/>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42</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f4dbd45e79b64e55"/>
          <a:stretch xmlns:a="http://schemas.openxmlformats.org/drawingml/2006/main"/>
        </p:blipFill>
        <p:spPr>
          <a:xfrm xmlns:a="http://schemas.openxmlformats.org/drawingml/2006/main">
            <a:off x="3398078" y="1266825"/>
            <a:ext cx="5395845" cy="4629150"/>
          </a:xfrm>
          <a:prstGeom xmlns:a="http://schemas.openxmlformats.org/drawingml/2006/main" prst="rect">
            <a:avLst/>
          </a:prstGeom>
        </p:spPr>
      </p:pic>
    </p:spTree>
    <p:extLst>
      <p:ext uri="{BB962C8B-B14F-4D97-AF65-F5344CB8AC3E}">
        <p14:creationId xmlns:p14="http://schemas.microsoft.com/office/powerpoint/2010/main" val="206851253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2026-09-25T11:25:41.9090000Z</dcterms:created>
  <dcterms:modified xsi:type="dcterms:W3CDTF">2026-09-25T11:25:41.9090000Z</dcterms:modified>
</coreProperties>
</file>