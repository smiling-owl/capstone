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b66c2650b43d8" /><Relationship Type="http://schemas.openxmlformats.org/officeDocument/2006/relationships/extended-properties" Target="/docProps/app.xml" Id="Rfeba627167394586" /><Relationship Type="http://schemas.openxmlformats.org/officeDocument/2006/relationships/officeDocument" Target="/ppt/presentation.xml" Id="R20bd205284d4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927a9bb2c44ba"/>
  </p:sldMasterIdLst>
  <p:notesMasterIdLst>
    <p:notesMasterId xmlns:r="http://schemas.openxmlformats.org/officeDocument/2006/relationships" r:id="Ra0ac9e902d994f45"/>
  </p:notesMasterIdLst>
  <p:sldIdLst>
    <p:sldId xmlns:r="http://schemas.openxmlformats.org/officeDocument/2006/relationships" id="256" r:id="R33c10a08b67f429d"/>
    <p:sldId xmlns:r="http://schemas.openxmlformats.org/officeDocument/2006/relationships" id="257" r:id="R4717f5648f4641cd"/>
    <p:sldId xmlns:r="http://schemas.openxmlformats.org/officeDocument/2006/relationships" id="258" r:id="R2f2691c2898c4242"/>
    <p:sldId xmlns:r="http://schemas.openxmlformats.org/officeDocument/2006/relationships" id="259" r:id="R18cdc0857af545a8"/>
    <p:sldId xmlns:r="http://schemas.openxmlformats.org/officeDocument/2006/relationships" id="260" r:id="Rf9f00bc0d1454ad5"/>
    <p:sldId xmlns:r="http://schemas.openxmlformats.org/officeDocument/2006/relationships" id="261" r:id="Rafb68205fa6941f6"/>
    <p:sldId xmlns:r="http://schemas.openxmlformats.org/officeDocument/2006/relationships" id="262" r:id="Re3f174e1803546a8"/>
    <p:sldId xmlns:r="http://schemas.openxmlformats.org/officeDocument/2006/relationships" id="263" r:id="R813eeadb98874323"/>
    <p:sldId xmlns:r="http://schemas.openxmlformats.org/officeDocument/2006/relationships" id="264" r:id="R828dc59eb51f4e0b"/>
    <p:sldId xmlns:r="http://schemas.openxmlformats.org/officeDocument/2006/relationships" id="265" r:id="R44a537fd047841d3"/>
    <p:sldId xmlns:r="http://schemas.openxmlformats.org/officeDocument/2006/relationships" id="266" r:id="Rde73d2f9948a4fae"/>
    <p:sldId xmlns:r="http://schemas.openxmlformats.org/officeDocument/2006/relationships" id="267" r:id="Ra0bf2154bf0c4c0d"/>
    <p:sldId xmlns:r="http://schemas.openxmlformats.org/officeDocument/2006/relationships" id="268" r:id="R8d7a2631b10e4a5e"/>
    <p:sldId xmlns:r="http://schemas.openxmlformats.org/officeDocument/2006/relationships" id="269" r:id="Reffb6353989a4ed5"/>
    <p:sldId xmlns:r="http://schemas.openxmlformats.org/officeDocument/2006/relationships" id="270" r:id="R7b3983557aff4d7c"/>
    <p:sldId xmlns:r="http://schemas.openxmlformats.org/officeDocument/2006/relationships" id="271" r:id="Rbae8ed64477247da"/>
    <p:sldId xmlns:r="http://schemas.openxmlformats.org/officeDocument/2006/relationships" id="272" r:id="R577d0420effb406a"/>
    <p:sldId xmlns:r="http://schemas.openxmlformats.org/officeDocument/2006/relationships" id="273" r:id="Re9a86a400114401b"/>
    <p:sldId xmlns:r="http://schemas.openxmlformats.org/officeDocument/2006/relationships" id="274" r:id="R01c51918e1804416"/>
    <p:sldId xmlns:r="http://schemas.openxmlformats.org/officeDocument/2006/relationships" id="275" r:id="R509baa4d99ce4a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4dc408a574e03" /><Relationship Type="http://schemas.openxmlformats.org/officeDocument/2006/relationships/slideMaster" Target="/ppt/slideMasters/slideMaster1.xml" Id="R9d0927a9bb2c44ba" /><Relationship Type="http://schemas.openxmlformats.org/officeDocument/2006/relationships/notesMaster" Target="/ppt/notesMasters/notesMaster1.xml" Id="Ra0ac9e902d994f45" /><Relationship Type="http://schemas.openxmlformats.org/officeDocument/2006/relationships/presProps" Target="/ppt/presProps.xml" Id="R9132679ee0834b3f" /><Relationship Type="http://schemas.openxmlformats.org/officeDocument/2006/relationships/tableStyles" Target="/ppt/tableStyles.xml" Id="R17963e821f284244" /><Relationship Type="http://schemas.openxmlformats.org/officeDocument/2006/relationships/slide" Target="/ppt/slides/slide1.xml" Id="R33c10a08b67f429d" /><Relationship Type="http://schemas.openxmlformats.org/officeDocument/2006/relationships/slide" Target="/ppt/slides/slide2.xml" Id="R4717f5648f4641cd" /><Relationship Type="http://schemas.openxmlformats.org/officeDocument/2006/relationships/slide" Target="/ppt/slides/slide3.xml" Id="R2f2691c2898c4242" /><Relationship Type="http://schemas.openxmlformats.org/officeDocument/2006/relationships/slide" Target="/ppt/slides/slide4.xml" Id="R18cdc0857af545a8" /><Relationship Type="http://schemas.openxmlformats.org/officeDocument/2006/relationships/slide" Target="/ppt/slides/slide5.xml" Id="Rf9f00bc0d1454ad5" /><Relationship Type="http://schemas.openxmlformats.org/officeDocument/2006/relationships/slide" Target="/ppt/slides/slide6.xml" Id="Rafb68205fa6941f6" /><Relationship Type="http://schemas.openxmlformats.org/officeDocument/2006/relationships/slide" Target="/ppt/slides/slide7.xml" Id="Re3f174e1803546a8" /><Relationship Type="http://schemas.openxmlformats.org/officeDocument/2006/relationships/slide" Target="/ppt/slides/slide8.xml" Id="R813eeadb98874323" /><Relationship Type="http://schemas.openxmlformats.org/officeDocument/2006/relationships/slide" Target="/ppt/slides/slide9.xml" Id="R828dc59eb51f4e0b" /><Relationship Type="http://schemas.openxmlformats.org/officeDocument/2006/relationships/slide" Target="/ppt/slides/slide10.xml" Id="R44a537fd047841d3" /><Relationship Type="http://schemas.openxmlformats.org/officeDocument/2006/relationships/slide" Target="/ppt/slides/slide11.xml" Id="Rde73d2f9948a4fae" /><Relationship Type="http://schemas.openxmlformats.org/officeDocument/2006/relationships/slide" Target="/ppt/slides/slide12.xml" Id="Ra0bf2154bf0c4c0d" /><Relationship Type="http://schemas.openxmlformats.org/officeDocument/2006/relationships/slide" Target="/ppt/slides/slide13.xml" Id="R8d7a2631b10e4a5e" /><Relationship Type="http://schemas.openxmlformats.org/officeDocument/2006/relationships/slide" Target="/ppt/slides/slide14.xml" Id="Reffb6353989a4ed5" /><Relationship Type="http://schemas.openxmlformats.org/officeDocument/2006/relationships/slide" Target="/ppt/slides/slide15.xml" Id="R7b3983557aff4d7c" /><Relationship Type="http://schemas.openxmlformats.org/officeDocument/2006/relationships/slide" Target="/ppt/slides/slide16.xml" Id="Rbae8ed64477247da" /><Relationship Type="http://schemas.openxmlformats.org/officeDocument/2006/relationships/slide" Target="/ppt/slides/slide17.xml" Id="R577d0420effb406a" /><Relationship Type="http://schemas.openxmlformats.org/officeDocument/2006/relationships/slide" Target="/ppt/slides/slide18.xml" Id="Re9a86a400114401b" /><Relationship Type="http://schemas.openxmlformats.org/officeDocument/2006/relationships/slide" Target="/ppt/slides/slide19.xml" Id="R01c51918e1804416" /><Relationship Type="http://schemas.openxmlformats.org/officeDocument/2006/relationships/slide" Target="/ppt/slides/slide20.xml" Id="R509baa4d99ce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d9f1a0848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a0b48f6444396" /><Relationship Type="http://schemas.openxmlformats.org/officeDocument/2006/relationships/notesMaster" Target="/ppt/notesMasters/notesMaster1.xml" Id="Rb0c2e2bff02f46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5dabaa67414235" /><Relationship Type="http://schemas.openxmlformats.org/officeDocument/2006/relationships/notesMaster" Target="/ppt/notesMasters/notesMaster1.xml" Id="Rcb2bbe8e9433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ed536d64146f1" /><Relationship Type="http://schemas.openxmlformats.org/officeDocument/2006/relationships/notesMaster" Target="/ppt/notesMasters/notesMaster1.xml" Id="R976fa35604b5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9994bba5947b2" /><Relationship Type="http://schemas.openxmlformats.org/officeDocument/2006/relationships/notesMaster" Target="/ppt/notesMasters/notesMaster1.xml" Id="Rd7096d4bb9d44b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7b7185f834ad0" /><Relationship Type="http://schemas.openxmlformats.org/officeDocument/2006/relationships/notesMaster" Target="/ppt/notesMasters/notesMaster1.xml" Id="Re1635b8090e443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034d7814b4b6f" /><Relationship Type="http://schemas.openxmlformats.org/officeDocument/2006/relationships/notesMaster" Target="/ppt/notesMasters/notesMaster1.xml" Id="Rd09590c388a745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1a8a35895240bf" /><Relationship Type="http://schemas.openxmlformats.org/officeDocument/2006/relationships/notesMaster" Target="/ppt/notesMasters/notesMaster1.xml" Id="R7de0fffae7dd4f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75b5da63bf4cac" /><Relationship Type="http://schemas.openxmlformats.org/officeDocument/2006/relationships/notesMaster" Target="/ppt/notesMasters/notesMaster1.xml" Id="R5e649360f10949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1db7a778da4692" /><Relationship Type="http://schemas.openxmlformats.org/officeDocument/2006/relationships/notesMaster" Target="/ppt/notesMasters/notesMaster1.xml" Id="R1433dea6f41948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e41ec029f64141" /><Relationship Type="http://schemas.openxmlformats.org/officeDocument/2006/relationships/notesMaster" Target="/ppt/notesMasters/notesMaster1.xml" Id="R4ebd42af678342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633a65855c4d12" /><Relationship Type="http://schemas.openxmlformats.org/officeDocument/2006/relationships/notesMaster" Target="/ppt/notesMasters/notesMaster1.xml" Id="R1c20882a0a1d4f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61fcb12c8a470f" /><Relationship Type="http://schemas.openxmlformats.org/officeDocument/2006/relationships/notesMaster" Target="/ppt/notesMasters/notesMaster1.xml" Id="R39a49f20b86149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1880b7ef3a420c" /><Relationship Type="http://schemas.openxmlformats.org/officeDocument/2006/relationships/notesMaster" Target="/ppt/notesMasters/notesMaster1.xml" Id="Rac4c0bd1e8e64d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c6ed30009f4f40" /><Relationship Type="http://schemas.openxmlformats.org/officeDocument/2006/relationships/notesMaster" Target="/ppt/notesMasters/notesMaster1.xml" Id="Re526c72ee62241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bf1e62ded2409b" /><Relationship Type="http://schemas.openxmlformats.org/officeDocument/2006/relationships/notesMaster" Target="/ppt/notesMasters/notesMaster1.xml" Id="R637e73e8235c4e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d793276efb49a9" /><Relationship Type="http://schemas.openxmlformats.org/officeDocument/2006/relationships/notesMaster" Target="/ppt/notesMasters/notesMaster1.xml" Id="Raaecdf4776a540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19fdc7fbee4b2d" /><Relationship Type="http://schemas.openxmlformats.org/officeDocument/2006/relationships/notesMaster" Target="/ppt/notesMasters/notesMaster1.xml" Id="Raa46325e2e7446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6d2e9b030d4431" /><Relationship Type="http://schemas.openxmlformats.org/officeDocument/2006/relationships/notesMaster" Target="/ppt/notesMasters/notesMaster1.xml" Id="R9e76929e1c7442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d3667646a7412c" /><Relationship Type="http://schemas.openxmlformats.org/officeDocument/2006/relationships/notesMaster" Target="/ppt/notesMasters/notesMaster1.xml" Id="Rb23a931d54ca4e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572c04b5cc47dd" /><Relationship Type="http://schemas.openxmlformats.org/officeDocument/2006/relationships/notesMaster" Target="/ppt/notesMasters/notesMaster1.xml" Id="Rd70d5a06808a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details transcribed from the newly supplied capstone manuscript. The manuscript identifies this work as a capstone project proposal; this presentation therefore uses future-oriented language for development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manuscript organization and objectives.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RA 10121, §12, as discussed in the manuscript; NDRRMOC SOPG (2024), as discussed in the manuscript.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manuscript Figure 1; Chapter 1, interviews with ZCDRRMO personnel.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four problem themes derived from ZCDRRMO interviews; A. Kanti, second interview, 26 March 2026, as cited in the manuscript.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problem statement and specific objectives; Module mapping summarizes the manuscript’s role-specific design.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problem statement and specific objectives; Module mapping summarizes the manuscript’s role-specific design.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General Objective and Specific Objectives.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role definitions and module scope.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Level 1 processes 8–12 and associated data flows in the manuscript; Chapter 1, Scope and Limitations.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NDRRMOC SOPG (2024), as summarized in the manuscript; Chapter 3, process 12 and SitRep data model.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3, four-tier architecture and proposed technology stack; Manuscript Figures 27, 40 and 41.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RA 10173 and IRR; RA 12254; RA 9470, as cited in the manuscript; Chapter 3, access and security controls.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3, Agile SDLC and testing plan.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3, Alpha testing, Beta testing, SUS and exit criteria.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Chapter 1, Scope and Limitations.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Problem statement, objectives, system design and evaluation plan.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Synthesis of the stated problem, objectives, design, scope and evaluation plan.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References section of the revised manuscript. Proposal content and planned work only; no implementation or evaluation outcome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 If asked about implementation or evaluation, state clearly that this manuscript and presentation describe a proposal and planned assessment, not completed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5b2b1a3c3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ca529795d48c8" /><Relationship Type="http://schemas.openxmlformats.org/officeDocument/2006/relationships/slideLayout" Target="/ppt/slideLayouts/slideLayout1.xml" Id="Rc96fdf0acf44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fdf0acf44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7d204ba324fc2" /><Relationship Type="http://schemas.openxmlformats.org/officeDocument/2006/relationships/notesSlide" Target="/ppt/notesSlides/notesSlide1.xml" Id="Rbd7dd7d6743442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bfb74d94b408c" /><Relationship Type="http://schemas.openxmlformats.org/officeDocument/2006/relationships/notesSlide" Target="/ppt/notesSlides/notesSlide2.xml" Id="R511779fbc3cb4e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685d045aa4318" /><Relationship Type="http://schemas.openxmlformats.org/officeDocument/2006/relationships/notesSlide" Target="/ppt/notesSlides/notesSlide3.xml" Id="R3dd9f0006cbf42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6752e8a9d4a57" /><Relationship Type="http://schemas.openxmlformats.org/officeDocument/2006/relationships/notesSlide" Target="/ppt/notesSlides/notesSlide4.xml" Id="R21e1ea4c3d4c47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c161043c3407a" /><Relationship Type="http://schemas.openxmlformats.org/officeDocument/2006/relationships/notesSlide" Target="/ppt/notesSlides/notesSlide5.xml" Id="R4a49048d84ab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6e0af887c49fb" /><Relationship Type="http://schemas.openxmlformats.org/officeDocument/2006/relationships/notesSlide" Target="/ppt/notesSlides/notesSlide6.xml" Id="Rd70234977037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131bb70e4f02" /><Relationship Type="http://schemas.openxmlformats.org/officeDocument/2006/relationships/notesSlide" Target="/ppt/notesSlides/notesSlide7.xml" Id="R8faa36318b604e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75c1cb904e5c" /><Relationship Type="http://schemas.openxmlformats.org/officeDocument/2006/relationships/notesSlide" Target="/ppt/notesSlides/notesSlide8.xml" Id="R28e088f8cf98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fd30b96704cfa" /><Relationship Type="http://schemas.openxmlformats.org/officeDocument/2006/relationships/notesSlide" Target="/ppt/notesSlides/notesSlide9.xml" Id="R5f9ad1b5c07842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6c3ad539a46de" /><Relationship Type="http://schemas.openxmlformats.org/officeDocument/2006/relationships/notesSlide" Target="/ppt/notesSlides/notesSlide10.xml" Id="R04e8aa3a0b02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b232f5a52419b" /><Relationship Type="http://schemas.openxmlformats.org/officeDocument/2006/relationships/notesSlide" Target="/ppt/notesSlides/notesSlide11.xml" Id="R06290db507384e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884dde5d54645" /><Relationship Type="http://schemas.openxmlformats.org/officeDocument/2006/relationships/notesSlide" Target="/ppt/notesSlides/notesSlide12.xml" Id="R3a23b121c1174a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7a2abcac4899" /><Relationship Type="http://schemas.openxmlformats.org/officeDocument/2006/relationships/notesSlide" Target="/ppt/notesSlides/notesSlide13.xml" Id="R008e4faab6a64c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91ba267ae4446" /><Relationship Type="http://schemas.openxmlformats.org/officeDocument/2006/relationships/notesSlide" Target="/ppt/notesSlides/notesSlide14.xml" Id="R32b0f84cf52c45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5fe9f9c4c4132" /><Relationship Type="http://schemas.openxmlformats.org/officeDocument/2006/relationships/notesSlide" Target="/ppt/notesSlides/notesSlide15.xml" Id="Rf6c7761b45a54b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20446712940ad" /><Relationship Type="http://schemas.openxmlformats.org/officeDocument/2006/relationships/notesSlide" Target="/ppt/notesSlides/notesSlide16.xml" Id="Raf4634e00b2847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d5c6f77b14030" /><Relationship Type="http://schemas.openxmlformats.org/officeDocument/2006/relationships/notesSlide" Target="/ppt/notesSlides/notesSlide17.xml" Id="R110ceea13d4245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42de42af94d89" /><Relationship Type="http://schemas.openxmlformats.org/officeDocument/2006/relationships/notesSlide" Target="/ppt/notesSlides/notesSlide18.xml" Id="R057af466c08149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584d0197b4170" /><Relationship Type="http://schemas.openxmlformats.org/officeDocument/2006/relationships/notesSlide" Target="/ppt/notesSlides/notesSlide19.xml" Id="Re5ebd14d28224e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accd837104a7e" /><Relationship Type="http://schemas.openxmlformats.org/officeDocument/2006/relationships/notesSlide" Target="/ppt/notesSlides/notesSlide20.xml" Id="R5a55f1077be944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8915E-CC8C-4A56-887D-CE07D83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26144-75C9-498C-ACF6-A5DE22B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CAPSTONE 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6121-20B5-48DD-B259-83C2228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38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31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INTEGRATED DISASTER INCIDENT</a:t>
            </a:r>
          </a:p>
          <a:p xmlns:a="http://schemas.openxmlformats.org/drawingml/2006/main">
            <a:pPr algn="l">
              <a:defRPr sz="31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31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RECORD MANAGEMENT AND</a:t>
            </a:r>
          </a:p>
          <a:p xmlns:a="http://schemas.openxmlformats.org/drawingml/2006/main">
            <a:pPr algn="l">
              <a:defRPr sz="31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31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AUTOMATED SITUATION REPORT</a:t>
            </a:r>
          </a:p>
          <a:p xmlns:a="http://schemas.openxmlformats.org/drawingml/2006/main">
            <a:pPr algn="l">
              <a:defRPr sz="31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31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GENERATION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F79EE-4236-4BAD-8089-96B126F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57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D3EDF-16BD-4C7B-A12F-18265F7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Katrina Mae D. G. Perez  ·  RJ P. Somosa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A1150-82D2-4253-B166-1A5F51D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Department of Computer Science  |  Bachelor of Science in Information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AF5A1-D776-4855-8FB6-26D6B8D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Adviser: Precious T. Opinion  ·  September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D9D43-4FC5-4E01-A94F-A6B8C4B1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Zamboanga City</a:t>
            </a:r>
          </a:p>
        </p:txBody>
      </p:sp>
    </p:spTree>
    <p:extLst>
      <p:ext uri="{BB962C8B-B14F-4D97-AF65-F5344CB8AC3E}">
        <p14:creationId xmlns:p14="http://schemas.microsoft.com/office/powerpoint/2010/main" val="1130155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77F3B-BBD9-4499-8F6E-A222254C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9BA4C-CB09-4A02-8A9D-22E3A2C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PRESENTATION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2AFD1-640A-438F-9A90-629B6692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A clear path from operational need to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345C-942A-43C6-822E-08ED850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E3EE7-2445-44F0-8E2B-66FE04C4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AF30C-DA60-4B9A-9D5A-C455A09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4D2A4-F78B-4C74-BD20-5F00C294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20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4B383-33C4-4860-95BA-F78895A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Mandate &amp; local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CC0D6-05E6-434D-96CF-C1505C44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Why reliable incident information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75FAB-141B-454C-B637-2B6A54DB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812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9A881-8CC0-4843-A5F1-FC3E716A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20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A3B3F-5025-4130-8748-3796CD1C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Problem → objective → module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8D510-1514-4948-AEC2-0B488A52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Trace each observed gap to a system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DD361-BEDF-4BB6-908D-8F29404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C2E0A-DE9E-4D09-A7F8-FC98CB4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20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8D85C-BA9F-4D8F-AD3E-5E9D6C14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System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E9E97-7DF3-494D-B1BD-8BAA8504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Roles, verification, SitRep, data and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7E056-4E46-4AA6-8363-762FD59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EB57-9645-4F5F-8B4E-EBDEA82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20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92D3E-E683-4277-9A36-86CDC437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Development &amp;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38EEA-DF63-4A72-8129-38211F6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01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How the proposal will be built and assessed</a:t>
            </a:r>
          </a:p>
        </p:txBody>
      </p:sp>
    </p:spTree>
    <p:extLst>
      <p:ext uri="{BB962C8B-B14F-4D97-AF65-F5344CB8AC3E}">
        <p14:creationId xmlns:p14="http://schemas.microsoft.com/office/powerpoint/2010/main" val="51092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D3549-11BB-421C-B022-994BC5A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6BEF6-D46F-480B-B61F-E023121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 · MANDATE AND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37C53-9028-43F6-A389-05BCA60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Disaster reporting is a coordination and information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991A7-37DF-4C8B-A4B2-A95FBC8B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C3AF5-B667-4D09-9F20-AE462C4A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Background and Rationale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BF364-C148-4C7D-8C06-F4CE436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EF2FE-CE42-4CE1-83B4-221D9479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RA 10121 assigns local DRRM institutions responsibilities for consolidating risk information, monitoring, disseminating information, coordination, and operating local DRRM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024B5-A6D9-42E7-9BF1-28889B1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657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For reporting, the 2024 NDRRMOC guidance is described as a progressive cycle: initial information may be incomplete; progress reports update the picture; terminal/final reporting closes the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57E18-0D55-4F61-94AB-00BFE43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19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44125-8BB1-4885-A77F-70A19917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STUDY SETTING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D6FC5-5D6F-48C5-B15A-78FA352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02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Zamboanga City DRRM Office (ZCDRRMO)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8C324-BBAF-419A-92D9-A308FE6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76E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8CABB-60C4-4EDE-ABA4-6E2D09F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2571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977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The proposal addresses how local reports can be collected, checked, consolidated and prepared for authorized review—not how public authority is transferred to a software provider.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0A83B-F5A1-4E14-8522-B44038F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Key distinction: software can prepare and route a draft; an authorized public office remains responsible for validation, approval and release.</a:t>
            </a:r>
          </a:p>
        </p:txBody>
      </p:sp>
    </p:spTree>
    <p:extLst>
      <p:ext uri="{BB962C8B-B14F-4D97-AF65-F5344CB8AC3E}">
        <p14:creationId xmlns:p14="http://schemas.microsoft.com/office/powerpoint/2010/main" val="1281893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9DEB9-CD6A-44F2-BCD6-D3EC30A2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6108-DDE4-46B2-99E3-A4BC66D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 · CURRENT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97881-FD7A-4469-919B-FBE2264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Today’s information path depends on people and separate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8AB34-3298-4044-BF3D-633D4F0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C21AD-0EEF-4329-8E5D-694D084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local workflow description and interview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8C4E9-5388-477E-BD54-28EDEAA5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2D1C0-04E0-488A-8D71-F5D136B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2880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Observe event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Capture initial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AE1D8-DE17-458C-8671-C6E4E90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2880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Check details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Send initial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C566E-4D5C-483A-A0BA-93438D1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28800"/>
            <a:ext cx="2571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9901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ZCDRRMO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Request clarification</a:t>
            </a:r>
          </a:p>
          <a:p xmlns:a="http://schemas.openxmlformats.org/drawingml/2006/main">
            <a:pPr algn="ctr">
              <a:def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Consolidate and prepare SitRep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24479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81875" y="24479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A217-0C77-4176-AA3F-7A01B1C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28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385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Calls · messages · field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200E9-7B10-4B12-B64F-BA68276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856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Calls · documents · drives · spreadsheets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69ADC-BF2E-46AA-80AD-F77CB4B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0363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CAF78-304A-4554-8EA7-EE2EDD6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82A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A9782A"/>
                </a:solidFill>
                <a:latin typeface="Lexend"/>
                <a:ea typeface="Lexend"/>
                <a:cs typeface="Lexend"/>
              </a:rPr>
              <a:t>Operational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A2FB6-0F67-4C20-BC38-658DBF5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966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Submission status is hard to see; information may need repeated clarification; report versions and supporting sources are difficult to trace across hand-offs.</a:t>
            </a:r>
          </a:p>
        </p:txBody>
      </p:sp>
    </p:spTree>
    <p:extLst>
      <p:ext uri="{BB962C8B-B14F-4D97-AF65-F5344CB8AC3E}">
        <p14:creationId xmlns:p14="http://schemas.microsoft.com/office/powerpoint/2010/main" val="1852119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8B148-02AC-490A-B69A-43912A04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21D4-41A6-4FBD-8223-5C1DE493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 ·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CD1FC-BB69-4A99-81D9-E5A651A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Four operational problems motivate the proposed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5FFBA-8A57-4082-87C8-85937039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F4DA6-E5D0-41F7-B77A-4C08A1D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Statement of the Problem and interview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182A1-2EBC-4F9D-AA86-852A2F41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8EAC-ABE0-4CE7-842B-1707DD5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78E56-1E9B-485E-9E96-6512E9A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Communication delay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54AC-BC30-477E-BBFE-C48601A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Submission, acknowledgement, clarification and status rely on calls and follow-up.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29C5-674D-48A0-898A-32285C9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D162E-4A6A-4441-909C-FE58559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B9B48-D2BE-47AB-9ABD-00A3A87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Time-consuming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0416C-2E8E-498A-945F-85DB58FB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Staff manually combine and rework records for report preparation; evolving copies are difficult to track.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34D73-A65C-4DC5-8306-3FEF808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12108-30F6-40E7-BC9A-C8575D4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61AAD-FB38-4502-9C6C-5DDB4CA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385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Limited data sharing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7D56A-2766-4F6C-B83D-8FEA3CD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33825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Operational knowledge does not consistently reach the staff preparing the situation picture.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6718B-12D2-4CE9-BB36-A50846E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251AF-74E4-476A-876B-C723AD9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DEA88-E16A-41E3-BEEA-EB1798A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385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8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Inefficient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66A06-4AC9-43CF-8E93-283C127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33825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Incomplete reports prompt calls or field checks; limited personnel may cover several roles.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286D7-E7BA-452A-8D71-F93CEDF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4347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4B76E-4CE6-497A-86B6-A91915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The problem is not simply missing software: it is the reliability, timeliness, visibility and controlled sharing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902982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40AD3-60B9-43F9-96EC-170D3CE4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89081-962C-4A33-83E1-598E326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 ·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CA7BB-93F4-464D-A966-C8D874E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Problem → objective response → responsible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12A64-E0FB-4774-A5BC-366A3DFF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ECCF1-678C-45E0-B928-FC4D604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Specific Objectives and module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14B50-9042-4415-8854-C76C9BA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D356-06F3-4F1B-956D-0FB79475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Objective response is summarized from the manuscript’s objectives; the module column names the proposed system components responsible.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76300" y="1819275"/>
          <a:ext xmlns:a="http://schemas.openxmlformats.org/drawingml/2006/main" cx="104394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72000"/>
                <a:gridCol w="3390900"/>
              </a:tblGrid>
              <a:tr h="5905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Observed problem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Objective response in the manuscript (summary)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Responsible module(s)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</a:tr>
              <a:tr h="15049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Communication delay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Structured submission and visible workflow 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 User Management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 Incident Reporting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Barangay Incident Reporting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5049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Time-consuming record management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Reuse verified records; preserve report history and versions; prepare a structured SitRep draft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 / Barangay Incident Report History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Situation Report Generation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Situation Report Historical Catalog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4604A-7CD5-4036-81B3-FD881AEC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43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Cross-cutting safeguard: sharing is controlled by role and jurisdiction; verification remains a human decision.</a:t>
            </a:r>
          </a:p>
        </p:txBody>
      </p:sp>
    </p:spTree>
    <p:extLst>
      <p:ext uri="{BB962C8B-B14F-4D97-AF65-F5344CB8AC3E}">
        <p14:creationId xmlns:p14="http://schemas.microsoft.com/office/powerpoint/2010/main" val="1729887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D4B63-7195-42E8-B23F-E14AD257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E4B5D-DE1B-42F9-ABD1-77C0486D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 ·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E60DD-9870-4324-80FA-E55BA31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Problem → objective response → responsible module (continued)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C287E-FFA2-41A9-B796-FC1764ED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A6C3C-C1F4-4C5F-B98D-38F04C9F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Specific Objectives and module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AAC95-9830-420B-AACD-CC398AA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F2E80-7C07-4965-B6E1-54BD534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Objective response is summarized from the manuscript’s objectives; the module column names the proposed system components responsible.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76300" y="1819275"/>
          <a:ext xmlns:a="http://schemas.openxmlformats.org/drawingml/2006/main" cx="104394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72000"/>
                <a:gridCol w="3390900"/>
              </a:tblGrid>
              <a:tr h="5905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Observed problem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Objective response in the manuscript (summary)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</a:rPr>
                        <a:t>Responsible module(s)</a:t>
                      </a:r>
                    </a:p>
                  </a:txBody>
                  <a:tcPr marL="91440" marR="91440" marT="45720" marB="45720" anchor="ctr">
                    <a:solidFill>
                      <a:srgbClr val="252D30"/>
                    </a:solidFill>
                  </a:tcPr>
                </a:tc>
              </a:tr>
              <a:tr h="15049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Limited data sharing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Provide a shared, source-attributed record with role and jurisdiction limits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Purok, Barangay and System User Management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Role-based System Dashboard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Profile and incident-report 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504950"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Inefficient verification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Compare submitted information with evidence and existing records; record decision, reason, reviewer and correction history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  <a:tc>
                  <a:txBody>
                    <a:bodyPr wrap="square"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 / Barangay Profile Verification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Purok Incident Report Verification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52D30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Barangay Incident Report Verification</a:t>
                      </a:r>
                    </a:p>
                  </a:txBody>
                  <a:tcPr marL="91440" marR="91440" marT="45720" marB="45720" anchor="ctr">
                    <a:solidFill>
                      <a:srgbClr val="E9ECE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11F60-8078-4A6D-9509-17D62DD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43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Cross-cutting safeguard: sharing is controlled by role and jurisdiction; verification remains a human decision.</a:t>
            </a:r>
          </a:p>
        </p:txBody>
      </p:sp>
    </p:spTree>
    <p:extLst>
      <p:ext uri="{BB962C8B-B14F-4D97-AF65-F5344CB8AC3E}">
        <p14:creationId xmlns:p14="http://schemas.microsoft.com/office/powerpoint/2010/main" val="711895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2C47F-A55D-4EDC-991D-2066B8A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0487D-B5EF-41B3-A77F-274C20A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 ·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6F32-AA7F-4E3A-B9B3-C03ACF9B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373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The project is designed, developed and evaluated against operational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F3B08-7609-4DE9-AF0A-F97A9D4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CABA-509A-4329-A220-6FC9882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General and Specific 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6A0EF-85A3-4968-A542-692E4656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3F388-ADB9-467F-9DCF-3055C82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57325"/>
            <a:ext cx="1042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035EE-8099-4527-BBEC-95444680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E9E6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D8E9E6"/>
                </a:solidFill>
                <a:latin typeface="Lexend"/>
                <a:ea typeface="Lexend"/>
                <a:cs typeface="Lexend"/>
              </a:rPr>
              <a:t>GENERAL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63A19-92E2-4F32-923E-DE00204C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24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1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Design, develop and evaluate a centralized, role-based system that streamlines grassroots incident reporting and automates SitRep consolidation for local DRRM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80621-A82E-4548-8226-BE92BD80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D8431-8556-42B8-9896-EEF45755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Digitize role-based profile and incident submissions.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8785-5D67-4451-9811-06DC9B6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99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FF4B6-0BC7-4E72-B57E-2EA7ABA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0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01487-D5E1-45FE-AAF2-CF7FD098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6232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Route profiles and reports through accountable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9FD7A-CD1F-4E9F-9B60-70793AD4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099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5EB3-E393-4F8A-9302-041D633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0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CONSOLIDATE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F2D4F-372E-4194-B6F5-8C2F9F9E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6232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Carry verified, versioned information into SitRep preparation.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29A9C-E88D-48B5-BFF3-9AA02D6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A3DD-6365-4574-BED8-B670A330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00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C9209-B2E4-4D93-95D1-ED2BF7E1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62325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Test functionality, security, usability and acceptance.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25D6C-EEFC-4CF8-A68B-496837E7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82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1">
                <a:solidFill>
                  <a:srgbClr val="A9782A"/>
                </a:solidFill>
                <a:latin typeface="Source Sans 3"/>
                <a:ea typeface="Source Sans 3"/>
                <a:cs typeface="Source Sans 3"/>
              </a:rPr>
              <a:t>The manuscript’s numerical thresholds are proposed acceptance criteria—not achieved results.</a:t>
            </a:r>
          </a:p>
        </p:txBody>
      </p:sp>
    </p:spTree>
    <p:extLst>
      <p:ext uri="{BB962C8B-B14F-4D97-AF65-F5344CB8AC3E}">
        <p14:creationId xmlns:p14="http://schemas.microsoft.com/office/powerpoint/2010/main" val="1956658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CBB6C2-C6AA-4E20-B554-56EDC89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74C7F-DB43-418E-85A7-06614C7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 ·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58C06-83D3-4E0B-8672-CE155AC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Separate modules reflect the reporting levels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29D14-F8F5-48F9-8F70-081B1136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3C6B0-1F97-4EE7-AA6F-E7406DD1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Specific Objectives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72B95-7B8D-4568-84A3-2FD19E0F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61C47-FCDC-4535-84C5-0A62D9E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200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FEDD1-7CD5-423D-A87B-02441E7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BF7C1-4665-40EC-95C1-A7763E8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192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PUROK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C2EB9-C58D-4B9D-A11A-214A8A0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6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Mobile-first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3B38B-7E7A-4D84-B902-AB9E86E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955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FC139-4F00-4633-BA31-F7D7FDC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B5213-B175-4A60-BB6E-E956DD2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9560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 User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1ECFF-DCE8-4653-A670-C587603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2AE94-260F-417B-AF66-AA2D10C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813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 Profile Creation +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8C590-398A-48DB-89B3-66EB7743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E4477-A096-4183-ABDD-959BC5C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6715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 Incident Reporting + Verification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DF3C9-9A57-4131-91DE-E7ABDA05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9EAA7-F035-4C5E-8F00-B995D22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5292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 Incident Report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C4A14-4F16-4774-BDBF-A12A51B8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200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59E19-8B3F-432F-A219-21FFD09D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D9C35-481A-40FB-BDF9-ADD56A02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BARANGAY 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3DA0A-9B73-4467-ABE3-70AF3DA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02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6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Review and consolidate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C9930-093E-42B0-8FF6-DDDE28D1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955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9713F-3965-4066-8CF3-F28CDD32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629EB-426B-4AEB-AD57-2F9DBB3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9560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 User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1739B-5844-4E2D-A807-855E7552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4C958-A39A-4629-A1A5-F7B19D39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813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 Profile Creation + Verification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A6D25-39B6-4146-849D-9BB3BC4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DC159-B407-4B17-9CDC-684A32B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6715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 Incident Reporting + Verification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0E59C-B8A3-4EF5-A84A-8A65BD06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C0195-D5FA-4128-A4DB-F8D8CFC0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5292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 Incident Report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80AD9-CCF0-404A-8DA5-591AA3F1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43050"/>
            <a:ext cx="32004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C9DA4-917A-4D4D-BD31-05BCCD1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4305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FFC2C-D568-4084-AD96-64325B5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192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DRRM ADMINISTRATOR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B541B-4DE3-4E09-9587-4EBCE15D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6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System-level oversight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8C2CF-6072-4236-B82F-FC7ABBE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C342A9-F350-4299-AD21-971C0B2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20540-C0F0-493C-9733-F2E2FF3B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System User Management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E6BA24-1E5B-4EB4-A332-8076E5E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63C469-622E-4BCA-8113-4EC2E06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813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Hazard Creation (CDRA types)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9EE2D-FFC6-472D-B91E-1B2B466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2A2F20-6564-408A-AACA-50AF7F6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67150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Situation Report Generation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0442D6-FFDA-42BF-9362-C83C93C3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375442-CFF7-4080-BD14-0F2D7FE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SitRep Historical Catalog + Dashboard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23C115-43DE-46AC-A98E-8D5571D4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Purok data informs Barangay profiles and incident consolidation.</a:t>
            </a:r>
          </a:p>
          <a:p xmlns:a="http://schemas.openxmlformats.org/drawingml/2006/main">
            <a:pPr algn="l">
              <a:def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DRRM-level review governs the citywide SitRep workflow.</a:t>
            </a:r>
          </a:p>
        </p:txBody>
      </p:sp>
    </p:spTree>
    <p:extLst>
      <p:ext uri="{BB962C8B-B14F-4D97-AF65-F5344CB8AC3E}">
        <p14:creationId xmlns:p14="http://schemas.microsoft.com/office/powerpoint/2010/main" val="1059282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8B083-E422-447F-8644-744EFA30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F22A6-73BA-4200-B782-22BA972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 · REPORTING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D830A-D810-4180-8ED6-793FCCE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Information gains detail as it moves upward for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C3814-D95F-4147-AAB4-ABDA75F8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AEE7F-22B7-4FD7-99A9-E5EA80E7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Scope; Level 1 DFD descriptions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6D24F-56B2-4D59-917C-8E9D5D8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E2825-6FB6-41CC-9B16-7BB2D30B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1432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4EFEC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01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 INITIAL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Hazard and event identification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Location and observed time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Initial situation and affected / exposure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FA6EB-D2F5-43D1-B630-2DF6F27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SOURCE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C7C74-D38A-4EE1-B5FE-C1C456AA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1432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02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BARANGAY CONSOLIDATION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Check and consolidate verified Purok reports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Add barangay-level affected population, casualty summary and damage assessment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0119B-4798-4776-A9EE-C2705BEE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05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VERIFICATION + AGGREGATION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AD198-C971-4B86-8B51-C2A5A02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1432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03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DRRM SITREP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Select incident and cutoff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Build cumulative effects, response, issues and recommendations</a:t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Review, approve and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F3519-94FD-4BF4-A78B-10835DE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AUTHORIZED DOCUMENT WORKFLOW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3076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81900" y="3076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64A9C-4427-4DBA-8B70-4B80AD64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77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Progressive reporting retains source, time, verification state and version so a changing situation is not collapsed into an untraceable total.</a:t>
            </a:r>
          </a:p>
        </p:txBody>
      </p:sp>
    </p:spTree>
    <p:extLst>
      <p:ext uri="{BB962C8B-B14F-4D97-AF65-F5344CB8AC3E}">
        <p14:creationId xmlns:p14="http://schemas.microsoft.com/office/powerpoint/2010/main" val="1938741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228D9-2254-44C8-B82C-E120635D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6593C-FAA2-476E-96A0-5C37AB50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 · SITUATION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27D54-E2F6-4B52-B9B7-A72AB2F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SitRep is cumulative and source-linked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ACF31-AC4C-4C79-AD46-3966F40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D8AF4-65F6-4F36-888F-3AEA82C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Scope; Chapter 3, Situation Report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8F750-087C-4316-9A1B-E37F5B3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37E13-499E-4B60-9C92-73F93DC2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85B6-73BA-423B-BDC8-7F18352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Document control and identification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C7845-12A2-471C-81A8-9EF9D72B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74144-7860-49DC-9D9F-C28E738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Situation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3BD67-70DE-4BD7-B4ED-0D872CA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57A07-917E-4B54-87D2-A6F9ACC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Consolidated effects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4FF3A-BF54-4750-8A0D-1A34E39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CB886-0A2F-4D23-890B-85527D4B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Response actions and assistance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F97B6-F6FC-4826-A4A8-9F4C7F61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4BB67-D804-4518-99E1-C6C8BC1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Issues and concerns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C4609-7030-4D46-BBBF-C103B883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3B3B0-0911-49B9-BDF1-C76A365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Recommendations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95F7E-7CEC-46ED-9844-9F90AE1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66535-2E04-4998-AB04-00D1D31A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Sources and evidence 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92083-DAD7-4C1A-989A-FB6BEEB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629B8-F9A2-487D-B456-B0886E9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Approval, release status and annexes as applicable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79716-7A2D-46C3-94A1-2AB59BE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24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EB760-FCBD-4300-B5B5-8BCC7E0C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973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Consolidated effects may cover affected/displaced population, casualties, houses, agriculture and fisheries, infrastructure, lifeline status, suspension, evacuation and assistance—where the incident and source records support them.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C983D-0F15-457E-8D36-A978FF5B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4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A generated draft is not, by itself, an official NDRRMC issuance. Human verification, approval and release remain with the authorized office.</a:t>
            </a:r>
          </a:p>
        </p:txBody>
      </p:sp>
    </p:spTree>
    <p:extLst>
      <p:ext uri="{BB962C8B-B14F-4D97-AF65-F5344CB8AC3E}">
        <p14:creationId xmlns:p14="http://schemas.microsoft.com/office/powerpoint/2010/main" val="327654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99D77-27E6-4F35-A156-5A4124B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10408-C4AF-477F-975D-BA8EB53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 · ARCHITECTURE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F782-A047-47F8-96E4-70F6F525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A browser-based service connects role-specific work to shared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40E19-8E4E-4637-9E3C-F56A9BBE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6B484-B391-4AC0-BC1A-AE37D50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3, system architecture; Figures 27, 40 and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A0728-3095-4213-B140-CEF1ECAC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E67AE-8A18-41A0-93AA-20C720E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1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C"/>
          </a:solidFill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76E0-9AF7-4FDE-8D6D-E3F8831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87A76-A959-4C9E-AAD7-EBA0F576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76375"/>
            <a:ext cx="758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Responsive browser interface · mobile-first Purok · desktop-capable Barangay / DRRM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69982-23F0-4C25-BBC5-946D80C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38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79633-913E-4152-ACA3-FC5A2FF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1021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53698-9237-4769-87BF-3795B62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71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EC7D2-ABCE-4624-97D8-0E0DB84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1725"/>
            <a:ext cx="758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Role-aware workflows · validation · verification · aggregation · SitRep editing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53647-4A2E-4C09-B4A9-59B311F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33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EA41D-7C9D-46F5-A7F9-A7496B2D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1021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55035-2D41-41F7-B96B-F892851C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20BFF-919C-4A1E-BFC9-B2606D8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758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REST API over HTTPS · real-time updates where 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89235-156E-41E0-AD1F-0A65141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44F71-F5BA-43DC-AB59-EFE6B36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1021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7CA66-7BDB-4407-ABF9-FBBFDC13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A230C-A2BD-48E2-AC91-1689C6E7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758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PostgreSQL records · version and source tracking · audit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3BCD9-2015-45FF-8FCA-D42FEB1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1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The ERD/RDM organizes shared account, profile, hazard, incident-report and SitRep records; the database remains a central availability dependency.</a:t>
            </a:r>
          </a:p>
        </p:txBody>
      </p:sp>
    </p:spTree>
    <p:extLst>
      <p:ext uri="{BB962C8B-B14F-4D97-AF65-F5344CB8AC3E}">
        <p14:creationId xmlns:p14="http://schemas.microsoft.com/office/powerpoint/2010/main" val="7160277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AD7AB-91EC-45A9-961F-68546F3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17E21-E2DA-4FF5-A696-B8F3C74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 ·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9F701-3EE6-4E7E-B8FE-94B62AC7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Protect information without weakening accountability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4C25-77D5-4F22-A918-4AD8DA7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216D6-B7EE-4FE4-8116-F9A91CA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governance; Chapter 3, security and records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422E6-4FF1-4748-ADE0-5869701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BD977-5007-48C1-B38C-ED4B25C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C5F91-B48A-4EBE-B24B-2FF1798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478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Role-based access; least privilege; organization and jurisdiction scoping.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DFF9C-C7EA-406B-A779-1C90661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3A8F8-D4AC-4F71-9667-DA74A25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C9D4D-03F2-42E7-86AB-8FEFA5E3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384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Source, timestamps, reviewer, decisions, reasons, versions and append-only audit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320A7-9FDA-4033-8AD9-2A917BB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AF9C4-65F4-4FC9-B3D7-C804382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PRIVACY +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9B9C6-CDAD-476E-9B91-DD57F62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Purpose limitation, safeguards, HTTPS, encryption and secure handling of personal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D424D-EA4D-4ACB-AA71-36BB2878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4913C-0B5B-4EDC-B85E-7BFFC65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8BC27-B0BD-4363-AD7F-9D1E41E2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196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Export, retention, archival, legal holds and lawful disposition remain governed by public-office requirements.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822ED-901E-4CFF-84BD-AF79979B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The platform supports public-office work; it does not replace the office’s legal responsibility for its records or decisions.</a:t>
            </a:r>
          </a:p>
        </p:txBody>
      </p:sp>
    </p:spTree>
    <p:extLst>
      <p:ext uri="{BB962C8B-B14F-4D97-AF65-F5344CB8AC3E}">
        <p14:creationId xmlns:p14="http://schemas.microsoft.com/office/powerpoint/2010/main" val="333052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F0513-0BE7-4C27-909C-15A33018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69CDD-C9BE-4B4D-8CC4-DC2835CA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 ·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F9951-CD41-466F-8E42-4FF9927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Development follows an iterative lifecycle with staged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77D71-56E0-415C-89B8-DCCF4EF0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0510F-A767-44FB-B32E-FF6D0A54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3, Development Methodology and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357E3-B794-4283-8E68-31B401E9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FA53-3463-48DD-BF0D-6980001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286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EC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01  REQUIREMENTS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Interviews, mandate review, workflow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4F7F1-6C29-4AEE-AD35-EFB55629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286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02 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Role workflows, data model, interface prototypes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33684-E9A1-4365-99EB-3ED0490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286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03  IMPLEMENT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Incremental delivery of modules and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517E-7DFA-4CE3-ADBD-04850EE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2286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CDA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04  TEST + REFINE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Alpha tests, user acceptance and usability feedback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62300" y="3124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48350" y="3124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34400" y="3124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B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09AB6-0DBD-47F8-8045-28DF114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0306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843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The manuscript names Agile SDLC and proposes continuous feedback; the planned work has not yet been reported as completed.</a:t>
            </a:r>
          </a:p>
        </p:txBody>
      </p:sp>
    </p:spTree>
    <p:extLst>
      <p:ext uri="{BB962C8B-B14F-4D97-AF65-F5344CB8AC3E}">
        <p14:creationId xmlns:p14="http://schemas.microsoft.com/office/powerpoint/2010/main" val="1863902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AE2F6-0EB9-45B7-A593-E41759B7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C0EC6-EDF9-47B7-90FA-F5C3EE9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 ·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987A9-AC7B-4180-A1AD-EE1EE59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Evaluation is planned across function, security and usability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83BE-5977-4C9D-92F1-F69C2BF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9DF58-7FC5-45CB-8F84-8B9DB35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3, Alpha and Beta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4E0A6-6582-4ACB-8066-96087161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5BCC8-65D1-451D-B2C5-CF927CA5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35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ALPHA · TECHNICAL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3691A-10DA-43A0-9D07-D29BB6A7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B6AFB-4626-4B8F-BC1E-A60A01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Unit, integration and system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44287-41B4-4C00-8DC6-E7BC2EF9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30A47-B1C2-4617-9295-02932E68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Security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618BD-212D-4611-98DF-A5D807D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297AD-E585-4F20-9C74-6B34615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Responsive-browser end-to-end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B2872-D404-4ECF-A5EF-04A0171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C6CB9-E191-4D74-9C15-5D41661A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Manual test issues tracked for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608F0-E103-4167-B670-B4446B9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DC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FDB43-E17A-408E-B0EB-47C038A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35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BETA · TARGET USERS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C9995-5437-40BB-9303-32EEA46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D49A9-FC9D-409C-90FC-FEEE6B52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240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User acceptance and usability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80F0F-5DCE-457F-ABA6-DB0A4263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AF64A-5B5B-4788-ACDF-3646AFA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System Usability Scale (10 items)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5E8FA-3C25-4697-8801-BBE03398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D88DB-752B-4F92-9CAA-A5B1928E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Proposed mean SUS target: ≥ 68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D67B1-415F-4740-9449-B1645CA3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CD939-A558-4808-AA7F-0D203261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Exit criterion: zero unhandled crash / render failures across tested desktop and mobile browsers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956A4-B0AD-47C6-A068-BCF4F038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28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960B7-D740-4F1E-92DE-06D3890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1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These are proposed methods and thresholds. No test score, pass rate or reliability result is claimed in this proposal deck.</a:t>
            </a:r>
          </a:p>
        </p:txBody>
      </p:sp>
    </p:spTree>
    <p:extLst>
      <p:ext uri="{BB962C8B-B14F-4D97-AF65-F5344CB8AC3E}">
        <p14:creationId xmlns:p14="http://schemas.microsoft.com/office/powerpoint/2010/main" val="263915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1C9FB-6A02-40E2-9F9B-8ABCFBB3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E622C-2D11-4B5B-85F9-C576302A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 · SCOPE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39AC5-9F41-4704-8EFD-29ABB8C8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The proposal has defined boundaries and operational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9E536-2C9F-4277-9B17-72A41CD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E282-2105-45C1-83A1-1AAA08C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 1, Scope and 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EEB63-4FDE-4604-AB97-EA94284A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747F9-A997-415A-9FA2-F634679B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75525-0B26-47BA-8449-1992E4C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F0122-8C9B-415E-A7AA-B7897E7B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Purok, Barangay and DRRM Administrator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9AD5-D5C2-4196-AB80-840DD14C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3F071-62F6-4F5F-B2A0-A4E030F1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Incident reporting during response and post-disaster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C29E2-B224-4BDE-90C6-52B5F923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7F49F-0D44-4236-AD24-4070EF3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CDRA hazard types used by the participating organization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6B581-16AA-4FD9-BD8A-2F08A0B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8CD06-B581-47E4-87E6-58F971F5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Progressive SitRep drafting, review and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E675A-31CF-4691-97D8-4F7219F7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2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LIMITS / DEPENDENCIES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816C0-96CD-4433-A231-407C164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D3C6D-2D31-4E0B-8B56-BA0B4DEA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No native mobile app, offline synchronization or SMS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F0034-C0EE-455E-81CC-03E0AC1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E6EF6-6F8F-40A6-B788-F7258CAF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Connected web access and central database availability are dependencies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7C177-08E0-4627-B9D9-9E34F312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71C85-4F19-4DF3-8B9B-41ED0628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Radio, phone and paper alternatives remain necessary during outages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5EC7A-C479-4549-B11E-587EED00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CC9BC-9664-4162-B173-79627E4D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Pre-disaster preparedness and risk monitoring are outside the stated SitRep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79E5F-E8C9-45EC-AA14-4E36A8EA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31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82A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1">
                <a:solidFill>
                  <a:srgbClr val="A9782A"/>
                </a:solidFill>
                <a:latin typeface="Source Sans 3"/>
                <a:ea typeface="Source Sans 3"/>
                <a:cs typeface="Source Sans 3"/>
              </a:rPr>
              <a:t>The manuscript should reconcile its multi-organization platform framing with a later statement that the system is designed exclusively for ZCDRRMO before the defense.</a:t>
            </a:r>
          </a:p>
        </p:txBody>
      </p:sp>
    </p:spTree>
    <p:extLst>
      <p:ext uri="{BB962C8B-B14F-4D97-AF65-F5344CB8AC3E}">
        <p14:creationId xmlns:p14="http://schemas.microsoft.com/office/powerpoint/2010/main" val="12515674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32507-4E2F-4D05-9B36-56ADC24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67B8-1345-42BA-B669-96D20DF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 · EXPECTED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088B-7F5D-4E01-9139-C7132F99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The proposed contribution is a more traceable reporting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011D6-622A-4781-848A-2918068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9162E-EEB7-4B08-BA40-6AAFEF3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Chapters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F9B46-9832-4E35-95FA-31B0D4AB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2DE1-6E49-4CA4-8624-195CE5E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B513E-068F-4899-A3C6-32B4F3F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LOCAL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A7A2E-7DC1-4077-A2F7-756CA5B1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Capture a structured first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1C9E-5EB6-4AB2-9746-D74D72C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6E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41D24-AD91-4374-AC4B-52249BF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F6C4A-BE0C-4F3A-980D-37832396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ACCOUNTABLE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C645B-CCED-4767-B20F-BAD510B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47975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Verify and preserve corrections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FC211-88E8-4048-BE3F-CFD1A3A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385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6E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6D212-C54C-4B6B-81A9-AE40A790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5FFA3-9B07-4591-9F95-DDBC611C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907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CUMULATIVE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30BA8-A5B0-42CE-BD54-8F46ED5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7975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Consolidate by incident and cutoff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2B78B-F0A4-44F3-AB2E-2341F497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85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6E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1849F-CB93-4297-AAC1-46BAEA0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87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75EF2-DD79-4C30-A6C7-097BED4C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AUTHORIZED SITREP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AB4A0-82A2-48D6-BDB3-FB49CC8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47975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Prepare, review and release a 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D0402-3952-4563-8519-91A6DDD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1">
                <a:solidFill>
                  <a:srgbClr val="276E6B"/>
                </a:solidFill>
                <a:latin typeface="Source Sans 3"/>
                <a:ea typeface="Source Sans 3"/>
                <a:cs typeface="Source Sans 3"/>
              </a:rPr>
              <a:t>Intended value: reduce avoidable re-entry and improve source visibility, verification accountability and report preparation. These benefits remain to be evaluated.</a:t>
            </a:r>
          </a:p>
        </p:txBody>
      </p:sp>
    </p:spTree>
    <p:extLst>
      <p:ext uri="{BB962C8B-B14F-4D97-AF65-F5344CB8AC3E}">
        <p14:creationId xmlns:p14="http://schemas.microsoft.com/office/powerpoint/2010/main" val="1531382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CBFD6-A0B3-416F-8DDF-F59A3C52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67371-B060-42DD-84AD-EDB09416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CF387-67B5-4F27-830D-C52197AC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Core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AC1B4-0A8E-49DE-AE71-C09CDF6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896FD-E2C2-4F0A-936E-8AE2576C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Paper basis: Synthesis of Chapters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AD6EF-56A9-48D5-8771-30A071CB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E4DDC-8D6E-44F5-9A3F-DE7AAB8D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325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The proposal links grassroots incident information to a controlled, cumulative reporting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494D2-E091-49F1-88DC-0D5BE40E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6E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332E0-A7D8-40BA-88DE-B64CC5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95650"/>
            <a:ext cx="914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Its success depends on more than automation: clear authority, disciplined verification, data quality, privacy safeguards and evaluation with intended users.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9C88E-8137-49F4-9663-0E15C71D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650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203127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E386C-CDE8-4EB0-BA6F-5A3BE21E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7347-3D86-46D6-B112-F81167E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E6B"/>
                </a:solidFill>
                <a:latin typeface="Lexend"/>
                <a:ea typeface="Lexend"/>
                <a:cs typeface="Lexend"/>
              </a:defRPr>
            </a:pPr>
            <a:r>
              <a:rPr sz="1125" b="1">
                <a:solidFill>
                  <a:srgbClr val="276E6B"/>
                </a:solidFill>
                <a:latin typeface="Lexend"/>
                <a:ea typeface="Lexend"/>
                <a:cs typeface="Lexend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11C6C-EE0A-4E82-ACB1-836D2C8A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D30"/>
                </a:solidFill>
                <a:latin typeface="Lexend"/>
                <a:ea typeface="Lexend"/>
                <a:cs typeface="Lexend"/>
              </a:defRPr>
            </a:pPr>
            <a:r>
              <a:rPr sz="2850" b="1">
                <a:solidFill>
                  <a:srgbClr val="252D30"/>
                </a:solidFill>
                <a:latin typeface="Lexend"/>
                <a:ea typeface="Lexend"/>
                <a:cs typeface="Lexend"/>
              </a:rPr>
              <a:t>Selected authorities and standards cited in the manuscript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E1D94-9AB1-4D2C-AC1F-52E4DEB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5D0BE-B380-44E7-970C-46183306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Reference list reproduced in abbreviated form from the revised 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83AFD-CCB1-4391-9840-2E62BA0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defRPr>
            </a:pPr>
            <a:r>
              <a:rPr sz="1050" b="0">
                <a:solidFill>
                  <a:srgbClr val="7C898B"/>
                </a:solidFill>
                <a:latin typeface="Source Sans 3"/>
                <a:ea typeface="Source Sans 3"/>
                <a:cs typeface="Source Sans 3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D5BB8-E09E-4F42-BE10-538DC4DB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8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01AB4-18BE-4145-97D1-A8A58DFF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811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Congress of the Philippines. (2010). Republic Act No. 10121. Official Gazette of the Philippines.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1FE6B-1367-44F1-B310-D6915118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EB85-5590-47AC-AAD8-065D0028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050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National Disaster Risk Reduction and Management Council. (2024). NDRRMOC Standard Operating Procedures and Guidelines: 2024 edition.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A9FB3-C700-4D49-9DDD-D05CFB0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E72AC-AB85-4CEA-A636-20DB2F38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Republic Act No. 10173 (2012), Data Privacy Act; National Privacy Commission (2016), Implementing Rules and Regulations.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DEC54-21FA-42C2-80AC-B7A23A69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4E0C1-CB18-4902-9894-5294DD1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Republic Act No. 12254 (2025), E-Governance Act; Republic Act No. 9470 (2007), National Archives of the Philippines 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28512-57B7-42D5-896E-3815F4D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83739-4540-4961-81EB-CB588BB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International Organization for Standardization. (2008). ISO/IEC 25012: Data quality model; (2023). ISO/IEC 25010: Product quality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8B2E1-BD2A-443C-8C3C-C7770787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0457B-B69E-49A7-AA08-6D1AED08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006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252D30"/>
                </a:solidFill>
                <a:latin typeface="Source Sans 3"/>
                <a:ea typeface="Source Sans 3"/>
                <a:cs typeface="Source Sans 3"/>
              </a:rPr>
              <a:t>A. Kanti. (2026, March 26). Second ZCDRRMO interview, as cited in the revised manuscript.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0B6D3-65E8-42A7-8617-95AC708C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defRPr>
            </a:pPr>
            <a:r>
              <a:rPr sz="1200" b="0">
                <a:solidFill>
                  <a:srgbClr val="59676A"/>
                </a:solidFill>
                <a:latin typeface="Source Sans 3"/>
                <a:ea typeface="Source Sans 3"/>
                <a:cs typeface="Source Sans 3"/>
              </a:rPr>
              <a:t>Full bibliographic details and URLs are in the source paper’s References section.</a:t>
            </a:r>
          </a:p>
        </p:txBody>
      </p:sp>
    </p:spTree>
    <p:extLst>
      <p:ext uri="{BB962C8B-B14F-4D97-AF65-F5344CB8AC3E}">
        <p14:creationId xmlns:p14="http://schemas.microsoft.com/office/powerpoint/2010/main" val="601243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52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98FAE-4848-43CA-9798-6B8927A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7494-E90C-490F-9A5D-40381E7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953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C6C1"/>
                </a:solidFill>
                <a:latin typeface="Lexend"/>
                <a:ea typeface="Lexend"/>
                <a:cs typeface="Lexend"/>
              </a:defRPr>
            </a:pPr>
            <a:r>
              <a:rPr sz="1200" b="1">
                <a:solidFill>
                  <a:srgbClr val="9BC6C1"/>
                </a:solidFill>
                <a:latin typeface="Lexend"/>
                <a:ea typeface="Lexend"/>
                <a:cs typeface="Lexend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B91E9-FF03-4301-B378-163F19E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19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Lexend"/>
                <a:ea typeface="Lexend"/>
                <a:cs typeface="Lexend"/>
              </a:defRPr>
            </a:pPr>
            <a:r>
              <a:rPr sz="3900" b="1">
                <a:solidFill>
                  <a:srgbClr val="FFFFFF"/>
                </a:solidFill>
                <a:latin typeface="Lexend"/>
                <a:ea typeface="Lexend"/>
                <a:cs typeface="Lexend"/>
              </a:rPr>
              <a:t>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A392D-6B4E-4345-89C9-FAAC7BED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0E7E5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E0E7E5"/>
                </a:solidFill>
                <a:latin typeface="Source Sans 3"/>
                <a:ea typeface="Source Sans 3"/>
                <a:cs typeface="Source Sans 3"/>
              </a:rPr>
              <a:t>Integrated Disaster Incident Record Management and Automated Situation Report Generation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C607-A89C-4174-9E73-15B9B43D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942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16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D7722-5BF7-48FC-921A-7FF7768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0E7E5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0E7E5"/>
                </a:solidFill>
                <a:latin typeface="Source Sans 3"/>
                <a:ea typeface="Source Sans 3"/>
                <a:cs typeface="Source Sans 3"/>
              </a:rPr>
              <a:t>Katrina Mae D. G. Perez  ·  RJ P. Somosa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8D771-D073-4BE6-8974-632826AC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B7B8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ABB7B8"/>
                </a:solidFill>
                <a:latin typeface="Source Sans 3"/>
                <a:ea typeface="Source Sans 3"/>
                <a:cs typeface="Source Sans 3"/>
              </a:rPr>
              <a:t>Capstone project proposal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28106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2026-09-24T00:03:46.4360000Z</dcterms:created>
  <dcterms:modified xsi:type="dcterms:W3CDTF">2026-09-24T00:03:46.4360000Z</dcterms:modified>
</coreProperties>
</file>